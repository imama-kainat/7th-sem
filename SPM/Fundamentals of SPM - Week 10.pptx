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notesSlides/notesSlide10.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9.xml" ContentType="application/inkml+xml"/>
  <Override PartName="/ppt/ink/ink10.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95" r:id="rId2"/>
    <p:sldId id="273" r:id="rId3"/>
    <p:sldId id="257" r:id="rId4"/>
    <p:sldId id="258" r:id="rId5"/>
    <p:sldId id="274" r:id="rId6"/>
    <p:sldId id="259" r:id="rId7"/>
    <p:sldId id="260" r:id="rId8"/>
    <p:sldId id="261" r:id="rId9"/>
    <p:sldId id="276" r:id="rId10"/>
    <p:sldId id="296" r:id="rId11"/>
    <p:sldId id="275" r:id="rId12"/>
    <p:sldId id="278" r:id="rId13"/>
    <p:sldId id="297" r:id="rId14"/>
    <p:sldId id="264" r:id="rId15"/>
    <p:sldId id="280"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3557" autoAdjust="0"/>
  </p:normalViewPr>
  <p:slideViewPr>
    <p:cSldViewPr snapToGrid="0">
      <p:cViewPr varScale="1">
        <p:scale>
          <a:sx n="60" d="100"/>
          <a:sy n="60" d="100"/>
        </p:scale>
        <p:origin x="1328" y="48"/>
      </p:cViewPr>
      <p:guideLst/>
    </p:cSldViewPr>
  </p:slideViewPr>
  <p:notesTextViewPr>
    <p:cViewPr>
      <p:scale>
        <a:sx n="75" d="100"/>
        <a:sy n="75" d="100"/>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12/23/2025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4:39.298"/>
    </inkml:context>
    <inkml:brush xml:id="br0">
      <inkml:brushProperty name="width" value="0.1" units="cm"/>
      <inkml:brushProperty name="height" value="0.1" units="cm"/>
      <inkml:brushProperty name="color" value="#E71224"/>
    </inkml:brush>
  </inkml:definitions>
  <inkml:trace contextRef="#ctx0" brushRef="#br0">1 474 24575,'235'-12'0,"-70"1"0,63 2 0,746-18 0,-69-21 0,-901 48 0,323-12 0,2 1 0,526-36-9830,-558 35 5642,212-6 4479,-309 4 4395,-9-1-530,61 1-4156,-29 1 0,251-25 0,-48-6 0,-158 16 0,30-22 1965,-236 34-1601,1 3-1,94-7 1,-130 19-6726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4:51.800"/>
    </inkml:context>
    <inkml:brush xml:id="br0">
      <inkml:brushProperty name="width" value="0.1" units="cm"/>
      <inkml:brushProperty name="height" value="0.1" units="cm"/>
      <inkml:brushProperty name="color" value="#E71224"/>
    </inkml:brush>
  </inkml:definitions>
  <inkml:trace contextRef="#ctx0" brushRef="#br0">1 268 24575,'233'1'0,"521"-14"0,-655 6 0,142-27 0,-179 21 0,0 3 0,1 2 0,97 1 0,3 7 0,99 3 0,-116 11 0,31 1 0,-112-14 0,-16-1 0,81 11 0,-121-10 0,104 19 0,152 7 0,245-26 0,-230-3 0,844 2 0,-1025-5 0,123-20 0,-120 10 0,105-1 0,4 2 0,-2-1 0,-150 12 0,91-18 0,-5 0 0,231-5 0,10-1 0,-101-8 0,50-4 0,-79 33-1365,-230 7-5461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4:55.887"/>
    </inkml:context>
    <inkml:brush xml:id="br0">
      <inkml:brushProperty name="width" value="0.1" units="cm"/>
      <inkml:brushProperty name="height" value="0.1" units="cm"/>
      <inkml:brushProperty name="color" value="#E71224"/>
    </inkml:brush>
  </inkml:definitions>
  <inkml:trace contextRef="#ctx0" brushRef="#br0">1 388 24575,'17'5'0,"0"-2"0,1 0 0,0 0 0,20-1 0,-11-1 0,847 13 0,-563-17 0,226 3 0,-368-13 0,-39 1 0,-53 9 0,113-10 0,76-7 0,2 21 0,-95 1 0,739-2-14094,-658-16 14275,8 0 2047,481-20-4045,-286 13-68,-273 9 2878,-14-1-118,-3 1 1795,-4 0 1070,-79 7 1123,42-14-4331,-12 2-577,714-72 45,-590 57 0,21-1 0,156 33 1294,-205 4-829,-181-2-1830,-5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4:57.731"/>
    </inkml:context>
    <inkml:brush xml:id="br0">
      <inkml:brushProperty name="width" value="0.1" units="cm"/>
      <inkml:brushProperty name="height" value="0.1" units="cm"/>
      <inkml:brushProperty name="color" value="#E71224"/>
    </inkml:brush>
  </inkml:definitions>
  <inkml:trace contextRef="#ctx0" brushRef="#br0">1 0 24575,'3510'0'-1365,"-3479"0"-5461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5:18.898"/>
    </inkml:context>
    <inkml:brush xml:id="br0">
      <inkml:brushProperty name="width" value="0.1" units="cm"/>
      <inkml:brushProperty name="height" value="0.1" units="cm"/>
      <inkml:brushProperty name="color" value="#E71224"/>
    </inkml:brush>
  </inkml:definitions>
  <inkml:trace contextRef="#ctx0" brushRef="#br0">1 73 24575,'338'26'0,"-207"-11"0,476 40 0,171 17 0,-462-12 0,-149-24 0,40-2 0,252 9 0,212-31 0,-603-15 0,91-17 0,-136 16 0,41-6 86,87-10-718,64 7-9197,108-13 4645,-197 15 4505,-124 11 679,687-70-23,-421 14 345,-38 5 464,-71 30 533,293-1 0,179 0-1588,-548 18 137,166-16-224,-151 11 284,14-5 805,36-2 1307,-139 16-1236,1-1 0,-1 0 0,15-4-1,-7-1-1638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5:21.250"/>
    </inkml:context>
    <inkml:brush xml:id="br0">
      <inkml:brushProperty name="width" value="0.1" units="cm"/>
      <inkml:brushProperty name="height" value="0.1" units="cm"/>
      <inkml:brushProperty name="color" value="#E71224"/>
    </inkml:brush>
  </inkml:definitions>
  <inkml:trace contextRef="#ctx0" brushRef="#br0">1 270 24575,'30'-2'0,"1"0"0,46-11 0,-11 1 0,861-69-832,5 70-1,-31-21 833,-151 3-2731,-1 30-1399,-310 2 5294,-274-2-1164,282-7 0,-144-34 0,48-3 0,377 40 0,-384 5 0,426-2 0,-668 3 0,161 25 0,98 48 0,-300-62-3,1-3 0,70 3 0,125-9 106,-253-6-59,-2 2-30,0-1 0,0 0 0,0 0 0,0 0 0,0-1 0,-1 1 0,1 0 1,0-1-1,0 1 0,0-1 0,-1 0 0,1 1 0,2-3 0,1-4-1178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5:27.095"/>
    </inkml:context>
    <inkml:brush xml:id="br0">
      <inkml:brushProperty name="width" value="0.1" units="cm"/>
      <inkml:brushProperty name="height" value="0.1" units="cm"/>
      <inkml:brushProperty name="color" value="#E71224"/>
    </inkml:brush>
  </inkml:definitions>
  <inkml:trace contextRef="#ctx0" brushRef="#br0">0 564 24575,'53'-3'0,"0"-2"0,62-14 0,-43 7 0,86-11-5789,163-2 0,328-1 902,0-28 5441,-429 13-454,-59 9-105,-19 6 5,193-23 0,134 23-288,-7 0 9,-246 12 267,90-8 77,282 9 2437,-373 15 6,325-2-7020,-153 0 5150,-190-15 1648,-28 1-2306,86 0 37,79-2-769,11 21-1580,-115 8 4288,-80-5-1622,200-4 6524,-308-5-7101,-4 0 1420,54-11 0,6 0-941,342 7 1372,-246 7-1566,594-2-42,-702-5 0,1-3 0,97-22 0,102-11 0,278 33-21,-364 10-504,346-1-7729,1-1 7771,-238 0 4127,-281 0-3346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5:28.654"/>
    </inkml:context>
    <inkml:brush xml:id="br0">
      <inkml:brushProperty name="width" value="0.1" units="cm"/>
      <inkml:brushProperty name="height" value="0.1" units="cm"/>
      <inkml:brushProperty name="color" value="#E71224"/>
    </inkml:brush>
  </inkml:definitions>
  <inkml:trace contextRef="#ctx0" brushRef="#br0">1 207 24575,'27'-4'0,"42"-2"0,-39 4 0,627-16-2952,-135 7-649,996-37 174,-1064 38 3427,608-10 0,685 20 1908,-1713-1 190,0-3 0,36-7 0,-10 1-320,-25 5-1778,54-8 0,98-2 0,-132 14 0,98-15 0,-69 6-1365,-60 9-5461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5:38.496"/>
    </inkml:context>
    <inkml:brush xml:id="br0">
      <inkml:brushProperty name="width" value="0.1" units="cm"/>
      <inkml:brushProperty name="height" value="0.1" units="cm"/>
      <inkml:brushProperty name="color" value="#E71224"/>
    </inkml:brush>
  </inkml:definitions>
  <inkml:trace contextRef="#ctx0" brushRef="#br0">0 474 24575,'125'-5'-162,"-96"2"-222,887-101-6270,-428 42 4466,482-5 4026,-523 54-1838,-31 0 0,-110-2 0,32 1 0,526 15 7550,-824-3-7550,0-2 0,76-18 0,26-3 0,-41 15 0,8 1 0,173-38 0,-59-3 0,-204 47-682,37-3-1,-32 5-6143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5:41.081"/>
    </inkml:context>
    <inkml:brush xml:id="br0">
      <inkml:brushProperty name="width" value="0.1" units="cm"/>
      <inkml:brushProperty name="height" value="0.1" units="cm"/>
      <inkml:brushProperty name="color" value="#E71224"/>
    </inkml:brush>
  </inkml:definitions>
  <inkml:trace contextRef="#ctx0" brushRef="#br0">0 798 24575,'58'-6'0,"-21"1"0,34-2 0,523-35 0,-129 28 0,50 0 0,-377 8 0,239-42 0,-268 25 0,36-5 0,749-34 0,-673 57 0,43-2 0,-151-5 0,190-45 0,-226 39 0,8 0 0,560-102 0,-81 39 0,-508 72 0,102-29 0,-115 27 0,1 3 0,75-6 0,-69 10 0,82-17 0,268-64 0,-328 75 0,150-14 0,69 23 232,-135 2-1829,-131-1-5229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6:12.806"/>
    </inkml:context>
    <inkml:brush xml:id="br0">
      <inkml:brushProperty name="width" value="0.1" units="cm"/>
      <inkml:brushProperty name="height" value="0.1" units="cm"/>
      <inkml:brushProperty name="color" value="#E71224"/>
    </inkml:brush>
  </inkml:definitions>
  <inkml:trace contextRef="#ctx0" brushRef="#br0">1 220 24575,'5'0'0,"46"0"0,0 1 0,52 10 0,-29-1 0,0-3 0,1-3 0,102-8 0,-53-8 0,18-2 0,-56 11 0,119-10 0,144-23 0,-103 13 0,9 5 0,-54 7 0,153-7 0,-75 7 0,-161 3 0,18 0 0,177-33 0,-266 33 276,-29 6-823,0-1 0,28-9 0,-28 4-6279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6:14.157"/>
    </inkml:context>
    <inkml:brush xml:id="br0">
      <inkml:brushProperty name="width" value="0.1" units="cm"/>
      <inkml:brushProperty name="height" value="0.1" units="cm"/>
      <inkml:brushProperty name="color" value="#E71224"/>
    </inkml:brush>
  </inkml:definitions>
  <inkml:trace contextRef="#ctx0" brushRef="#br0">1 3 24575,'529'-2'-1192,"570"5"-3952,-483 23 250,-559-23 4646,102 11 1582,45 1 4893,-177-14-10501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6:15.996"/>
    </inkml:context>
    <inkml:brush xml:id="br0">
      <inkml:brushProperty name="width" value="0.1" units="cm"/>
      <inkml:brushProperty name="height" value="0.1" units="cm"/>
      <inkml:brushProperty name="color" value="#E71224"/>
    </inkml:brush>
  </inkml:definitions>
  <inkml:trace contextRef="#ctx0" brushRef="#br0">1 1 24575,'20'0'0,"330"11"0,-132 6 0,37 3 0,-87 10 0,-118-23 0,1-2 0,0-2 0,73-5 0,-28-1 0,-46 1 0,58-11 0,23-1 0,31 12-1365,-137 3-5461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6:16.977"/>
    </inkml:context>
    <inkml:brush xml:id="br0">
      <inkml:brushProperty name="width" value="0.1" units="cm"/>
      <inkml:brushProperty name="height" value="0.1" units="cm"/>
      <inkml:brushProperty name="color" value="#E71224"/>
    </inkml:brush>
  </inkml:definitions>
  <inkml:trace contextRef="#ctx0" brushRef="#br0">1 0 24575,'102'6'0,"-34"0"0,7-2-16,796 38-811,-593-29 827,291 6 0,-316-20 0,386 2 0,-348 13 67,73 1-1221,-331-15-5107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5:16:18.168"/>
    </inkml:context>
    <inkml:brush xml:id="br0">
      <inkml:brushProperty name="width" value="0.1" units="cm"/>
      <inkml:brushProperty name="height" value="0.1" units="cm"/>
      <inkml:brushProperty name="color" value="#E71224"/>
    </inkml:brush>
  </inkml:definitions>
  <inkml:trace contextRef="#ctx0" brushRef="#br0">0 61 24575,'176'0'-545,"819"4"-12410,-567 4 10072,555 26 2883,-6 51 0,-771-57 0,234 27 0,0-28 0,267-29 0,-183-1 0,-448 1 196,121-19 1,71-31 262,-235 45-451,233-34-15,-88 16-244,386-43-354,-57 8 4224,-317 39 2519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12/23/2025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1</a:t>
            </a:fld>
            <a:endParaRPr lang="en-US"/>
          </a:p>
        </p:txBody>
      </p:sp>
    </p:spTree>
    <p:extLst>
      <p:ext uri="{BB962C8B-B14F-4D97-AF65-F5344CB8AC3E}">
        <p14:creationId xmlns:p14="http://schemas.microsoft.com/office/powerpoint/2010/main" val="1532174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087A28E-BBEC-47B9-854F-714D8D7CD74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ECA4411-F5AD-4F6D-A3EE-1247B50837E8}" type="slidenum">
              <a:rPr lang="en-GB" altLang="en-US" sz="1200"/>
              <a:pPr/>
              <a:t>2</a:t>
            </a:fld>
            <a:endParaRPr lang="en-GB" altLang="en-US" sz="1200"/>
          </a:p>
        </p:txBody>
      </p:sp>
      <p:sp>
        <p:nvSpPr>
          <p:cNvPr id="6147" name="Rectangle 2">
            <a:extLst>
              <a:ext uri="{FF2B5EF4-FFF2-40B4-BE49-F238E27FC236}">
                <a16:creationId xmlns:a16="http://schemas.microsoft.com/office/drawing/2014/main" id="{4751FA8D-09C1-4A15-90F4-0964F84D4475}"/>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6A15C6B9-6631-42EC-AB73-ED010E22FA6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D9485C35-A9B0-457A-B1F3-501915B900C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1B3B9D9-3048-4A09-997C-BC1581A818B1}" type="slidenum">
              <a:rPr lang="en-GB" altLang="en-US" sz="1200"/>
              <a:pPr/>
              <a:t>3</a:t>
            </a:fld>
            <a:endParaRPr lang="en-GB" altLang="en-US" sz="1200"/>
          </a:p>
        </p:txBody>
      </p:sp>
      <p:sp>
        <p:nvSpPr>
          <p:cNvPr id="8195" name="Rectangle 2">
            <a:extLst>
              <a:ext uri="{FF2B5EF4-FFF2-40B4-BE49-F238E27FC236}">
                <a16:creationId xmlns:a16="http://schemas.microsoft.com/office/drawing/2014/main" id="{4BB8E7AE-3017-4A6C-9192-715A1355A1A8}"/>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7AE5E55F-5204-4517-9432-3D89A38168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4B778ED-4461-4B18-8DB9-4F4BBD1F3B6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8569140-44CC-49A6-9EBF-A92616D68338}" type="slidenum">
              <a:rPr lang="en-GB" altLang="en-US" sz="1200"/>
              <a:pPr/>
              <a:t>4</a:t>
            </a:fld>
            <a:endParaRPr lang="en-GB" altLang="en-US" sz="1200"/>
          </a:p>
        </p:txBody>
      </p:sp>
      <p:sp>
        <p:nvSpPr>
          <p:cNvPr id="10243" name="Rectangle 2">
            <a:extLst>
              <a:ext uri="{FF2B5EF4-FFF2-40B4-BE49-F238E27FC236}">
                <a16:creationId xmlns:a16="http://schemas.microsoft.com/office/drawing/2014/main" id="{F0573C25-A93E-4C15-BCF0-5C6AD432FC80}"/>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4CE1ECC-F385-473E-B915-CE05A543D73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Section 8.2 in the main text discusses this in a little more detail.</a:t>
            </a:r>
          </a:p>
          <a:p>
            <a:r>
              <a:rPr lang="en-GB" altLang="en-US"/>
              <a:t>A key point is that money (by definition) is the means by which one resource can be converted to another. However in practice this may be problematic because of resource constraints e.g. staff need time to become expert in a new technology regardless of the amount of money that might be available to buy expertise.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882C85E9-BD87-440E-A5F1-6C0C12235BE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9A4260F-4603-40AD-8717-745D83271920}" type="slidenum">
              <a:rPr lang="en-GB" altLang="en-US" sz="1200"/>
              <a:pPr/>
              <a:t>5</a:t>
            </a:fld>
            <a:endParaRPr lang="en-GB" altLang="en-US" sz="1200"/>
          </a:p>
        </p:txBody>
      </p:sp>
      <p:sp>
        <p:nvSpPr>
          <p:cNvPr id="12291" name="Rectangle 2">
            <a:extLst>
              <a:ext uri="{FF2B5EF4-FFF2-40B4-BE49-F238E27FC236}">
                <a16:creationId xmlns:a16="http://schemas.microsoft.com/office/drawing/2014/main" id="{009DADF5-B0BC-4624-91E5-DA5DB4720AD4}"/>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445C4C31-C48B-4B64-9C45-D815456A251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b="1" i="0" dirty="0">
                <a:solidFill>
                  <a:srgbClr val="0D0D0D"/>
                </a:solidFill>
                <a:effectLst/>
                <a:latin typeface="Söhne"/>
              </a:rPr>
              <a:t>Activity-Specific Resources:</a:t>
            </a:r>
          </a:p>
          <a:p>
            <a:pPr algn="l">
              <a:buFont typeface="+mj-lt"/>
              <a:buAutoNum type="arabicPeriod"/>
            </a:pPr>
            <a:r>
              <a:rPr lang="en-US" b="1" i="0" dirty="0">
                <a:solidFill>
                  <a:srgbClr val="0D0D0D"/>
                </a:solidFill>
                <a:effectLst/>
                <a:latin typeface="Söhne"/>
              </a:rPr>
              <a:t>Labor/Personnel:</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Identify the specific roles needed for each activity (e.g., developers, designers, testers).</a:t>
            </a:r>
          </a:p>
          <a:p>
            <a:pPr marL="742950" lvl="1" indent="-285750" algn="l">
              <a:buFont typeface="+mj-lt"/>
              <a:buAutoNum type="arabicPeriod"/>
            </a:pPr>
            <a:r>
              <a:rPr lang="en-US" b="0" i="0" dirty="0">
                <a:solidFill>
                  <a:srgbClr val="0D0D0D"/>
                </a:solidFill>
                <a:effectLst/>
                <a:latin typeface="Söhne"/>
              </a:rPr>
              <a:t>Estimate the number of hours or FTE (Full-Time Equivalents) required for each role.</a:t>
            </a:r>
          </a:p>
          <a:p>
            <a:pPr algn="l">
              <a:buFont typeface="+mj-lt"/>
              <a:buAutoNum type="arabicPeriod"/>
            </a:pPr>
            <a:r>
              <a:rPr lang="en-US" b="1" i="0" dirty="0">
                <a:solidFill>
                  <a:srgbClr val="0D0D0D"/>
                </a:solidFill>
                <a:effectLst/>
                <a:latin typeface="Söhne"/>
              </a:rPr>
              <a:t>Equipment/Tools:</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List any specialized tools or equipment needed for certain activities (e.g., software licenses, hardware).</a:t>
            </a:r>
          </a:p>
          <a:p>
            <a:pPr marL="742950" lvl="1" indent="-285750" algn="l">
              <a:buFont typeface="+mj-lt"/>
              <a:buAutoNum type="arabicPeriod"/>
            </a:pPr>
            <a:r>
              <a:rPr lang="en-US" b="0" i="0" dirty="0">
                <a:solidFill>
                  <a:srgbClr val="0D0D0D"/>
                </a:solidFill>
                <a:effectLst/>
                <a:latin typeface="Söhne"/>
              </a:rPr>
              <a:t>Consider whether any equipment needs to be rented or purchased.</a:t>
            </a:r>
          </a:p>
          <a:p>
            <a:pPr algn="l">
              <a:buFont typeface="+mj-lt"/>
              <a:buAutoNum type="arabicPeriod"/>
            </a:pPr>
            <a:r>
              <a:rPr lang="en-US" b="1" i="0" dirty="0">
                <a:solidFill>
                  <a:srgbClr val="0D0D0D"/>
                </a:solidFill>
                <a:effectLst/>
                <a:latin typeface="Söhne"/>
              </a:rPr>
              <a:t>Materials/Supplies:</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Identify any materials or supplies needed for specific tasks (e.g., raw materials for manufacturing, office supplies).</a:t>
            </a:r>
          </a:p>
          <a:p>
            <a:pPr algn="l">
              <a:buFont typeface="+mj-lt"/>
              <a:buAutoNum type="arabicPeriod"/>
            </a:pPr>
            <a:r>
              <a:rPr lang="en-US" b="1" i="0" dirty="0">
                <a:solidFill>
                  <a:srgbClr val="0D0D0D"/>
                </a:solidFill>
                <a:effectLst/>
                <a:latin typeface="Söhne"/>
              </a:rPr>
              <a:t>Training:</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Determine if any training or certifications are necessary for team members to complete certain activities effectively.</a:t>
            </a:r>
          </a:p>
          <a:p>
            <a:pPr algn="l"/>
            <a:br>
              <a:rPr lang="en-US" dirty="0"/>
            </a:br>
            <a:r>
              <a:rPr lang="en-US" b="1" i="0" dirty="0">
                <a:solidFill>
                  <a:srgbClr val="0D0D0D"/>
                </a:solidFill>
                <a:effectLst/>
                <a:latin typeface="Söhne"/>
              </a:rPr>
              <a:t>Resources Not Specific to Activity:</a:t>
            </a:r>
          </a:p>
          <a:p>
            <a:pPr algn="l">
              <a:buFont typeface="+mj-lt"/>
              <a:buAutoNum type="arabicPeriod"/>
            </a:pPr>
            <a:r>
              <a:rPr lang="en-US" b="1" i="0" dirty="0">
                <a:solidFill>
                  <a:srgbClr val="0D0D0D"/>
                </a:solidFill>
                <a:effectLst/>
                <a:latin typeface="Söhne"/>
              </a:rPr>
              <a:t>Project Manager:</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Allocate time or FTE for the project manager's involvement.</a:t>
            </a:r>
          </a:p>
          <a:p>
            <a:pPr marL="742950" lvl="1" indent="-285750" algn="l">
              <a:buFont typeface="+mj-lt"/>
              <a:buAutoNum type="arabicPeriod"/>
            </a:pPr>
            <a:r>
              <a:rPr lang="en-US" b="0" i="0" dirty="0">
                <a:solidFill>
                  <a:srgbClr val="0D0D0D"/>
                </a:solidFill>
                <a:effectLst/>
                <a:latin typeface="Söhne"/>
              </a:rPr>
              <a:t>Consider if additional project management support is required.</a:t>
            </a:r>
          </a:p>
          <a:p>
            <a:pPr algn="l">
              <a:buFont typeface="+mj-lt"/>
              <a:buAutoNum type="arabicPeriod"/>
            </a:pPr>
            <a:r>
              <a:rPr lang="en-US" b="1" i="0" dirty="0">
                <a:solidFill>
                  <a:srgbClr val="0D0D0D"/>
                </a:solidFill>
                <a:effectLst/>
                <a:latin typeface="Söhne"/>
              </a:rPr>
              <a:t>Office Space:</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Determine the physical space requirements for the project team.</a:t>
            </a:r>
          </a:p>
          <a:p>
            <a:pPr marL="742950" lvl="1" indent="-285750" algn="l">
              <a:buFont typeface="+mj-lt"/>
              <a:buAutoNum type="arabicPeriod"/>
            </a:pPr>
            <a:r>
              <a:rPr lang="en-US" b="0" i="0" dirty="0">
                <a:solidFill>
                  <a:srgbClr val="0D0D0D"/>
                </a:solidFill>
                <a:effectLst/>
                <a:latin typeface="Söhne"/>
              </a:rPr>
              <a:t>Consider any specific needs such as meeting rooms, quiet spaces, or collaboration areas.</a:t>
            </a:r>
          </a:p>
          <a:p>
            <a:pPr algn="l">
              <a:buFont typeface="+mj-lt"/>
              <a:buAutoNum type="arabicPeriod"/>
            </a:pPr>
            <a:r>
              <a:rPr lang="en-US" b="1" i="0" dirty="0">
                <a:solidFill>
                  <a:srgbClr val="0D0D0D"/>
                </a:solidFill>
                <a:effectLst/>
                <a:latin typeface="Söhne"/>
              </a:rPr>
              <a:t>Infrastructure:</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Include any necessary IT infrastructure, such as servers, networking equipment, or cloud services.</a:t>
            </a:r>
          </a:p>
          <a:p>
            <a:pPr marL="742950" lvl="1" indent="-285750" algn="l">
              <a:buFont typeface="+mj-lt"/>
              <a:buAutoNum type="arabicPeriod"/>
            </a:pPr>
            <a:r>
              <a:rPr lang="en-US" b="0" i="0" dirty="0">
                <a:solidFill>
                  <a:srgbClr val="0D0D0D"/>
                </a:solidFill>
                <a:effectLst/>
                <a:latin typeface="Söhne"/>
              </a:rPr>
              <a:t>Consider communication tools, project management software licenses, etc.</a:t>
            </a:r>
          </a:p>
          <a:p>
            <a:pPr algn="l">
              <a:buFont typeface="+mj-lt"/>
              <a:buAutoNum type="arabicPeriod"/>
            </a:pPr>
            <a:r>
              <a:rPr lang="en-US" b="1" i="0" dirty="0">
                <a:solidFill>
                  <a:srgbClr val="0D0D0D"/>
                </a:solidFill>
                <a:effectLst/>
                <a:latin typeface="Söhne"/>
              </a:rPr>
              <a:t>Budget:</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Estimate the overall project budget required to support resource needs.</a:t>
            </a:r>
          </a:p>
          <a:p>
            <a:pPr marL="742950" lvl="1" indent="-285750" algn="l">
              <a:buFont typeface="+mj-lt"/>
              <a:buAutoNum type="arabicPeriod"/>
            </a:pPr>
            <a:r>
              <a:rPr lang="en-US" b="0" i="0" dirty="0">
                <a:solidFill>
                  <a:srgbClr val="0D0D0D"/>
                </a:solidFill>
                <a:effectLst/>
                <a:latin typeface="Söhne"/>
              </a:rPr>
              <a:t>Include costs for salaries, equipment, materials, training, and any other expenses.</a:t>
            </a:r>
          </a:p>
          <a:p>
            <a:pPr algn="l">
              <a:buFont typeface="+mj-lt"/>
              <a:buAutoNum type="arabicPeriod"/>
            </a:pPr>
            <a:r>
              <a:rPr lang="en-US" b="1" i="0" dirty="0">
                <a:solidFill>
                  <a:srgbClr val="0D0D0D"/>
                </a:solidFill>
                <a:effectLst/>
                <a:latin typeface="Söhne"/>
              </a:rPr>
              <a:t>Time:</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Determine the project timeline and schedule resources accordingly.</a:t>
            </a:r>
          </a:p>
          <a:p>
            <a:pPr marL="742950" lvl="1" indent="-285750" algn="l">
              <a:buFont typeface="+mj-lt"/>
              <a:buAutoNum type="arabicPeriod"/>
            </a:pPr>
            <a:r>
              <a:rPr lang="en-US" b="0" i="0" dirty="0">
                <a:solidFill>
                  <a:srgbClr val="0D0D0D"/>
                </a:solidFill>
                <a:effectLst/>
                <a:latin typeface="Söhne"/>
              </a:rPr>
              <a:t>Consider any dependencies between activities and allocate resources accordingly.</a:t>
            </a:r>
          </a:p>
          <a:p>
            <a:pPr algn="l">
              <a:buFont typeface="+mj-lt"/>
              <a:buAutoNum type="arabicPeriod"/>
            </a:pPr>
            <a:r>
              <a:rPr lang="en-US" b="1" i="0" dirty="0">
                <a:solidFill>
                  <a:srgbClr val="0D0D0D"/>
                </a:solidFill>
                <a:effectLst/>
                <a:latin typeface="Söhne"/>
              </a:rPr>
              <a:t>Risk Management:</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Identify potential risks that could impact resource availability (e.g., staff turnover, equipment failure) and develop mitigation strategies.</a:t>
            </a:r>
          </a:p>
          <a:p>
            <a:pPr algn="l">
              <a:buFont typeface="+mj-lt"/>
              <a:buAutoNum type="arabicPeriod"/>
            </a:pPr>
            <a:r>
              <a:rPr lang="en-US" b="1" i="0" dirty="0">
                <a:solidFill>
                  <a:srgbClr val="0D0D0D"/>
                </a:solidFill>
                <a:effectLst/>
                <a:latin typeface="Söhne"/>
              </a:rPr>
              <a:t>Quality Assurance:</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Allocate resources for quality assurance activities to ensure project deliverables meet quality standards.</a:t>
            </a:r>
          </a:p>
          <a:p>
            <a:endParaRPr lang="en-GB"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1DC675DB-5685-43E7-92E9-BA7E3B142D7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E2CBAAA-B4CC-48F1-A295-C3945A41DE00}" type="slidenum">
              <a:rPr lang="en-GB" altLang="en-US" sz="1200"/>
              <a:pPr/>
              <a:t>6</a:t>
            </a:fld>
            <a:endParaRPr lang="en-GB" altLang="en-US" sz="1200"/>
          </a:p>
        </p:txBody>
      </p:sp>
      <p:sp>
        <p:nvSpPr>
          <p:cNvPr id="14339" name="Rectangle 2">
            <a:extLst>
              <a:ext uri="{FF2B5EF4-FFF2-40B4-BE49-F238E27FC236}">
                <a16:creationId xmlns:a16="http://schemas.microsoft.com/office/drawing/2014/main" id="{95F0119B-F4A6-408C-A935-820D506B463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B8D6AAB5-DAE0-4F08-9715-DA8AE38B3CF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b="1" i="0" dirty="0">
                <a:solidFill>
                  <a:srgbClr val="0D0D0D"/>
                </a:solidFill>
                <a:effectLst/>
                <a:latin typeface="Söhne"/>
              </a:rPr>
              <a:t>Step 1: Identify Activities and Resource Types</a:t>
            </a:r>
          </a:p>
          <a:p>
            <a:pPr algn="l">
              <a:buFont typeface="+mj-lt"/>
              <a:buAutoNum type="arabicPeriod"/>
            </a:pPr>
            <a:r>
              <a:rPr lang="en-US" b="1" i="0" dirty="0">
                <a:solidFill>
                  <a:srgbClr val="0D0D0D"/>
                </a:solidFill>
                <a:effectLst/>
                <a:latin typeface="Söhne"/>
              </a:rPr>
              <a:t>Activity 1: Software Development</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Resource Types: VB Programmers, UI/UX Designers, Quality Assurance Testers</a:t>
            </a:r>
          </a:p>
          <a:p>
            <a:pPr algn="l"/>
            <a:r>
              <a:rPr lang="en-US" b="1" i="0" dirty="0">
                <a:solidFill>
                  <a:srgbClr val="0D0D0D"/>
                </a:solidFill>
                <a:effectLst/>
                <a:latin typeface="Söhne"/>
              </a:rPr>
              <a:t>Step 2: Allocate Resource Types to Activities</a:t>
            </a:r>
          </a:p>
          <a:p>
            <a:pPr algn="l">
              <a:buFont typeface="+mj-lt"/>
              <a:buAutoNum type="arabicPeriod"/>
            </a:pPr>
            <a:r>
              <a:rPr lang="en-US" b="1" i="0" dirty="0">
                <a:solidFill>
                  <a:srgbClr val="0D0D0D"/>
                </a:solidFill>
                <a:effectLst/>
                <a:latin typeface="Söhne"/>
              </a:rPr>
              <a:t>Activity 1: Software Development</a:t>
            </a:r>
            <a:endParaRPr lang="en-US" b="0" i="0" dirty="0">
              <a:solidFill>
                <a:srgbClr val="0D0D0D"/>
              </a:solidFill>
              <a:effectLst/>
              <a:latin typeface="Söhne"/>
            </a:endParaRPr>
          </a:p>
          <a:p>
            <a:pPr marL="742950" lvl="1" indent="-285750" algn="l">
              <a:buFont typeface="+mj-lt"/>
              <a:buAutoNum type="arabicPeriod"/>
            </a:pPr>
            <a:r>
              <a:rPr lang="en-US" b="0" i="0" dirty="0">
                <a:solidFill>
                  <a:srgbClr val="0D0D0D"/>
                </a:solidFill>
                <a:effectLst/>
                <a:latin typeface="Söhne"/>
              </a:rPr>
              <a:t>VB Programmers: 3</a:t>
            </a:r>
          </a:p>
          <a:p>
            <a:pPr marL="742950" lvl="1" indent="-285750" algn="l">
              <a:buFont typeface="+mj-lt"/>
              <a:buAutoNum type="arabicPeriod"/>
            </a:pPr>
            <a:r>
              <a:rPr lang="en-US" b="0" i="0" dirty="0">
                <a:solidFill>
                  <a:srgbClr val="0D0D0D"/>
                </a:solidFill>
                <a:effectLst/>
                <a:latin typeface="Söhne"/>
              </a:rPr>
              <a:t>UI/UX Designers: 2</a:t>
            </a:r>
          </a:p>
          <a:p>
            <a:pPr marL="742950" lvl="1" indent="-285750" algn="l">
              <a:buFont typeface="+mj-lt"/>
              <a:buAutoNum type="arabicPeriod"/>
            </a:pPr>
            <a:r>
              <a:rPr lang="en-US" b="0" i="0" dirty="0">
                <a:solidFill>
                  <a:srgbClr val="0D0D0D"/>
                </a:solidFill>
                <a:effectLst/>
                <a:latin typeface="Söhne"/>
              </a:rPr>
              <a:t>Quality Assurance Testers: 2</a:t>
            </a:r>
          </a:p>
          <a:p>
            <a:pPr algn="l"/>
            <a:r>
              <a:rPr lang="en-US" b="1" i="0" dirty="0">
                <a:solidFill>
                  <a:srgbClr val="0D0D0D"/>
                </a:solidFill>
                <a:effectLst/>
                <a:latin typeface="Söhne"/>
              </a:rPr>
              <a:t>Step 3: Examine the Resource Histogram</a:t>
            </a:r>
          </a:p>
          <a:p>
            <a:pPr algn="l"/>
            <a:r>
              <a:rPr lang="en-US" b="0" i="0" dirty="0">
                <a:solidFill>
                  <a:srgbClr val="0D0D0D"/>
                </a:solidFill>
                <a:effectLst/>
                <a:latin typeface="Söhne"/>
              </a:rPr>
              <a:t>A resource histogram visually represents the allocation of resources over time.</a:t>
            </a:r>
          </a:p>
          <a:p>
            <a:endParaRPr lang="en-GB"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E8E3978-F949-4CD1-BFC7-D2E750BB76F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1915039-52BE-4629-89C2-13E0E3A2B266}" type="slidenum">
              <a:rPr lang="en-GB" altLang="en-US" sz="1200"/>
              <a:pPr/>
              <a:t>7</a:t>
            </a:fld>
            <a:endParaRPr lang="en-GB" altLang="en-US" sz="1200"/>
          </a:p>
        </p:txBody>
      </p:sp>
      <p:sp>
        <p:nvSpPr>
          <p:cNvPr id="16387" name="Rectangle 2">
            <a:extLst>
              <a:ext uri="{FF2B5EF4-FFF2-40B4-BE49-F238E27FC236}">
                <a16:creationId xmlns:a16="http://schemas.microsoft.com/office/drawing/2014/main" id="{9A4E9545-0DA7-4E27-8A71-D191153654D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60A4FEF3-1ACC-4302-91A6-B89DF1D0EC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The resource histogram helps us identify where the demand for a resource exceeds the supply.</a:t>
            </a:r>
          </a:p>
          <a:p>
            <a:r>
              <a:rPr lang="en-GB" altLang="en-US"/>
              <a:t>If we use a tool such as MS Project, the tool will generate the resource histograms for us.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7C61E59-5D2F-4074-86AB-C674E2B508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B1639AD-8301-4891-A407-5697A1FBAE67}" type="slidenum">
              <a:rPr lang="en-GB" altLang="en-US" sz="1200"/>
              <a:pPr/>
              <a:t>8</a:t>
            </a:fld>
            <a:endParaRPr lang="en-GB" altLang="en-US" sz="1200"/>
          </a:p>
        </p:txBody>
      </p:sp>
      <p:sp>
        <p:nvSpPr>
          <p:cNvPr id="18435" name="Rectangle 2">
            <a:extLst>
              <a:ext uri="{FF2B5EF4-FFF2-40B4-BE49-F238E27FC236}">
                <a16:creationId xmlns:a16="http://schemas.microsoft.com/office/drawing/2014/main" id="{D0A33C4C-7A1C-46E0-9080-C5FFA59C0DD3}"/>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DBB7AFD-673C-4C50-B787-C7C982378A5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dirty="0"/>
              <a:t>Exercise 8.1 in the text gives some practice in the resolution of resource clashes.</a:t>
            </a:r>
          </a:p>
          <a:p>
            <a:r>
              <a:rPr lang="en-US" b="0" i="0" dirty="0">
                <a:solidFill>
                  <a:srgbClr val="0D0D0D"/>
                </a:solidFill>
                <a:effectLst/>
                <a:latin typeface="Söhne"/>
              </a:rPr>
              <a:t>critical activities are those that are essential for completing the project on time, while non-critical activities are less time-sensitive and can be delayed without impacting the overall project schedule. </a:t>
            </a:r>
            <a:endParaRPr lang="en-GB"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A3A3A"/>
                </a:solidFill>
                <a:effectLst/>
                <a:latin typeface="-apple-system"/>
              </a:rPr>
              <a:t>You use resource leveling when you have limited resources and you may extend the schedule.</a:t>
            </a:r>
          </a:p>
          <a:p>
            <a:pPr algn="l"/>
            <a:r>
              <a:rPr lang="en-US" b="0" i="0" dirty="0">
                <a:solidFill>
                  <a:srgbClr val="3A3A3A"/>
                </a:solidFill>
                <a:effectLst/>
                <a:latin typeface="-apple-system"/>
              </a:rPr>
              <a:t>Let’s say you are developing a schedule for a project, which is to construct a two-story building. To construct the first floor you have enough scaffolding but for the second floor, you need extra scaffolding.</a:t>
            </a:r>
          </a:p>
          <a:p>
            <a:pPr algn="l"/>
            <a:r>
              <a:rPr lang="en-US" b="0" i="0" dirty="0">
                <a:solidFill>
                  <a:srgbClr val="3A3A3A"/>
                </a:solidFill>
                <a:effectLst/>
                <a:latin typeface="-apple-system"/>
              </a:rPr>
              <a:t>So you look within your organization and find that you can arrange extra scaffolding from another project, but one week later than what you require.</a:t>
            </a:r>
          </a:p>
          <a:p>
            <a:pPr algn="l"/>
            <a:r>
              <a:rPr lang="en-US" b="0" i="0" dirty="0">
                <a:solidFill>
                  <a:srgbClr val="3A3A3A"/>
                </a:solidFill>
                <a:effectLst/>
                <a:latin typeface="-apple-system"/>
              </a:rPr>
              <a:t>So, you delay construction activities on the second floor by one week.</a:t>
            </a:r>
          </a:p>
          <a:p>
            <a:pPr algn="l"/>
            <a:r>
              <a:rPr lang="en-US" b="0" i="0" dirty="0">
                <a:solidFill>
                  <a:srgbClr val="3A3A3A"/>
                </a:solidFill>
                <a:effectLst/>
                <a:latin typeface="-apple-system"/>
              </a:rPr>
              <a:t>This is an example of resource leveling where you extend the schedule to get the resource.</a:t>
            </a:r>
          </a:p>
          <a:p>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9</a:t>
            </a:fld>
            <a:endParaRPr lang="en-US"/>
          </a:p>
        </p:txBody>
      </p:sp>
    </p:spTree>
    <p:extLst>
      <p:ext uri="{BB962C8B-B14F-4D97-AF65-F5344CB8AC3E}">
        <p14:creationId xmlns:p14="http://schemas.microsoft.com/office/powerpoint/2010/main" val="927074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10</a:t>
            </a:fld>
            <a:endParaRPr lang="en-US"/>
          </a:p>
        </p:txBody>
      </p:sp>
    </p:spTree>
    <p:extLst>
      <p:ext uri="{BB962C8B-B14F-4D97-AF65-F5344CB8AC3E}">
        <p14:creationId xmlns:p14="http://schemas.microsoft.com/office/powerpoint/2010/main" val="2633459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Resource smoothing is </a:t>
            </a:r>
            <a:r>
              <a:rPr lang="en-US" b="1" i="0" dirty="0">
                <a:solidFill>
                  <a:srgbClr val="202124"/>
                </a:solidFill>
                <a:effectLst/>
                <a:latin typeface="arial" panose="020B0604020202020204" pitchFamily="34" charset="0"/>
              </a:rPr>
              <a:t>used when the time constraint takes priority</a:t>
            </a:r>
            <a:r>
              <a:rPr lang="en-US" b="0" i="0" dirty="0">
                <a:solidFill>
                  <a:srgbClr val="202124"/>
                </a:solidFill>
                <a:effectLst/>
                <a:latin typeface="arial" panose="020B0604020202020204" pitchFamily="34" charset="0"/>
              </a:rPr>
              <a:t>. </a:t>
            </a:r>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13</a:t>
            </a:fld>
            <a:endParaRPr lang="en-US"/>
          </a:p>
        </p:txBody>
      </p:sp>
    </p:spTree>
    <p:extLst>
      <p:ext uri="{BB962C8B-B14F-4D97-AF65-F5344CB8AC3E}">
        <p14:creationId xmlns:p14="http://schemas.microsoft.com/office/powerpoint/2010/main" val="3991108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78F68D0-7D02-49C5-A04B-0B4FDFE3E3B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88927E2-2236-4AF5-8CB0-E75E38040424}" type="slidenum">
              <a:rPr lang="en-GB" altLang="en-US" sz="1200"/>
              <a:pPr/>
              <a:t>14</a:t>
            </a:fld>
            <a:endParaRPr lang="en-GB" altLang="en-US" sz="1200"/>
          </a:p>
        </p:txBody>
      </p:sp>
      <p:sp>
        <p:nvSpPr>
          <p:cNvPr id="23555" name="Rectangle 2">
            <a:extLst>
              <a:ext uri="{FF2B5EF4-FFF2-40B4-BE49-F238E27FC236}">
                <a16:creationId xmlns:a16="http://schemas.microsoft.com/office/drawing/2014/main" id="{78955C54-3A2F-45BF-BDF2-608F6660851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4BE3B3C-F798-42EE-81B3-5FD355B3E73E}"/>
              </a:ext>
            </a:extLst>
          </p:cNvPr>
          <p:cNvSpPr>
            <a:spLocks noGrp="1" noChangeArrowheads="1"/>
          </p:cNvSpPr>
          <p:nvPr>
            <p:ph type="body" idx="1"/>
          </p:nvPr>
        </p:nvSpPr>
        <p:spPr/>
        <p:txBody>
          <a:bodyPr/>
          <a:lstStyle/>
          <a:p>
            <a:pPr>
              <a:defRPr/>
            </a:pPr>
            <a:r>
              <a:rPr lang="en-US" b="0" i="0" dirty="0">
                <a:solidFill>
                  <a:srgbClr val="0D0D0D"/>
                </a:solidFill>
                <a:effectLst/>
                <a:latin typeface="Söhne"/>
              </a:rPr>
              <a:t>Both approaches have their merits and may be suitable depending on the specific requirements and constraints of the project. Total float priority focuses solely on the flexibility of activity schedules, while ordered list priority takes into account both duration and float to provide a more comprehensive prioritization strategy. Project managers should evaluate the characteristics of their project and choose the approach that best aligns with their goals and objectives.</a:t>
            </a:r>
            <a:endParaRPr lang="en-GB"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78F68D0-7D02-49C5-A04B-0B4FDFE3E3B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88927E2-2236-4AF5-8CB0-E75E38040424}" type="slidenum">
              <a:rPr lang="en-GB" altLang="en-US" sz="1200"/>
              <a:pPr/>
              <a:t>15</a:t>
            </a:fld>
            <a:endParaRPr lang="en-GB" altLang="en-US" sz="1200"/>
          </a:p>
        </p:txBody>
      </p:sp>
      <p:sp>
        <p:nvSpPr>
          <p:cNvPr id="23555" name="Rectangle 2">
            <a:extLst>
              <a:ext uri="{FF2B5EF4-FFF2-40B4-BE49-F238E27FC236}">
                <a16:creationId xmlns:a16="http://schemas.microsoft.com/office/drawing/2014/main" id="{78955C54-3A2F-45BF-BDF2-608F6660851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4BE3B3C-F798-42EE-81B3-5FD355B3E73E}"/>
              </a:ext>
            </a:extLst>
          </p:cNvPr>
          <p:cNvSpPr>
            <a:spLocks noGrp="1" noChangeArrowheads="1"/>
          </p:cNvSpPr>
          <p:nvPr>
            <p:ph type="body" idx="1"/>
          </p:nvPr>
        </p:nvSpPr>
        <p:spPr/>
        <p:txBody>
          <a:bodyPr/>
          <a:lstStyle/>
          <a:p>
            <a:pPr>
              <a:defRPr/>
            </a:pPr>
            <a:endParaRPr lang="en-GB" altLang="en-US" dirty="0"/>
          </a:p>
        </p:txBody>
      </p:sp>
    </p:spTree>
    <p:extLst>
      <p:ext uri="{BB962C8B-B14F-4D97-AF65-F5344CB8AC3E}">
        <p14:creationId xmlns:p14="http://schemas.microsoft.com/office/powerpoint/2010/main" val="2264255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C9F51A78-5112-400B-A909-0D3418737A9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723AA83-C6BA-438D-9BA1-8877401F1AE4}" type="slidenum">
              <a:rPr lang="en-GB" altLang="en-US" sz="1200"/>
              <a:pPr/>
              <a:t>16</a:t>
            </a:fld>
            <a:endParaRPr lang="en-GB" altLang="en-US" sz="1200"/>
          </a:p>
        </p:txBody>
      </p:sp>
      <p:sp>
        <p:nvSpPr>
          <p:cNvPr id="25603" name="Rectangle 2">
            <a:extLst>
              <a:ext uri="{FF2B5EF4-FFF2-40B4-BE49-F238E27FC236}">
                <a16:creationId xmlns:a16="http://schemas.microsoft.com/office/drawing/2014/main" id="{CC9F5AC3-9B1F-4762-9AEC-EDEE8D58D284}"/>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6FA82B3A-81FD-41AD-B2EF-33C7540352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In Lecture/chapter 7 the concept of critical chains was introduced which took account of resource constraints.</a:t>
            </a:r>
          </a:p>
          <a:p>
            <a:r>
              <a:rPr lang="en-GB" altLang="en-US"/>
              <a:t>The point about not adding links to the network to deal with resource constraints is not in the text, but is based on practical experience. The notation for activity networks does not tell you why one activity might be dependent on the completion of another.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2D51F96-9744-424F-A4F3-0AD6AF5D9AF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22D2731-B297-4A95-A29F-BEB6FDE5CB16}" type="slidenum">
              <a:rPr lang="en-GB" altLang="en-US" sz="1200"/>
              <a:pPr/>
              <a:t>17</a:t>
            </a:fld>
            <a:endParaRPr lang="en-GB" altLang="en-US" sz="1200"/>
          </a:p>
        </p:txBody>
      </p:sp>
      <p:sp>
        <p:nvSpPr>
          <p:cNvPr id="27651" name="Rectangle 2">
            <a:extLst>
              <a:ext uri="{FF2B5EF4-FFF2-40B4-BE49-F238E27FC236}">
                <a16:creationId xmlns:a16="http://schemas.microsoft.com/office/drawing/2014/main" id="{B2478F93-B38B-48A5-8EBA-86678DF1F758}"/>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556609E1-71F1-480E-B34B-5ACD8CBA810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Availability – who is free? Note that this will change during the course of the project as some tasks are completed earlier or later than planned</a:t>
            </a:r>
          </a:p>
          <a:p>
            <a:r>
              <a:rPr lang="en-GB" altLang="en-US"/>
              <a:t>Criticality – You would want to put your more experienced, ‘safer’, staff on the critical activities</a:t>
            </a:r>
          </a:p>
          <a:p>
            <a:r>
              <a:rPr lang="en-GB" altLang="en-US"/>
              <a:t>Risk – this is similar to the point above, but some activities could be off the critical path but still have risks e.g. to the quality of subsequent products</a:t>
            </a:r>
          </a:p>
          <a:p>
            <a:r>
              <a:rPr lang="en-GB" altLang="en-US"/>
              <a:t>Training – despite concerns about minimizing risk, it is healthy to take some risks in order to develop staff capabilities by allocating challenging tasks to relatively inexperienced stafff</a:t>
            </a:r>
          </a:p>
          <a:p>
            <a:r>
              <a:rPr lang="en-GB" altLang="en-US"/>
              <a:t>Team-building – identifying people who work well together can pay dividends; chopping and changing plans all the time may in theory optimize project performance, but can in practice be demotivating for staff</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CC0D4F8-B49F-4101-BF99-EF41D58E42A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62302CE-22C3-4D4D-81A8-BEC1034F1876}" type="slidenum">
              <a:rPr lang="en-GB" altLang="en-US" sz="1200"/>
              <a:pPr/>
              <a:t>18</a:t>
            </a:fld>
            <a:endParaRPr lang="en-GB" altLang="en-US" sz="1200"/>
          </a:p>
        </p:txBody>
      </p:sp>
      <p:sp>
        <p:nvSpPr>
          <p:cNvPr id="29699" name="Rectangle 2">
            <a:extLst>
              <a:ext uri="{FF2B5EF4-FFF2-40B4-BE49-F238E27FC236}">
                <a16:creationId xmlns:a16="http://schemas.microsoft.com/office/drawing/2014/main" id="{8063C050-F94F-43CE-8812-B78ED11E26C7}"/>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9B8FBDA4-03E9-4D78-BC04-1E51619A8E4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Section 8.9 covers this in more depth.</a:t>
            </a:r>
          </a:p>
          <a:p>
            <a:r>
              <a:rPr lang="en-GB" altLang="en-US"/>
              <a:t>Staff costs – includes not just salary, but also social security contributions by the employer, holiday pay etc. Timesheets are often used to record actual hours spent on each project by an individual. One issue can be how time when a staff member is allocated and available to the project, but is not actually working on the project, is dealt with.</a:t>
            </a:r>
          </a:p>
          <a:p>
            <a:r>
              <a:rPr lang="en-GB" altLang="en-US"/>
              <a:t>Overheads e.g. space rental, service charges etc. Some overheads might be directly attributable to the project; in other cases a percentage of departmental overheads may be allocated to project costs.</a:t>
            </a:r>
          </a:p>
          <a:p>
            <a:r>
              <a:rPr lang="en-GB" altLang="en-US"/>
              <a:t>Usage charges – some charges can be on a ‘pay as you go’ basis e.g. telephone charges, postage, car mileage – at the planning stage an estimate of these may have to be made</a:t>
            </a:r>
          </a:p>
          <a:p>
            <a:r>
              <a:rPr lang="en-GB" altLang="en-US"/>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B9E6AFF-1962-4FD8-B67A-D92F25FBEE5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5BF679A-3EDE-4D75-BF4E-5A3F64B36686}" type="slidenum">
              <a:rPr lang="en-GB" altLang="en-US" sz="1200"/>
              <a:pPr/>
              <a:t>19</a:t>
            </a:fld>
            <a:endParaRPr lang="en-GB" altLang="en-US" sz="1200"/>
          </a:p>
        </p:txBody>
      </p:sp>
      <p:sp>
        <p:nvSpPr>
          <p:cNvPr id="31747" name="Rectangle 2">
            <a:extLst>
              <a:ext uri="{FF2B5EF4-FFF2-40B4-BE49-F238E27FC236}">
                <a16:creationId xmlns:a16="http://schemas.microsoft.com/office/drawing/2014/main" id="{2035842F-5064-413E-97FC-2D465FDDA349}"/>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DA571FB-8FAF-483D-B2BA-DC5CAD53A5C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This shows how much is going to be spent in each week. This could be important where an organization allocates project budgets by financial year or quarter and the project straddles more than one of these financial periods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4FB1CA54-F598-4FF8-9841-4CFFA35CB91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8DB0627-B92E-497E-8EAD-BF37C6C2F9C1}" type="slidenum">
              <a:rPr lang="en-GB" altLang="en-US" sz="1200"/>
              <a:pPr/>
              <a:t>20</a:t>
            </a:fld>
            <a:endParaRPr lang="en-GB" altLang="en-US" sz="1200"/>
          </a:p>
        </p:txBody>
      </p:sp>
      <p:sp>
        <p:nvSpPr>
          <p:cNvPr id="33795" name="Rectangle 2">
            <a:extLst>
              <a:ext uri="{FF2B5EF4-FFF2-40B4-BE49-F238E27FC236}">
                <a16:creationId xmlns:a16="http://schemas.microsoft.com/office/drawing/2014/main" id="{5D776E29-EB5A-4CE4-BB66-F8C4680BEC0C}"/>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2DF0D5D1-D126-46C0-A33C-52C498B30D4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The project manager will also be concerned about planned accumulative costs. This chart can be compared to the actual accumulative costs when controlling the project to assess whether the project is likely to meet its cost targets.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469D6E0-9D4D-4072-B61A-6A534A18C8E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739DAF3-0A1F-4968-B1D6-3B968A7ABD3D}" type="slidenum">
              <a:rPr lang="en-GB" altLang="en-US" sz="1200"/>
              <a:pPr/>
              <a:t>21</a:t>
            </a:fld>
            <a:endParaRPr lang="en-GB" altLang="en-US" sz="1200"/>
          </a:p>
        </p:txBody>
      </p:sp>
      <p:sp>
        <p:nvSpPr>
          <p:cNvPr id="35843" name="Rectangle 2">
            <a:extLst>
              <a:ext uri="{FF2B5EF4-FFF2-40B4-BE49-F238E27FC236}">
                <a16:creationId xmlns:a16="http://schemas.microsoft.com/office/drawing/2014/main" id="{D6914DEF-DFD1-4482-B574-E04781984294}"/>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59A51645-43AF-43BF-8AC2-EBC50CE9DC7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t>Successful project scheduling is not a simple sequence.</a:t>
            </a:r>
          </a:p>
          <a:p>
            <a:r>
              <a:rPr lang="en-GB" altLang="en-US"/>
              <a:t>Because of the inter-linking of different concerns project planning will need to be iterative. The consequences of decisions will need to carefully assessed and plans adjusted accordingly.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Management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Management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Management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D6E9BA-A492-436C-A5E2-DF8625E46CF2}"/>
              </a:ext>
            </a:extLst>
          </p:cNvPr>
          <p:cNvSpPr>
            <a:spLocks noGrp="1"/>
          </p:cNvSpPr>
          <p:nvPr>
            <p:ph type="ftr" sz="quarter" idx="11"/>
          </p:nvPr>
        </p:nvSpPr>
        <p:spPr/>
        <p:txBody>
          <a:bodyPr/>
          <a:lstStyle/>
          <a:p>
            <a:r>
              <a:rPr lang="en-US"/>
              <a:t>CS4044 - Fundamentals of Software Project Management</a:t>
            </a:r>
          </a:p>
        </p:txBody>
      </p:sp>
      <p:sp>
        <p:nvSpPr>
          <p:cNvPr id="6" name="Slide Number Placeholder 5">
            <a:extLst>
              <a:ext uri="{FF2B5EF4-FFF2-40B4-BE49-F238E27FC236}">
                <a16:creationId xmlns:a16="http://schemas.microsoft.com/office/drawing/2014/main"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373720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Management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1.png"/><Relationship Id="rId4" Type="http://schemas.openxmlformats.org/officeDocument/2006/relationships/customXml" Target="../ink/ink6.xml"/><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10.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customXml" Target="../ink/ink11.xml"/><Relationship Id="rId7" Type="http://schemas.openxmlformats.org/officeDocument/2006/relationships/customXml" Target="../ink/ink13.xml"/><Relationship Id="rId12"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customXml" Target="../ink/ink15.xml"/><Relationship Id="rId5" Type="http://schemas.openxmlformats.org/officeDocument/2006/relationships/customXml" Target="../ink/ink12.xml"/><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customXml" Target="../ink/ink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143002" y="1999615"/>
            <a:ext cx="6858000" cy="2764028"/>
          </a:xfrm>
        </p:spPr>
        <p:txBody>
          <a:bodyPr anchor="ctr">
            <a:normAutofit/>
          </a:bodyPr>
          <a:lstStyle/>
          <a:p>
            <a:r>
              <a:rPr lang="en-IN" sz="3500" dirty="0">
                <a:latin typeface="+mn-lt"/>
                <a:cs typeface="Arial" panose="020B0604020202020204" pitchFamily="34" charset="0"/>
              </a:rPr>
              <a:t>FUNDAMNETALS OF SOFTWARE PROJECT MANAGEMENT</a:t>
            </a:r>
            <a:br>
              <a:rPr lang="en-IN" sz="3500" dirty="0">
                <a:latin typeface="+mn-lt"/>
                <a:cs typeface="Arial" panose="020B0604020202020204" pitchFamily="34" charset="0"/>
              </a:rPr>
            </a:br>
            <a:br>
              <a:rPr lang="en-IN" sz="3500" dirty="0">
                <a:latin typeface="+mn-lt"/>
                <a:cs typeface="Arial" panose="020B0604020202020204" pitchFamily="34" charset="0"/>
              </a:rPr>
            </a:br>
            <a:r>
              <a:rPr lang="en-GB" altLang="en-US" sz="3500" dirty="0"/>
              <a:t>Resource Allocation</a:t>
            </a:r>
            <a:br>
              <a:rPr lang="en-GB" altLang="en-US" sz="3500" dirty="0"/>
            </a:br>
            <a:endParaRPr lang="en-US" sz="35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Week-11</a:t>
            </a:r>
            <a:endParaRPr lang="en-US" sz="2400" dirty="0"/>
          </a:p>
          <a:p>
            <a:endParaRPr lang="en-US" sz="2400" dirty="0"/>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3150116D-DD2A-4B5C-85C5-4DEEAFBE4808}"/>
              </a:ext>
            </a:extLst>
          </p:cNvPr>
          <p:cNvSpPr>
            <a:spLocks noGrp="1" noChangeArrowheads="1"/>
          </p:cNvSpPr>
          <p:nvPr>
            <p:ph type="title"/>
          </p:nvPr>
        </p:nvSpPr>
        <p:spPr/>
        <p:txBody>
          <a:bodyPr/>
          <a:lstStyle/>
          <a:p>
            <a:pPr eaLnBrk="1" hangingPunct="1"/>
            <a:r>
              <a:rPr lang="en-US" altLang="en-US" b="1"/>
              <a:t>Objectives</a:t>
            </a:r>
          </a:p>
        </p:txBody>
      </p:sp>
      <p:sp>
        <p:nvSpPr>
          <p:cNvPr id="5124" name="Rectangle 3">
            <a:extLst>
              <a:ext uri="{FF2B5EF4-FFF2-40B4-BE49-F238E27FC236}">
                <a16:creationId xmlns:a16="http://schemas.microsoft.com/office/drawing/2014/main" id="{2EAAF9D8-8A1C-4E55-B0B5-79965F7AA68B}"/>
              </a:ext>
            </a:extLst>
          </p:cNvPr>
          <p:cNvSpPr>
            <a:spLocks noGrp="1" noChangeArrowheads="1"/>
          </p:cNvSpPr>
          <p:nvPr>
            <p:ph type="body" idx="1"/>
          </p:nvPr>
        </p:nvSpPr>
        <p:spPr/>
        <p:txBody>
          <a:bodyPr/>
          <a:lstStyle/>
          <a:p>
            <a:pPr eaLnBrk="1" hangingPunct="1"/>
            <a:r>
              <a:rPr lang="en-US" altLang="en-US"/>
              <a:t>Nature of Resources</a:t>
            </a:r>
          </a:p>
          <a:p>
            <a:pPr eaLnBrk="1" hangingPunct="1"/>
            <a:r>
              <a:rPr lang="en-US" altLang="en-US"/>
              <a:t>Identifying Resource Requirements</a:t>
            </a:r>
          </a:p>
          <a:p>
            <a:pPr eaLnBrk="1" hangingPunct="1"/>
            <a:r>
              <a:rPr lang="en-US" altLang="en-US"/>
              <a:t>Scheduling Resources</a:t>
            </a:r>
          </a:p>
          <a:p>
            <a:pPr eaLnBrk="1" hangingPunct="1"/>
            <a:r>
              <a:rPr lang="en-US" altLang="en-US"/>
              <a:t>Resource Scheduling Techniques</a:t>
            </a:r>
          </a:p>
        </p:txBody>
      </p:sp>
      <p:sp>
        <p:nvSpPr>
          <p:cNvPr id="2" name="Slide Number Placeholder 1">
            <a:extLst>
              <a:ext uri="{FF2B5EF4-FFF2-40B4-BE49-F238E27FC236}">
                <a16:creationId xmlns:a16="http://schemas.microsoft.com/office/drawing/2014/main" id="{98874C44-813D-4D6C-8879-D33C6DFBB847}"/>
              </a:ext>
            </a:extLst>
          </p:cNvPr>
          <p:cNvSpPr>
            <a:spLocks noGrp="1"/>
          </p:cNvSpPr>
          <p:nvPr>
            <p:ph type="sldNum" sz="quarter" idx="12"/>
          </p:nvPr>
        </p:nvSpPr>
        <p:spPr/>
        <p:txBody>
          <a:bodyPr/>
          <a:lstStyle/>
          <a:p>
            <a:fld id="{60D6D740-8150-433F-9426-3FCFF681501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BA6D2974-A7D5-4AE2-9A9F-B0758CD1DF12}"/>
              </a:ext>
            </a:extLst>
          </p:cNvPr>
          <p:cNvSpPr>
            <a:spLocks noGrp="1" noChangeArrowheads="1"/>
          </p:cNvSpPr>
          <p:nvPr>
            <p:ph type="title"/>
          </p:nvPr>
        </p:nvSpPr>
        <p:spPr/>
        <p:txBody>
          <a:bodyPr/>
          <a:lstStyle/>
          <a:p>
            <a:pPr eaLnBrk="1" hangingPunct="1"/>
            <a:r>
              <a:rPr lang="en-US" altLang="en-US" b="1"/>
              <a:t>Schedules</a:t>
            </a:r>
          </a:p>
        </p:txBody>
      </p:sp>
      <p:sp>
        <p:nvSpPr>
          <p:cNvPr id="7172" name="Rectangle 3">
            <a:extLst>
              <a:ext uri="{FF2B5EF4-FFF2-40B4-BE49-F238E27FC236}">
                <a16:creationId xmlns:a16="http://schemas.microsoft.com/office/drawing/2014/main" id="{CAB1F4CD-090A-4936-8BBD-11D91DF52396}"/>
              </a:ext>
            </a:extLst>
          </p:cNvPr>
          <p:cNvSpPr>
            <a:spLocks noGrp="1" noChangeArrowheads="1"/>
          </p:cNvSpPr>
          <p:nvPr>
            <p:ph type="body" idx="1"/>
          </p:nvPr>
        </p:nvSpPr>
        <p:spPr/>
        <p:txBody>
          <a:bodyPr/>
          <a:lstStyle/>
          <a:p>
            <a:pPr eaLnBrk="1" hangingPunct="1"/>
            <a:r>
              <a:rPr lang="en-US" altLang="en-US" i="1" dirty="0"/>
              <a:t>Activity schedule</a:t>
            </a:r>
            <a:r>
              <a:rPr lang="en-US" altLang="en-US" dirty="0"/>
              <a:t> - indicating start and completion dates for each activity</a:t>
            </a:r>
          </a:p>
          <a:p>
            <a:pPr eaLnBrk="1" hangingPunct="1"/>
            <a:r>
              <a:rPr lang="en-US" altLang="en-US" i="1" dirty="0"/>
              <a:t>Resource schedule</a:t>
            </a:r>
            <a:r>
              <a:rPr lang="en-US" altLang="en-US" dirty="0"/>
              <a:t> - indicating dates when resources needed + level of resources</a:t>
            </a:r>
          </a:p>
          <a:p>
            <a:pPr eaLnBrk="1" hangingPunct="1"/>
            <a:r>
              <a:rPr lang="en-US" altLang="en-US" i="1" dirty="0"/>
              <a:t>Cost schedule </a:t>
            </a:r>
            <a:r>
              <a:rPr lang="en-US" altLang="en-US" dirty="0"/>
              <a:t>showing accumulative expenditure</a:t>
            </a:r>
          </a:p>
        </p:txBody>
      </p:sp>
      <p:sp>
        <p:nvSpPr>
          <p:cNvPr id="2" name="Slide Number Placeholder 1">
            <a:extLst>
              <a:ext uri="{FF2B5EF4-FFF2-40B4-BE49-F238E27FC236}">
                <a16:creationId xmlns:a16="http://schemas.microsoft.com/office/drawing/2014/main" id="{EE91FC86-131D-465F-A367-57ADD5D9D61F}"/>
              </a:ext>
            </a:extLst>
          </p:cNvPr>
          <p:cNvSpPr>
            <a:spLocks noGrp="1"/>
          </p:cNvSpPr>
          <p:nvPr>
            <p:ph type="sldNum" sz="quarter" idx="12"/>
          </p:nvPr>
        </p:nvSpPr>
        <p:spPr/>
        <p:txBody>
          <a:bodyPr/>
          <a:lstStyle/>
          <a:p>
            <a:fld id="{60D6D740-8150-433F-9426-3FCFF681501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328488F7-FEC1-4CFA-A6E2-F5732CA000AC}"/>
              </a:ext>
            </a:extLst>
          </p:cNvPr>
          <p:cNvSpPr>
            <a:spLocks noGrp="1" noChangeArrowheads="1"/>
          </p:cNvSpPr>
          <p:nvPr>
            <p:ph type="title"/>
          </p:nvPr>
        </p:nvSpPr>
        <p:spPr>
          <a:xfrm>
            <a:off x="495300" y="812800"/>
            <a:ext cx="7772400" cy="1143000"/>
          </a:xfrm>
        </p:spPr>
        <p:txBody>
          <a:bodyPr/>
          <a:lstStyle/>
          <a:p>
            <a:pPr eaLnBrk="1" hangingPunct="1"/>
            <a:r>
              <a:rPr lang="en-US" altLang="en-US" dirty="0"/>
              <a:t>Nature of Resources</a:t>
            </a:r>
          </a:p>
        </p:txBody>
      </p:sp>
      <p:sp>
        <p:nvSpPr>
          <p:cNvPr id="9220" name="Rectangle 3">
            <a:extLst>
              <a:ext uri="{FF2B5EF4-FFF2-40B4-BE49-F238E27FC236}">
                <a16:creationId xmlns:a16="http://schemas.microsoft.com/office/drawing/2014/main" id="{9800BE1C-1546-4273-8527-A9F2B9DFC1E5}"/>
              </a:ext>
            </a:extLst>
          </p:cNvPr>
          <p:cNvSpPr>
            <a:spLocks noGrp="1" noChangeArrowheads="1"/>
          </p:cNvSpPr>
          <p:nvPr>
            <p:ph type="body" idx="1"/>
          </p:nvPr>
        </p:nvSpPr>
        <p:spPr>
          <a:xfrm>
            <a:off x="381000" y="1686560"/>
            <a:ext cx="8001000" cy="4800600"/>
          </a:xfrm>
        </p:spPr>
        <p:txBody>
          <a:bodyPr/>
          <a:lstStyle/>
          <a:p>
            <a:pPr eaLnBrk="1" hangingPunct="1"/>
            <a:r>
              <a:rPr lang="en-US" altLang="en-US" dirty="0"/>
              <a:t>These include</a:t>
            </a:r>
          </a:p>
          <a:p>
            <a:pPr lvl="1" eaLnBrk="1" hangingPunct="1"/>
            <a:r>
              <a:rPr lang="en-US" altLang="en-US" dirty="0" err="1"/>
              <a:t>labour</a:t>
            </a:r>
            <a:endParaRPr lang="en-US" altLang="en-US" dirty="0"/>
          </a:p>
          <a:p>
            <a:pPr lvl="1" eaLnBrk="1" hangingPunct="1"/>
            <a:r>
              <a:rPr lang="en-US" altLang="en-US" dirty="0"/>
              <a:t>equipment (e.g. workstations)</a:t>
            </a:r>
          </a:p>
          <a:p>
            <a:pPr lvl="1" eaLnBrk="1" hangingPunct="1"/>
            <a:r>
              <a:rPr lang="en-US" altLang="en-US" dirty="0"/>
              <a:t>materials</a:t>
            </a:r>
          </a:p>
          <a:p>
            <a:pPr lvl="1" eaLnBrk="1" hangingPunct="1"/>
            <a:r>
              <a:rPr lang="en-US" altLang="en-US" dirty="0"/>
              <a:t>space </a:t>
            </a:r>
          </a:p>
          <a:p>
            <a:pPr lvl="1" eaLnBrk="1" hangingPunct="1"/>
            <a:r>
              <a:rPr lang="en-US" altLang="en-US" dirty="0"/>
              <a:t>services</a:t>
            </a:r>
          </a:p>
          <a:p>
            <a:pPr eaLnBrk="1" hangingPunct="1"/>
            <a:r>
              <a:rPr lang="en-US" altLang="en-US" dirty="0"/>
              <a:t>Time: elapsed time can often be reduced by adding more staff</a:t>
            </a:r>
          </a:p>
          <a:p>
            <a:pPr eaLnBrk="1" hangingPunct="1"/>
            <a:r>
              <a:rPr lang="en-US" altLang="en-US" dirty="0"/>
              <a:t>Money: used to buy the other resources</a:t>
            </a:r>
          </a:p>
        </p:txBody>
      </p:sp>
      <p:sp>
        <p:nvSpPr>
          <p:cNvPr id="2" name="Slide Number Placeholder 1">
            <a:extLst>
              <a:ext uri="{FF2B5EF4-FFF2-40B4-BE49-F238E27FC236}">
                <a16:creationId xmlns:a16="http://schemas.microsoft.com/office/drawing/2014/main" id="{49CF9A5B-519F-4405-82F0-13E6FCEC8F09}"/>
              </a:ext>
            </a:extLst>
          </p:cNvPr>
          <p:cNvSpPr>
            <a:spLocks noGrp="1"/>
          </p:cNvSpPr>
          <p:nvPr>
            <p:ph type="sldNum" sz="quarter" idx="12"/>
          </p:nvPr>
        </p:nvSpPr>
        <p:spPr/>
        <p:txBody>
          <a:bodyPr/>
          <a:lstStyle/>
          <a:p>
            <a:fld id="{60D6D740-8150-433F-9426-3FCFF681501A}"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43E7A0CA-E67A-4B85-A05D-383E89D3DCB0}"/>
              </a:ext>
            </a:extLst>
          </p:cNvPr>
          <p:cNvSpPr>
            <a:spLocks noGrp="1" noChangeArrowheads="1"/>
          </p:cNvSpPr>
          <p:nvPr>
            <p:ph type="title"/>
          </p:nvPr>
        </p:nvSpPr>
        <p:spPr>
          <a:xfrm>
            <a:off x="396081" y="1014412"/>
            <a:ext cx="8351837" cy="1143000"/>
          </a:xfrm>
        </p:spPr>
        <p:txBody>
          <a:bodyPr/>
          <a:lstStyle/>
          <a:p>
            <a:pPr eaLnBrk="1" hangingPunct="1"/>
            <a:r>
              <a:rPr lang="en-US" altLang="en-US" dirty="0"/>
              <a:t>Identifying Resource Requirements</a:t>
            </a:r>
          </a:p>
        </p:txBody>
      </p:sp>
      <p:sp>
        <p:nvSpPr>
          <p:cNvPr id="11268" name="Rectangle 3">
            <a:extLst>
              <a:ext uri="{FF2B5EF4-FFF2-40B4-BE49-F238E27FC236}">
                <a16:creationId xmlns:a16="http://schemas.microsoft.com/office/drawing/2014/main" id="{0C27C44E-8D72-499F-B87E-9C7DB3BC5E4C}"/>
              </a:ext>
            </a:extLst>
          </p:cNvPr>
          <p:cNvSpPr>
            <a:spLocks noGrp="1" noChangeArrowheads="1"/>
          </p:cNvSpPr>
          <p:nvPr>
            <p:ph type="body" idx="1"/>
          </p:nvPr>
        </p:nvSpPr>
        <p:spPr>
          <a:xfrm>
            <a:off x="381000" y="2193925"/>
            <a:ext cx="8001000" cy="3281363"/>
          </a:xfrm>
        </p:spPr>
        <p:txBody>
          <a:bodyPr>
            <a:normAutofit/>
          </a:bodyPr>
          <a:lstStyle/>
          <a:p>
            <a:pPr eaLnBrk="1" hangingPunct="1"/>
            <a:r>
              <a:rPr lang="en-US" altLang="en-US" sz="3200" dirty="0"/>
              <a:t>The first step in producing a resource allocation plan is to list the resources.</a:t>
            </a:r>
          </a:p>
          <a:p>
            <a:pPr lvl="1" eaLnBrk="1" hangingPunct="1"/>
            <a:r>
              <a:rPr lang="en-US" altLang="en-US" sz="2800" dirty="0"/>
              <a:t>Activity Specific Resources</a:t>
            </a:r>
          </a:p>
          <a:p>
            <a:pPr lvl="1" eaLnBrk="1" hangingPunct="1"/>
            <a:r>
              <a:rPr lang="en-US" altLang="en-US" sz="2800" dirty="0"/>
              <a:t>Resources not specific to activity</a:t>
            </a:r>
          </a:p>
          <a:p>
            <a:pPr lvl="2" eaLnBrk="1" hangingPunct="1"/>
            <a:r>
              <a:rPr lang="en-US" altLang="en-US" sz="2400" dirty="0"/>
              <a:t>Project Manager (Part of Project Infrastructure)</a:t>
            </a:r>
          </a:p>
          <a:p>
            <a:pPr lvl="2" eaLnBrk="1" hangingPunct="1"/>
            <a:r>
              <a:rPr lang="en-US" altLang="en-US" sz="2400" dirty="0"/>
              <a:t>Office Space</a:t>
            </a:r>
          </a:p>
        </p:txBody>
      </p:sp>
      <p:sp>
        <p:nvSpPr>
          <p:cNvPr id="2" name="Slide Number Placeholder 1">
            <a:extLst>
              <a:ext uri="{FF2B5EF4-FFF2-40B4-BE49-F238E27FC236}">
                <a16:creationId xmlns:a16="http://schemas.microsoft.com/office/drawing/2014/main" id="{5DC437B2-864A-45DA-88AB-C1FA38BF721E}"/>
              </a:ext>
            </a:extLst>
          </p:cNvPr>
          <p:cNvSpPr>
            <a:spLocks noGrp="1"/>
          </p:cNvSpPr>
          <p:nvPr>
            <p:ph type="sldNum" sz="quarter" idx="12"/>
          </p:nvPr>
        </p:nvSpPr>
        <p:spPr/>
        <p:txBody>
          <a:bodyPr/>
          <a:lstStyle/>
          <a:p>
            <a:fld id="{60D6D740-8150-433F-9426-3FCFF681501A}"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5A59344A-10D8-4D29-9881-80D303C84808}"/>
              </a:ext>
            </a:extLst>
          </p:cNvPr>
          <p:cNvSpPr>
            <a:spLocks noGrp="1"/>
          </p:cNvSpPr>
          <p:nvPr>
            <p:ph type="sldNum" sz="quarter" idx="10"/>
          </p:nvPr>
        </p:nvSpPr>
        <p:spPr bwMode="auto">
          <a:xfrm>
            <a:off x="3352800" y="63246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0"/>
              </a:spcBef>
              <a:buFontTx/>
              <a:buNone/>
            </a:pPr>
            <a:fld id="{19C84176-C0D0-45DD-AF87-60B2F0BF5886}" type="slidenum">
              <a:rPr lang="en-US" altLang="en-US" smtClean="0"/>
              <a:pPr>
                <a:spcBef>
                  <a:spcPct val="0"/>
                </a:spcBef>
                <a:buFontTx/>
                <a:buNone/>
              </a:pPr>
              <a:t>6</a:t>
            </a:fld>
            <a:endParaRPr lang="en-US" altLang="en-US" sz="1400">
              <a:solidFill>
                <a:schemeClr val="tx1"/>
              </a:solidFill>
              <a:latin typeface="Times New Roman" panose="02020603050405020304" pitchFamily="18" charset="0"/>
            </a:endParaRPr>
          </a:p>
        </p:txBody>
      </p:sp>
      <p:sp>
        <p:nvSpPr>
          <p:cNvPr id="13315" name="Rectangle 2">
            <a:extLst>
              <a:ext uri="{FF2B5EF4-FFF2-40B4-BE49-F238E27FC236}">
                <a16:creationId xmlns:a16="http://schemas.microsoft.com/office/drawing/2014/main" id="{8C07F1D7-F240-41DE-894B-23C446387773}"/>
              </a:ext>
            </a:extLst>
          </p:cNvPr>
          <p:cNvSpPr>
            <a:spLocks noGrp="1" noChangeArrowheads="1"/>
          </p:cNvSpPr>
          <p:nvPr>
            <p:ph type="title"/>
          </p:nvPr>
        </p:nvSpPr>
        <p:spPr/>
        <p:txBody>
          <a:bodyPr/>
          <a:lstStyle/>
          <a:p>
            <a:pPr eaLnBrk="1" hangingPunct="1"/>
            <a:r>
              <a:rPr lang="en-US" altLang="en-US" dirty="0"/>
              <a:t>Resource allocation</a:t>
            </a:r>
          </a:p>
        </p:txBody>
      </p:sp>
      <p:sp>
        <p:nvSpPr>
          <p:cNvPr id="13316" name="Rectangle 3">
            <a:extLst>
              <a:ext uri="{FF2B5EF4-FFF2-40B4-BE49-F238E27FC236}">
                <a16:creationId xmlns:a16="http://schemas.microsoft.com/office/drawing/2014/main" id="{C8FFF091-22A6-4653-B6EE-CB22133B2DB4}"/>
              </a:ext>
            </a:extLst>
          </p:cNvPr>
          <p:cNvSpPr>
            <a:spLocks noGrp="1" noChangeArrowheads="1"/>
          </p:cNvSpPr>
          <p:nvPr>
            <p:ph type="body" idx="1"/>
          </p:nvPr>
        </p:nvSpPr>
        <p:spPr/>
        <p:txBody>
          <a:bodyPr/>
          <a:lstStyle/>
          <a:p>
            <a:pPr eaLnBrk="1" hangingPunct="1"/>
            <a:r>
              <a:rPr lang="en-US" altLang="en-US" dirty="0"/>
              <a:t>Identify the resources needed for each activity</a:t>
            </a:r>
          </a:p>
          <a:p>
            <a:pPr eaLnBrk="1" hangingPunct="1"/>
            <a:r>
              <a:rPr lang="en-US" altLang="en-US" dirty="0"/>
              <a:t>Identify </a:t>
            </a:r>
            <a:r>
              <a:rPr lang="en-US" altLang="en-US" i="1" dirty="0">
                <a:solidFill>
                  <a:srgbClr val="FF0000"/>
                </a:solidFill>
              </a:rPr>
              <a:t>resource types </a:t>
            </a:r>
            <a:r>
              <a:rPr lang="en-US" altLang="en-US" i="1" dirty="0"/>
              <a:t>- </a:t>
            </a:r>
            <a:r>
              <a:rPr lang="en-US" altLang="en-US" dirty="0"/>
              <a:t>individuals are interchangeable within the group (e.g. ‘VB programmers’ as opposed to ‘software developers’)</a:t>
            </a:r>
          </a:p>
          <a:p>
            <a:pPr eaLnBrk="1" hangingPunct="1"/>
            <a:r>
              <a:rPr lang="en-US" altLang="en-US" dirty="0"/>
              <a:t>Allocate resource types to activities and examine the </a:t>
            </a:r>
            <a:r>
              <a:rPr lang="en-US" altLang="en-US" i="1" dirty="0">
                <a:solidFill>
                  <a:srgbClr val="FF0000"/>
                </a:solidFill>
              </a:rPr>
              <a:t>resource histogram.</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B3C05017-4DD0-48A6-80FF-9249A2DF7FF5}"/>
              </a:ext>
            </a:extLst>
          </p:cNvPr>
          <p:cNvSpPr>
            <a:spLocks noGrp="1" noChangeArrowheads="1"/>
          </p:cNvSpPr>
          <p:nvPr>
            <p:ph type="title"/>
          </p:nvPr>
        </p:nvSpPr>
        <p:spPr>
          <a:xfrm>
            <a:off x="609600" y="228600"/>
            <a:ext cx="7772400" cy="1143000"/>
          </a:xfrm>
        </p:spPr>
        <p:txBody>
          <a:bodyPr>
            <a:normAutofit fontScale="90000"/>
          </a:bodyPr>
          <a:lstStyle/>
          <a:p>
            <a:pPr eaLnBrk="1" hangingPunct="1"/>
            <a:r>
              <a:rPr lang="en-US" altLang="en-US" b="1" dirty="0"/>
              <a:t>Resource histogram: systems analysts</a:t>
            </a:r>
          </a:p>
        </p:txBody>
      </p:sp>
      <p:sp>
        <p:nvSpPr>
          <p:cNvPr id="15364" name="Rectangle 3">
            <a:extLst>
              <a:ext uri="{FF2B5EF4-FFF2-40B4-BE49-F238E27FC236}">
                <a16:creationId xmlns:a16="http://schemas.microsoft.com/office/drawing/2014/main" id="{A409AAF4-6005-45A9-91A4-7F1F2E96623A}"/>
              </a:ext>
            </a:extLst>
          </p:cNvPr>
          <p:cNvSpPr>
            <a:spLocks noChangeArrowheads="1"/>
          </p:cNvSpPr>
          <p:nvPr/>
        </p:nvSpPr>
        <p:spPr bwMode="auto">
          <a:xfrm>
            <a:off x="3845560" y="4191000"/>
            <a:ext cx="914400" cy="14478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65" name="Rectangle 4">
            <a:extLst>
              <a:ext uri="{FF2B5EF4-FFF2-40B4-BE49-F238E27FC236}">
                <a16:creationId xmlns:a16="http://schemas.microsoft.com/office/drawing/2014/main" id="{55A8D0F8-48B5-4927-A5C6-0F77A6874BF2}"/>
              </a:ext>
            </a:extLst>
          </p:cNvPr>
          <p:cNvSpPr>
            <a:spLocks noChangeArrowheads="1"/>
          </p:cNvSpPr>
          <p:nvPr/>
        </p:nvSpPr>
        <p:spPr bwMode="auto">
          <a:xfrm>
            <a:off x="4759960" y="2743200"/>
            <a:ext cx="914400" cy="28956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66" name="Rectangle 5">
            <a:extLst>
              <a:ext uri="{FF2B5EF4-FFF2-40B4-BE49-F238E27FC236}">
                <a16:creationId xmlns:a16="http://schemas.microsoft.com/office/drawing/2014/main" id="{FE602C28-66C5-4C94-8150-E00610A5CFC8}"/>
              </a:ext>
            </a:extLst>
          </p:cNvPr>
          <p:cNvSpPr>
            <a:spLocks noChangeArrowheads="1"/>
          </p:cNvSpPr>
          <p:nvPr/>
        </p:nvSpPr>
        <p:spPr bwMode="auto">
          <a:xfrm>
            <a:off x="5674360" y="4191000"/>
            <a:ext cx="914400" cy="14478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67" name="Rectangle 6">
            <a:extLst>
              <a:ext uri="{FF2B5EF4-FFF2-40B4-BE49-F238E27FC236}">
                <a16:creationId xmlns:a16="http://schemas.microsoft.com/office/drawing/2014/main" id="{76E18A8B-EF96-4C0E-A957-BBC8987EE0FC}"/>
              </a:ext>
            </a:extLst>
          </p:cNvPr>
          <p:cNvSpPr>
            <a:spLocks noChangeArrowheads="1"/>
          </p:cNvSpPr>
          <p:nvPr/>
        </p:nvSpPr>
        <p:spPr bwMode="auto">
          <a:xfrm>
            <a:off x="6588760" y="1905000"/>
            <a:ext cx="914400" cy="37338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68" name="Rectangle 7">
            <a:extLst>
              <a:ext uri="{FF2B5EF4-FFF2-40B4-BE49-F238E27FC236}">
                <a16:creationId xmlns:a16="http://schemas.microsoft.com/office/drawing/2014/main" id="{73A54020-1BF5-40FA-BFEB-EC2F814A14D3}"/>
              </a:ext>
            </a:extLst>
          </p:cNvPr>
          <p:cNvSpPr>
            <a:spLocks noChangeArrowheads="1"/>
          </p:cNvSpPr>
          <p:nvPr/>
        </p:nvSpPr>
        <p:spPr bwMode="auto">
          <a:xfrm>
            <a:off x="7503160" y="3429000"/>
            <a:ext cx="914400" cy="22098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69" name="Rectangle 8">
            <a:extLst>
              <a:ext uri="{FF2B5EF4-FFF2-40B4-BE49-F238E27FC236}">
                <a16:creationId xmlns:a16="http://schemas.microsoft.com/office/drawing/2014/main" id="{62A85E8F-F384-47E8-8C0F-EB7CAD7F53EF}"/>
              </a:ext>
            </a:extLst>
          </p:cNvPr>
          <p:cNvSpPr>
            <a:spLocks noChangeArrowheads="1"/>
          </p:cNvSpPr>
          <p:nvPr/>
        </p:nvSpPr>
        <p:spPr bwMode="auto">
          <a:xfrm>
            <a:off x="2040573" y="4144962"/>
            <a:ext cx="914400" cy="1479549"/>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70" name="Rectangle 9">
            <a:extLst>
              <a:ext uri="{FF2B5EF4-FFF2-40B4-BE49-F238E27FC236}">
                <a16:creationId xmlns:a16="http://schemas.microsoft.com/office/drawing/2014/main" id="{653D7F64-B538-4C7C-BFC0-A256D0BEBA58}"/>
              </a:ext>
            </a:extLst>
          </p:cNvPr>
          <p:cNvSpPr>
            <a:spLocks noChangeArrowheads="1"/>
          </p:cNvSpPr>
          <p:nvPr/>
        </p:nvSpPr>
        <p:spPr bwMode="auto">
          <a:xfrm>
            <a:off x="2931160" y="3398519"/>
            <a:ext cx="914400" cy="2225993"/>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71" name="Line 10">
            <a:extLst>
              <a:ext uri="{FF2B5EF4-FFF2-40B4-BE49-F238E27FC236}">
                <a16:creationId xmlns:a16="http://schemas.microsoft.com/office/drawing/2014/main" id="{DEC6B043-A363-4DCC-9CCF-F3C15FFDFC86}"/>
              </a:ext>
            </a:extLst>
          </p:cNvPr>
          <p:cNvSpPr>
            <a:spLocks noChangeShapeType="1"/>
          </p:cNvSpPr>
          <p:nvPr/>
        </p:nvSpPr>
        <p:spPr bwMode="auto">
          <a:xfrm>
            <a:off x="2016760" y="4953000"/>
            <a:ext cx="64008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2" name="Line 11">
            <a:extLst>
              <a:ext uri="{FF2B5EF4-FFF2-40B4-BE49-F238E27FC236}">
                <a16:creationId xmlns:a16="http://schemas.microsoft.com/office/drawing/2014/main" id="{B32F9998-70F5-4BBB-AD8C-9D9CE1F65882}"/>
              </a:ext>
            </a:extLst>
          </p:cNvPr>
          <p:cNvSpPr>
            <a:spLocks noChangeShapeType="1"/>
          </p:cNvSpPr>
          <p:nvPr/>
        </p:nvSpPr>
        <p:spPr bwMode="auto">
          <a:xfrm>
            <a:off x="2016760" y="4191000"/>
            <a:ext cx="64008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3" name="Line 12">
            <a:extLst>
              <a:ext uri="{FF2B5EF4-FFF2-40B4-BE49-F238E27FC236}">
                <a16:creationId xmlns:a16="http://schemas.microsoft.com/office/drawing/2014/main" id="{492BB20C-80FE-477E-8666-E01F7D99F08C}"/>
              </a:ext>
            </a:extLst>
          </p:cNvPr>
          <p:cNvSpPr>
            <a:spLocks noChangeShapeType="1"/>
          </p:cNvSpPr>
          <p:nvPr/>
        </p:nvSpPr>
        <p:spPr bwMode="auto">
          <a:xfrm>
            <a:off x="2016760" y="2743200"/>
            <a:ext cx="64008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4" name="Line 13">
            <a:extLst>
              <a:ext uri="{FF2B5EF4-FFF2-40B4-BE49-F238E27FC236}">
                <a16:creationId xmlns:a16="http://schemas.microsoft.com/office/drawing/2014/main" id="{E4AE8453-2EE0-4CAF-8EB6-6A19C827D6F6}"/>
              </a:ext>
            </a:extLst>
          </p:cNvPr>
          <p:cNvSpPr>
            <a:spLocks noChangeShapeType="1"/>
          </p:cNvSpPr>
          <p:nvPr/>
        </p:nvSpPr>
        <p:spPr bwMode="auto">
          <a:xfrm>
            <a:off x="2016760" y="1905000"/>
            <a:ext cx="64008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5" name="Line 14">
            <a:extLst>
              <a:ext uri="{FF2B5EF4-FFF2-40B4-BE49-F238E27FC236}">
                <a16:creationId xmlns:a16="http://schemas.microsoft.com/office/drawing/2014/main" id="{E1C0662E-B14D-4B23-A7D5-F1C363D934F5}"/>
              </a:ext>
            </a:extLst>
          </p:cNvPr>
          <p:cNvSpPr>
            <a:spLocks noChangeShapeType="1"/>
          </p:cNvSpPr>
          <p:nvPr/>
        </p:nvSpPr>
        <p:spPr bwMode="auto">
          <a:xfrm flipV="1">
            <a:off x="2016760" y="1905000"/>
            <a:ext cx="0" cy="23622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6" name="Line 15">
            <a:extLst>
              <a:ext uri="{FF2B5EF4-FFF2-40B4-BE49-F238E27FC236}">
                <a16:creationId xmlns:a16="http://schemas.microsoft.com/office/drawing/2014/main" id="{09DC7B1D-1360-4434-B43B-B4A776E9870A}"/>
              </a:ext>
            </a:extLst>
          </p:cNvPr>
          <p:cNvSpPr>
            <a:spLocks noChangeShapeType="1"/>
          </p:cNvSpPr>
          <p:nvPr/>
        </p:nvSpPr>
        <p:spPr bwMode="auto">
          <a:xfrm flipV="1">
            <a:off x="8417560" y="1905000"/>
            <a:ext cx="0" cy="15240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7" name="Line 16">
            <a:extLst>
              <a:ext uri="{FF2B5EF4-FFF2-40B4-BE49-F238E27FC236}">
                <a16:creationId xmlns:a16="http://schemas.microsoft.com/office/drawing/2014/main" id="{5CCAAF8B-2082-4695-88BE-5FCC864DC289}"/>
              </a:ext>
            </a:extLst>
          </p:cNvPr>
          <p:cNvSpPr>
            <a:spLocks noChangeShapeType="1"/>
          </p:cNvSpPr>
          <p:nvPr/>
        </p:nvSpPr>
        <p:spPr bwMode="auto">
          <a:xfrm>
            <a:off x="2016760" y="3429000"/>
            <a:ext cx="640080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8" name="Text Box 17">
            <a:extLst>
              <a:ext uri="{FF2B5EF4-FFF2-40B4-BE49-F238E27FC236}">
                <a16:creationId xmlns:a16="http://schemas.microsoft.com/office/drawing/2014/main" id="{CA5CF68B-3536-4503-B487-39A43CAD392B}"/>
              </a:ext>
            </a:extLst>
          </p:cNvPr>
          <p:cNvSpPr txBox="1">
            <a:spLocks noChangeArrowheads="1"/>
          </p:cNvSpPr>
          <p:nvPr/>
        </p:nvSpPr>
        <p:spPr bwMode="auto">
          <a:xfrm>
            <a:off x="2414429" y="6292850"/>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dirty="0">
                <a:solidFill>
                  <a:srgbClr val="FF0000"/>
                </a:solidFill>
                <a:latin typeface="Arial" panose="020B0604020202020204" pitchFamily="34" charset="0"/>
              </a:rPr>
              <a:t>WEEK</a:t>
            </a:r>
          </a:p>
        </p:txBody>
      </p:sp>
      <p:sp>
        <p:nvSpPr>
          <p:cNvPr id="15379" name="AutoShape 18">
            <a:extLst>
              <a:ext uri="{FF2B5EF4-FFF2-40B4-BE49-F238E27FC236}">
                <a16:creationId xmlns:a16="http://schemas.microsoft.com/office/drawing/2014/main" id="{DC2C0DD0-9B1A-4B97-9E54-2A9BC5FB3315}"/>
              </a:ext>
            </a:extLst>
          </p:cNvPr>
          <p:cNvSpPr>
            <a:spLocks noChangeArrowheads="1"/>
          </p:cNvSpPr>
          <p:nvPr/>
        </p:nvSpPr>
        <p:spPr bwMode="auto">
          <a:xfrm>
            <a:off x="3595688" y="6315390"/>
            <a:ext cx="976312" cy="485775"/>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80" name="Text Box 19">
            <a:extLst>
              <a:ext uri="{FF2B5EF4-FFF2-40B4-BE49-F238E27FC236}">
                <a16:creationId xmlns:a16="http://schemas.microsoft.com/office/drawing/2014/main" id="{F7437EA7-1512-4E44-8FA3-509FAFEB9F4C}"/>
              </a:ext>
            </a:extLst>
          </p:cNvPr>
          <p:cNvSpPr txBox="1">
            <a:spLocks noChangeArrowheads="1"/>
          </p:cNvSpPr>
          <p:nvPr/>
        </p:nvSpPr>
        <p:spPr bwMode="auto">
          <a:xfrm>
            <a:off x="2340610" y="58054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1</a:t>
            </a:r>
          </a:p>
        </p:txBody>
      </p:sp>
      <p:sp>
        <p:nvSpPr>
          <p:cNvPr id="15381" name="Text Box 20">
            <a:extLst>
              <a:ext uri="{FF2B5EF4-FFF2-40B4-BE49-F238E27FC236}">
                <a16:creationId xmlns:a16="http://schemas.microsoft.com/office/drawing/2014/main" id="{07EFE70C-EE3D-489E-B6A7-5645FB94EEB9}"/>
              </a:ext>
            </a:extLst>
          </p:cNvPr>
          <p:cNvSpPr txBox="1">
            <a:spLocks noChangeArrowheads="1"/>
          </p:cNvSpPr>
          <p:nvPr/>
        </p:nvSpPr>
        <p:spPr bwMode="auto">
          <a:xfrm>
            <a:off x="3143885" y="5830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2</a:t>
            </a:r>
          </a:p>
        </p:txBody>
      </p:sp>
      <p:sp>
        <p:nvSpPr>
          <p:cNvPr id="15382" name="Text Box 21">
            <a:extLst>
              <a:ext uri="{FF2B5EF4-FFF2-40B4-BE49-F238E27FC236}">
                <a16:creationId xmlns:a16="http://schemas.microsoft.com/office/drawing/2014/main" id="{16891C4A-8008-4335-B4F4-89CF366D4B2B}"/>
              </a:ext>
            </a:extLst>
          </p:cNvPr>
          <p:cNvSpPr txBox="1">
            <a:spLocks noChangeArrowheads="1"/>
          </p:cNvSpPr>
          <p:nvPr/>
        </p:nvSpPr>
        <p:spPr bwMode="auto">
          <a:xfrm>
            <a:off x="4069398" y="5876925"/>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3</a:t>
            </a:r>
          </a:p>
        </p:txBody>
      </p:sp>
      <p:sp>
        <p:nvSpPr>
          <p:cNvPr id="15383" name="Text Box 22">
            <a:extLst>
              <a:ext uri="{FF2B5EF4-FFF2-40B4-BE49-F238E27FC236}">
                <a16:creationId xmlns:a16="http://schemas.microsoft.com/office/drawing/2014/main" id="{4BAF02BC-B426-4A57-AF8B-0B90C58B9F9B}"/>
              </a:ext>
            </a:extLst>
          </p:cNvPr>
          <p:cNvSpPr txBox="1">
            <a:spLocks noChangeArrowheads="1"/>
          </p:cNvSpPr>
          <p:nvPr/>
        </p:nvSpPr>
        <p:spPr bwMode="auto">
          <a:xfrm>
            <a:off x="4972685" y="5830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4</a:t>
            </a:r>
          </a:p>
        </p:txBody>
      </p:sp>
      <p:sp>
        <p:nvSpPr>
          <p:cNvPr id="15384" name="Text Box 23">
            <a:extLst>
              <a:ext uri="{FF2B5EF4-FFF2-40B4-BE49-F238E27FC236}">
                <a16:creationId xmlns:a16="http://schemas.microsoft.com/office/drawing/2014/main" id="{4FE7EED3-D0B5-4598-9C4F-8C1122F3805A}"/>
              </a:ext>
            </a:extLst>
          </p:cNvPr>
          <p:cNvSpPr txBox="1">
            <a:spLocks noChangeArrowheads="1"/>
          </p:cNvSpPr>
          <p:nvPr/>
        </p:nvSpPr>
        <p:spPr bwMode="auto">
          <a:xfrm>
            <a:off x="5902960" y="58674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5</a:t>
            </a:r>
          </a:p>
        </p:txBody>
      </p:sp>
      <p:sp>
        <p:nvSpPr>
          <p:cNvPr id="15385" name="Text Box 24">
            <a:extLst>
              <a:ext uri="{FF2B5EF4-FFF2-40B4-BE49-F238E27FC236}">
                <a16:creationId xmlns:a16="http://schemas.microsoft.com/office/drawing/2014/main" id="{9894FC35-3208-4808-AF47-550EEB323DD4}"/>
              </a:ext>
            </a:extLst>
          </p:cNvPr>
          <p:cNvSpPr txBox="1">
            <a:spLocks noChangeArrowheads="1"/>
          </p:cNvSpPr>
          <p:nvPr/>
        </p:nvSpPr>
        <p:spPr bwMode="auto">
          <a:xfrm>
            <a:off x="6877685" y="5830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6</a:t>
            </a:r>
          </a:p>
        </p:txBody>
      </p:sp>
      <p:sp>
        <p:nvSpPr>
          <p:cNvPr id="15386" name="Text Box 25">
            <a:extLst>
              <a:ext uri="{FF2B5EF4-FFF2-40B4-BE49-F238E27FC236}">
                <a16:creationId xmlns:a16="http://schemas.microsoft.com/office/drawing/2014/main" id="{932A8117-1B5D-4D66-9B4C-93BD2596670C}"/>
              </a:ext>
            </a:extLst>
          </p:cNvPr>
          <p:cNvSpPr txBox="1">
            <a:spLocks noChangeArrowheads="1"/>
          </p:cNvSpPr>
          <p:nvPr/>
        </p:nvSpPr>
        <p:spPr bwMode="auto">
          <a:xfrm>
            <a:off x="7814310" y="58054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7</a:t>
            </a:r>
          </a:p>
        </p:txBody>
      </p:sp>
      <p:sp>
        <p:nvSpPr>
          <p:cNvPr id="15387" name="Text Box 26">
            <a:extLst>
              <a:ext uri="{FF2B5EF4-FFF2-40B4-BE49-F238E27FC236}">
                <a16:creationId xmlns:a16="http://schemas.microsoft.com/office/drawing/2014/main" id="{454E09E5-CED6-43ED-9075-72786991EB02}"/>
              </a:ext>
            </a:extLst>
          </p:cNvPr>
          <p:cNvSpPr txBox="1">
            <a:spLocks noChangeArrowheads="1"/>
          </p:cNvSpPr>
          <p:nvPr/>
        </p:nvSpPr>
        <p:spPr bwMode="auto">
          <a:xfrm>
            <a:off x="1559560" y="51054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1</a:t>
            </a:r>
          </a:p>
        </p:txBody>
      </p:sp>
      <p:sp>
        <p:nvSpPr>
          <p:cNvPr id="15388" name="Text Box 27">
            <a:extLst>
              <a:ext uri="{FF2B5EF4-FFF2-40B4-BE49-F238E27FC236}">
                <a16:creationId xmlns:a16="http://schemas.microsoft.com/office/drawing/2014/main" id="{860E0AF6-A7DB-45CF-89E3-2DF748259679}"/>
              </a:ext>
            </a:extLst>
          </p:cNvPr>
          <p:cNvSpPr txBox="1">
            <a:spLocks noChangeArrowheads="1"/>
          </p:cNvSpPr>
          <p:nvPr/>
        </p:nvSpPr>
        <p:spPr bwMode="auto">
          <a:xfrm>
            <a:off x="1559560" y="43434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2</a:t>
            </a:r>
          </a:p>
        </p:txBody>
      </p:sp>
      <p:sp>
        <p:nvSpPr>
          <p:cNvPr id="15389" name="Text Box 28">
            <a:extLst>
              <a:ext uri="{FF2B5EF4-FFF2-40B4-BE49-F238E27FC236}">
                <a16:creationId xmlns:a16="http://schemas.microsoft.com/office/drawing/2014/main" id="{65D6517A-F012-42EF-A4DC-9E5D6369D42B}"/>
              </a:ext>
            </a:extLst>
          </p:cNvPr>
          <p:cNvSpPr txBox="1">
            <a:spLocks noChangeArrowheads="1"/>
          </p:cNvSpPr>
          <p:nvPr/>
        </p:nvSpPr>
        <p:spPr bwMode="auto">
          <a:xfrm>
            <a:off x="1543685" y="3544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3</a:t>
            </a:r>
          </a:p>
        </p:txBody>
      </p:sp>
      <p:sp>
        <p:nvSpPr>
          <p:cNvPr id="15390" name="Text Box 29">
            <a:extLst>
              <a:ext uri="{FF2B5EF4-FFF2-40B4-BE49-F238E27FC236}">
                <a16:creationId xmlns:a16="http://schemas.microsoft.com/office/drawing/2014/main" id="{E35AA616-D451-4EF8-8BD5-A5D0F88D759B}"/>
              </a:ext>
            </a:extLst>
          </p:cNvPr>
          <p:cNvSpPr txBox="1">
            <a:spLocks noChangeArrowheads="1"/>
          </p:cNvSpPr>
          <p:nvPr/>
        </p:nvSpPr>
        <p:spPr bwMode="auto">
          <a:xfrm>
            <a:off x="1543685" y="28590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4</a:t>
            </a:r>
          </a:p>
        </p:txBody>
      </p:sp>
      <p:sp>
        <p:nvSpPr>
          <p:cNvPr id="15391" name="Text Box 30">
            <a:extLst>
              <a:ext uri="{FF2B5EF4-FFF2-40B4-BE49-F238E27FC236}">
                <a16:creationId xmlns:a16="http://schemas.microsoft.com/office/drawing/2014/main" id="{DAAA873F-CFF1-4CF5-8E8F-CFBE92FAB759}"/>
              </a:ext>
            </a:extLst>
          </p:cNvPr>
          <p:cNvSpPr txBox="1">
            <a:spLocks noChangeArrowheads="1"/>
          </p:cNvSpPr>
          <p:nvPr/>
        </p:nvSpPr>
        <p:spPr bwMode="auto">
          <a:xfrm>
            <a:off x="1543685" y="2020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5</a:t>
            </a:r>
          </a:p>
        </p:txBody>
      </p:sp>
      <p:sp>
        <p:nvSpPr>
          <p:cNvPr id="15392" name="AutoShape 31">
            <a:extLst>
              <a:ext uri="{FF2B5EF4-FFF2-40B4-BE49-F238E27FC236}">
                <a16:creationId xmlns:a16="http://schemas.microsoft.com/office/drawing/2014/main" id="{4743DE3F-AE7A-4B73-8B11-B21DF22CCC44}"/>
              </a:ext>
            </a:extLst>
          </p:cNvPr>
          <p:cNvSpPr>
            <a:spLocks noChangeArrowheads="1"/>
          </p:cNvSpPr>
          <p:nvPr/>
        </p:nvSpPr>
        <p:spPr bwMode="auto">
          <a:xfrm>
            <a:off x="726440" y="4602478"/>
            <a:ext cx="485775" cy="976313"/>
          </a:xfrm>
          <a:prstGeom prst="up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endParaRPr lang="en-US" altLang="en-US" sz="2400">
              <a:solidFill>
                <a:schemeClr val="tx1"/>
              </a:solidFill>
              <a:latin typeface="Arial" panose="020B0604020202020204" pitchFamily="34" charset="0"/>
            </a:endParaRPr>
          </a:p>
        </p:txBody>
      </p:sp>
      <p:sp>
        <p:nvSpPr>
          <p:cNvPr id="15393" name="Text Box 32">
            <a:extLst>
              <a:ext uri="{FF2B5EF4-FFF2-40B4-BE49-F238E27FC236}">
                <a16:creationId xmlns:a16="http://schemas.microsoft.com/office/drawing/2014/main" id="{5C11C4A8-CE41-48F0-9BED-A676946A2226}"/>
              </a:ext>
            </a:extLst>
          </p:cNvPr>
          <p:cNvSpPr txBox="1">
            <a:spLocks noChangeArrowheads="1"/>
          </p:cNvSpPr>
          <p:nvPr/>
        </p:nvSpPr>
        <p:spPr bwMode="auto">
          <a:xfrm rot="16162506">
            <a:off x="-148590" y="3146425"/>
            <a:ext cx="219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rgbClr val="FF0000"/>
                </a:solidFill>
                <a:latin typeface="Arial" panose="020B0604020202020204" pitchFamily="34" charset="0"/>
              </a:rPr>
              <a:t>STAFF REQD.</a:t>
            </a:r>
            <a:endParaRPr lang="en-US" altLang="en-US" sz="2400">
              <a:solidFill>
                <a:schemeClr val="tx1"/>
              </a:solidFill>
              <a:latin typeface="Arial" panose="020B0604020202020204" pitchFamily="34" charset="0"/>
            </a:endParaRPr>
          </a:p>
        </p:txBody>
      </p:sp>
      <p:sp>
        <p:nvSpPr>
          <p:cNvPr id="3" name="Slide Number Placeholder 2">
            <a:extLst>
              <a:ext uri="{FF2B5EF4-FFF2-40B4-BE49-F238E27FC236}">
                <a16:creationId xmlns:a16="http://schemas.microsoft.com/office/drawing/2014/main" id="{1CF6249C-56E6-4365-ADC1-1816AFD6F80D}"/>
              </a:ext>
            </a:extLst>
          </p:cNvPr>
          <p:cNvSpPr>
            <a:spLocks noGrp="1"/>
          </p:cNvSpPr>
          <p:nvPr>
            <p:ph type="sldNum" sz="quarter" idx="12"/>
          </p:nvPr>
        </p:nvSpPr>
        <p:spPr/>
        <p:txBody>
          <a:bodyPr/>
          <a:lstStyle/>
          <a:p>
            <a:fld id="{CDE4BBE6-ABD8-4AAC-A679-4F37D73C8978}"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35BE4B91-F090-42AA-BC36-2B40862BCFDF}"/>
              </a:ext>
            </a:extLst>
          </p:cNvPr>
          <p:cNvSpPr>
            <a:spLocks noGrp="1" noChangeArrowheads="1"/>
          </p:cNvSpPr>
          <p:nvPr>
            <p:ph type="title"/>
          </p:nvPr>
        </p:nvSpPr>
        <p:spPr>
          <a:xfrm>
            <a:off x="609600" y="549275"/>
            <a:ext cx="7772400" cy="1143000"/>
          </a:xfrm>
        </p:spPr>
        <p:txBody>
          <a:bodyPr/>
          <a:lstStyle/>
          <a:p>
            <a:pPr eaLnBrk="1" hangingPunct="1"/>
            <a:r>
              <a:rPr lang="en-US" altLang="en-US" dirty="0"/>
              <a:t>Resource clashes</a:t>
            </a:r>
          </a:p>
        </p:txBody>
      </p:sp>
      <p:sp>
        <p:nvSpPr>
          <p:cNvPr id="17412" name="Rectangle 3">
            <a:extLst>
              <a:ext uri="{FF2B5EF4-FFF2-40B4-BE49-F238E27FC236}">
                <a16:creationId xmlns:a16="http://schemas.microsoft.com/office/drawing/2014/main" id="{AEE965BA-A89B-45F5-A1C0-761A8E576CA2}"/>
              </a:ext>
            </a:extLst>
          </p:cNvPr>
          <p:cNvSpPr>
            <a:spLocks noGrp="1" noChangeArrowheads="1"/>
          </p:cNvSpPr>
          <p:nvPr>
            <p:ph type="body" idx="1"/>
          </p:nvPr>
        </p:nvSpPr>
        <p:spPr>
          <a:xfrm>
            <a:off x="609600" y="1692275"/>
            <a:ext cx="8066088" cy="4937125"/>
          </a:xfrm>
        </p:spPr>
        <p:txBody>
          <a:bodyPr>
            <a:normAutofit/>
          </a:bodyPr>
          <a:lstStyle/>
          <a:p>
            <a:pPr eaLnBrk="1" hangingPunct="1">
              <a:buFontTx/>
              <a:buNone/>
            </a:pPr>
            <a:r>
              <a:rPr lang="en-US" altLang="en-US" sz="3200" dirty="0"/>
              <a:t>can be resolved by:</a:t>
            </a:r>
          </a:p>
          <a:p>
            <a:pPr eaLnBrk="1" hangingPunct="1">
              <a:buFontTx/>
              <a:buNone/>
            </a:pPr>
            <a:endParaRPr lang="en-US" altLang="en-US" sz="1000" dirty="0"/>
          </a:p>
          <a:p>
            <a:pPr lvl="1" eaLnBrk="1" hangingPunct="1"/>
            <a:r>
              <a:rPr lang="en-US" altLang="en-US" sz="2800" dirty="0"/>
              <a:t>delaying one of the activities</a:t>
            </a:r>
          </a:p>
          <a:p>
            <a:pPr lvl="2" eaLnBrk="1" hangingPunct="1"/>
            <a:r>
              <a:rPr lang="en-US" altLang="en-US" sz="2400" dirty="0"/>
              <a:t>taking advantage of float to change start date</a:t>
            </a:r>
          </a:p>
          <a:p>
            <a:pPr lvl="2" eaLnBrk="1" hangingPunct="1"/>
            <a:r>
              <a:rPr lang="en-US" altLang="en-US" sz="2400" dirty="0"/>
              <a:t>delaying start of one activity until finish of the other activity that resource is being used on - </a:t>
            </a:r>
            <a:r>
              <a:rPr lang="en-US" altLang="en-US" sz="2400" i="1" dirty="0"/>
              <a:t>puts back project completion</a:t>
            </a:r>
          </a:p>
          <a:p>
            <a:pPr lvl="2" eaLnBrk="1" hangingPunct="1">
              <a:buFontTx/>
              <a:buNone/>
            </a:pPr>
            <a:endParaRPr lang="en-US" altLang="en-US" sz="900" i="1" dirty="0"/>
          </a:p>
          <a:p>
            <a:pPr lvl="1" eaLnBrk="1" hangingPunct="1"/>
            <a:r>
              <a:rPr lang="en-US" altLang="en-US" sz="2800" dirty="0"/>
              <a:t>moving resource from a non-critical activity</a:t>
            </a:r>
          </a:p>
          <a:p>
            <a:pPr lvl="1" eaLnBrk="1" hangingPunct="1">
              <a:buFontTx/>
              <a:buNone/>
            </a:pPr>
            <a:endParaRPr lang="en-US" altLang="en-US" sz="1000" dirty="0"/>
          </a:p>
          <a:p>
            <a:pPr lvl="1" eaLnBrk="1" hangingPunct="1"/>
            <a:r>
              <a:rPr lang="en-US" altLang="en-US" sz="2800" dirty="0"/>
              <a:t>bringing in additional resource - </a:t>
            </a:r>
            <a:r>
              <a:rPr lang="en-US" altLang="en-US" sz="2800" i="1" dirty="0"/>
              <a:t>increases costs</a:t>
            </a:r>
            <a:endParaRPr lang="en-US" altLang="en-US" sz="2800" dirty="0"/>
          </a:p>
          <a:p>
            <a:pPr lvl="2" eaLnBrk="1" hangingPunct="1"/>
            <a:endParaRPr lang="en-US" altLang="en-US" sz="2400" dirty="0"/>
          </a:p>
          <a:p>
            <a:pPr lvl="2" eaLnBrk="1" hangingPunct="1"/>
            <a:endParaRPr lang="en-US" altLang="en-US" sz="2400" dirty="0"/>
          </a:p>
        </p:txBody>
      </p:sp>
      <p:sp>
        <p:nvSpPr>
          <p:cNvPr id="2" name="Slide Number Placeholder 1">
            <a:extLst>
              <a:ext uri="{FF2B5EF4-FFF2-40B4-BE49-F238E27FC236}">
                <a16:creationId xmlns:a16="http://schemas.microsoft.com/office/drawing/2014/main" id="{77D50A59-47C9-4B55-8DF4-EF35604A978D}"/>
              </a:ext>
            </a:extLst>
          </p:cNvPr>
          <p:cNvSpPr>
            <a:spLocks noGrp="1"/>
          </p:cNvSpPr>
          <p:nvPr>
            <p:ph type="sldNum" sz="quarter" idx="12"/>
          </p:nvPr>
        </p:nvSpPr>
        <p:spPr/>
        <p:txBody>
          <a:bodyPr/>
          <a:lstStyle/>
          <a:p>
            <a:fld id="{60D6D740-8150-433F-9426-3FCFF681501A}" type="slidenum">
              <a:rPr lang="en-US" smtClean="0"/>
              <a:pPr/>
              <a:t>8</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B91346A-AECF-ECBB-8756-FAEB2F80760C}"/>
                  </a:ext>
                </a:extLst>
              </p14:cNvPr>
              <p14:cNvContentPartPr/>
              <p14:nvPr/>
            </p14:nvContentPartPr>
            <p14:xfrm>
              <a:off x="4944031" y="4836809"/>
              <a:ext cx="2689200" cy="171000"/>
            </p14:xfrm>
          </p:contentPart>
        </mc:Choice>
        <mc:Fallback>
          <p:pic>
            <p:nvPicPr>
              <p:cNvPr id="3" name="Ink 2">
                <a:extLst>
                  <a:ext uri="{FF2B5EF4-FFF2-40B4-BE49-F238E27FC236}">
                    <a16:creationId xmlns:a16="http://schemas.microsoft.com/office/drawing/2014/main" id="{0B91346A-AECF-ECBB-8756-FAEB2F80760C}"/>
                  </a:ext>
                </a:extLst>
              </p:cNvPr>
              <p:cNvPicPr/>
              <p:nvPr/>
            </p:nvPicPr>
            <p:blipFill>
              <a:blip r:embed="rId4"/>
              <a:stretch>
                <a:fillRect/>
              </a:stretch>
            </p:blipFill>
            <p:spPr>
              <a:xfrm>
                <a:off x="4926391" y="4819169"/>
                <a:ext cx="2724840" cy="20664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FF32045-9003-42E1-BBD9-B652784129B0}"/>
              </a:ext>
            </a:extLst>
          </p:cNvPr>
          <p:cNvSpPr>
            <a:spLocks noGrp="1" noChangeArrowheads="1"/>
          </p:cNvSpPr>
          <p:nvPr>
            <p:ph type="title"/>
          </p:nvPr>
        </p:nvSpPr>
        <p:spPr>
          <a:xfrm>
            <a:off x="386080" y="554673"/>
            <a:ext cx="7772400" cy="979487"/>
          </a:xfrm>
        </p:spPr>
        <p:txBody>
          <a:bodyPr/>
          <a:lstStyle/>
          <a:p>
            <a:r>
              <a:rPr lang="en-US" altLang="en-US" dirty="0"/>
              <a:t>Resource optimization</a:t>
            </a:r>
          </a:p>
        </p:txBody>
      </p:sp>
      <p:sp>
        <p:nvSpPr>
          <p:cNvPr id="19459" name="Content Placeholder 2">
            <a:extLst>
              <a:ext uri="{FF2B5EF4-FFF2-40B4-BE49-F238E27FC236}">
                <a16:creationId xmlns:a16="http://schemas.microsoft.com/office/drawing/2014/main" id="{35647DEB-B77D-4214-AD55-854AE26CFB55}"/>
              </a:ext>
            </a:extLst>
          </p:cNvPr>
          <p:cNvSpPr>
            <a:spLocks noGrp="1" noChangeArrowheads="1"/>
          </p:cNvSpPr>
          <p:nvPr>
            <p:ph idx="1"/>
          </p:nvPr>
        </p:nvSpPr>
        <p:spPr>
          <a:xfrm>
            <a:off x="386080" y="1432561"/>
            <a:ext cx="8422640" cy="5425439"/>
          </a:xfrm>
        </p:spPr>
        <p:txBody>
          <a:bodyPr>
            <a:normAutofit fontScale="85000" lnSpcReduction="10000"/>
          </a:bodyPr>
          <a:lstStyle/>
          <a:p>
            <a:pPr marL="0" indent="0" algn="just">
              <a:buNone/>
            </a:pPr>
            <a:r>
              <a:rPr lang="en-US" altLang="en-US" sz="3200" b="1" dirty="0"/>
              <a:t>Resource leveling. </a:t>
            </a:r>
            <a:r>
              <a:rPr lang="en-US" altLang="en-US" sz="3200" dirty="0"/>
              <a:t>A technique in which start and ﬁnish dates are adjusted based on resource constraints with the goal of balancing the demand for resources with the available supply.</a:t>
            </a:r>
          </a:p>
          <a:p>
            <a:pPr marL="0" indent="0" algn="just">
              <a:buNone/>
            </a:pPr>
            <a:r>
              <a:rPr lang="en-US" altLang="en-US" sz="3200" dirty="0"/>
              <a:t>It can be used when</a:t>
            </a:r>
          </a:p>
          <a:p>
            <a:pPr marL="685800" lvl="2" algn="just">
              <a:spcBef>
                <a:spcPts val="1000"/>
              </a:spcBef>
            </a:pPr>
            <a:r>
              <a:rPr lang="en-US" altLang="en-US" sz="2800" dirty="0"/>
              <a:t>shared or critically required resources are available only at certain times or in limited quantities,</a:t>
            </a:r>
          </a:p>
          <a:p>
            <a:pPr marL="685800" lvl="2" algn="just">
              <a:spcBef>
                <a:spcPts val="1000"/>
              </a:spcBef>
            </a:pPr>
            <a:r>
              <a:rPr lang="en-US" altLang="en-US" sz="2800" dirty="0"/>
              <a:t>Resources are over- allocated,</a:t>
            </a:r>
          </a:p>
          <a:p>
            <a:pPr marL="685800" lvl="2" algn="just">
              <a:spcBef>
                <a:spcPts val="1000"/>
              </a:spcBef>
            </a:pPr>
            <a:r>
              <a:rPr lang="en-US" altLang="en-US" sz="2800" dirty="0"/>
              <a:t>there is a need to keep resource usage at a constant level.</a:t>
            </a:r>
          </a:p>
          <a:p>
            <a:pPr marL="0" indent="0" algn="just">
              <a:buNone/>
            </a:pPr>
            <a:r>
              <a:rPr lang="en-US" altLang="en-US" sz="3200" dirty="0"/>
              <a:t>Resource leveling can often cause the original critical path to change.</a:t>
            </a:r>
          </a:p>
          <a:p>
            <a:pPr marL="0" indent="0" algn="just">
              <a:buNone/>
            </a:pPr>
            <a:r>
              <a:rPr lang="en-US" altLang="en-US" sz="3200" dirty="0"/>
              <a:t>Available ﬂoat is used for leveling resources. Consequently, the critical path through the project schedule may change.</a:t>
            </a:r>
          </a:p>
        </p:txBody>
      </p:sp>
      <p:sp>
        <p:nvSpPr>
          <p:cNvPr id="2" name="Slide Number Placeholder 1">
            <a:extLst>
              <a:ext uri="{FF2B5EF4-FFF2-40B4-BE49-F238E27FC236}">
                <a16:creationId xmlns:a16="http://schemas.microsoft.com/office/drawing/2014/main" id="{EB8AB7C3-6B96-4CEC-83B6-EC628FD38FD8}"/>
              </a:ext>
            </a:extLst>
          </p:cNvPr>
          <p:cNvSpPr>
            <a:spLocks noGrp="1"/>
          </p:cNvSpPr>
          <p:nvPr>
            <p:ph type="sldNum" sz="quarter" idx="12"/>
          </p:nvPr>
        </p:nvSpPr>
        <p:spPr/>
        <p:txBody>
          <a:bodyPr/>
          <a:lstStyle/>
          <a:p>
            <a:fld id="{60D6D740-8150-433F-9426-3FCFF681501A}" type="slidenum">
              <a:rPr lang="en-US" smtClean="0"/>
              <a:pPr/>
              <a:t>9</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E8A2766-1F28-4D42-B000-A9549272C293}"/>
                  </a:ext>
                </a:extLst>
              </p14:cNvPr>
              <p14:cNvContentPartPr/>
              <p14:nvPr/>
            </p14:nvContentPartPr>
            <p14:xfrm>
              <a:off x="1201111" y="4262609"/>
              <a:ext cx="2892960" cy="97560"/>
            </p14:xfrm>
          </p:contentPart>
        </mc:Choice>
        <mc:Fallback>
          <p:pic>
            <p:nvPicPr>
              <p:cNvPr id="3" name="Ink 2">
                <a:extLst>
                  <a:ext uri="{FF2B5EF4-FFF2-40B4-BE49-F238E27FC236}">
                    <a16:creationId xmlns:a16="http://schemas.microsoft.com/office/drawing/2014/main" id="{AE8A2766-1F28-4D42-B000-A9549272C293}"/>
                  </a:ext>
                </a:extLst>
              </p:cNvPr>
              <p:cNvPicPr/>
              <p:nvPr/>
            </p:nvPicPr>
            <p:blipFill>
              <a:blip r:embed="rId4"/>
              <a:stretch>
                <a:fillRect/>
              </a:stretch>
            </p:blipFill>
            <p:spPr>
              <a:xfrm>
                <a:off x="1183471" y="4244609"/>
                <a:ext cx="292860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F88A449-94EC-13E0-18AD-383794686D49}"/>
                  </a:ext>
                </a:extLst>
              </p14:cNvPr>
              <p14:cNvContentPartPr/>
              <p14:nvPr/>
            </p14:nvContentPartPr>
            <p14:xfrm>
              <a:off x="5145991" y="5144609"/>
              <a:ext cx="3157560" cy="150840"/>
            </p14:xfrm>
          </p:contentPart>
        </mc:Choice>
        <mc:Fallback>
          <p:pic>
            <p:nvPicPr>
              <p:cNvPr id="4" name="Ink 3">
                <a:extLst>
                  <a:ext uri="{FF2B5EF4-FFF2-40B4-BE49-F238E27FC236}">
                    <a16:creationId xmlns:a16="http://schemas.microsoft.com/office/drawing/2014/main" id="{CF88A449-94EC-13E0-18AD-383794686D49}"/>
                  </a:ext>
                </a:extLst>
              </p:cNvPr>
              <p:cNvPicPr/>
              <p:nvPr/>
            </p:nvPicPr>
            <p:blipFill>
              <a:blip r:embed="rId6"/>
              <a:stretch>
                <a:fillRect/>
              </a:stretch>
            </p:blipFill>
            <p:spPr>
              <a:xfrm>
                <a:off x="5128351" y="5126969"/>
                <a:ext cx="319320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AFE9CDEA-B0C4-361C-FF65-F08BCEB42B46}"/>
                  </a:ext>
                </a:extLst>
              </p14:cNvPr>
              <p14:cNvContentPartPr/>
              <p14:nvPr/>
            </p14:nvContentPartPr>
            <p14:xfrm>
              <a:off x="392911" y="5751929"/>
              <a:ext cx="1275120" cy="360"/>
            </p14:xfrm>
          </p:contentPart>
        </mc:Choice>
        <mc:Fallback>
          <p:pic>
            <p:nvPicPr>
              <p:cNvPr id="5" name="Ink 4">
                <a:extLst>
                  <a:ext uri="{FF2B5EF4-FFF2-40B4-BE49-F238E27FC236}">
                    <a16:creationId xmlns:a16="http://schemas.microsoft.com/office/drawing/2014/main" id="{AFE9CDEA-B0C4-361C-FF65-F08BCEB42B46}"/>
                  </a:ext>
                </a:extLst>
              </p:cNvPr>
              <p:cNvPicPr/>
              <p:nvPr/>
            </p:nvPicPr>
            <p:blipFill>
              <a:blip r:embed="rId8"/>
              <a:stretch>
                <a:fillRect/>
              </a:stretch>
            </p:blipFill>
            <p:spPr>
              <a:xfrm>
                <a:off x="374911" y="5733929"/>
                <a:ext cx="1310760" cy="36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FF32045-9003-42E1-BBD9-B652784129B0}"/>
              </a:ext>
            </a:extLst>
          </p:cNvPr>
          <p:cNvSpPr>
            <a:spLocks noGrp="1" noChangeArrowheads="1"/>
          </p:cNvSpPr>
          <p:nvPr>
            <p:ph type="title"/>
          </p:nvPr>
        </p:nvSpPr>
        <p:spPr>
          <a:xfrm>
            <a:off x="386080" y="554673"/>
            <a:ext cx="7772400" cy="979487"/>
          </a:xfrm>
        </p:spPr>
        <p:txBody>
          <a:bodyPr/>
          <a:lstStyle/>
          <a:p>
            <a:r>
              <a:rPr lang="en-US" altLang="en-US" dirty="0"/>
              <a:t>Resource optimization</a:t>
            </a:r>
          </a:p>
        </p:txBody>
      </p:sp>
      <p:pic>
        <p:nvPicPr>
          <p:cNvPr id="3" name="Content Placeholder 2">
            <a:extLst>
              <a:ext uri="{FF2B5EF4-FFF2-40B4-BE49-F238E27FC236}">
                <a16:creationId xmlns:a16="http://schemas.microsoft.com/office/drawing/2014/main" id="{3A188751-0ECA-4214-912B-32C398FDD4A3}"/>
              </a:ext>
            </a:extLst>
          </p:cNvPr>
          <p:cNvPicPr>
            <a:picLocks noGrp="1" noChangeAspect="1"/>
          </p:cNvPicPr>
          <p:nvPr>
            <p:ph idx="1"/>
          </p:nvPr>
        </p:nvPicPr>
        <p:blipFill rotWithShape="1">
          <a:blip r:embed="rId3"/>
          <a:srcRect l="5879" t="17355" r="30841" b="21217"/>
          <a:stretch/>
        </p:blipFill>
        <p:spPr>
          <a:xfrm>
            <a:off x="289931" y="1438508"/>
            <a:ext cx="8720253" cy="5196468"/>
          </a:xfrm>
        </p:spPr>
      </p:pic>
      <p:sp>
        <p:nvSpPr>
          <p:cNvPr id="2" name="Slide Number Placeholder 1">
            <a:extLst>
              <a:ext uri="{FF2B5EF4-FFF2-40B4-BE49-F238E27FC236}">
                <a16:creationId xmlns:a16="http://schemas.microsoft.com/office/drawing/2014/main" id="{B3EEBDA0-7C84-4CC8-8757-6ED64748D4DD}"/>
              </a:ext>
            </a:extLst>
          </p:cNvPr>
          <p:cNvSpPr>
            <a:spLocks noGrp="1"/>
          </p:cNvSpPr>
          <p:nvPr>
            <p:ph type="sldNum" sz="quarter" idx="12"/>
          </p:nvPr>
        </p:nvSpPr>
        <p:spPr/>
        <p:txBody>
          <a:bodyPr/>
          <a:lstStyle/>
          <a:p>
            <a:fld id="{60D6D740-8150-433F-9426-3FCFF681501A}" type="slidenum">
              <a:rPr lang="en-US" smtClean="0"/>
              <a:pPr/>
              <a:t>10</a:t>
            </a:fld>
            <a:endParaRPr lang="en-US" dirty="0"/>
          </a:p>
        </p:txBody>
      </p:sp>
    </p:spTree>
    <p:extLst>
      <p:ext uri="{BB962C8B-B14F-4D97-AF65-F5344CB8AC3E}">
        <p14:creationId xmlns:p14="http://schemas.microsoft.com/office/powerpoint/2010/main" val="2611200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Content Placeholder 4">
            <a:extLst>
              <a:ext uri="{FF2B5EF4-FFF2-40B4-BE49-F238E27FC236}">
                <a16:creationId xmlns:a16="http://schemas.microsoft.com/office/drawing/2014/main" id="{3DDBC495-038D-448F-BEC0-E55170A39E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638175"/>
            <a:ext cx="6681788" cy="6067425"/>
          </a:xfrm>
        </p:spPr>
      </p:pic>
      <p:sp>
        <p:nvSpPr>
          <p:cNvPr id="2" name="Slide Number Placeholder 1">
            <a:extLst>
              <a:ext uri="{FF2B5EF4-FFF2-40B4-BE49-F238E27FC236}">
                <a16:creationId xmlns:a16="http://schemas.microsoft.com/office/drawing/2014/main" id="{1E1AC186-59EA-47F6-9DF6-519328F20F9E}"/>
              </a:ext>
            </a:extLst>
          </p:cNvPr>
          <p:cNvSpPr>
            <a:spLocks noGrp="1"/>
          </p:cNvSpPr>
          <p:nvPr>
            <p:ph type="sldNum" sz="quarter" idx="12"/>
          </p:nvPr>
        </p:nvSpPr>
        <p:spPr/>
        <p:txBody>
          <a:bodyPr/>
          <a:lstStyle/>
          <a:p>
            <a:fld id="{60D6D740-8150-433F-9426-3FCFF681501A}"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FF32045-9003-42E1-BBD9-B652784129B0}"/>
              </a:ext>
            </a:extLst>
          </p:cNvPr>
          <p:cNvSpPr>
            <a:spLocks noGrp="1" noChangeArrowheads="1"/>
          </p:cNvSpPr>
          <p:nvPr>
            <p:ph type="title"/>
          </p:nvPr>
        </p:nvSpPr>
        <p:spPr>
          <a:xfrm>
            <a:off x="365760" y="503873"/>
            <a:ext cx="7772400" cy="1143000"/>
          </a:xfrm>
        </p:spPr>
        <p:txBody>
          <a:bodyPr/>
          <a:lstStyle/>
          <a:p>
            <a:r>
              <a:rPr lang="en-US" altLang="en-US" dirty="0"/>
              <a:t>Resource optimization</a:t>
            </a:r>
          </a:p>
        </p:txBody>
      </p:sp>
      <p:sp>
        <p:nvSpPr>
          <p:cNvPr id="19459" name="Content Placeholder 2">
            <a:extLst>
              <a:ext uri="{FF2B5EF4-FFF2-40B4-BE49-F238E27FC236}">
                <a16:creationId xmlns:a16="http://schemas.microsoft.com/office/drawing/2014/main" id="{35647DEB-B77D-4214-AD55-854AE26CFB55}"/>
              </a:ext>
            </a:extLst>
          </p:cNvPr>
          <p:cNvSpPr>
            <a:spLocks noGrp="1" noChangeArrowheads="1"/>
          </p:cNvSpPr>
          <p:nvPr>
            <p:ph idx="1"/>
          </p:nvPr>
        </p:nvSpPr>
        <p:spPr>
          <a:xfrm>
            <a:off x="365760" y="1484313"/>
            <a:ext cx="8473440" cy="5089207"/>
          </a:xfrm>
        </p:spPr>
        <p:txBody>
          <a:bodyPr>
            <a:normAutofit/>
          </a:bodyPr>
          <a:lstStyle/>
          <a:p>
            <a:pPr marL="0" indent="0" algn="just">
              <a:lnSpc>
                <a:spcPct val="80000"/>
              </a:lnSpc>
              <a:buNone/>
            </a:pPr>
            <a:r>
              <a:rPr lang="en-US" altLang="en-US" sz="2700" b="1" dirty="0"/>
              <a:t>Resource smoothing. </a:t>
            </a:r>
            <a:r>
              <a:rPr lang="en-US" altLang="en-US" sz="2700" dirty="0"/>
              <a:t>A technique that adjusts the activities of a schedule model such that the requirements for resources on the project do not exceed certain predeﬁned resource limits.</a:t>
            </a:r>
          </a:p>
          <a:p>
            <a:pPr marL="0" indent="0" algn="just">
              <a:lnSpc>
                <a:spcPct val="80000"/>
              </a:lnSpc>
              <a:buNone/>
            </a:pPr>
            <a:r>
              <a:rPr lang="en-US" altLang="en-US" sz="2700" dirty="0"/>
              <a:t>In resource smoothing, as opposed to resource leveling, the project’s critical path is not change and the completion date may not be delayed.</a:t>
            </a:r>
          </a:p>
          <a:p>
            <a:pPr marL="0" indent="0" algn="just">
              <a:lnSpc>
                <a:spcPct val="80000"/>
              </a:lnSpc>
              <a:buNone/>
            </a:pPr>
            <a:r>
              <a:rPr lang="en-US" altLang="en-US" sz="2700" dirty="0"/>
              <a:t>In other words, activities may only be delayed within their free and total ﬂoat.</a:t>
            </a:r>
          </a:p>
          <a:p>
            <a:pPr marL="0" indent="0" algn="just">
              <a:lnSpc>
                <a:spcPct val="80000"/>
              </a:lnSpc>
              <a:buNone/>
            </a:pPr>
            <a:r>
              <a:rPr lang="en-US" altLang="en-US" sz="2700" dirty="0"/>
              <a:t>Resource smoothing may not be able to optimize all resources.</a:t>
            </a:r>
          </a:p>
        </p:txBody>
      </p:sp>
      <p:sp>
        <p:nvSpPr>
          <p:cNvPr id="2" name="Slide Number Placeholder 1">
            <a:extLst>
              <a:ext uri="{FF2B5EF4-FFF2-40B4-BE49-F238E27FC236}">
                <a16:creationId xmlns:a16="http://schemas.microsoft.com/office/drawing/2014/main" id="{774DA5CB-F3AB-4B13-B1CF-95DBB3FAD521}"/>
              </a:ext>
            </a:extLst>
          </p:cNvPr>
          <p:cNvSpPr>
            <a:spLocks noGrp="1"/>
          </p:cNvSpPr>
          <p:nvPr>
            <p:ph type="sldNum" sz="quarter" idx="12"/>
          </p:nvPr>
        </p:nvSpPr>
        <p:spPr/>
        <p:txBody>
          <a:bodyPr/>
          <a:lstStyle/>
          <a:p>
            <a:fld id="{60D6D740-8150-433F-9426-3FCFF681501A}" type="slidenum">
              <a:rPr lang="en-US" smtClean="0"/>
              <a:pPr/>
              <a:t>12</a:t>
            </a:fld>
            <a:endParaRPr lang="en-US"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B294B5B-0D22-5A7E-9C43-C2EA1E5AFDEB}"/>
                  </a:ext>
                </a:extLst>
              </p14:cNvPr>
              <p14:cNvContentPartPr/>
              <p14:nvPr/>
            </p14:nvContentPartPr>
            <p14:xfrm>
              <a:off x="5305111" y="2514809"/>
              <a:ext cx="2878200" cy="153360"/>
            </p14:xfrm>
          </p:contentPart>
        </mc:Choice>
        <mc:Fallback>
          <p:pic>
            <p:nvPicPr>
              <p:cNvPr id="3" name="Ink 2">
                <a:extLst>
                  <a:ext uri="{FF2B5EF4-FFF2-40B4-BE49-F238E27FC236}">
                    <a16:creationId xmlns:a16="http://schemas.microsoft.com/office/drawing/2014/main" id="{2B294B5B-0D22-5A7E-9C43-C2EA1E5AFDEB}"/>
                  </a:ext>
                </a:extLst>
              </p:cNvPr>
              <p:cNvPicPr/>
              <p:nvPr/>
            </p:nvPicPr>
            <p:blipFill>
              <a:blip r:embed="rId3"/>
              <a:stretch>
                <a:fillRect/>
              </a:stretch>
            </p:blipFill>
            <p:spPr>
              <a:xfrm>
                <a:off x="5287471" y="2497169"/>
                <a:ext cx="291384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C531675-8D1B-7BE7-115A-EFB3E90DDBEC}"/>
                  </a:ext>
                </a:extLst>
              </p14:cNvPr>
              <p14:cNvContentPartPr/>
              <p14:nvPr/>
            </p14:nvContentPartPr>
            <p14:xfrm>
              <a:off x="573631" y="2847809"/>
              <a:ext cx="3343320" cy="97200"/>
            </p14:xfrm>
          </p:contentPart>
        </mc:Choice>
        <mc:Fallback>
          <p:pic>
            <p:nvPicPr>
              <p:cNvPr id="4" name="Ink 3">
                <a:extLst>
                  <a:ext uri="{FF2B5EF4-FFF2-40B4-BE49-F238E27FC236}">
                    <a16:creationId xmlns:a16="http://schemas.microsoft.com/office/drawing/2014/main" id="{DC531675-8D1B-7BE7-115A-EFB3E90DDBEC}"/>
                  </a:ext>
                </a:extLst>
              </p:cNvPr>
              <p:cNvPicPr/>
              <p:nvPr/>
            </p:nvPicPr>
            <p:blipFill>
              <a:blip r:embed="rId5"/>
              <a:stretch>
                <a:fillRect/>
              </a:stretch>
            </p:blipFill>
            <p:spPr>
              <a:xfrm>
                <a:off x="555991" y="2830169"/>
                <a:ext cx="33789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15B794D-43BC-B12A-F204-09B5A16A7DEC}"/>
                  </a:ext>
                </a:extLst>
              </p14:cNvPr>
              <p14:cNvContentPartPr/>
              <p14:nvPr/>
            </p14:nvContentPartPr>
            <p14:xfrm>
              <a:off x="956671" y="3422369"/>
              <a:ext cx="4561560" cy="203400"/>
            </p14:xfrm>
          </p:contentPart>
        </mc:Choice>
        <mc:Fallback>
          <p:pic>
            <p:nvPicPr>
              <p:cNvPr id="5" name="Ink 4">
                <a:extLst>
                  <a:ext uri="{FF2B5EF4-FFF2-40B4-BE49-F238E27FC236}">
                    <a16:creationId xmlns:a16="http://schemas.microsoft.com/office/drawing/2014/main" id="{215B794D-43BC-B12A-F204-09B5A16A7DEC}"/>
                  </a:ext>
                </a:extLst>
              </p:cNvPr>
              <p:cNvPicPr/>
              <p:nvPr/>
            </p:nvPicPr>
            <p:blipFill>
              <a:blip r:embed="rId7"/>
              <a:stretch>
                <a:fillRect/>
              </a:stretch>
            </p:blipFill>
            <p:spPr>
              <a:xfrm>
                <a:off x="938671" y="3404369"/>
                <a:ext cx="459720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5178C125-CC10-B2A8-63B8-47B3D05047E8}"/>
                  </a:ext>
                </a:extLst>
              </p14:cNvPr>
              <p14:cNvContentPartPr/>
              <p14:nvPr/>
            </p14:nvContentPartPr>
            <p14:xfrm>
              <a:off x="658591" y="3933569"/>
              <a:ext cx="2488320" cy="74880"/>
            </p14:xfrm>
          </p:contentPart>
        </mc:Choice>
        <mc:Fallback>
          <p:pic>
            <p:nvPicPr>
              <p:cNvPr id="6" name="Ink 5">
                <a:extLst>
                  <a:ext uri="{FF2B5EF4-FFF2-40B4-BE49-F238E27FC236}">
                    <a16:creationId xmlns:a16="http://schemas.microsoft.com/office/drawing/2014/main" id="{5178C125-CC10-B2A8-63B8-47B3D05047E8}"/>
                  </a:ext>
                </a:extLst>
              </p:cNvPr>
              <p:cNvPicPr/>
              <p:nvPr/>
            </p:nvPicPr>
            <p:blipFill>
              <a:blip r:embed="rId9"/>
              <a:stretch>
                <a:fillRect/>
              </a:stretch>
            </p:blipFill>
            <p:spPr>
              <a:xfrm>
                <a:off x="640951" y="3915929"/>
                <a:ext cx="2523960" cy="110520"/>
              </a:xfrm>
              <a:prstGeom prst="rect">
                <a:avLst/>
              </a:prstGeom>
            </p:spPr>
          </p:pic>
        </mc:Fallback>
      </mc:AlternateContent>
    </p:spTree>
    <p:extLst>
      <p:ext uri="{BB962C8B-B14F-4D97-AF65-F5344CB8AC3E}">
        <p14:creationId xmlns:p14="http://schemas.microsoft.com/office/powerpoint/2010/main" val="3065633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FF32045-9003-42E1-BBD9-B652784129B0}"/>
              </a:ext>
            </a:extLst>
          </p:cNvPr>
          <p:cNvSpPr>
            <a:spLocks noGrp="1" noChangeArrowheads="1"/>
          </p:cNvSpPr>
          <p:nvPr>
            <p:ph type="title"/>
          </p:nvPr>
        </p:nvSpPr>
        <p:spPr>
          <a:xfrm>
            <a:off x="365760" y="503873"/>
            <a:ext cx="7772400" cy="1143000"/>
          </a:xfrm>
        </p:spPr>
        <p:txBody>
          <a:bodyPr/>
          <a:lstStyle/>
          <a:p>
            <a:r>
              <a:rPr lang="en-US" altLang="en-US" dirty="0"/>
              <a:t>Resource optimization</a:t>
            </a:r>
          </a:p>
        </p:txBody>
      </p:sp>
      <p:pic>
        <p:nvPicPr>
          <p:cNvPr id="3" name="Picture 2">
            <a:extLst>
              <a:ext uri="{FF2B5EF4-FFF2-40B4-BE49-F238E27FC236}">
                <a16:creationId xmlns:a16="http://schemas.microsoft.com/office/drawing/2014/main" id="{F9C75F67-593F-405D-8B46-E22DCBC5E6F8}"/>
              </a:ext>
            </a:extLst>
          </p:cNvPr>
          <p:cNvPicPr>
            <a:picLocks noChangeAspect="1"/>
          </p:cNvPicPr>
          <p:nvPr/>
        </p:nvPicPr>
        <p:blipFill rotWithShape="1">
          <a:blip r:embed="rId3"/>
          <a:srcRect l="5854" t="26477" r="29146" b="21490"/>
          <a:stretch/>
        </p:blipFill>
        <p:spPr>
          <a:xfrm>
            <a:off x="365760" y="1416205"/>
            <a:ext cx="8878601" cy="5274527"/>
          </a:xfrm>
          <a:prstGeom prst="rect">
            <a:avLst/>
          </a:prstGeom>
        </p:spPr>
      </p:pic>
      <p:sp>
        <p:nvSpPr>
          <p:cNvPr id="2" name="Slide Number Placeholder 1">
            <a:extLst>
              <a:ext uri="{FF2B5EF4-FFF2-40B4-BE49-F238E27FC236}">
                <a16:creationId xmlns:a16="http://schemas.microsoft.com/office/drawing/2014/main" id="{EF03F9F5-DEE4-4CE3-99CA-58DFF19AFB45}"/>
              </a:ext>
            </a:extLst>
          </p:cNvPr>
          <p:cNvSpPr>
            <a:spLocks noGrp="1"/>
          </p:cNvSpPr>
          <p:nvPr>
            <p:ph type="sldNum" sz="quarter" idx="12"/>
          </p:nvPr>
        </p:nvSpPr>
        <p:spPr/>
        <p:txBody>
          <a:bodyPr/>
          <a:lstStyle/>
          <a:p>
            <a:fld id="{60D6D740-8150-433F-9426-3FCFF681501A}" type="slidenum">
              <a:rPr lang="en-US" smtClean="0"/>
              <a:pPr/>
              <a:t>13</a:t>
            </a:fld>
            <a:endParaRPr lang="en-US" dirty="0"/>
          </a:p>
        </p:txBody>
      </p:sp>
    </p:spTree>
    <p:extLst>
      <p:ext uri="{BB962C8B-B14F-4D97-AF65-F5344CB8AC3E}">
        <p14:creationId xmlns:p14="http://schemas.microsoft.com/office/powerpoint/2010/main" val="2737392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4B8EA6A3-3AD4-4167-B491-144634C018D3}"/>
              </a:ext>
            </a:extLst>
          </p:cNvPr>
          <p:cNvSpPr>
            <a:spLocks noGrp="1" noChangeArrowheads="1"/>
          </p:cNvSpPr>
          <p:nvPr>
            <p:ph type="title"/>
          </p:nvPr>
        </p:nvSpPr>
        <p:spPr>
          <a:xfrm>
            <a:off x="685800" y="666750"/>
            <a:ext cx="7772400" cy="1143000"/>
          </a:xfrm>
        </p:spPr>
        <p:txBody>
          <a:bodyPr/>
          <a:lstStyle/>
          <a:p>
            <a:pPr eaLnBrk="1" hangingPunct="1"/>
            <a:r>
              <a:rPr lang="en-GB" altLang="en-US" b="1" dirty="0"/>
              <a:t>Prioritizing activities</a:t>
            </a:r>
          </a:p>
        </p:txBody>
      </p:sp>
      <p:sp>
        <p:nvSpPr>
          <p:cNvPr id="22532" name="Rectangle 3">
            <a:extLst>
              <a:ext uri="{FF2B5EF4-FFF2-40B4-BE49-F238E27FC236}">
                <a16:creationId xmlns:a16="http://schemas.microsoft.com/office/drawing/2014/main" id="{5B48CBB2-7618-4BC2-9767-1376A110FB27}"/>
              </a:ext>
            </a:extLst>
          </p:cNvPr>
          <p:cNvSpPr>
            <a:spLocks noGrp="1" noChangeArrowheads="1"/>
          </p:cNvSpPr>
          <p:nvPr>
            <p:ph type="body" idx="1"/>
          </p:nvPr>
        </p:nvSpPr>
        <p:spPr>
          <a:xfrm>
            <a:off x="685800" y="1700213"/>
            <a:ext cx="7772400" cy="4395787"/>
          </a:xfrm>
        </p:spPr>
        <p:txBody>
          <a:bodyPr/>
          <a:lstStyle/>
          <a:p>
            <a:pPr eaLnBrk="1" hangingPunct="1">
              <a:buFontTx/>
              <a:buNone/>
            </a:pPr>
            <a:r>
              <a:rPr lang="en-GB" altLang="en-US" dirty="0"/>
              <a:t>There are two main ways of doing this:</a:t>
            </a:r>
          </a:p>
          <a:p>
            <a:pPr eaLnBrk="1" hangingPunct="1">
              <a:buFontTx/>
              <a:buNone/>
            </a:pPr>
            <a:endParaRPr lang="en-GB" altLang="en-US" sz="800" dirty="0"/>
          </a:p>
          <a:p>
            <a:pPr eaLnBrk="1" hangingPunct="1"/>
            <a:r>
              <a:rPr lang="en-GB" altLang="en-US" i="1" dirty="0"/>
              <a:t>Total float priority – </a:t>
            </a:r>
            <a:r>
              <a:rPr lang="en-GB" altLang="en-US" dirty="0"/>
              <a:t>those with the smallest float have the highest priority</a:t>
            </a:r>
          </a:p>
          <a:p>
            <a:pPr eaLnBrk="1" hangingPunct="1">
              <a:buFontTx/>
              <a:buNone/>
            </a:pPr>
            <a:endParaRPr lang="en-GB" altLang="en-US" sz="800" dirty="0"/>
          </a:p>
          <a:p>
            <a:pPr eaLnBrk="1" hangingPunct="1"/>
            <a:r>
              <a:rPr lang="en-GB" altLang="en-US" i="1" dirty="0"/>
              <a:t>Ordered list priority</a:t>
            </a:r>
            <a:r>
              <a:rPr lang="en-GB" altLang="en-US" dirty="0"/>
              <a:t> – this takes account of the duration of the activity as well as the float</a:t>
            </a:r>
          </a:p>
          <a:p>
            <a:pPr eaLnBrk="1" hangingPunct="1"/>
            <a:endParaRPr lang="en-GB" altLang="en-US" i="1" dirty="0"/>
          </a:p>
        </p:txBody>
      </p:sp>
      <p:sp>
        <p:nvSpPr>
          <p:cNvPr id="2" name="Slide Number Placeholder 1">
            <a:extLst>
              <a:ext uri="{FF2B5EF4-FFF2-40B4-BE49-F238E27FC236}">
                <a16:creationId xmlns:a16="http://schemas.microsoft.com/office/drawing/2014/main" id="{2A3F751F-4C9C-4774-8DA3-48D338F6061C}"/>
              </a:ext>
            </a:extLst>
          </p:cNvPr>
          <p:cNvSpPr>
            <a:spLocks noGrp="1"/>
          </p:cNvSpPr>
          <p:nvPr>
            <p:ph type="sldNum" sz="quarter" idx="12"/>
          </p:nvPr>
        </p:nvSpPr>
        <p:spPr/>
        <p:txBody>
          <a:bodyPr/>
          <a:lstStyle/>
          <a:p>
            <a:fld id="{60D6D740-8150-433F-9426-3FCFF681501A}" type="slidenum">
              <a:rPr lang="en-US" smtClean="0"/>
              <a:pPr/>
              <a:t>14</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D5E6C0F-E967-CDA2-AD96-080142A5341F}"/>
                  </a:ext>
                </a:extLst>
              </p14:cNvPr>
              <p14:cNvContentPartPr/>
              <p14:nvPr/>
            </p14:nvContentPartPr>
            <p14:xfrm>
              <a:off x="1180231" y="2689409"/>
              <a:ext cx="2178360" cy="170640"/>
            </p14:xfrm>
          </p:contentPart>
        </mc:Choice>
        <mc:Fallback>
          <p:pic>
            <p:nvPicPr>
              <p:cNvPr id="3" name="Ink 2">
                <a:extLst>
                  <a:ext uri="{FF2B5EF4-FFF2-40B4-BE49-F238E27FC236}">
                    <a16:creationId xmlns:a16="http://schemas.microsoft.com/office/drawing/2014/main" id="{9D5E6C0F-E967-CDA2-AD96-080142A5341F}"/>
                  </a:ext>
                </a:extLst>
              </p:cNvPr>
              <p:cNvPicPr/>
              <p:nvPr/>
            </p:nvPicPr>
            <p:blipFill>
              <a:blip r:embed="rId4"/>
              <a:stretch>
                <a:fillRect/>
              </a:stretch>
            </p:blipFill>
            <p:spPr>
              <a:xfrm>
                <a:off x="1162231" y="2671409"/>
                <a:ext cx="22140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837BB4CC-7851-6CF8-55C6-ACCC9B8109CD}"/>
                  </a:ext>
                </a:extLst>
              </p14:cNvPr>
              <p14:cNvContentPartPr/>
              <p14:nvPr/>
            </p14:nvContentPartPr>
            <p14:xfrm>
              <a:off x="1052431" y="3794969"/>
              <a:ext cx="2679480" cy="287640"/>
            </p14:xfrm>
          </p:contentPart>
        </mc:Choice>
        <mc:Fallback>
          <p:pic>
            <p:nvPicPr>
              <p:cNvPr id="4" name="Ink 3">
                <a:extLst>
                  <a:ext uri="{FF2B5EF4-FFF2-40B4-BE49-F238E27FC236}">
                    <a16:creationId xmlns:a16="http://schemas.microsoft.com/office/drawing/2014/main" id="{837BB4CC-7851-6CF8-55C6-ACCC9B8109CD}"/>
                  </a:ext>
                </a:extLst>
              </p:cNvPr>
              <p:cNvPicPr/>
              <p:nvPr/>
            </p:nvPicPr>
            <p:blipFill>
              <a:blip r:embed="rId6"/>
              <a:stretch>
                <a:fillRect/>
              </a:stretch>
            </p:blipFill>
            <p:spPr>
              <a:xfrm>
                <a:off x="1034431" y="3776969"/>
                <a:ext cx="2715120" cy="32328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4B8EA6A3-3AD4-4167-B491-144634C018D3}"/>
              </a:ext>
            </a:extLst>
          </p:cNvPr>
          <p:cNvSpPr>
            <a:spLocks noGrp="1" noChangeArrowheads="1"/>
          </p:cNvSpPr>
          <p:nvPr>
            <p:ph type="title"/>
          </p:nvPr>
        </p:nvSpPr>
        <p:spPr>
          <a:xfrm>
            <a:off x="685800" y="666750"/>
            <a:ext cx="7772400" cy="1143000"/>
          </a:xfrm>
        </p:spPr>
        <p:txBody>
          <a:bodyPr/>
          <a:lstStyle/>
          <a:p>
            <a:pPr eaLnBrk="1" hangingPunct="1"/>
            <a:r>
              <a:rPr lang="en-GB" altLang="en-US" b="1" dirty="0"/>
              <a:t>Prioritizing activities</a:t>
            </a:r>
          </a:p>
        </p:txBody>
      </p:sp>
      <p:sp>
        <p:nvSpPr>
          <p:cNvPr id="22532" name="Rectangle 3">
            <a:extLst>
              <a:ext uri="{FF2B5EF4-FFF2-40B4-BE49-F238E27FC236}">
                <a16:creationId xmlns:a16="http://schemas.microsoft.com/office/drawing/2014/main" id="{5B48CBB2-7618-4BC2-9767-1376A110FB27}"/>
              </a:ext>
            </a:extLst>
          </p:cNvPr>
          <p:cNvSpPr>
            <a:spLocks noGrp="1" noChangeArrowheads="1"/>
          </p:cNvSpPr>
          <p:nvPr>
            <p:ph type="body" idx="1"/>
          </p:nvPr>
        </p:nvSpPr>
        <p:spPr>
          <a:xfrm>
            <a:off x="685800" y="1700213"/>
            <a:ext cx="7772400" cy="4395787"/>
          </a:xfrm>
        </p:spPr>
        <p:txBody>
          <a:bodyPr>
            <a:normAutofit lnSpcReduction="10000"/>
          </a:bodyPr>
          <a:lstStyle/>
          <a:p>
            <a:pPr marL="0" indent="0">
              <a:buNone/>
              <a:defRPr/>
            </a:pPr>
            <a:r>
              <a:rPr lang="en-GB" altLang="en-US" dirty="0"/>
              <a:t>Where more than one activity is competing for the same limited resource at the same time then those activities need to be prioritized. </a:t>
            </a:r>
          </a:p>
          <a:p>
            <a:pPr marL="0" indent="0" eaLnBrk="1" hangingPunct="1">
              <a:buNone/>
              <a:defRPr/>
            </a:pPr>
            <a:r>
              <a:rPr lang="en-GB" altLang="en-US" b="1" dirty="0"/>
              <a:t>Burman’s priority list</a:t>
            </a:r>
          </a:p>
          <a:p>
            <a:pPr marL="0" indent="0" eaLnBrk="1" hangingPunct="1">
              <a:buNone/>
              <a:defRPr/>
            </a:pPr>
            <a:r>
              <a:rPr lang="en-GB" altLang="en-US" dirty="0"/>
              <a:t>Give priority to:</a:t>
            </a:r>
          </a:p>
          <a:p>
            <a:pPr marL="609600" indent="-609600" eaLnBrk="1" hangingPunct="1">
              <a:defRPr/>
            </a:pPr>
            <a:r>
              <a:rPr lang="en-GB" altLang="en-US" dirty="0"/>
              <a:t>Shortest critical activities</a:t>
            </a:r>
          </a:p>
          <a:p>
            <a:pPr marL="609600" indent="-609600" eaLnBrk="1" hangingPunct="1">
              <a:defRPr/>
            </a:pPr>
            <a:r>
              <a:rPr lang="en-GB" altLang="en-US" dirty="0"/>
              <a:t>Other critical activities</a:t>
            </a:r>
          </a:p>
          <a:p>
            <a:pPr marL="609600" indent="-609600" eaLnBrk="1" hangingPunct="1">
              <a:defRPr/>
            </a:pPr>
            <a:r>
              <a:rPr lang="en-GB" altLang="en-US" dirty="0"/>
              <a:t>Shortest non-critical activities</a:t>
            </a:r>
          </a:p>
          <a:p>
            <a:pPr marL="609600" indent="-609600" eaLnBrk="1" hangingPunct="1">
              <a:defRPr/>
            </a:pPr>
            <a:r>
              <a:rPr lang="en-GB" altLang="en-US" dirty="0"/>
              <a:t>Non-critical activities with least float</a:t>
            </a:r>
          </a:p>
          <a:p>
            <a:pPr marL="609600" indent="-609600" eaLnBrk="1" hangingPunct="1">
              <a:defRPr/>
            </a:pPr>
            <a:r>
              <a:rPr lang="en-GB" altLang="en-US"/>
              <a:t>Non-critical </a:t>
            </a:r>
            <a:r>
              <a:rPr lang="en-GB" altLang="en-US" dirty="0"/>
              <a:t>activities</a:t>
            </a:r>
          </a:p>
          <a:p>
            <a:pPr marL="0" indent="0" eaLnBrk="1" hangingPunct="1">
              <a:buNone/>
            </a:pPr>
            <a:endParaRPr lang="en-GB" altLang="en-US" i="1" dirty="0"/>
          </a:p>
        </p:txBody>
      </p:sp>
      <p:sp>
        <p:nvSpPr>
          <p:cNvPr id="2" name="Slide Number Placeholder 1">
            <a:extLst>
              <a:ext uri="{FF2B5EF4-FFF2-40B4-BE49-F238E27FC236}">
                <a16:creationId xmlns:a16="http://schemas.microsoft.com/office/drawing/2014/main" id="{8979CB68-0F0F-4583-B02C-940D553176A7}"/>
              </a:ext>
            </a:extLst>
          </p:cNvPr>
          <p:cNvSpPr>
            <a:spLocks noGrp="1"/>
          </p:cNvSpPr>
          <p:nvPr>
            <p:ph type="sldNum" sz="quarter" idx="12"/>
          </p:nvPr>
        </p:nvSpPr>
        <p:spPr/>
        <p:txBody>
          <a:bodyPr/>
          <a:lstStyle/>
          <a:p>
            <a:fld id="{60D6D740-8150-433F-9426-3FCFF681501A}" type="slidenum">
              <a:rPr lang="en-US" smtClean="0"/>
              <a:pPr/>
              <a:t>15</a:t>
            </a:fld>
            <a:endParaRPr lang="en-US" dirty="0"/>
          </a:p>
        </p:txBody>
      </p:sp>
    </p:spTree>
    <p:extLst>
      <p:ext uri="{BB962C8B-B14F-4D97-AF65-F5344CB8AC3E}">
        <p14:creationId xmlns:p14="http://schemas.microsoft.com/office/powerpoint/2010/main" val="1263527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F129EB80-4501-4A77-9BC1-AD1F0CCA7A60}"/>
              </a:ext>
            </a:extLst>
          </p:cNvPr>
          <p:cNvSpPr>
            <a:spLocks noGrp="1" noChangeArrowheads="1"/>
          </p:cNvSpPr>
          <p:nvPr>
            <p:ph type="title"/>
          </p:nvPr>
        </p:nvSpPr>
        <p:spPr>
          <a:xfrm>
            <a:off x="609600" y="585470"/>
            <a:ext cx="7772400" cy="1143000"/>
          </a:xfrm>
        </p:spPr>
        <p:txBody>
          <a:bodyPr/>
          <a:lstStyle/>
          <a:p>
            <a:pPr eaLnBrk="1" hangingPunct="1"/>
            <a:r>
              <a:rPr lang="en-GB" altLang="en-US" b="1" dirty="0"/>
              <a:t>Critical path</a:t>
            </a:r>
          </a:p>
        </p:txBody>
      </p:sp>
      <p:sp>
        <p:nvSpPr>
          <p:cNvPr id="24580" name="Rectangle 3">
            <a:extLst>
              <a:ext uri="{FF2B5EF4-FFF2-40B4-BE49-F238E27FC236}">
                <a16:creationId xmlns:a16="http://schemas.microsoft.com/office/drawing/2014/main" id="{DE0F28CE-036B-4444-BA8E-A580A8A3F489}"/>
              </a:ext>
            </a:extLst>
          </p:cNvPr>
          <p:cNvSpPr>
            <a:spLocks noGrp="1" noChangeArrowheads="1"/>
          </p:cNvSpPr>
          <p:nvPr>
            <p:ph type="body" idx="1"/>
          </p:nvPr>
        </p:nvSpPr>
        <p:spPr>
          <a:xfrm>
            <a:off x="684213" y="1628775"/>
            <a:ext cx="7772400" cy="4475163"/>
          </a:xfrm>
        </p:spPr>
        <p:txBody>
          <a:bodyPr/>
          <a:lstStyle/>
          <a:p>
            <a:pPr eaLnBrk="1" hangingPunct="1">
              <a:lnSpc>
                <a:spcPct val="90000"/>
              </a:lnSpc>
            </a:pPr>
            <a:r>
              <a:rPr lang="en-GB" altLang="en-US" sz="2800" dirty="0"/>
              <a:t>Scheduling resources can create new dependencies between activities – </a:t>
            </a:r>
          </a:p>
          <a:p>
            <a:pPr eaLnBrk="1" hangingPunct="1">
              <a:lnSpc>
                <a:spcPct val="90000"/>
              </a:lnSpc>
              <a:buFontTx/>
              <a:buNone/>
            </a:pPr>
            <a:endParaRPr lang="en-GB" altLang="en-US" sz="900" dirty="0"/>
          </a:p>
          <a:p>
            <a:pPr eaLnBrk="1" hangingPunct="1">
              <a:lnSpc>
                <a:spcPct val="90000"/>
              </a:lnSpc>
            </a:pPr>
            <a:r>
              <a:rPr lang="en-GB" altLang="en-US" sz="2800" dirty="0"/>
              <a:t>It is best not to add dependencies to the activity network to reflect resource constraints</a:t>
            </a:r>
          </a:p>
          <a:p>
            <a:pPr lvl="1" eaLnBrk="1" hangingPunct="1">
              <a:lnSpc>
                <a:spcPct val="90000"/>
              </a:lnSpc>
            </a:pPr>
            <a:r>
              <a:rPr lang="en-GB" altLang="en-US" sz="2400" dirty="0"/>
              <a:t>Makes network very messy</a:t>
            </a:r>
          </a:p>
          <a:p>
            <a:pPr lvl="1" eaLnBrk="1" hangingPunct="1">
              <a:lnSpc>
                <a:spcPct val="90000"/>
              </a:lnSpc>
            </a:pPr>
            <a:r>
              <a:rPr lang="en-GB" altLang="en-US" sz="2400" dirty="0"/>
              <a:t>A resource constraint may disappear during the project, but link remains on network</a:t>
            </a:r>
          </a:p>
          <a:p>
            <a:pPr lvl="1" eaLnBrk="1" hangingPunct="1">
              <a:lnSpc>
                <a:spcPct val="90000"/>
              </a:lnSpc>
              <a:buFontTx/>
              <a:buNone/>
            </a:pPr>
            <a:endParaRPr lang="en-GB" altLang="en-US" sz="800" dirty="0"/>
          </a:p>
          <a:p>
            <a:pPr eaLnBrk="1" hangingPunct="1">
              <a:lnSpc>
                <a:spcPct val="90000"/>
              </a:lnSpc>
            </a:pPr>
            <a:r>
              <a:rPr lang="en-GB" altLang="en-US" sz="2800" dirty="0"/>
              <a:t>Amend dates on </a:t>
            </a:r>
            <a:r>
              <a:rPr lang="en-GB" altLang="en-US" sz="2800" b="1" dirty="0"/>
              <a:t>schedule</a:t>
            </a:r>
            <a:r>
              <a:rPr lang="en-GB" altLang="en-US" sz="2800" dirty="0"/>
              <a:t> to reflect resource constraints</a:t>
            </a:r>
          </a:p>
          <a:p>
            <a:pPr eaLnBrk="1" hangingPunct="1">
              <a:lnSpc>
                <a:spcPct val="90000"/>
              </a:lnSpc>
            </a:pPr>
            <a:endParaRPr lang="en-GB" altLang="en-US" sz="2800" dirty="0"/>
          </a:p>
        </p:txBody>
      </p:sp>
      <p:sp>
        <p:nvSpPr>
          <p:cNvPr id="2" name="Slide Number Placeholder 1">
            <a:extLst>
              <a:ext uri="{FF2B5EF4-FFF2-40B4-BE49-F238E27FC236}">
                <a16:creationId xmlns:a16="http://schemas.microsoft.com/office/drawing/2014/main" id="{80FDC3F1-0F7D-4A73-830B-7AA2B2DE2C45}"/>
              </a:ext>
            </a:extLst>
          </p:cNvPr>
          <p:cNvSpPr>
            <a:spLocks noGrp="1"/>
          </p:cNvSpPr>
          <p:nvPr>
            <p:ph type="sldNum" sz="quarter" idx="12"/>
          </p:nvPr>
        </p:nvSpPr>
        <p:spPr/>
        <p:txBody>
          <a:bodyPr/>
          <a:lstStyle/>
          <a:p>
            <a:fld id="{60D6D740-8150-433F-9426-3FCFF681501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A70A635D-AE8A-44D8-8FA6-4D239B2135BD}"/>
              </a:ext>
            </a:extLst>
          </p:cNvPr>
          <p:cNvSpPr>
            <a:spLocks noGrp="1" noChangeArrowheads="1"/>
          </p:cNvSpPr>
          <p:nvPr>
            <p:ph type="title"/>
          </p:nvPr>
        </p:nvSpPr>
        <p:spPr>
          <a:xfrm>
            <a:off x="505777" y="665004"/>
            <a:ext cx="8569325" cy="1143000"/>
          </a:xfrm>
        </p:spPr>
        <p:txBody>
          <a:bodyPr/>
          <a:lstStyle/>
          <a:p>
            <a:pPr eaLnBrk="1" hangingPunct="1"/>
            <a:r>
              <a:rPr lang="en-GB" altLang="en-US" sz="4000" b="1" dirty="0"/>
              <a:t>Allocating individuals to activities</a:t>
            </a:r>
          </a:p>
        </p:txBody>
      </p:sp>
      <p:sp>
        <p:nvSpPr>
          <p:cNvPr id="26628" name="Rectangle 3">
            <a:extLst>
              <a:ext uri="{FF2B5EF4-FFF2-40B4-BE49-F238E27FC236}">
                <a16:creationId xmlns:a16="http://schemas.microsoft.com/office/drawing/2014/main" id="{F748C528-1AC9-49CA-AE43-5880DD998188}"/>
              </a:ext>
            </a:extLst>
          </p:cNvPr>
          <p:cNvSpPr>
            <a:spLocks noGrp="1" noChangeArrowheads="1"/>
          </p:cNvSpPr>
          <p:nvPr>
            <p:ph type="body" idx="1"/>
          </p:nvPr>
        </p:nvSpPr>
        <p:spPr>
          <a:xfrm>
            <a:off x="615950" y="1873488"/>
            <a:ext cx="7772400" cy="4395788"/>
          </a:xfrm>
        </p:spPr>
        <p:txBody>
          <a:bodyPr/>
          <a:lstStyle/>
          <a:p>
            <a:pPr eaLnBrk="1" hangingPunct="1">
              <a:lnSpc>
                <a:spcPct val="90000"/>
              </a:lnSpc>
              <a:buFontTx/>
              <a:buNone/>
            </a:pPr>
            <a:r>
              <a:rPr lang="en-GB" altLang="en-US" dirty="0"/>
              <a:t>The initial ‘resource types’ for a task have to be replaced by actual individuals.</a:t>
            </a:r>
          </a:p>
          <a:p>
            <a:pPr eaLnBrk="1" hangingPunct="1">
              <a:lnSpc>
                <a:spcPct val="90000"/>
              </a:lnSpc>
              <a:buFontTx/>
              <a:buNone/>
            </a:pPr>
            <a:r>
              <a:rPr lang="en-GB" altLang="en-US" dirty="0"/>
              <a:t>Factors to be considered:</a:t>
            </a:r>
          </a:p>
          <a:p>
            <a:pPr eaLnBrk="1" hangingPunct="1">
              <a:lnSpc>
                <a:spcPct val="90000"/>
              </a:lnSpc>
            </a:pPr>
            <a:r>
              <a:rPr lang="en-GB" altLang="en-US" dirty="0"/>
              <a:t>Availability</a:t>
            </a:r>
          </a:p>
          <a:p>
            <a:pPr eaLnBrk="1" hangingPunct="1">
              <a:lnSpc>
                <a:spcPct val="90000"/>
              </a:lnSpc>
            </a:pPr>
            <a:r>
              <a:rPr lang="en-GB" altLang="en-US" dirty="0"/>
              <a:t>Criticality </a:t>
            </a:r>
          </a:p>
          <a:p>
            <a:pPr eaLnBrk="1" hangingPunct="1">
              <a:lnSpc>
                <a:spcPct val="90000"/>
              </a:lnSpc>
            </a:pPr>
            <a:r>
              <a:rPr lang="en-GB" altLang="en-US" dirty="0"/>
              <a:t>Risk</a:t>
            </a:r>
          </a:p>
          <a:p>
            <a:pPr eaLnBrk="1" hangingPunct="1">
              <a:lnSpc>
                <a:spcPct val="90000"/>
              </a:lnSpc>
            </a:pPr>
            <a:r>
              <a:rPr lang="en-GB" altLang="en-US" dirty="0"/>
              <a:t>Training</a:t>
            </a:r>
          </a:p>
          <a:p>
            <a:pPr eaLnBrk="1" hangingPunct="1">
              <a:lnSpc>
                <a:spcPct val="90000"/>
              </a:lnSpc>
            </a:pPr>
            <a:r>
              <a:rPr lang="en-GB" altLang="en-US" dirty="0"/>
              <a:t>Team building – and motivation</a:t>
            </a:r>
          </a:p>
          <a:p>
            <a:pPr eaLnBrk="1" hangingPunct="1">
              <a:lnSpc>
                <a:spcPct val="90000"/>
              </a:lnSpc>
              <a:buFontTx/>
              <a:buNone/>
            </a:pPr>
            <a:endParaRPr lang="en-GB" altLang="en-US" dirty="0"/>
          </a:p>
        </p:txBody>
      </p:sp>
      <p:sp>
        <p:nvSpPr>
          <p:cNvPr id="2" name="Slide Number Placeholder 1">
            <a:extLst>
              <a:ext uri="{FF2B5EF4-FFF2-40B4-BE49-F238E27FC236}">
                <a16:creationId xmlns:a16="http://schemas.microsoft.com/office/drawing/2014/main" id="{6AA15F67-8F55-4AEB-B7D6-92FF799EF808}"/>
              </a:ext>
            </a:extLst>
          </p:cNvPr>
          <p:cNvSpPr>
            <a:spLocks noGrp="1"/>
          </p:cNvSpPr>
          <p:nvPr>
            <p:ph type="sldNum" sz="quarter" idx="12"/>
          </p:nvPr>
        </p:nvSpPr>
        <p:spPr/>
        <p:txBody>
          <a:bodyPr/>
          <a:lstStyle/>
          <a:p>
            <a:fld id="{60D6D740-8150-433F-9426-3FCFF681501A}" type="slidenum">
              <a:rPr lang="en-US" smtClean="0"/>
              <a:pPr/>
              <a:t>17</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8966AC9A-E774-C967-8C2B-D833ABAF9ECF}"/>
                  </a:ext>
                </a:extLst>
              </p14:cNvPr>
              <p14:cNvContentPartPr/>
              <p14:nvPr/>
            </p14:nvContentPartPr>
            <p14:xfrm>
              <a:off x="892591" y="3748169"/>
              <a:ext cx="1283760" cy="91440"/>
            </p14:xfrm>
          </p:contentPart>
        </mc:Choice>
        <mc:Fallback>
          <p:pic>
            <p:nvPicPr>
              <p:cNvPr id="3" name="Ink 2">
                <a:extLst>
                  <a:ext uri="{FF2B5EF4-FFF2-40B4-BE49-F238E27FC236}">
                    <a16:creationId xmlns:a16="http://schemas.microsoft.com/office/drawing/2014/main" id="{8966AC9A-E774-C967-8C2B-D833ABAF9ECF}"/>
                  </a:ext>
                </a:extLst>
              </p:cNvPr>
              <p:cNvPicPr/>
              <p:nvPr/>
            </p:nvPicPr>
            <p:blipFill>
              <a:blip r:embed="rId4"/>
              <a:stretch>
                <a:fillRect/>
              </a:stretch>
            </p:blipFill>
            <p:spPr>
              <a:xfrm>
                <a:off x="874951" y="3730169"/>
                <a:ext cx="13194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AEECE049-97A0-9CF9-4E56-68605F97A132}"/>
                  </a:ext>
                </a:extLst>
              </p14:cNvPr>
              <p14:cNvContentPartPr/>
              <p14:nvPr/>
            </p14:nvContentPartPr>
            <p14:xfrm>
              <a:off x="1073311" y="4273049"/>
              <a:ext cx="969120" cy="22680"/>
            </p14:xfrm>
          </p:contentPart>
        </mc:Choice>
        <mc:Fallback>
          <p:pic>
            <p:nvPicPr>
              <p:cNvPr id="4" name="Ink 3">
                <a:extLst>
                  <a:ext uri="{FF2B5EF4-FFF2-40B4-BE49-F238E27FC236}">
                    <a16:creationId xmlns:a16="http://schemas.microsoft.com/office/drawing/2014/main" id="{AEECE049-97A0-9CF9-4E56-68605F97A132}"/>
                  </a:ext>
                </a:extLst>
              </p:cNvPr>
              <p:cNvPicPr/>
              <p:nvPr/>
            </p:nvPicPr>
            <p:blipFill>
              <a:blip r:embed="rId6"/>
              <a:stretch>
                <a:fillRect/>
              </a:stretch>
            </p:blipFill>
            <p:spPr>
              <a:xfrm>
                <a:off x="1055671" y="4255409"/>
                <a:ext cx="100476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009D0077-6316-45F8-4959-AD885B7E3937}"/>
                  </a:ext>
                </a:extLst>
              </p14:cNvPr>
              <p14:cNvContentPartPr/>
              <p14:nvPr/>
            </p14:nvContentPartPr>
            <p14:xfrm>
              <a:off x="1020391" y="4805489"/>
              <a:ext cx="669960" cy="33840"/>
            </p14:xfrm>
          </p:contentPart>
        </mc:Choice>
        <mc:Fallback>
          <p:pic>
            <p:nvPicPr>
              <p:cNvPr id="5" name="Ink 4">
                <a:extLst>
                  <a:ext uri="{FF2B5EF4-FFF2-40B4-BE49-F238E27FC236}">
                    <a16:creationId xmlns:a16="http://schemas.microsoft.com/office/drawing/2014/main" id="{009D0077-6316-45F8-4959-AD885B7E3937}"/>
                  </a:ext>
                </a:extLst>
              </p:cNvPr>
              <p:cNvPicPr/>
              <p:nvPr/>
            </p:nvPicPr>
            <p:blipFill>
              <a:blip r:embed="rId8"/>
              <a:stretch>
                <a:fillRect/>
              </a:stretch>
            </p:blipFill>
            <p:spPr>
              <a:xfrm>
                <a:off x="1002751" y="4787849"/>
                <a:ext cx="7056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5DBCEDD3-29D0-5AD1-359E-2D4440D87F4A}"/>
                  </a:ext>
                </a:extLst>
              </p14:cNvPr>
              <p14:cNvContentPartPr/>
              <p14:nvPr/>
            </p14:nvContentPartPr>
            <p14:xfrm>
              <a:off x="946231" y="5337209"/>
              <a:ext cx="1276200" cy="42840"/>
            </p14:xfrm>
          </p:contentPart>
        </mc:Choice>
        <mc:Fallback>
          <p:pic>
            <p:nvPicPr>
              <p:cNvPr id="6" name="Ink 5">
                <a:extLst>
                  <a:ext uri="{FF2B5EF4-FFF2-40B4-BE49-F238E27FC236}">
                    <a16:creationId xmlns:a16="http://schemas.microsoft.com/office/drawing/2014/main" id="{5DBCEDD3-29D0-5AD1-359E-2D4440D87F4A}"/>
                  </a:ext>
                </a:extLst>
              </p:cNvPr>
              <p:cNvPicPr/>
              <p:nvPr/>
            </p:nvPicPr>
            <p:blipFill>
              <a:blip r:embed="rId10"/>
              <a:stretch>
                <a:fillRect/>
              </a:stretch>
            </p:blipFill>
            <p:spPr>
              <a:xfrm>
                <a:off x="928591" y="5319209"/>
                <a:ext cx="131184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AA3967C0-936F-E198-2CFF-0153013E5CE3}"/>
                  </a:ext>
                </a:extLst>
              </p14:cNvPr>
              <p14:cNvContentPartPr/>
              <p14:nvPr/>
            </p14:nvContentPartPr>
            <p14:xfrm>
              <a:off x="1254391" y="5836169"/>
              <a:ext cx="2936160" cy="109080"/>
            </p14:xfrm>
          </p:contentPart>
        </mc:Choice>
        <mc:Fallback>
          <p:pic>
            <p:nvPicPr>
              <p:cNvPr id="7" name="Ink 6">
                <a:extLst>
                  <a:ext uri="{FF2B5EF4-FFF2-40B4-BE49-F238E27FC236}">
                    <a16:creationId xmlns:a16="http://schemas.microsoft.com/office/drawing/2014/main" id="{AA3967C0-936F-E198-2CFF-0153013E5CE3}"/>
                  </a:ext>
                </a:extLst>
              </p:cNvPr>
              <p:cNvPicPr/>
              <p:nvPr/>
            </p:nvPicPr>
            <p:blipFill>
              <a:blip r:embed="rId12"/>
              <a:stretch>
                <a:fillRect/>
              </a:stretch>
            </p:blipFill>
            <p:spPr>
              <a:xfrm>
                <a:off x="1236391" y="5818169"/>
                <a:ext cx="2971800" cy="1447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2619AA81-ECE3-4ABC-8C33-DBE1B42F28C7}"/>
              </a:ext>
            </a:extLst>
          </p:cNvPr>
          <p:cNvSpPr>
            <a:spLocks noGrp="1" noChangeArrowheads="1"/>
          </p:cNvSpPr>
          <p:nvPr>
            <p:ph type="title"/>
          </p:nvPr>
        </p:nvSpPr>
        <p:spPr>
          <a:xfrm>
            <a:off x="611188" y="841693"/>
            <a:ext cx="7772400" cy="1143000"/>
          </a:xfrm>
        </p:spPr>
        <p:txBody>
          <a:bodyPr/>
          <a:lstStyle/>
          <a:p>
            <a:pPr eaLnBrk="1" hangingPunct="1"/>
            <a:r>
              <a:rPr lang="en-GB" altLang="en-US" b="1" dirty="0"/>
              <a:t>Cost schedules</a:t>
            </a:r>
          </a:p>
        </p:txBody>
      </p:sp>
      <p:sp>
        <p:nvSpPr>
          <p:cNvPr id="28676" name="Rectangle 3">
            <a:extLst>
              <a:ext uri="{FF2B5EF4-FFF2-40B4-BE49-F238E27FC236}">
                <a16:creationId xmlns:a16="http://schemas.microsoft.com/office/drawing/2014/main" id="{BC88CE4C-4B99-4E4F-94E8-B23D702243E1}"/>
              </a:ext>
            </a:extLst>
          </p:cNvPr>
          <p:cNvSpPr>
            <a:spLocks noGrp="1" noChangeArrowheads="1"/>
          </p:cNvSpPr>
          <p:nvPr>
            <p:ph type="body" idx="1"/>
          </p:nvPr>
        </p:nvSpPr>
        <p:spPr>
          <a:xfrm>
            <a:off x="646112" y="1984693"/>
            <a:ext cx="7886700" cy="4351338"/>
          </a:xfrm>
        </p:spPr>
        <p:txBody>
          <a:bodyPr/>
          <a:lstStyle/>
          <a:p>
            <a:pPr eaLnBrk="1" hangingPunct="1">
              <a:buFontTx/>
              <a:buNone/>
            </a:pPr>
            <a:r>
              <a:rPr lang="en-GB" altLang="en-US" dirty="0"/>
              <a:t>Cost schedules can now be produced:</a:t>
            </a:r>
          </a:p>
          <a:p>
            <a:pPr eaLnBrk="1" hangingPunct="1">
              <a:buFontTx/>
              <a:buNone/>
            </a:pPr>
            <a:r>
              <a:rPr lang="en-GB" altLang="en-US" dirty="0"/>
              <a:t>Costs include:</a:t>
            </a:r>
          </a:p>
          <a:p>
            <a:pPr eaLnBrk="1" hangingPunct="1"/>
            <a:r>
              <a:rPr lang="en-GB" altLang="en-US" dirty="0"/>
              <a:t>Staff costs</a:t>
            </a:r>
          </a:p>
          <a:p>
            <a:pPr eaLnBrk="1" hangingPunct="1"/>
            <a:r>
              <a:rPr lang="en-GB" altLang="en-US" dirty="0"/>
              <a:t>Overheads</a:t>
            </a:r>
          </a:p>
          <a:p>
            <a:pPr eaLnBrk="1" hangingPunct="1"/>
            <a:r>
              <a:rPr lang="en-GB" altLang="en-US" dirty="0"/>
              <a:t>Usage charges</a:t>
            </a:r>
          </a:p>
        </p:txBody>
      </p:sp>
      <p:sp>
        <p:nvSpPr>
          <p:cNvPr id="2" name="Slide Number Placeholder 1">
            <a:extLst>
              <a:ext uri="{FF2B5EF4-FFF2-40B4-BE49-F238E27FC236}">
                <a16:creationId xmlns:a16="http://schemas.microsoft.com/office/drawing/2014/main" id="{B2EEC4E0-F2C0-409C-A587-21F462B60671}"/>
              </a:ext>
            </a:extLst>
          </p:cNvPr>
          <p:cNvSpPr>
            <a:spLocks noGrp="1"/>
          </p:cNvSpPr>
          <p:nvPr>
            <p:ph type="sldNum" sz="quarter" idx="12"/>
          </p:nvPr>
        </p:nvSpPr>
        <p:spPr/>
        <p:txBody>
          <a:bodyPr/>
          <a:lstStyle/>
          <a:p>
            <a:fld id="{60D6D740-8150-433F-9426-3FCFF681501A}"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074B488C-C4D0-4DE8-B81D-934AE3704828}"/>
              </a:ext>
            </a:extLst>
          </p:cNvPr>
          <p:cNvSpPr>
            <a:spLocks noGrp="1" noChangeArrowheads="1"/>
          </p:cNvSpPr>
          <p:nvPr>
            <p:ph type="title"/>
          </p:nvPr>
        </p:nvSpPr>
        <p:spPr>
          <a:xfrm>
            <a:off x="649287" y="800735"/>
            <a:ext cx="7772400" cy="1143000"/>
          </a:xfrm>
        </p:spPr>
        <p:txBody>
          <a:bodyPr/>
          <a:lstStyle/>
          <a:p>
            <a:pPr eaLnBrk="1" hangingPunct="1"/>
            <a:r>
              <a:rPr lang="en-GB" altLang="en-US" b="1"/>
              <a:t>Cost profile</a:t>
            </a:r>
          </a:p>
        </p:txBody>
      </p:sp>
      <p:pic>
        <p:nvPicPr>
          <p:cNvPr id="30724" name="Picture 5">
            <a:extLst>
              <a:ext uri="{FF2B5EF4-FFF2-40B4-BE49-F238E27FC236}">
                <a16:creationId xmlns:a16="http://schemas.microsoft.com/office/drawing/2014/main" id="{57DF44CC-B791-4328-855A-F906E6E35BC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92162" y="2167573"/>
            <a:ext cx="7559675" cy="4538662"/>
          </a:xfrm>
          <a:noFill/>
        </p:spPr>
      </p:pic>
      <p:sp>
        <p:nvSpPr>
          <p:cNvPr id="2" name="Slide Number Placeholder 1">
            <a:extLst>
              <a:ext uri="{FF2B5EF4-FFF2-40B4-BE49-F238E27FC236}">
                <a16:creationId xmlns:a16="http://schemas.microsoft.com/office/drawing/2014/main" id="{DC4BEA1A-2217-4599-A054-F3D3D2AE868A}"/>
              </a:ext>
            </a:extLst>
          </p:cNvPr>
          <p:cNvSpPr>
            <a:spLocks noGrp="1"/>
          </p:cNvSpPr>
          <p:nvPr>
            <p:ph type="sldNum" sz="quarter" idx="12"/>
          </p:nvPr>
        </p:nvSpPr>
        <p:spPr/>
        <p:txBody>
          <a:bodyPr/>
          <a:lstStyle/>
          <a:p>
            <a:fld id="{60D6D740-8150-433F-9426-3FCFF681501A}"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79E6E77C-7188-4277-81F8-07057AAC35D2}"/>
              </a:ext>
            </a:extLst>
          </p:cNvPr>
          <p:cNvSpPr>
            <a:spLocks noGrp="1" noChangeArrowheads="1"/>
          </p:cNvSpPr>
          <p:nvPr>
            <p:ph type="title"/>
          </p:nvPr>
        </p:nvSpPr>
        <p:spPr>
          <a:xfrm>
            <a:off x="755650" y="453390"/>
            <a:ext cx="7772400" cy="1143000"/>
          </a:xfrm>
        </p:spPr>
        <p:txBody>
          <a:bodyPr/>
          <a:lstStyle/>
          <a:p>
            <a:pPr eaLnBrk="1" hangingPunct="1"/>
            <a:r>
              <a:rPr lang="en-GB" altLang="en-US" b="1" dirty="0"/>
              <a:t>Accumulative costs</a:t>
            </a:r>
          </a:p>
        </p:txBody>
      </p:sp>
      <p:pic>
        <p:nvPicPr>
          <p:cNvPr id="32772" name="Picture 5">
            <a:extLst>
              <a:ext uri="{FF2B5EF4-FFF2-40B4-BE49-F238E27FC236}">
                <a16:creationId xmlns:a16="http://schemas.microsoft.com/office/drawing/2014/main" id="{7916F8F8-B572-43E9-B20E-D55826620E2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1188" y="1677353"/>
            <a:ext cx="7848600" cy="4508500"/>
          </a:xfrm>
          <a:noFill/>
        </p:spPr>
      </p:pic>
      <p:sp>
        <p:nvSpPr>
          <p:cNvPr id="2" name="Slide Number Placeholder 1">
            <a:extLst>
              <a:ext uri="{FF2B5EF4-FFF2-40B4-BE49-F238E27FC236}">
                <a16:creationId xmlns:a16="http://schemas.microsoft.com/office/drawing/2014/main" id="{7B8451E1-3708-4ECD-B17F-93435403869F}"/>
              </a:ext>
            </a:extLst>
          </p:cNvPr>
          <p:cNvSpPr>
            <a:spLocks noGrp="1"/>
          </p:cNvSpPr>
          <p:nvPr>
            <p:ph type="sldNum" sz="quarter" idx="12"/>
          </p:nvPr>
        </p:nvSpPr>
        <p:spPr/>
        <p:txBody>
          <a:bodyPr/>
          <a:lstStyle/>
          <a:p>
            <a:fld id="{60D6D740-8150-433F-9426-3FCFF681501A}"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EDD9A73C-4855-4303-9D96-28E33DEF5447}"/>
              </a:ext>
            </a:extLst>
          </p:cNvPr>
          <p:cNvSpPr>
            <a:spLocks noGrp="1" noChangeArrowheads="1"/>
          </p:cNvSpPr>
          <p:nvPr>
            <p:ph type="title"/>
          </p:nvPr>
        </p:nvSpPr>
        <p:spPr>
          <a:xfrm>
            <a:off x="684213" y="630555"/>
            <a:ext cx="7772400" cy="1143000"/>
          </a:xfrm>
        </p:spPr>
        <p:txBody>
          <a:bodyPr/>
          <a:lstStyle/>
          <a:p>
            <a:pPr eaLnBrk="1" hangingPunct="1"/>
            <a:r>
              <a:rPr lang="en-GB" altLang="en-US" b="1" dirty="0"/>
              <a:t>Balancing concerns</a:t>
            </a:r>
          </a:p>
        </p:txBody>
      </p:sp>
      <p:pic>
        <p:nvPicPr>
          <p:cNvPr id="34820" name="Picture 4">
            <a:extLst>
              <a:ext uri="{FF2B5EF4-FFF2-40B4-BE49-F238E27FC236}">
                <a16:creationId xmlns:a16="http://schemas.microsoft.com/office/drawing/2014/main" id="{2505F5E1-A489-44A3-8D14-7F59C28920DB}"/>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684213" y="1882458"/>
            <a:ext cx="8207375" cy="4344987"/>
          </a:xfrm>
        </p:spPr>
      </p:pic>
      <p:sp>
        <p:nvSpPr>
          <p:cNvPr id="2" name="Slide Number Placeholder 1">
            <a:extLst>
              <a:ext uri="{FF2B5EF4-FFF2-40B4-BE49-F238E27FC236}">
                <a16:creationId xmlns:a16="http://schemas.microsoft.com/office/drawing/2014/main" id="{2E79AD93-7698-4F28-9D9A-E3FB80419E9C}"/>
              </a:ext>
            </a:extLst>
          </p:cNvPr>
          <p:cNvSpPr>
            <a:spLocks noGrp="1"/>
          </p:cNvSpPr>
          <p:nvPr>
            <p:ph type="sldNum" sz="quarter" idx="12"/>
          </p:nvPr>
        </p:nvSpPr>
        <p:spPr/>
        <p:txBody>
          <a:bodyPr/>
          <a:lstStyle/>
          <a:p>
            <a:fld id="{60D6D740-8150-433F-9426-3FCFF681501A}" type="slidenum">
              <a:rPr lang="en-US" smtClean="0"/>
              <a:pPr/>
              <a:t>21</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3998</TotalTime>
  <Words>1894</Words>
  <Application>Microsoft Office PowerPoint</Application>
  <PresentationFormat>On-screen Show (4:3)</PresentationFormat>
  <Paragraphs>220</Paragraphs>
  <Slides>21</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-apple-system</vt:lpstr>
      <vt:lpstr>Arial</vt:lpstr>
      <vt:lpstr>Arial</vt:lpstr>
      <vt:lpstr>Calibri</vt:lpstr>
      <vt:lpstr>Calibri Light</vt:lpstr>
      <vt:lpstr>Söhne</vt:lpstr>
      <vt:lpstr>Times New Roman</vt:lpstr>
      <vt:lpstr>Office Theme</vt:lpstr>
      <vt:lpstr>FUNDAMNETALS OF SOFTWARE PROJECT MANAGEMENT  Resource Allocation </vt:lpstr>
      <vt:lpstr>Objectives</vt:lpstr>
      <vt:lpstr>Schedules</vt:lpstr>
      <vt:lpstr>Nature of Resources</vt:lpstr>
      <vt:lpstr>Identifying Resource Requirements</vt:lpstr>
      <vt:lpstr>Resource allocation</vt:lpstr>
      <vt:lpstr>Resource histogram: systems analysts</vt:lpstr>
      <vt:lpstr>Resource clashes</vt:lpstr>
      <vt:lpstr>Resource optimization</vt:lpstr>
      <vt:lpstr>Resource optimization</vt:lpstr>
      <vt:lpstr>PowerPoint Presentation</vt:lpstr>
      <vt:lpstr>Resource optimization</vt:lpstr>
      <vt:lpstr>Resource optimization</vt:lpstr>
      <vt:lpstr>Prioritizing activities</vt:lpstr>
      <vt:lpstr>Prioritizing activities</vt:lpstr>
      <vt:lpstr>Critical path</vt:lpstr>
      <vt:lpstr>Allocating individuals to activities</vt:lpstr>
      <vt:lpstr>Cost schedules</vt:lpstr>
      <vt:lpstr>Cost profile</vt:lpstr>
      <vt:lpstr>Accumulative costs</vt:lpstr>
      <vt:lpstr>Balancing concerns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Imama Kainat</cp:lastModifiedBy>
  <cp:revision>375</cp:revision>
  <dcterms:created xsi:type="dcterms:W3CDTF">2021-08-26T07:43:58Z</dcterms:created>
  <dcterms:modified xsi:type="dcterms:W3CDTF">2025-12-23T05:51:13Z</dcterms:modified>
</cp:coreProperties>
</file>