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handoutMasterIdLst>
    <p:handoutMasterId r:id="rId42"/>
  </p:handoutMasterIdLst>
  <p:sldIdLst>
    <p:sldId id="295" r:id="rId2"/>
    <p:sldId id="258" r:id="rId3"/>
    <p:sldId id="292" r:id="rId4"/>
    <p:sldId id="306" r:id="rId5"/>
    <p:sldId id="307" r:id="rId6"/>
    <p:sldId id="389" r:id="rId7"/>
    <p:sldId id="263" r:id="rId8"/>
    <p:sldId id="265" r:id="rId9"/>
    <p:sldId id="390" r:id="rId10"/>
    <p:sldId id="268" r:id="rId11"/>
    <p:sldId id="403" r:id="rId12"/>
    <p:sldId id="270" r:id="rId13"/>
    <p:sldId id="365" r:id="rId14"/>
    <p:sldId id="385" r:id="rId15"/>
    <p:sldId id="386" r:id="rId16"/>
    <p:sldId id="269" r:id="rId17"/>
    <p:sldId id="300" r:id="rId18"/>
    <p:sldId id="393" r:id="rId19"/>
    <p:sldId id="369" r:id="rId20"/>
    <p:sldId id="404" r:id="rId21"/>
    <p:sldId id="405" r:id="rId22"/>
    <p:sldId id="406" r:id="rId23"/>
    <p:sldId id="407" r:id="rId24"/>
    <p:sldId id="408" r:id="rId25"/>
    <p:sldId id="301" r:id="rId26"/>
    <p:sldId id="271" r:id="rId27"/>
    <p:sldId id="409" r:id="rId28"/>
    <p:sldId id="302" r:id="rId29"/>
    <p:sldId id="399" r:id="rId30"/>
    <p:sldId id="400" r:id="rId31"/>
    <p:sldId id="401" r:id="rId32"/>
    <p:sldId id="395" r:id="rId33"/>
    <p:sldId id="273" r:id="rId34"/>
    <p:sldId id="274" r:id="rId35"/>
    <p:sldId id="303" r:id="rId36"/>
    <p:sldId id="402" r:id="rId37"/>
    <p:sldId id="396" r:id="rId38"/>
    <p:sldId id="398" r:id="rId39"/>
    <p:sldId id="276"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23" autoAdjust="0"/>
    <p:restoredTop sz="92577" autoAdjust="0"/>
  </p:normalViewPr>
  <p:slideViewPr>
    <p:cSldViewPr snapToGrid="0">
      <p:cViewPr varScale="1">
        <p:scale>
          <a:sx n="68" d="100"/>
          <a:sy n="68" d="100"/>
        </p:scale>
        <p:origin x="-1392" y="-96"/>
      </p:cViewPr>
      <p:guideLst>
        <p:guide orient="horz" pos="2160"/>
        <p:guide pos="2880"/>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EE401-9990-4847-9393-B587C049108F}" type="datetimeFigureOut">
              <a:rPr lang="en-US" smtClean="0"/>
              <a:t>11/17/2025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06A5EC-6475-4ACA-82A7-7E5503099B49}" type="slidenum">
              <a:rPr lang="en-US" smtClean="0"/>
              <a:t>‹#›</a:t>
            </a:fld>
            <a:endParaRPr lang="en-US"/>
          </a:p>
        </p:txBody>
      </p:sp>
    </p:spTree>
    <p:extLst>
      <p:ext uri="{BB962C8B-B14F-4D97-AF65-F5344CB8AC3E}">
        <p14:creationId xmlns:p14="http://schemas.microsoft.com/office/powerpoint/2010/main" val="2996042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36036-6769-40BF-B513-474833C74DCA}" type="datetimeFigureOut">
              <a:rPr lang="en-US" smtClean="0"/>
              <a:t>11/17/2025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C5D26-D9CE-49B4-8A24-9C5C7281350F}" type="slidenum">
              <a:rPr lang="en-US" smtClean="0"/>
              <a:t>‹#›</a:t>
            </a:fld>
            <a:endParaRPr lang="en-US"/>
          </a:p>
        </p:txBody>
      </p:sp>
    </p:spTree>
    <p:extLst>
      <p:ext uri="{BB962C8B-B14F-4D97-AF65-F5344CB8AC3E}">
        <p14:creationId xmlns:p14="http://schemas.microsoft.com/office/powerpoint/2010/main" val="107108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86ED7193-B38B-4748-B052-D63F53B047CD}"/>
              </a:ext>
            </a:extLst>
          </p:cNvPr>
          <p:cNvSpPr>
            <a:spLocks noGrp="1" noChangeArrowheads="1"/>
          </p:cNvSpPr>
          <p:nvPr>
            <p:ph type="sldNum" sz="quarter" idx="5"/>
          </p:nvPr>
        </p:nvSpPr>
        <p:spPr>
          <a:ln/>
        </p:spPr>
        <p:txBody>
          <a:bodyPr/>
          <a:lstStyle/>
          <a:p>
            <a:fld id="{C9E213FC-EAE8-43C8-8BFF-600762B171E1}" type="slidenum">
              <a:rPr lang="en-GB" altLang="en-US"/>
              <a:pPr/>
              <a:t>2</a:t>
            </a:fld>
            <a:endParaRPr lang="en-GB" altLang="en-US"/>
          </a:p>
        </p:txBody>
      </p:sp>
      <p:sp>
        <p:nvSpPr>
          <p:cNvPr id="19458" name="Rectangle 2">
            <a:extLst>
              <a:ext uri="{FF2B5EF4-FFF2-40B4-BE49-F238E27FC236}">
                <a16:creationId xmlns:a16="http://schemas.microsoft.com/office/drawing/2014/main" xmlns="" id="{04CB89FA-DAB6-4B34-B482-93C032920393}"/>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xmlns="" id="{C51E5617-DE72-4D51-BE67-D891A765D96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E8BB69C9-FD80-47C3-BEC0-EC5E08994F12}"/>
              </a:ext>
            </a:extLst>
          </p:cNvPr>
          <p:cNvSpPr>
            <a:spLocks noGrp="1" noChangeArrowheads="1"/>
          </p:cNvSpPr>
          <p:nvPr>
            <p:ph type="sldNum" sz="quarter" idx="5"/>
          </p:nvPr>
        </p:nvSpPr>
        <p:spPr>
          <a:ln/>
        </p:spPr>
        <p:txBody>
          <a:bodyPr/>
          <a:lstStyle/>
          <a:p>
            <a:fld id="{5E7E50F0-A5CD-4589-9867-70862E4CD342}" type="slidenum">
              <a:rPr lang="en-GB" altLang="en-US"/>
              <a:pPr/>
              <a:t>3</a:t>
            </a:fld>
            <a:endParaRPr lang="en-GB" altLang="en-US"/>
          </a:p>
        </p:txBody>
      </p:sp>
      <p:sp>
        <p:nvSpPr>
          <p:cNvPr id="84994" name="Rectangle 2">
            <a:extLst>
              <a:ext uri="{FF2B5EF4-FFF2-40B4-BE49-F238E27FC236}">
                <a16:creationId xmlns:a16="http://schemas.microsoft.com/office/drawing/2014/main" xmlns="" id="{C62686A8-DE73-4D09-B73F-C20CC2D47F0D}"/>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xmlns="" id="{FF6FBDCB-3C10-45F8-8974-5847CDC6D4FE}"/>
              </a:ext>
            </a:extLst>
          </p:cNvPr>
          <p:cNvSpPr>
            <a:spLocks noGrp="1" noChangeArrowheads="1"/>
          </p:cNvSpPr>
          <p:nvPr>
            <p:ph type="body" idx="1"/>
          </p:nvPr>
        </p:nvSpPr>
        <p:spPr/>
        <p:txBody>
          <a:bodyPr/>
          <a:lstStyle/>
          <a:p>
            <a:r>
              <a:rPr lang="en-GB" altLang="en-US" dirty="0"/>
              <a:t>See page 22</a:t>
            </a:r>
          </a:p>
          <a:p>
            <a:r>
              <a:rPr lang="en-GB" altLang="en-US" dirty="0"/>
              <a:t>It is worth recalling the difference between project success (the project is successfully completed) and business risks (the new product or system successfully established by the project goes on to generate benefits for the organization).</a:t>
            </a:r>
          </a:p>
          <a:p>
            <a:r>
              <a:rPr lang="en-US" b="0" i="0" dirty="0">
                <a:solidFill>
                  <a:srgbClr val="0D0D0D"/>
                </a:solidFill>
                <a:effectLst/>
                <a:highlight>
                  <a:srgbClr val="FFFFFF"/>
                </a:highlight>
                <a:latin typeface="Söhne"/>
              </a:rPr>
              <a:t>Ultimately, the business case serves as a decision-making tool for key stakeholders, such as executives, investors, and project sponsors. By presenting a comprehensive analysis of the project's feasibility, costs, benefits, and risks, the business case enables stakeholders to make informed decisions about resource allocation and project prioritization.</a:t>
            </a:r>
            <a:endParaRPr lang="en-GB" altLang="en-US" dirty="0"/>
          </a:p>
        </p:txBody>
      </p:sp>
    </p:spTree>
    <p:extLst>
      <p:ext uri="{BB962C8B-B14F-4D97-AF65-F5344CB8AC3E}">
        <p14:creationId xmlns:p14="http://schemas.microsoft.com/office/powerpoint/2010/main" val="187695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By systematically evaluating projects against strategic, technical, and economic criteria, using cost-benefit techniques, and assessing risks, organizations can make informed decisions about which projects to pursue and allocate resources effectively to maximize value and minimize potential costs.</a:t>
            </a:r>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6</a:t>
            </a:fld>
            <a:endParaRPr lang="en-US"/>
          </a:p>
        </p:txBody>
      </p:sp>
    </p:spTree>
    <p:extLst>
      <p:ext uri="{BB962C8B-B14F-4D97-AF65-F5344CB8AC3E}">
        <p14:creationId xmlns:p14="http://schemas.microsoft.com/office/powerpoint/2010/main" val="3427740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xmlns="" id="{B0A98772-E7F0-48EF-8983-04C26FDFC82D}"/>
              </a:ext>
            </a:extLst>
          </p:cNvPr>
          <p:cNvSpPr>
            <a:spLocks noGrp="1" noChangeArrowheads="1"/>
          </p:cNvSpPr>
          <p:nvPr>
            <p:ph type="sldNum" sz="quarter" idx="5"/>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fld id="{3A6EAC9F-C9B5-43CC-AF7C-0F47331D79B6}" type="slidenum">
              <a:rPr lang="en-US" altLang="en-US" sz="1200">
                <a:latin typeface="Times New Roman" panose="02020603050405020304" pitchFamily="18" charset="0"/>
              </a:rPr>
              <a:pPr/>
              <a:t>14</a:t>
            </a:fld>
            <a:endParaRPr lang="en-US" altLang="en-US" sz="1200">
              <a:latin typeface="Times New Roman" panose="02020603050405020304" pitchFamily="18" charset="0"/>
            </a:endParaRPr>
          </a:p>
        </p:txBody>
      </p:sp>
      <p:sp>
        <p:nvSpPr>
          <p:cNvPr id="37891" name="Rectangle 2">
            <a:extLst>
              <a:ext uri="{FF2B5EF4-FFF2-40B4-BE49-F238E27FC236}">
                <a16:creationId xmlns:a16="http://schemas.microsoft.com/office/drawing/2014/main" xmlns="" id="{1337D873-C1F6-4309-BDBD-8E0C0E7D1FD1}"/>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xmlns="" id="{6B0AFB93-4C3B-492E-853A-0520FB5457C8}"/>
              </a:ext>
            </a:extLst>
          </p:cNvPr>
          <p:cNvSpPr>
            <a:spLocks noGrp="1" noChangeArrowheads="1"/>
          </p:cNvSpPr>
          <p:nvPr>
            <p:ph type="body" idx="1"/>
          </p:nvPr>
        </p:nvSpPr>
        <p:spPr>
          <a:noFill/>
        </p:spPr>
        <p:txBody>
          <a:bodyPr/>
          <a:lstStyle/>
          <a:p>
            <a:r>
              <a:rPr lang="en-AU" altLang="en-US"/>
              <a:t>A common way is to compare the expected costs of development and operation of the system with the benefits of having it in production</a:t>
            </a:r>
          </a:p>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xmlns="" id="{7A44E31C-08D3-43E4-9132-31B73E45F02D}"/>
              </a:ext>
            </a:extLst>
          </p:cNvPr>
          <p:cNvSpPr>
            <a:spLocks noGrp="1" noChangeArrowheads="1"/>
          </p:cNvSpPr>
          <p:nvPr>
            <p:ph type="sldNum" sz="quarter" idx="5"/>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fld id="{0A5B0CF3-B48C-40B8-BCF4-F4C65A8CE38D}" type="slidenum">
              <a:rPr lang="en-US" altLang="en-US" sz="1200">
                <a:latin typeface="Times New Roman" panose="02020603050405020304" pitchFamily="18" charset="0"/>
              </a:rPr>
              <a:pPr/>
              <a:t>15</a:t>
            </a:fld>
            <a:endParaRPr lang="en-US" altLang="en-US" sz="1200">
              <a:latin typeface="Times New Roman" panose="02020603050405020304" pitchFamily="18" charset="0"/>
            </a:endParaRPr>
          </a:p>
        </p:txBody>
      </p:sp>
      <p:sp>
        <p:nvSpPr>
          <p:cNvPr id="38915" name="Rectangle 2">
            <a:extLst>
              <a:ext uri="{FF2B5EF4-FFF2-40B4-BE49-F238E27FC236}">
                <a16:creationId xmlns:a16="http://schemas.microsoft.com/office/drawing/2014/main" xmlns="" id="{95D349DB-A6FF-467C-8263-2E3B09ABD8E1}"/>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xmlns="" id="{38E7FB98-7B67-4BC7-9006-28548B19002E}"/>
              </a:ext>
            </a:extLst>
          </p:cNvPr>
          <p:cNvSpPr>
            <a:spLocks noGrp="1" noChangeArrowheads="1"/>
          </p:cNvSpPr>
          <p:nvPr>
            <p:ph type="body" idx="1"/>
          </p:nvPr>
        </p:nvSpPr>
        <p:spPr>
          <a:noFill/>
        </p:spPr>
        <p:txBody>
          <a:bodyPr/>
          <a:lstStyle/>
          <a:p>
            <a:r>
              <a:rPr lang="en-AU" altLang="en-US"/>
              <a:t>Cost-benefit analysis is to compare the estimated costs of development and operation of a system with the estimated benefits of putting the system in place.</a:t>
            </a:r>
          </a:p>
          <a:p>
            <a:r>
              <a:rPr lang="en-AU" altLang="en-US"/>
              <a:t>Cash flow forecasting is …</a:t>
            </a:r>
          </a:p>
          <a:p>
            <a:r>
              <a:rPr lang="en-AU" altLang="en-US"/>
              <a:t>Why need Cash flow forecasting? It is because the excess of benefits over costs is not sufficient to justify the implementation of a proposed project.</a:t>
            </a: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D4CFF3AC-D1CD-4D8D-AB18-C275775ED0B6}"/>
              </a:ext>
            </a:extLst>
          </p:cNvPr>
          <p:cNvSpPr>
            <a:spLocks noGrp="1" noChangeArrowheads="1"/>
          </p:cNvSpPr>
          <p:nvPr>
            <p:ph type="sldNum" sz="quarter" idx="5"/>
          </p:nvPr>
        </p:nvSpPr>
        <p:spPr>
          <a:ln/>
        </p:spPr>
        <p:txBody>
          <a:bodyPr/>
          <a:lstStyle/>
          <a:p>
            <a:fld id="{853CB827-4829-4724-8373-B918B83A840C}" type="slidenum">
              <a:rPr lang="en-GB" altLang="en-US"/>
              <a:pPr/>
              <a:t>16</a:t>
            </a:fld>
            <a:endParaRPr lang="en-GB" altLang="en-US"/>
          </a:p>
        </p:txBody>
      </p:sp>
      <p:sp>
        <p:nvSpPr>
          <p:cNvPr id="30722" name="Rectangle 2">
            <a:extLst>
              <a:ext uri="{FF2B5EF4-FFF2-40B4-BE49-F238E27FC236}">
                <a16:creationId xmlns:a16="http://schemas.microsoft.com/office/drawing/2014/main" xmlns="" id="{8C2BB20E-6D81-443B-AAA4-14FAA8938781}"/>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xmlns="" id="{D48031EC-DABB-445A-875F-A40185ECA813}"/>
              </a:ext>
            </a:extLst>
          </p:cNvPr>
          <p:cNvSpPr>
            <a:spLocks noGrp="1" noChangeArrowheads="1"/>
          </p:cNvSpPr>
          <p:nvPr>
            <p:ph type="body" idx="1"/>
          </p:nvPr>
        </p:nvSpPr>
        <p:spPr/>
        <p:txBody>
          <a:bodyPr/>
          <a:lstStyle/>
          <a:p>
            <a:r>
              <a:rPr lang="en-GB" altLang="en-US"/>
              <a:t>Section 2.4 of the text expands this material.</a:t>
            </a:r>
          </a:p>
          <a:p>
            <a:r>
              <a:rPr lang="en-GB" altLang="en-US"/>
              <a:t>Exercise 2.1 requires students to identify the potential costs and benefits of the Brightmouth College payroll application.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r>
              <a:rPr lang="en-AU" altLang="en-US" dirty="0"/>
              <a:t>Need to spend money at first (e.g. staff salary, employment cost, hardware and software costs) no matter where the money comes from</a:t>
            </a:r>
          </a:p>
          <a:p>
            <a:pPr marL="685800" lvl="1" indent="-228600"/>
            <a:r>
              <a:rPr lang="en-AU" altLang="en-US" dirty="0"/>
              <a:t>e.g. resources from company, or money from the bank</a:t>
            </a:r>
          </a:p>
          <a:p>
            <a:pPr marL="685800" lvl="1" indent="-228600"/>
            <a:r>
              <a:rPr lang="en-AU" altLang="en-US" dirty="0"/>
              <a:t>If the money is from bank, you need to calculate the interest as well.</a:t>
            </a:r>
          </a:p>
          <a:p>
            <a:pPr marL="228600" indent="-228600"/>
            <a:endParaRPr lang="en-US" altLang="en-US" dirty="0"/>
          </a:p>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17</a:t>
            </a:fld>
            <a:endParaRPr lang="en-US"/>
          </a:p>
        </p:txBody>
      </p:sp>
    </p:spTree>
    <p:extLst>
      <p:ext uri="{BB962C8B-B14F-4D97-AF65-F5344CB8AC3E}">
        <p14:creationId xmlns:p14="http://schemas.microsoft.com/office/powerpoint/2010/main" val="1926055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F1F1F"/>
                </a:solidFill>
                <a:effectLst/>
                <a:highlight>
                  <a:srgbClr val="FFFFFF"/>
                </a:highlight>
                <a:latin typeface="Google Sans"/>
              </a:rPr>
              <a:t>This is a table of cash flow forecasts for different projects. The table shows the expected net cash inflow (positive number) or outflow (negative number) for each project over a five-year period.</a:t>
            </a:r>
          </a:p>
          <a:p>
            <a:pPr algn="l"/>
            <a:r>
              <a:rPr lang="en-US" b="0" i="0" dirty="0">
                <a:solidFill>
                  <a:srgbClr val="1F1F1F"/>
                </a:solidFill>
                <a:effectLst/>
                <a:highlight>
                  <a:srgbClr val="FFFFFF"/>
                </a:highlight>
                <a:latin typeface="Google Sans"/>
              </a:rPr>
              <a:t>Cash flow forecasting is an important part of financial planning. It helps businesses estimate how much cash they will have on hand in the future. This information can be used to make decisions about budgeting, investing, and borrowing.</a:t>
            </a:r>
          </a:p>
          <a:p>
            <a:pPr algn="l"/>
            <a:endParaRPr lang="en-US" b="0" i="0" dirty="0">
              <a:solidFill>
                <a:srgbClr val="1F1F1F"/>
              </a:solidFill>
              <a:effectLst/>
              <a:highlight>
                <a:srgbClr val="FFFFFF"/>
              </a:highlight>
              <a:latin typeface="Google Sans"/>
            </a:endParaRPr>
          </a:p>
        </p:txBody>
      </p:sp>
      <p:sp>
        <p:nvSpPr>
          <p:cNvPr id="4" name="Slide Number Placeholder 3"/>
          <p:cNvSpPr>
            <a:spLocks noGrp="1"/>
          </p:cNvSpPr>
          <p:nvPr>
            <p:ph type="sldNum" sz="quarter" idx="5"/>
          </p:nvPr>
        </p:nvSpPr>
        <p:spPr/>
        <p:txBody>
          <a:bodyPr/>
          <a:lstStyle/>
          <a:p>
            <a:fld id="{F68C5D26-D9CE-49B4-8A24-9C5C7281350F}" type="slidenum">
              <a:rPr lang="en-US" smtClean="0"/>
              <a:t>18</a:t>
            </a:fld>
            <a:endParaRPr lang="en-US"/>
          </a:p>
        </p:txBody>
      </p:sp>
    </p:spTree>
    <p:extLst>
      <p:ext uri="{BB962C8B-B14F-4D97-AF65-F5344CB8AC3E}">
        <p14:creationId xmlns:p14="http://schemas.microsoft.com/office/powerpoint/2010/main" val="8742251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25</a:t>
            </a:fld>
            <a:endParaRPr lang="en-US"/>
          </a:p>
        </p:txBody>
      </p:sp>
    </p:spTree>
    <p:extLst>
      <p:ext uri="{BB962C8B-B14F-4D97-AF65-F5344CB8AC3E}">
        <p14:creationId xmlns:p14="http://schemas.microsoft.com/office/powerpoint/2010/main" val="970810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8C723B6C-7144-4F26-A6D6-19DA7464BA35}"/>
              </a:ext>
            </a:extLst>
          </p:cNvPr>
          <p:cNvSpPr>
            <a:spLocks noGrp="1" noChangeArrowheads="1"/>
          </p:cNvSpPr>
          <p:nvPr>
            <p:ph type="sldNum" sz="quarter" idx="5"/>
          </p:nvPr>
        </p:nvSpPr>
        <p:spPr>
          <a:ln/>
        </p:spPr>
        <p:txBody>
          <a:bodyPr/>
          <a:lstStyle/>
          <a:p>
            <a:fld id="{37215CBA-99B0-493F-9215-5F536C17797E}" type="slidenum">
              <a:rPr lang="en-GB" altLang="en-US"/>
              <a:pPr/>
              <a:t>26</a:t>
            </a:fld>
            <a:endParaRPr lang="en-GB" altLang="en-US"/>
          </a:p>
        </p:txBody>
      </p:sp>
      <p:sp>
        <p:nvSpPr>
          <p:cNvPr id="36866" name="Rectangle 2">
            <a:extLst>
              <a:ext uri="{FF2B5EF4-FFF2-40B4-BE49-F238E27FC236}">
                <a16:creationId xmlns:a16="http://schemas.microsoft.com/office/drawing/2014/main" xmlns="" id="{83FC923B-B320-4F0A-9D58-9F2A87DE680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xmlns="" id="{E74289A3-246A-4CE1-9776-AC76AAA39860}"/>
              </a:ext>
            </a:extLst>
          </p:cNvPr>
          <p:cNvSpPr>
            <a:spLocks noGrp="1" noChangeArrowheads="1"/>
          </p:cNvSpPr>
          <p:nvPr>
            <p:ph type="body" idx="1"/>
          </p:nvPr>
        </p:nvSpPr>
        <p:spPr/>
        <p:txBody>
          <a:bodyPr/>
          <a:lstStyle/>
          <a:p>
            <a:r>
              <a:rPr lang="en-GB" altLang="en-US" dirty="0"/>
              <a:t>The payback period would be about 4.5 years. This can be calculated as the last year in which the accumulated cash flow was negative + (absolute accumulated cash flow at the end of that year / cash-flow for the next year) e.g. year 4 + (50,000/100,000). This assumes that the flow of cash is constant throughout the year in question e.g. £100,000/12 or £8,333  a month in year 5</a:t>
            </a:r>
          </a:p>
          <a:p>
            <a:r>
              <a:rPr lang="en-GB" altLang="en-US" dirty="0"/>
              <a:t>Exercise 2.3. in the text is relevant here.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dirty="0"/>
          </a:p>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28</a:t>
            </a:fld>
            <a:endParaRPr lang="en-US"/>
          </a:p>
        </p:txBody>
      </p:sp>
    </p:spTree>
    <p:extLst>
      <p:ext uri="{BB962C8B-B14F-4D97-AF65-F5344CB8AC3E}">
        <p14:creationId xmlns:p14="http://schemas.microsoft.com/office/powerpoint/2010/main" val="1045817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8C723B6C-7144-4F26-A6D6-19DA7464BA35}"/>
              </a:ext>
            </a:extLst>
          </p:cNvPr>
          <p:cNvSpPr>
            <a:spLocks noGrp="1" noChangeArrowheads="1"/>
          </p:cNvSpPr>
          <p:nvPr>
            <p:ph type="sldNum" sz="quarter" idx="5"/>
          </p:nvPr>
        </p:nvSpPr>
        <p:spPr>
          <a:ln/>
        </p:spPr>
        <p:txBody>
          <a:bodyPr/>
          <a:lstStyle/>
          <a:p>
            <a:fld id="{37215CBA-99B0-493F-9215-5F536C17797E}" type="slidenum">
              <a:rPr lang="en-GB" altLang="en-US"/>
              <a:pPr/>
              <a:t>29</a:t>
            </a:fld>
            <a:endParaRPr lang="en-GB" altLang="en-US"/>
          </a:p>
        </p:txBody>
      </p:sp>
      <p:sp>
        <p:nvSpPr>
          <p:cNvPr id="36866" name="Rectangle 2">
            <a:extLst>
              <a:ext uri="{FF2B5EF4-FFF2-40B4-BE49-F238E27FC236}">
                <a16:creationId xmlns:a16="http://schemas.microsoft.com/office/drawing/2014/main" xmlns="" id="{83FC923B-B320-4F0A-9D58-9F2A87DE680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xmlns="" id="{E74289A3-246A-4CE1-9776-AC76AAA39860}"/>
              </a:ext>
            </a:extLst>
          </p:cNvPr>
          <p:cNvSpPr>
            <a:spLocks noGrp="1" noChangeArrowheads="1"/>
          </p:cNvSpPr>
          <p:nvPr>
            <p:ph type="body" idx="1"/>
          </p:nvPr>
        </p:nvSpPr>
        <p:spPr/>
        <p:txBody>
          <a:bodyPr/>
          <a:lstStyle/>
          <a:p>
            <a:endParaRPr lang="en-GB" altLang="en-US" dirty="0"/>
          </a:p>
        </p:txBody>
      </p:sp>
    </p:spTree>
    <p:extLst>
      <p:ext uri="{BB962C8B-B14F-4D97-AF65-F5344CB8AC3E}">
        <p14:creationId xmlns:p14="http://schemas.microsoft.com/office/powerpoint/2010/main" val="11114306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8C723B6C-7144-4F26-A6D6-19DA7464BA35}"/>
              </a:ext>
            </a:extLst>
          </p:cNvPr>
          <p:cNvSpPr>
            <a:spLocks noGrp="1" noChangeArrowheads="1"/>
          </p:cNvSpPr>
          <p:nvPr>
            <p:ph type="sldNum" sz="quarter" idx="5"/>
          </p:nvPr>
        </p:nvSpPr>
        <p:spPr>
          <a:ln/>
        </p:spPr>
        <p:txBody>
          <a:bodyPr/>
          <a:lstStyle/>
          <a:p>
            <a:fld id="{37215CBA-99B0-493F-9215-5F536C17797E}" type="slidenum">
              <a:rPr lang="en-GB" altLang="en-US"/>
              <a:pPr/>
              <a:t>30</a:t>
            </a:fld>
            <a:endParaRPr lang="en-GB" altLang="en-US"/>
          </a:p>
        </p:txBody>
      </p:sp>
      <p:sp>
        <p:nvSpPr>
          <p:cNvPr id="36866" name="Rectangle 2">
            <a:extLst>
              <a:ext uri="{FF2B5EF4-FFF2-40B4-BE49-F238E27FC236}">
                <a16:creationId xmlns:a16="http://schemas.microsoft.com/office/drawing/2014/main" xmlns="" id="{83FC923B-B320-4F0A-9D58-9F2A87DE680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xmlns="" id="{E74289A3-246A-4CE1-9776-AC76AAA39860}"/>
              </a:ext>
            </a:extLst>
          </p:cNvPr>
          <p:cNvSpPr>
            <a:spLocks noGrp="1" noChangeArrowheads="1"/>
          </p:cNvSpPr>
          <p:nvPr>
            <p:ph type="body" idx="1"/>
          </p:nvPr>
        </p:nvSpPr>
        <p:spPr/>
        <p:txBody>
          <a:bodyPr/>
          <a:lstStyle/>
          <a:p>
            <a:endParaRPr lang="en-GB" altLang="en-US" dirty="0"/>
          </a:p>
        </p:txBody>
      </p:sp>
    </p:spTree>
    <p:extLst>
      <p:ext uri="{BB962C8B-B14F-4D97-AF65-F5344CB8AC3E}">
        <p14:creationId xmlns:p14="http://schemas.microsoft.com/office/powerpoint/2010/main" val="3914234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8C723B6C-7144-4F26-A6D6-19DA7464BA35}"/>
              </a:ext>
            </a:extLst>
          </p:cNvPr>
          <p:cNvSpPr>
            <a:spLocks noGrp="1" noChangeArrowheads="1"/>
          </p:cNvSpPr>
          <p:nvPr>
            <p:ph type="sldNum" sz="quarter" idx="5"/>
          </p:nvPr>
        </p:nvSpPr>
        <p:spPr>
          <a:ln/>
        </p:spPr>
        <p:txBody>
          <a:bodyPr/>
          <a:lstStyle/>
          <a:p>
            <a:fld id="{37215CBA-99B0-493F-9215-5F536C17797E}" type="slidenum">
              <a:rPr lang="en-GB" altLang="en-US"/>
              <a:pPr/>
              <a:t>31</a:t>
            </a:fld>
            <a:endParaRPr lang="en-GB" altLang="en-US"/>
          </a:p>
        </p:txBody>
      </p:sp>
      <p:sp>
        <p:nvSpPr>
          <p:cNvPr id="36866" name="Rectangle 2">
            <a:extLst>
              <a:ext uri="{FF2B5EF4-FFF2-40B4-BE49-F238E27FC236}">
                <a16:creationId xmlns:a16="http://schemas.microsoft.com/office/drawing/2014/main" xmlns="" id="{83FC923B-B320-4F0A-9D58-9F2A87DE680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xmlns="" id="{E74289A3-246A-4CE1-9776-AC76AAA39860}"/>
              </a:ext>
            </a:extLst>
          </p:cNvPr>
          <p:cNvSpPr>
            <a:spLocks noGrp="1" noChangeArrowheads="1"/>
          </p:cNvSpPr>
          <p:nvPr>
            <p:ph type="body" idx="1"/>
          </p:nvPr>
        </p:nvSpPr>
        <p:spPr/>
        <p:txBody>
          <a:bodyPr/>
          <a:lstStyle/>
          <a:p>
            <a:endParaRPr lang="en-GB" altLang="en-US" dirty="0"/>
          </a:p>
        </p:txBody>
      </p:sp>
    </p:spTree>
    <p:extLst>
      <p:ext uri="{BB962C8B-B14F-4D97-AF65-F5344CB8AC3E}">
        <p14:creationId xmlns:p14="http://schemas.microsoft.com/office/powerpoint/2010/main" val="1172985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tLang="en-US" sz="1400" b="1" dirty="0">
                <a:solidFill>
                  <a:srgbClr val="000000"/>
                </a:solidFill>
                <a:latin typeface="Times New Roman" panose="02020603050405020304" pitchFamily="18" charset="0"/>
                <a:cs typeface="Times New Roman" panose="02020603050405020304" pitchFamily="18" charset="0"/>
              </a:rPr>
              <a:t>Net profit </a:t>
            </a:r>
            <a:r>
              <a:rPr lang="en-AU" altLang="en-US" sz="1200" dirty="0">
                <a:solidFill>
                  <a:srgbClr val="000000"/>
                </a:solidFill>
                <a:latin typeface="Times New Roman" panose="02020603050405020304" pitchFamily="18" charset="0"/>
                <a:cs typeface="Times New Roman" panose="02020603050405020304" pitchFamily="18" charset="0"/>
              </a:rPr>
              <a:t>= Total income – Total costs</a:t>
            </a:r>
          </a:p>
          <a:p>
            <a:endParaRPr lang="en-AU" altLang="en-US" sz="1200" dirty="0">
              <a:solidFill>
                <a:srgbClr val="000000"/>
              </a:solidFill>
              <a:latin typeface="Times New Roman" panose="02020603050405020304" pitchFamily="18" charset="0"/>
              <a:cs typeface="Times New Roman" panose="02020603050405020304" pitchFamily="18" charset="0"/>
            </a:endParaRPr>
          </a:p>
          <a:p>
            <a:r>
              <a:rPr lang="en-AU" altLang="en-US" sz="1400" b="1" dirty="0">
                <a:solidFill>
                  <a:srgbClr val="000000"/>
                </a:solidFill>
                <a:latin typeface="Times New Roman" panose="02020603050405020304" pitchFamily="18" charset="0"/>
                <a:cs typeface="Times New Roman" panose="02020603050405020304" pitchFamily="18" charset="0"/>
              </a:rPr>
              <a:t>Payback period </a:t>
            </a:r>
            <a:r>
              <a:rPr lang="en-AU" altLang="en-US" sz="1200" dirty="0">
                <a:solidFill>
                  <a:srgbClr val="000000"/>
                </a:solidFill>
                <a:latin typeface="Times New Roman" panose="02020603050405020304" pitchFamily="18" charset="0"/>
                <a:cs typeface="Times New Roman" panose="02020603050405020304" pitchFamily="18" charset="0"/>
              </a:rPr>
              <a:t>= Time taken to break even or payback initial investment</a:t>
            </a:r>
          </a:p>
          <a:p>
            <a:endParaRPr lang="en-AU" altLang="en-US" sz="1200" dirty="0">
              <a:solidFill>
                <a:srgbClr val="000000"/>
              </a:solidFill>
              <a:latin typeface="Times New Roman" panose="02020603050405020304" pitchFamily="18" charset="0"/>
              <a:cs typeface="Times New Roman" panose="02020603050405020304" pitchFamily="18" charset="0"/>
            </a:endParaRPr>
          </a:p>
          <a:p>
            <a:r>
              <a:rPr lang="en-AU" altLang="en-US" sz="1400" b="1" dirty="0">
                <a:solidFill>
                  <a:srgbClr val="000000"/>
                </a:solidFill>
                <a:latin typeface="Times New Roman" panose="02020603050405020304" pitchFamily="18" charset="0"/>
                <a:cs typeface="Times New Roman" panose="02020603050405020304" pitchFamily="18" charset="0"/>
              </a:rPr>
              <a:t>Return on Investment (ROI): </a:t>
            </a:r>
            <a:r>
              <a:rPr lang="en-AU" altLang="en-US" sz="1200" dirty="0">
                <a:solidFill>
                  <a:srgbClr val="000000"/>
                </a:solidFill>
                <a:latin typeface="Times New Roman" panose="02020603050405020304" pitchFamily="18" charset="0"/>
                <a:cs typeface="Times New Roman" panose="02020603050405020304" pitchFamily="18" charset="0"/>
              </a:rPr>
              <a:t>Compares Net profitability to Investment required.</a:t>
            </a:r>
            <a:endParaRPr lang="en-AU" altLang="en-US" sz="1200" b="1" dirty="0">
              <a:solidFill>
                <a:srgbClr val="0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F68C5D26-D9CE-49B4-8A24-9C5C7281350F}" type="slidenum">
              <a:rPr lang="en-US" smtClean="0"/>
              <a:t>32</a:t>
            </a:fld>
            <a:endParaRPr lang="en-US"/>
          </a:p>
        </p:txBody>
      </p:sp>
    </p:spTree>
    <p:extLst>
      <p:ext uri="{BB962C8B-B14F-4D97-AF65-F5344CB8AC3E}">
        <p14:creationId xmlns:p14="http://schemas.microsoft.com/office/powerpoint/2010/main" val="1645560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DA57B212-08C9-43F7-BC07-6412B423F286}"/>
              </a:ext>
            </a:extLst>
          </p:cNvPr>
          <p:cNvSpPr>
            <a:spLocks noGrp="1" noChangeArrowheads="1"/>
          </p:cNvSpPr>
          <p:nvPr>
            <p:ph type="sldNum" sz="quarter" idx="5"/>
          </p:nvPr>
        </p:nvSpPr>
        <p:spPr>
          <a:ln/>
        </p:spPr>
        <p:txBody>
          <a:bodyPr/>
          <a:lstStyle/>
          <a:p>
            <a:fld id="{BA3F7321-CFBD-420B-87E1-F082CE42B98B}" type="slidenum">
              <a:rPr lang="en-GB" altLang="en-US"/>
              <a:pPr/>
              <a:t>33</a:t>
            </a:fld>
            <a:endParaRPr lang="en-GB" altLang="en-US"/>
          </a:p>
        </p:txBody>
      </p:sp>
      <p:sp>
        <p:nvSpPr>
          <p:cNvPr id="41986" name="Rectangle 2">
            <a:extLst>
              <a:ext uri="{FF2B5EF4-FFF2-40B4-BE49-F238E27FC236}">
                <a16:creationId xmlns:a16="http://schemas.microsoft.com/office/drawing/2014/main" xmlns="" id="{E84E1412-4BCE-4C3C-8913-278C825928F4}"/>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xmlns="" id="{AF5DA9C1-F285-48C4-945F-0BC87E60CED5}"/>
              </a:ext>
            </a:extLst>
          </p:cNvPr>
          <p:cNvSpPr>
            <a:spLocks noGrp="1" noChangeArrowheads="1"/>
          </p:cNvSpPr>
          <p:nvPr>
            <p:ph type="body" idx="1"/>
          </p:nvPr>
        </p:nvSpPr>
        <p:spPr/>
        <p:txBody>
          <a:bodyPr/>
          <a:lstStyle/>
          <a:p>
            <a:r>
              <a:rPr lang="en-GB" altLang="en-US"/>
              <a:t>If you invested £91 now you would get £9.10 in interest which would give you £100.10 in 12 months. The interest rate of 10% is used purely to make it easy to do the calculations, not because it is a realistic rate.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sz="1200" dirty="0"/>
              <a:t>NPV is the sum of the discounted cash flows for all the years of the ‘project’ (note that in NPV terms the lifetime of the completed application is included in the ‘project’)</a:t>
            </a:r>
          </a:p>
          <a:p>
            <a:r>
              <a:rPr lang="en-GB" altLang="en-US" sz="1200" dirty="0"/>
              <a:t>The figure of £618 means that £618 more would be made than if the money were simply invested at 10%. An NPV of £0 would be the same amount of profit as would be generated by investing at 10%.</a:t>
            </a:r>
          </a:p>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35</a:t>
            </a:fld>
            <a:endParaRPr lang="en-US"/>
          </a:p>
        </p:txBody>
      </p:sp>
    </p:spTree>
    <p:extLst>
      <p:ext uri="{BB962C8B-B14F-4D97-AF65-F5344CB8AC3E}">
        <p14:creationId xmlns:p14="http://schemas.microsoft.com/office/powerpoint/2010/main" val="635481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3A524F91-8C92-4B67-AD3C-22857D3932DC}"/>
              </a:ext>
            </a:extLst>
          </p:cNvPr>
          <p:cNvSpPr>
            <a:spLocks noGrp="1" noChangeArrowheads="1"/>
          </p:cNvSpPr>
          <p:nvPr>
            <p:ph type="sldNum" sz="quarter" idx="5"/>
          </p:nvPr>
        </p:nvSpPr>
        <p:spPr>
          <a:ln/>
        </p:spPr>
        <p:txBody>
          <a:bodyPr/>
          <a:lstStyle/>
          <a:p>
            <a:fld id="{CCE44547-8A12-4D52-9442-0A131AD4B044}" type="slidenum">
              <a:rPr lang="en-GB" altLang="en-US"/>
              <a:pPr/>
              <a:t>39</a:t>
            </a:fld>
            <a:endParaRPr lang="en-GB" altLang="en-US"/>
          </a:p>
        </p:txBody>
      </p:sp>
      <p:sp>
        <p:nvSpPr>
          <p:cNvPr id="48130" name="Rectangle 2">
            <a:extLst>
              <a:ext uri="{FF2B5EF4-FFF2-40B4-BE49-F238E27FC236}">
                <a16:creationId xmlns:a16="http://schemas.microsoft.com/office/drawing/2014/main" xmlns="" id="{883E74FE-1DB6-40D8-BCBD-BA156B941DC9}"/>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xmlns="" id="{6D0E9D7F-340C-4944-951B-5281974873FE}"/>
              </a:ext>
            </a:extLst>
          </p:cNvPr>
          <p:cNvSpPr>
            <a:spLocks noGrp="1" noChangeArrowheads="1"/>
          </p:cNvSpPr>
          <p:nvPr>
            <p:ph type="body" idx="1"/>
          </p:nvPr>
        </p:nvSpPr>
        <p:spPr/>
        <p:txBody>
          <a:bodyPr/>
          <a:lstStyle/>
          <a:p>
            <a:r>
              <a:rPr lang="en-GB" altLang="en-US"/>
              <a:t>The Excel function in question is =IRR.</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74142" y="741406"/>
            <a:ext cx="8979242" cy="5784098"/>
          </a:xfrm>
          <a:prstGeom prst="rect">
            <a:avLst/>
          </a:prstGeom>
          <a:blipFill dpi="0" rotWithShape="1">
            <a:blip r:embed="rId2">
              <a:alphaModFix amt="30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 name="Subtitle 2"/>
          <p:cNvSpPr>
            <a:spLocks noGrp="1"/>
          </p:cNvSpPr>
          <p:nvPr>
            <p:ph type="subTitle" idx="1" hasCustomPrompt="1"/>
          </p:nvPr>
        </p:nvSpPr>
        <p:spPr>
          <a:xfrm>
            <a:off x="1143000" y="3095886"/>
            <a:ext cx="6858000" cy="2161914"/>
          </a:xfrm>
        </p:spPr>
        <p:txBody>
          <a:bodyPr>
            <a:normAutofit/>
          </a:bodyPr>
          <a:lstStyle>
            <a:lvl1pPr marL="0" indent="0" algn="ctr">
              <a:buNone/>
              <a:defRPr sz="4400" b="1"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Introduction and Course Organization</a:t>
            </a:r>
          </a:p>
        </p:txBody>
      </p:sp>
      <p:sp>
        <p:nvSpPr>
          <p:cNvPr id="8" name="TextBox 7"/>
          <p:cNvSpPr txBox="1"/>
          <p:nvPr userDrawn="1"/>
        </p:nvSpPr>
        <p:spPr>
          <a:xfrm>
            <a:off x="1143000" y="5230684"/>
            <a:ext cx="6858000" cy="707886"/>
          </a:xfrm>
          <a:prstGeom prst="rect">
            <a:avLst/>
          </a:prstGeom>
          <a:noFill/>
        </p:spPr>
        <p:txBody>
          <a:bodyPr wrap="square" rtlCol="0">
            <a:spAutoFit/>
          </a:bodyPr>
          <a:lstStyle/>
          <a:p>
            <a:pPr algn="ctr"/>
            <a:r>
              <a:rPr lang="en-US" sz="2000" b="1" dirty="0"/>
              <a:t>Fall 2021</a:t>
            </a:r>
          </a:p>
          <a:p>
            <a:pPr algn="ctr"/>
            <a:r>
              <a:rPr lang="en-US" sz="2000" b="1" dirty="0"/>
              <a:t>Dr. Muhammad Bilal</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sp>
        <p:nvSpPr>
          <p:cNvPr id="11" name="TextBox 10"/>
          <p:cNvSpPr txBox="1"/>
          <p:nvPr userDrawn="1"/>
        </p:nvSpPr>
        <p:spPr>
          <a:xfrm>
            <a:off x="1143000" y="1210962"/>
            <a:ext cx="6858000" cy="1569660"/>
          </a:xfrm>
          <a:prstGeom prst="rect">
            <a:avLst/>
          </a:prstGeom>
          <a:noFill/>
        </p:spPr>
        <p:txBody>
          <a:bodyPr wrap="square" rtlCol="0">
            <a:spAutoFit/>
          </a:bodyPr>
          <a:lstStyle/>
          <a:p>
            <a:pPr algn="ctr"/>
            <a:r>
              <a:rPr lang="en-US" sz="3200" b="1" dirty="0">
                <a:latin typeface="+mj-lt"/>
              </a:rPr>
              <a:t>FUNDAMENTALS OF</a:t>
            </a:r>
          </a:p>
          <a:p>
            <a:pPr algn="ctr"/>
            <a:r>
              <a:rPr lang="en-US" sz="3200" b="1" dirty="0">
                <a:latin typeface="+mj-lt"/>
              </a:rPr>
              <a:t>SOFTWARE PROJECT MANAGEMENT</a:t>
            </a:r>
          </a:p>
          <a:p>
            <a:pPr algn="ctr"/>
            <a:r>
              <a:rPr lang="en-US" sz="3200" b="1" dirty="0">
                <a:latin typeface="+mj-lt"/>
              </a:rPr>
              <a:t>CS</a:t>
            </a:r>
            <a:r>
              <a:rPr lang="en-US" sz="3200" b="1" baseline="0" dirty="0">
                <a:latin typeface="+mj-lt"/>
              </a:rPr>
              <a:t> 4044</a:t>
            </a:r>
            <a:endParaRPr lang="en-US" sz="3200" b="1" dirty="0">
              <a:latin typeface="+mj-lt"/>
            </a:endParaRP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
        <p:nvSpPr>
          <p:cNvPr id="4" name="TextBox 3"/>
          <p:cNvSpPr txBox="1"/>
          <p:nvPr userDrawn="1"/>
        </p:nvSpPr>
        <p:spPr>
          <a:xfrm>
            <a:off x="74142" y="6525504"/>
            <a:ext cx="8979242" cy="246221"/>
          </a:xfrm>
          <a:prstGeom prst="rect">
            <a:avLst/>
          </a:prstGeom>
          <a:solidFill>
            <a:schemeClr val="accent1"/>
          </a:solidFill>
        </p:spPr>
        <p:txBody>
          <a:bodyPr wrap="square" rtlCol="0">
            <a:spAutoFit/>
          </a:bodyPr>
          <a:lstStyle/>
          <a:p>
            <a:pPr algn="ctr"/>
            <a:r>
              <a:rPr lang="en-US" sz="1000" b="1" dirty="0"/>
              <a:t>Department</a:t>
            </a:r>
            <a:r>
              <a:rPr lang="en-US" sz="1000" b="1" baseline="0" dirty="0"/>
              <a:t> of Computer Science, National University of Computer and Emerging Sciences, Chiniot-Faisalabad Campus | +92-111-128-128</a:t>
            </a:r>
            <a:endParaRPr lang="en-US" sz="1000" b="1" dirty="0"/>
          </a:p>
        </p:txBody>
      </p:sp>
    </p:spTree>
    <p:extLst>
      <p:ext uri="{BB962C8B-B14F-4D97-AF65-F5344CB8AC3E}">
        <p14:creationId xmlns:p14="http://schemas.microsoft.com/office/powerpoint/2010/main" val="59548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955589"/>
            <a:ext cx="7886700" cy="735100"/>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0D6D740-8150-433F-9426-3FCFF681501A}" type="slidenum">
              <a:rPr lang="en-US" smtClean="0"/>
              <a:pPr/>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xmlns="" id="{FFEF0590-DF68-4B3D-B21B-60AED912C1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45762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36143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86235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CS4044 - Fundamentals of Software Project Managment</a:t>
            </a:r>
          </a:p>
        </p:txBody>
      </p:sp>
      <p:sp>
        <p:nvSpPr>
          <p:cNvPr id="9" name="Slide Number Placeholder 8"/>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97198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CS4044 - Fundamentals of Software Project Managment</a:t>
            </a:r>
          </a:p>
        </p:txBody>
      </p:sp>
      <p:sp>
        <p:nvSpPr>
          <p:cNvPr id="5" name="Slide Number Placeholder 4"/>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83485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CS4044 - Fundamentals of Software Project Managment</a:t>
            </a:r>
          </a:p>
        </p:txBody>
      </p:sp>
      <p:sp>
        <p:nvSpPr>
          <p:cNvPr id="4" name="Slide Number Placeholder 3"/>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4226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12348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18878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2432544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015125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0246B6-8BC7-4900-B802-5715C0C6BBC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x-none"/>
          </a:p>
        </p:txBody>
      </p:sp>
      <p:sp>
        <p:nvSpPr>
          <p:cNvPr id="3" name="Subtitle 2">
            <a:extLst>
              <a:ext uri="{FF2B5EF4-FFF2-40B4-BE49-F238E27FC236}">
                <a16:creationId xmlns:a16="http://schemas.microsoft.com/office/drawing/2014/main" xmlns="" id="{3AC32D74-7B8E-4451-BB7F-AF8F1E2824C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xmlns="" id="{E5FFE4D8-0167-4298-8186-82E2E6DEDC7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xmlns="" id="{B7D6E9BA-A492-436C-A5E2-DF8625E46CF2}"/>
              </a:ext>
            </a:extLst>
          </p:cNvPr>
          <p:cNvSpPr>
            <a:spLocks noGrp="1"/>
          </p:cNvSpPr>
          <p:nvPr>
            <p:ph type="ftr" sz="quarter" idx="11"/>
          </p:nvPr>
        </p:nvSpPr>
        <p:spPr/>
        <p:txBody>
          <a:bodyPr/>
          <a:lstStyle/>
          <a:p>
            <a:r>
              <a:rPr lang="en-US"/>
              <a:t>CS4044 - Fundamentals of Software Project Managment</a:t>
            </a:r>
          </a:p>
        </p:txBody>
      </p:sp>
      <p:sp>
        <p:nvSpPr>
          <p:cNvPr id="6" name="Slide Number Placeholder 5">
            <a:extLst>
              <a:ext uri="{FF2B5EF4-FFF2-40B4-BE49-F238E27FC236}">
                <a16:creationId xmlns:a16="http://schemas.microsoft.com/office/drawing/2014/main" xmlns="" id="{ABA0F9C7-899B-4CCA-B1C7-56EC0A531AC6}"/>
              </a:ext>
            </a:extLst>
          </p:cNvPr>
          <p:cNvSpPr>
            <a:spLocks noGrp="1"/>
          </p:cNvSpPr>
          <p:nvPr>
            <p:ph type="sldNum" sz="quarter" idx="12"/>
          </p:nvPr>
        </p:nvSpPr>
        <p:spPr/>
        <p:txBody>
          <a:bodyPr/>
          <a:lstStyle/>
          <a:p>
            <a:fld id="{0797418D-B8E7-4A7C-BF6E-454B79F4EB24}" type="slidenum">
              <a:rPr lang="en-US" smtClean="0"/>
              <a:t>‹#›</a:t>
            </a:fld>
            <a:endParaRPr lang="en-US"/>
          </a:p>
        </p:txBody>
      </p:sp>
    </p:spTree>
    <p:extLst>
      <p:ext uri="{BB962C8B-B14F-4D97-AF65-F5344CB8AC3E}">
        <p14:creationId xmlns:p14="http://schemas.microsoft.com/office/powerpoint/2010/main" val="678540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CS4044 - Fundamentals of Software Project Managment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4BBE6-ABD8-4AAC-A679-4F37D73C8978}" type="slidenum">
              <a:rPr lang="en-US" smtClean="0"/>
              <a:t>‹#›</a:t>
            </a:fld>
            <a:endParaRPr lang="en-US"/>
          </a:p>
        </p:txBody>
      </p:sp>
    </p:spTree>
    <p:extLst>
      <p:ext uri="{BB962C8B-B14F-4D97-AF65-F5344CB8AC3E}">
        <p14:creationId xmlns:p14="http://schemas.microsoft.com/office/powerpoint/2010/main" val="2623975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FFD48BC7-DC40-47DE-87EE-9F4B6ECB9A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xmlns="" id="{E502BBC7-2C76-46F3-BC24-5985BC13DB8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xmlns="" id="{C7F28D52-2A5F-4D23-81AE-7CB8B591C7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p:cNvSpPr>
            <a:spLocks noGrp="1"/>
          </p:cNvSpPr>
          <p:nvPr>
            <p:ph type="ctrTitle"/>
          </p:nvPr>
        </p:nvSpPr>
        <p:spPr>
          <a:xfrm>
            <a:off x="1143002" y="1999615"/>
            <a:ext cx="6858000" cy="2764028"/>
          </a:xfrm>
        </p:spPr>
        <p:txBody>
          <a:bodyPr anchor="ctr">
            <a:normAutofit fontScale="90000"/>
          </a:bodyPr>
          <a:lstStyle/>
          <a:p>
            <a:r>
              <a:rPr lang="en-IN" sz="4400" dirty="0">
                <a:latin typeface="+mn-lt"/>
                <a:cs typeface="Arial" panose="020B0604020202020204" pitchFamily="34" charset="0"/>
              </a:rPr>
              <a:t>FUNDAMENTALS OF SOFTWARE PROJECT MANAGEMENT</a:t>
            </a:r>
            <a:br>
              <a:rPr lang="en-IN" sz="4400" dirty="0">
                <a:latin typeface="+mn-lt"/>
                <a:cs typeface="Arial" panose="020B0604020202020204" pitchFamily="34" charset="0"/>
              </a:rPr>
            </a:br>
            <a:r>
              <a:rPr lang="en-IN" sz="4400" dirty="0">
                <a:latin typeface="+mn-lt"/>
                <a:cs typeface="Arial" panose="020B0604020202020204" pitchFamily="34" charset="0"/>
              </a:rPr>
              <a:t/>
            </a:r>
            <a:br>
              <a:rPr lang="en-IN" sz="4400" dirty="0">
                <a:latin typeface="+mn-lt"/>
                <a:cs typeface="Arial" panose="020B0604020202020204" pitchFamily="34" charset="0"/>
              </a:rPr>
            </a:br>
            <a:r>
              <a:rPr lang="en-IN" sz="4400" dirty="0">
                <a:latin typeface="+mn-lt"/>
                <a:cs typeface="Arial" panose="020B0604020202020204" pitchFamily="34" charset="0"/>
              </a:rPr>
              <a:t/>
            </a:r>
            <a:br>
              <a:rPr lang="en-IN" sz="4400" dirty="0">
                <a:latin typeface="+mn-lt"/>
                <a:cs typeface="Arial" panose="020B0604020202020204" pitchFamily="34" charset="0"/>
              </a:rPr>
            </a:br>
            <a:r>
              <a:rPr lang="en-IN" sz="4400" dirty="0">
                <a:latin typeface="+mn-lt"/>
                <a:cs typeface="Arial" panose="020B0604020202020204" pitchFamily="34" charset="0"/>
              </a:rPr>
              <a:t/>
            </a:r>
            <a:br>
              <a:rPr lang="en-IN" sz="4400" dirty="0">
                <a:latin typeface="+mn-lt"/>
                <a:cs typeface="Arial" panose="020B0604020202020204" pitchFamily="34" charset="0"/>
              </a:rPr>
            </a:br>
            <a:r>
              <a:rPr lang="en-GB" altLang="en-US" sz="4400" dirty="0"/>
              <a:t>Cost Benefit Analysis</a:t>
            </a:r>
            <a:r>
              <a:rPr lang="en-GB" altLang="en-US" sz="2500" dirty="0"/>
              <a:t/>
            </a:r>
            <a:br>
              <a:rPr lang="en-GB" altLang="en-US" sz="2500" dirty="0"/>
            </a:br>
            <a:endParaRPr lang="en-US" sz="2500" dirty="0">
              <a:latin typeface="+mn-lt"/>
              <a:cs typeface="Arial" panose="020B0604020202020204" pitchFamily="34" charset="0"/>
            </a:endParaRPr>
          </a:p>
        </p:txBody>
      </p:sp>
      <p:sp>
        <p:nvSpPr>
          <p:cNvPr id="3" name="Subtitle 2"/>
          <p:cNvSpPr>
            <a:spLocks noGrp="1"/>
          </p:cNvSpPr>
          <p:nvPr>
            <p:ph type="subTitle" idx="1"/>
          </p:nvPr>
        </p:nvSpPr>
        <p:spPr>
          <a:xfrm>
            <a:off x="1475184" y="5645150"/>
            <a:ext cx="6193632" cy="631825"/>
          </a:xfrm>
        </p:spPr>
        <p:txBody>
          <a:bodyPr anchor="ctr">
            <a:normAutofit/>
          </a:bodyPr>
          <a:lstStyle/>
          <a:p>
            <a:r>
              <a:rPr lang="en-IN" sz="2400" dirty="0"/>
              <a:t>Week - 13</a:t>
            </a:r>
            <a:endParaRPr lang="en-US" sz="2400" dirty="0"/>
          </a:p>
          <a:p>
            <a:endParaRPr lang="en-US" sz="2400" dirty="0"/>
          </a:p>
        </p:txBody>
      </p:sp>
      <p:sp>
        <p:nvSpPr>
          <p:cNvPr id="17" name="Rectangle 16">
            <a:extLst>
              <a:ext uri="{FF2B5EF4-FFF2-40B4-BE49-F238E27FC236}">
                <a16:creationId xmlns:a16="http://schemas.microsoft.com/office/drawing/2014/main" xmlns="" id="{3629484E-3792-4B3D-89AD-7C8A1ED0E0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7866764" y="6356350"/>
            <a:ext cx="951613" cy="365125"/>
          </a:xfrm>
        </p:spPr>
        <p:txBody>
          <a:bodyPr>
            <a:normAutofit/>
          </a:bodyPr>
          <a:lstStyle/>
          <a:p>
            <a:pPr>
              <a:spcAft>
                <a:spcPts val="600"/>
              </a:spcAft>
            </a:pPr>
            <a:fld id="{9966D855-C268-4653-AB02-0C37BDE9B0E4}" type="slidenum">
              <a:rPr lang="en-US">
                <a:solidFill>
                  <a:schemeClr val="tx1">
                    <a:lumMod val="50000"/>
                    <a:lumOff val="50000"/>
                  </a:schemeClr>
                </a:solidFill>
              </a:rPr>
              <a:pPr>
                <a:spcAft>
                  <a:spcPts val="600"/>
                </a:spcAft>
              </a:pPr>
              <a:t>1</a:t>
            </a:fld>
            <a:endParaRPr lang="en-US">
              <a:solidFill>
                <a:schemeClr val="tx1">
                  <a:lumMod val="50000"/>
                  <a:lumOff val="50000"/>
                </a:schemeClr>
              </a:solidFill>
            </a:endParaRPr>
          </a:p>
        </p:txBody>
      </p:sp>
    </p:spTree>
    <p:extLst>
      <p:ext uri="{BB962C8B-B14F-4D97-AF65-F5344CB8AC3E}">
        <p14:creationId xmlns:p14="http://schemas.microsoft.com/office/powerpoint/2010/main" val="92674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xmlns="" id="{EDDBA12D-7D9C-4844-B7C4-8EF287D5C6A2}"/>
              </a:ext>
            </a:extLst>
          </p:cNvPr>
          <p:cNvSpPr>
            <a:spLocks noGrp="1"/>
          </p:cNvSpPr>
          <p:nvPr>
            <p:ph type="sldNum" sz="quarter" idx="11"/>
          </p:nvPr>
        </p:nvSpPr>
        <p:spPr bwMode="auto">
          <a:xfrm>
            <a:off x="6659563" y="6092825"/>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en-GB"/>
            </a:defPPr>
            <a:lvl1pPr algn="r" rtl="0" eaLnBrk="0" fontAlgn="base" hangingPunct="0">
              <a:spcBef>
                <a:spcPct val="0"/>
              </a:spcBef>
              <a:spcAft>
                <a:spcPct val="0"/>
              </a:spcAft>
              <a:buFont typeface="Arial" panose="020B0604020202020204" pitchFamily="34" charset="0"/>
              <a:buNone/>
              <a:defRPr sz="1400" kern="1200">
                <a:solidFill>
                  <a:srgbClr val="FFFF99"/>
                </a:solidFill>
                <a:latin typeface="Times New Roman" panose="02020603050405020304" pitchFamily="18"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149C8BDD-6025-42F3-8F71-2798B5BFCE84}" type="slidenum">
              <a:rPr lang="en-US" altLang="en-US" smtClean="0"/>
              <a:pPr/>
              <a:t>2</a:t>
            </a:fld>
            <a:endParaRPr lang="en-US" altLang="en-US"/>
          </a:p>
        </p:txBody>
      </p:sp>
      <p:sp>
        <p:nvSpPr>
          <p:cNvPr id="5122" name="Rectangle 2">
            <a:extLst>
              <a:ext uri="{FF2B5EF4-FFF2-40B4-BE49-F238E27FC236}">
                <a16:creationId xmlns:a16="http://schemas.microsoft.com/office/drawing/2014/main" xmlns="" id="{B05C418A-D86E-4A19-8AD6-E6B0234BE052}"/>
              </a:ext>
            </a:extLst>
          </p:cNvPr>
          <p:cNvSpPr>
            <a:spLocks noGrp="1" noChangeArrowheads="1"/>
          </p:cNvSpPr>
          <p:nvPr>
            <p:ph type="title"/>
          </p:nvPr>
        </p:nvSpPr>
        <p:spPr/>
        <p:txBody>
          <a:bodyPr/>
          <a:lstStyle/>
          <a:p>
            <a:r>
              <a:rPr lang="en-GB" altLang="en-US"/>
              <a:t>Main topics to be covered</a:t>
            </a:r>
          </a:p>
        </p:txBody>
      </p:sp>
      <p:sp>
        <p:nvSpPr>
          <p:cNvPr id="5123" name="Rectangle 3">
            <a:extLst>
              <a:ext uri="{FF2B5EF4-FFF2-40B4-BE49-F238E27FC236}">
                <a16:creationId xmlns:a16="http://schemas.microsoft.com/office/drawing/2014/main" xmlns="" id="{52628861-E673-4A89-ACB4-48AB0CB25D56}"/>
              </a:ext>
            </a:extLst>
          </p:cNvPr>
          <p:cNvSpPr>
            <a:spLocks noGrp="1" noChangeArrowheads="1"/>
          </p:cNvSpPr>
          <p:nvPr>
            <p:ph type="body" idx="1"/>
          </p:nvPr>
        </p:nvSpPr>
        <p:spPr/>
        <p:txBody>
          <a:bodyPr/>
          <a:lstStyle/>
          <a:p>
            <a:r>
              <a:rPr lang="en-GB" altLang="en-US" dirty="0"/>
              <a:t>The business case for a project</a:t>
            </a:r>
          </a:p>
          <a:p>
            <a:r>
              <a:rPr lang="en-GB" altLang="en-US" dirty="0"/>
              <a:t>Project evaluation</a:t>
            </a:r>
          </a:p>
          <a:p>
            <a:pPr lvl="1"/>
            <a:r>
              <a:rPr lang="en-GB" altLang="en-US" dirty="0"/>
              <a:t>Cost benefit analysis</a:t>
            </a:r>
          </a:p>
          <a:p>
            <a:pPr lvl="1"/>
            <a:r>
              <a:rPr lang="en-GB" altLang="en-US" dirty="0"/>
              <a:t>Cash flow forecasting</a:t>
            </a:r>
          </a:p>
          <a:p>
            <a:r>
              <a:rPr lang="en-GB" altLang="en-US" dirty="0"/>
              <a:t>Benefits management</a:t>
            </a:r>
          </a:p>
          <a:p>
            <a:endParaRPr lang="en-GB" altLang="en-US" dirty="0"/>
          </a:p>
        </p:txBody>
      </p:sp>
      <p:sp>
        <p:nvSpPr>
          <p:cNvPr id="6" name="Slide Number Placeholder 3">
            <a:extLst>
              <a:ext uri="{FF2B5EF4-FFF2-40B4-BE49-F238E27FC236}">
                <a16:creationId xmlns:a16="http://schemas.microsoft.com/office/drawing/2014/main" xmlns="" id="{B324F1B8-4063-4123-9BC5-16C198DD89A3}"/>
              </a:ext>
            </a:extLst>
          </p:cNvPr>
          <p:cNvSpPr>
            <a:spLocks noGrp="1"/>
          </p:cNvSpPr>
          <p:nvPr>
            <p:ph type="sldNum" sz="quarter" idx="12"/>
          </p:nvPr>
        </p:nvSpPr>
        <p:spPr>
          <a:xfrm>
            <a:off x="6457950" y="6356351"/>
            <a:ext cx="2057400" cy="365125"/>
          </a:xfrm>
        </p:spPr>
        <p:txBody>
          <a:bodyPr/>
          <a:lstStyle/>
          <a:p>
            <a:fld id="{60D6D740-8150-433F-9426-3FCFF681501A}"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xmlns="" id="{23F5109B-2CBC-4DBC-A830-FEAE66787E28}"/>
              </a:ext>
            </a:extLst>
          </p:cNvPr>
          <p:cNvSpPr>
            <a:spLocks noGrp="1" noChangeArrowheads="1"/>
          </p:cNvSpPr>
          <p:nvPr>
            <p:ph type="title"/>
          </p:nvPr>
        </p:nvSpPr>
        <p:spPr/>
        <p:txBody>
          <a:bodyPr/>
          <a:lstStyle/>
          <a:p>
            <a:r>
              <a:rPr lang="en-GB" altLang="en-US" dirty="0"/>
              <a:t>The business case</a:t>
            </a:r>
          </a:p>
        </p:txBody>
      </p:sp>
      <p:sp>
        <p:nvSpPr>
          <p:cNvPr id="83971" name="Rectangle 3">
            <a:extLst>
              <a:ext uri="{FF2B5EF4-FFF2-40B4-BE49-F238E27FC236}">
                <a16:creationId xmlns:a16="http://schemas.microsoft.com/office/drawing/2014/main" xmlns="" id="{F2B6D744-2093-4522-96C1-2137F3FD1F9A}"/>
              </a:ext>
            </a:extLst>
          </p:cNvPr>
          <p:cNvSpPr>
            <a:spLocks noGrp="1" noChangeArrowheads="1"/>
          </p:cNvSpPr>
          <p:nvPr>
            <p:ph type="body" idx="1"/>
          </p:nvPr>
        </p:nvSpPr>
        <p:spPr/>
        <p:txBody>
          <a:bodyPr/>
          <a:lstStyle/>
          <a:p>
            <a:r>
              <a:rPr lang="en-GB" altLang="en-US" b="1" dirty="0"/>
              <a:t>Feasibility studies </a:t>
            </a:r>
            <a:r>
              <a:rPr lang="en-GB" altLang="en-US" dirty="0"/>
              <a:t>can also act as a ‘business case’</a:t>
            </a:r>
          </a:p>
          <a:p>
            <a:r>
              <a:rPr lang="en-GB" altLang="en-US" dirty="0"/>
              <a:t>Provides a justification for starting the project</a:t>
            </a:r>
          </a:p>
          <a:p>
            <a:r>
              <a:rPr lang="en-GB" altLang="en-US" dirty="0"/>
              <a:t>Should show that the benefits of the project will exceed development, implementation and operational costs</a:t>
            </a:r>
          </a:p>
          <a:p>
            <a:r>
              <a:rPr lang="en-GB" altLang="en-US" dirty="0"/>
              <a:t>Needs to take account of business risks </a:t>
            </a:r>
            <a:endParaRPr lang="en-GB" altLang="en-US" b="1" dirty="0"/>
          </a:p>
        </p:txBody>
      </p:sp>
      <p:sp>
        <p:nvSpPr>
          <p:cNvPr id="6" name="Slide Number Placeholder 3">
            <a:extLst>
              <a:ext uri="{FF2B5EF4-FFF2-40B4-BE49-F238E27FC236}">
                <a16:creationId xmlns:a16="http://schemas.microsoft.com/office/drawing/2014/main" xmlns="" id="{D022FEED-A6B5-45CA-AC19-E5B80B65139F}"/>
              </a:ext>
            </a:extLst>
          </p:cNvPr>
          <p:cNvSpPr>
            <a:spLocks noGrp="1"/>
          </p:cNvSpPr>
          <p:nvPr>
            <p:ph type="sldNum" sz="quarter" idx="12"/>
          </p:nvPr>
        </p:nvSpPr>
        <p:spPr>
          <a:xfrm>
            <a:off x="6457950" y="6375205"/>
            <a:ext cx="2057400" cy="365125"/>
          </a:xfrm>
        </p:spPr>
        <p:txBody>
          <a:bodyPr/>
          <a:lstStyle/>
          <a:p>
            <a:fld id="{60D6D740-8150-433F-9426-3FCFF681501A}" type="slidenum">
              <a:rPr lang="en-US" smtClean="0"/>
              <a:pPr/>
              <a:t>3</a:t>
            </a:fld>
            <a:endParaRPr lang="en-US" dirty="0"/>
          </a:p>
        </p:txBody>
      </p:sp>
    </p:spTree>
    <p:extLst>
      <p:ext uri="{BB962C8B-B14F-4D97-AF65-F5344CB8AC3E}">
        <p14:creationId xmlns:p14="http://schemas.microsoft.com/office/powerpoint/2010/main" val="2932222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1511EF-C02E-4215-8E0A-9FD8B4CC6151}"/>
              </a:ext>
            </a:extLst>
          </p:cNvPr>
          <p:cNvSpPr>
            <a:spLocks noGrp="1"/>
          </p:cNvSpPr>
          <p:nvPr>
            <p:ph type="title"/>
          </p:nvPr>
        </p:nvSpPr>
        <p:spPr/>
        <p:txBody>
          <a:bodyPr/>
          <a:lstStyle/>
          <a:p>
            <a:r>
              <a:rPr lang="en-GB" altLang="en-US" dirty="0"/>
              <a:t>Contents of a business case</a:t>
            </a:r>
            <a:endParaRPr lang="en-US" dirty="0"/>
          </a:p>
        </p:txBody>
      </p:sp>
      <p:sp>
        <p:nvSpPr>
          <p:cNvPr id="3" name="Content Placeholder 2">
            <a:extLst>
              <a:ext uri="{FF2B5EF4-FFF2-40B4-BE49-F238E27FC236}">
                <a16:creationId xmlns:a16="http://schemas.microsoft.com/office/drawing/2014/main" xmlns="" id="{0466CADF-8117-49A0-9B02-82EF5377CE82}"/>
              </a:ext>
            </a:extLst>
          </p:cNvPr>
          <p:cNvSpPr>
            <a:spLocks noGrp="1"/>
          </p:cNvSpPr>
          <p:nvPr>
            <p:ph idx="1"/>
          </p:nvPr>
        </p:nvSpPr>
        <p:spPr>
          <a:xfrm>
            <a:off x="628650" y="1825624"/>
            <a:ext cx="7886700" cy="4784725"/>
          </a:xfrm>
        </p:spPr>
        <p:txBody>
          <a:bodyPr>
            <a:normAutofit/>
          </a:bodyPr>
          <a:lstStyle/>
          <a:p>
            <a:pPr>
              <a:defRPr/>
            </a:pPr>
            <a:r>
              <a:rPr lang="en-US" dirty="0"/>
              <a:t>Introduction and background to the proposal</a:t>
            </a:r>
          </a:p>
          <a:p>
            <a:pPr lvl="1">
              <a:defRPr/>
            </a:pPr>
            <a:r>
              <a:rPr lang="en-US" dirty="0"/>
              <a:t>Describe current environment of proposed project</a:t>
            </a:r>
          </a:p>
          <a:p>
            <a:pPr>
              <a:defRPr/>
            </a:pPr>
            <a:r>
              <a:rPr lang="en-US" dirty="0"/>
              <a:t>The proposed Project</a:t>
            </a:r>
          </a:p>
          <a:p>
            <a:pPr lvl="1">
              <a:defRPr/>
            </a:pPr>
            <a:r>
              <a:rPr lang="en-US" dirty="0"/>
              <a:t>Brief outline of proposed project like estimated demand for product.</a:t>
            </a:r>
          </a:p>
          <a:p>
            <a:pPr>
              <a:defRPr/>
            </a:pPr>
            <a:r>
              <a:rPr lang="en-US" dirty="0"/>
              <a:t>The Market</a:t>
            </a:r>
          </a:p>
          <a:p>
            <a:pPr lvl="1">
              <a:defRPr/>
            </a:pPr>
            <a:r>
              <a:rPr lang="en-US" dirty="0"/>
              <a:t>estimated demand for product.</a:t>
            </a:r>
          </a:p>
          <a:p>
            <a:pPr>
              <a:defRPr/>
            </a:pPr>
            <a:r>
              <a:rPr lang="en-US" dirty="0"/>
              <a:t>Organizational and Operational Infrastructure</a:t>
            </a:r>
          </a:p>
          <a:p>
            <a:pPr lvl="1">
              <a:defRPr/>
            </a:pPr>
            <a:r>
              <a:rPr lang="en-US" dirty="0"/>
              <a:t>How organization infrastructure will be affected by the proposed project</a:t>
            </a:r>
          </a:p>
        </p:txBody>
      </p:sp>
      <p:sp>
        <p:nvSpPr>
          <p:cNvPr id="4" name="Slide Number Placeholder 3">
            <a:extLst>
              <a:ext uri="{FF2B5EF4-FFF2-40B4-BE49-F238E27FC236}">
                <a16:creationId xmlns:a16="http://schemas.microsoft.com/office/drawing/2014/main" xmlns="" id="{BADB7C90-6240-4B36-A710-7EC6AC5EE03E}"/>
              </a:ext>
            </a:extLst>
          </p:cNvPr>
          <p:cNvSpPr>
            <a:spLocks noGrp="1"/>
          </p:cNvSpPr>
          <p:nvPr>
            <p:ph type="sldNum" sz="quarter" idx="12"/>
          </p:nvPr>
        </p:nvSpPr>
        <p:spPr/>
        <p:txBody>
          <a:bodyPr/>
          <a:lstStyle/>
          <a:p>
            <a:fld id="{60D6D740-8150-433F-9426-3FCFF681501A}" type="slidenum">
              <a:rPr lang="en-US" smtClean="0"/>
              <a:pPr/>
              <a:t>4</a:t>
            </a:fld>
            <a:endParaRPr lang="en-US" dirty="0"/>
          </a:p>
        </p:txBody>
      </p:sp>
    </p:spTree>
    <p:extLst>
      <p:ext uri="{BB962C8B-B14F-4D97-AF65-F5344CB8AC3E}">
        <p14:creationId xmlns:p14="http://schemas.microsoft.com/office/powerpoint/2010/main" val="313593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1511EF-C02E-4215-8E0A-9FD8B4CC6151}"/>
              </a:ext>
            </a:extLst>
          </p:cNvPr>
          <p:cNvSpPr>
            <a:spLocks noGrp="1"/>
          </p:cNvSpPr>
          <p:nvPr>
            <p:ph type="title"/>
          </p:nvPr>
        </p:nvSpPr>
        <p:spPr/>
        <p:txBody>
          <a:bodyPr>
            <a:normAutofit/>
          </a:bodyPr>
          <a:lstStyle/>
          <a:p>
            <a:r>
              <a:rPr lang="en-GB" altLang="en-US" dirty="0"/>
              <a:t>Contents of a business case Cont.</a:t>
            </a:r>
            <a:endParaRPr lang="en-US" dirty="0"/>
          </a:p>
        </p:txBody>
      </p:sp>
      <p:sp>
        <p:nvSpPr>
          <p:cNvPr id="3" name="Content Placeholder 2">
            <a:extLst>
              <a:ext uri="{FF2B5EF4-FFF2-40B4-BE49-F238E27FC236}">
                <a16:creationId xmlns:a16="http://schemas.microsoft.com/office/drawing/2014/main" xmlns="" id="{0466CADF-8117-49A0-9B02-82EF5377CE82}"/>
              </a:ext>
            </a:extLst>
          </p:cNvPr>
          <p:cNvSpPr>
            <a:spLocks noGrp="1"/>
          </p:cNvSpPr>
          <p:nvPr>
            <p:ph idx="1"/>
          </p:nvPr>
        </p:nvSpPr>
        <p:spPr>
          <a:xfrm>
            <a:off x="628650" y="1825624"/>
            <a:ext cx="7886700" cy="4784725"/>
          </a:xfrm>
        </p:spPr>
        <p:txBody>
          <a:bodyPr>
            <a:normAutofit lnSpcReduction="10000"/>
          </a:bodyPr>
          <a:lstStyle/>
          <a:p>
            <a:pPr>
              <a:defRPr/>
            </a:pPr>
            <a:r>
              <a:rPr lang="en-US" dirty="0"/>
              <a:t>The Benefits </a:t>
            </a:r>
          </a:p>
          <a:p>
            <a:pPr lvl="1">
              <a:defRPr/>
            </a:pPr>
            <a:r>
              <a:rPr lang="en-US" dirty="0"/>
              <a:t> in term of financial values </a:t>
            </a:r>
          </a:p>
          <a:p>
            <a:pPr>
              <a:defRPr/>
            </a:pPr>
            <a:r>
              <a:rPr lang="en-US" dirty="0"/>
              <a:t>Outline Implementation Plan </a:t>
            </a:r>
          </a:p>
          <a:p>
            <a:pPr lvl="1">
              <a:defRPr/>
            </a:pPr>
            <a:r>
              <a:rPr lang="en-US" dirty="0"/>
              <a:t>Which project activates can be outsourced and which are best to kept in-house</a:t>
            </a:r>
          </a:p>
          <a:p>
            <a:pPr>
              <a:defRPr/>
            </a:pPr>
            <a:r>
              <a:rPr lang="en-US" dirty="0"/>
              <a:t>Costs</a:t>
            </a:r>
          </a:p>
          <a:p>
            <a:pPr>
              <a:defRPr/>
            </a:pPr>
            <a:r>
              <a:rPr lang="en-US" dirty="0"/>
              <a:t>The Financial Case</a:t>
            </a:r>
          </a:p>
          <a:p>
            <a:pPr lvl="1">
              <a:defRPr/>
            </a:pPr>
            <a:r>
              <a:rPr lang="en-US" dirty="0"/>
              <a:t>Information on income and cost can be analyzed . Used evaluation techniques</a:t>
            </a:r>
          </a:p>
          <a:p>
            <a:pPr>
              <a:defRPr/>
            </a:pPr>
            <a:r>
              <a:rPr lang="en-US" dirty="0"/>
              <a:t>Risks</a:t>
            </a:r>
          </a:p>
          <a:p>
            <a:pPr>
              <a:defRPr/>
            </a:pPr>
            <a:r>
              <a:rPr lang="en-US" dirty="0"/>
              <a:t>Management Plan</a:t>
            </a:r>
          </a:p>
        </p:txBody>
      </p:sp>
      <p:sp>
        <p:nvSpPr>
          <p:cNvPr id="4" name="Slide Number Placeholder 3">
            <a:extLst>
              <a:ext uri="{FF2B5EF4-FFF2-40B4-BE49-F238E27FC236}">
                <a16:creationId xmlns:a16="http://schemas.microsoft.com/office/drawing/2014/main" xmlns="" id="{BADB7C90-6240-4B36-A710-7EC6AC5EE03E}"/>
              </a:ext>
            </a:extLst>
          </p:cNvPr>
          <p:cNvSpPr>
            <a:spLocks noGrp="1"/>
          </p:cNvSpPr>
          <p:nvPr>
            <p:ph type="sldNum" sz="quarter" idx="12"/>
          </p:nvPr>
        </p:nvSpPr>
        <p:spPr/>
        <p:txBody>
          <a:bodyPr/>
          <a:lstStyle/>
          <a:p>
            <a:fld id="{60D6D740-8150-433F-9426-3FCFF681501A}" type="slidenum">
              <a:rPr lang="en-US" smtClean="0"/>
              <a:pPr/>
              <a:t>5</a:t>
            </a:fld>
            <a:endParaRPr lang="en-US" dirty="0"/>
          </a:p>
        </p:txBody>
      </p:sp>
    </p:spTree>
    <p:extLst>
      <p:ext uri="{BB962C8B-B14F-4D97-AF65-F5344CB8AC3E}">
        <p14:creationId xmlns:p14="http://schemas.microsoft.com/office/powerpoint/2010/main" val="3285722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8F666DAC-87AC-45A9-B760-27E243EC160F}"/>
              </a:ext>
            </a:extLst>
          </p:cNvPr>
          <p:cNvSpPr>
            <a:spLocks noGrp="1"/>
          </p:cNvSpPr>
          <p:nvPr>
            <p:ph type="title"/>
          </p:nvPr>
        </p:nvSpPr>
        <p:spPr/>
        <p:txBody>
          <a:bodyPr/>
          <a:lstStyle/>
          <a:p>
            <a:r>
              <a:rPr lang="en-AU" altLang="en-US" dirty="0"/>
              <a:t>Project Evaluation</a:t>
            </a:r>
            <a:endParaRPr lang="en-US" altLang="en-US" dirty="0"/>
          </a:p>
        </p:txBody>
      </p:sp>
      <p:sp>
        <p:nvSpPr>
          <p:cNvPr id="6147" name="Content Placeholder 2">
            <a:extLst>
              <a:ext uri="{FF2B5EF4-FFF2-40B4-BE49-F238E27FC236}">
                <a16:creationId xmlns:a16="http://schemas.microsoft.com/office/drawing/2014/main" xmlns="" id="{DA964AA0-696B-4EB8-B14E-293FF17D6FB3}"/>
              </a:ext>
            </a:extLst>
          </p:cNvPr>
          <p:cNvSpPr>
            <a:spLocks noGrp="1"/>
          </p:cNvSpPr>
          <p:nvPr>
            <p:ph idx="1"/>
          </p:nvPr>
        </p:nvSpPr>
        <p:spPr/>
        <p:txBody>
          <a:bodyPr/>
          <a:lstStyle/>
          <a:p>
            <a:pPr eaLnBrk="1" hangingPunct="1">
              <a:lnSpc>
                <a:spcPct val="90000"/>
              </a:lnSpc>
            </a:pPr>
            <a:r>
              <a:rPr lang="en-US" altLang="en-US" sz="2800" dirty="0"/>
              <a:t>Objectives</a:t>
            </a:r>
          </a:p>
          <a:p>
            <a:pPr lvl="1" eaLnBrk="1" hangingPunct="1">
              <a:lnSpc>
                <a:spcPct val="90000"/>
              </a:lnSpc>
            </a:pPr>
            <a:r>
              <a:rPr lang="en-US" altLang="en-US" sz="2400" dirty="0"/>
              <a:t>Select Project against STRATEGIC, TECHNICAL and ECONOMIC criteria.</a:t>
            </a:r>
          </a:p>
          <a:p>
            <a:pPr lvl="1" eaLnBrk="1" hangingPunct="1">
              <a:lnSpc>
                <a:spcPct val="90000"/>
              </a:lnSpc>
            </a:pPr>
            <a:r>
              <a:rPr lang="en-US" altLang="en-US" sz="2400" dirty="0"/>
              <a:t>Use Cost Benefit Techniques to choose a project among other projects proposals.</a:t>
            </a:r>
          </a:p>
          <a:p>
            <a:pPr lvl="1" eaLnBrk="1" hangingPunct="1">
              <a:lnSpc>
                <a:spcPct val="90000"/>
              </a:lnSpc>
            </a:pPr>
            <a:r>
              <a:rPr lang="en-US" altLang="en-US" sz="2400" dirty="0"/>
              <a:t>Evaluate risks and strategies to minimize potential costs.</a:t>
            </a:r>
          </a:p>
          <a:p>
            <a:pPr eaLnBrk="1" hangingPunct="1">
              <a:lnSpc>
                <a:spcPct val="90000"/>
              </a:lnSpc>
            </a:pPr>
            <a:r>
              <a:rPr lang="en-US" altLang="en-US" sz="2800" dirty="0"/>
              <a:t>Cost: Development, Setup, Operational</a:t>
            </a:r>
          </a:p>
          <a:p>
            <a:pPr eaLnBrk="1" hangingPunct="1">
              <a:lnSpc>
                <a:spcPct val="90000"/>
              </a:lnSpc>
            </a:pPr>
            <a:r>
              <a:rPr lang="en-US" altLang="en-US" sz="2800" dirty="0"/>
              <a:t>Benefits: Direct, Assessable Indirect, Intangible</a:t>
            </a:r>
          </a:p>
          <a:p>
            <a:endParaRPr lang="en-US" altLang="en-US" dirty="0"/>
          </a:p>
        </p:txBody>
      </p:sp>
      <p:sp>
        <p:nvSpPr>
          <p:cNvPr id="6149" name="Slide Number Placeholder 4">
            <a:extLst>
              <a:ext uri="{FF2B5EF4-FFF2-40B4-BE49-F238E27FC236}">
                <a16:creationId xmlns:a16="http://schemas.microsoft.com/office/drawing/2014/main" xmlns="" id="{2CBF972F-EAC8-4229-915B-1DCA6D6402B4}"/>
              </a:ext>
            </a:extLst>
          </p:cNvPr>
          <p:cNvSpPr>
            <a:spLocks noGrp="1"/>
          </p:cNvSpPr>
          <p:nvPr>
            <p:ph type="sldNum" sz="quarter" idx="12"/>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pPr eaLnBrk="1" hangingPunct="1"/>
            <a:fld id="{4BE2F328-E04A-499F-B1F4-40632C6AD6DD}" type="slidenum">
              <a:rPr lang="en-AU" altLang="en-US" sz="1400"/>
              <a:pPr eaLnBrk="1" hangingPunct="1"/>
              <a:t>6</a:t>
            </a:fld>
            <a:endParaRPr lang="en-AU"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5">
            <a:extLst>
              <a:ext uri="{FF2B5EF4-FFF2-40B4-BE49-F238E27FC236}">
                <a16:creationId xmlns:a16="http://schemas.microsoft.com/office/drawing/2014/main" xmlns="" id="{07F23C11-EED3-4130-9E2A-AC03592AE099}"/>
              </a:ext>
            </a:extLst>
          </p:cNvPr>
          <p:cNvSpPr>
            <a:spLocks noGrp="1"/>
          </p:cNvSpPr>
          <p:nvPr>
            <p:ph type="sldNum" sz="quarter" idx="12"/>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pPr eaLnBrk="1" hangingPunct="1"/>
            <a:fld id="{75A76C3E-1DB2-4B5D-BFC7-31E92D10C91F}" type="slidenum">
              <a:rPr lang="en-AU" altLang="en-US" sz="1400"/>
              <a:pPr eaLnBrk="1" hangingPunct="1"/>
              <a:t>7</a:t>
            </a:fld>
            <a:endParaRPr lang="en-AU" altLang="en-US" sz="1400"/>
          </a:p>
        </p:txBody>
      </p:sp>
      <p:sp>
        <p:nvSpPr>
          <p:cNvPr id="7172" name="Rectangle 2">
            <a:extLst>
              <a:ext uri="{FF2B5EF4-FFF2-40B4-BE49-F238E27FC236}">
                <a16:creationId xmlns:a16="http://schemas.microsoft.com/office/drawing/2014/main" xmlns="" id="{5BBC36BF-242D-4999-9A04-CDC9249D5E24}"/>
              </a:ext>
            </a:extLst>
          </p:cNvPr>
          <p:cNvSpPr>
            <a:spLocks noGrp="1" noChangeArrowheads="1"/>
          </p:cNvSpPr>
          <p:nvPr>
            <p:ph type="title"/>
          </p:nvPr>
        </p:nvSpPr>
        <p:spPr/>
        <p:txBody>
          <a:bodyPr/>
          <a:lstStyle/>
          <a:p>
            <a:pPr eaLnBrk="1" hangingPunct="1"/>
            <a:r>
              <a:rPr lang="en-AU" altLang="en-US"/>
              <a:t>Project Evaluation - Why</a:t>
            </a:r>
          </a:p>
        </p:txBody>
      </p:sp>
      <p:sp>
        <p:nvSpPr>
          <p:cNvPr id="7173" name="Rectangle 3">
            <a:extLst>
              <a:ext uri="{FF2B5EF4-FFF2-40B4-BE49-F238E27FC236}">
                <a16:creationId xmlns:a16="http://schemas.microsoft.com/office/drawing/2014/main" xmlns="" id="{E12794FA-45F3-4BFE-A9EE-052CEEF0EFA9}"/>
              </a:ext>
            </a:extLst>
          </p:cNvPr>
          <p:cNvSpPr>
            <a:spLocks noGrp="1" noChangeArrowheads="1"/>
          </p:cNvSpPr>
          <p:nvPr>
            <p:ph type="body" idx="1"/>
          </p:nvPr>
        </p:nvSpPr>
        <p:spPr/>
        <p:txBody>
          <a:bodyPr/>
          <a:lstStyle/>
          <a:p>
            <a:pPr eaLnBrk="1" hangingPunct="1">
              <a:lnSpc>
                <a:spcPct val="90000"/>
              </a:lnSpc>
            </a:pPr>
            <a:r>
              <a:rPr lang="en-AU" altLang="en-US"/>
              <a:t>Want to decide whether a project can proceed before it is too late</a:t>
            </a:r>
          </a:p>
          <a:p>
            <a:pPr eaLnBrk="1" hangingPunct="1">
              <a:lnSpc>
                <a:spcPct val="90000"/>
              </a:lnSpc>
            </a:pPr>
            <a:r>
              <a:rPr lang="en-AU" altLang="en-US"/>
              <a:t>Want to decide which of the several alternative projects has a better success rate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lide Number Placeholder 5">
            <a:extLst>
              <a:ext uri="{FF2B5EF4-FFF2-40B4-BE49-F238E27FC236}">
                <a16:creationId xmlns:a16="http://schemas.microsoft.com/office/drawing/2014/main" xmlns="" id="{D1C68945-80A4-4896-8570-2FCB518C140F}"/>
              </a:ext>
            </a:extLst>
          </p:cNvPr>
          <p:cNvSpPr>
            <a:spLocks noGrp="1"/>
          </p:cNvSpPr>
          <p:nvPr>
            <p:ph type="sldNum" sz="quarter" idx="12"/>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pPr eaLnBrk="1" hangingPunct="1"/>
            <a:fld id="{B75092E8-A520-4AD5-9F7B-FA6005AA390B}" type="slidenum">
              <a:rPr lang="en-AU" altLang="en-US" sz="1400"/>
              <a:pPr eaLnBrk="1" hangingPunct="1"/>
              <a:t>8</a:t>
            </a:fld>
            <a:endParaRPr lang="en-AU" altLang="en-US" sz="1400"/>
          </a:p>
        </p:txBody>
      </p:sp>
      <p:sp>
        <p:nvSpPr>
          <p:cNvPr id="8196" name="Rectangle 1026">
            <a:extLst>
              <a:ext uri="{FF2B5EF4-FFF2-40B4-BE49-F238E27FC236}">
                <a16:creationId xmlns:a16="http://schemas.microsoft.com/office/drawing/2014/main" xmlns="" id="{40067DF3-987C-4491-8F44-90AF17FFAE93}"/>
              </a:ext>
            </a:extLst>
          </p:cNvPr>
          <p:cNvSpPr>
            <a:spLocks noGrp="1" noChangeArrowheads="1"/>
          </p:cNvSpPr>
          <p:nvPr>
            <p:ph type="title"/>
          </p:nvPr>
        </p:nvSpPr>
        <p:spPr/>
        <p:txBody>
          <a:bodyPr>
            <a:normAutofit fontScale="90000"/>
          </a:bodyPr>
          <a:lstStyle/>
          <a:p>
            <a:pPr eaLnBrk="1" hangingPunct="1"/>
            <a:r>
              <a:rPr lang="en-AU" altLang="en-US"/>
              <a:t>Project Evaluation–Who and When</a:t>
            </a:r>
          </a:p>
        </p:txBody>
      </p:sp>
      <p:sp>
        <p:nvSpPr>
          <p:cNvPr id="8197" name="Rectangle 1027">
            <a:extLst>
              <a:ext uri="{FF2B5EF4-FFF2-40B4-BE49-F238E27FC236}">
                <a16:creationId xmlns:a16="http://schemas.microsoft.com/office/drawing/2014/main" xmlns="" id="{F6BB9618-D9D8-4226-A1E7-AD54DCB5CF33}"/>
              </a:ext>
            </a:extLst>
          </p:cNvPr>
          <p:cNvSpPr>
            <a:spLocks noGrp="1" noChangeArrowheads="1"/>
          </p:cNvSpPr>
          <p:nvPr>
            <p:ph type="body" idx="1"/>
          </p:nvPr>
        </p:nvSpPr>
        <p:spPr/>
        <p:txBody>
          <a:bodyPr/>
          <a:lstStyle/>
          <a:p>
            <a:pPr eaLnBrk="1" hangingPunct="1"/>
            <a:r>
              <a:rPr lang="en-AU" altLang="en-US"/>
              <a:t>Who</a:t>
            </a:r>
          </a:p>
          <a:p>
            <a:pPr lvl="1" eaLnBrk="1" hangingPunct="1"/>
            <a:r>
              <a:rPr lang="en-AU" altLang="en-US"/>
              <a:t>Senior management</a:t>
            </a:r>
          </a:p>
          <a:p>
            <a:pPr lvl="1" eaLnBrk="1" hangingPunct="1"/>
            <a:r>
              <a:rPr lang="en-AU" altLang="en-US"/>
              <a:t>Project manager/coordinator</a:t>
            </a:r>
          </a:p>
          <a:p>
            <a:pPr lvl="1" eaLnBrk="1" hangingPunct="1"/>
            <a:r>
              <a:rPr lang="en-AU" altLang="en-US"/>
              <a:t>Team leader</a:t>
            </a:r>
          </a:p>
          <a:p>
            <a:pPr eaLnBrk="1" hangingPunct="1"/>
            <a:r>
              <a:rPr lang="en-AU" altLang="en-US"/>
              <a:t>When</a:t>
            </a:r>
          </a:p>
          <a:p>
            <a:pPr lvl="1" eaLnBrk="1" hangingPunct="1"/>
            <a:r>
              <a:rPr lang="en-AU" altLang="en-US"/>
              <a:t>Usually at the beginning of the project</a:t>
            </a:r>
          </a:p>
          <a:p>
            <a:pPr lvl="1" eaLnBrk="1" hangingPunct="1"/>
            <a:endParaRPr lang="en-AU"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Slide Number Placeholder 5">
            <a:extLst>
              <a:ext uri="{FF2B5EF4-FFF2-40B4-BE49-F238E27FC236}">
                <a16:creationId xmlns:a16="http://schemas.microsoft.com/office/drawing/2014/main" xmlns="" id="{D0F54E8A-E857-4EC0-8E4F-275C86F8AE7B}"/>
              </a:ext>
            </a:extLst>
          </p:cNvPr>
          <p:cNvSpPr>
            <a:spLocks noGrp="1"/>
          </p:cNvSpPr>
          <p:nvPr>
            <p:ph type="sldNum" sz="quarter" idx="12"/>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pPr eaLnBrk="1" hangingPunct="1"/>
            <a:fld id="{21AE94A9-CDBE-4538-A31D-C91347A08FBE}" type="slidenum">
              <a:rPr lang="en-AU" altLang="en-US" sz="1400"/>
              <a:pPr eaLnBrk="1" hangingPunct="1"/>
              <a:t>9</a:t>
            </a:fld>
            <a:endParaRPr lang="en-AU" altLang="en-US" sz="1400"/>
          </a:p>
        </p:txBody>
      </p:sp>
      <p:sp>
        <p:nvSpPr>
          <p:cNvPr id="9220" name="Rectangle 1026">
            <a:extLst>
              <a:ext uri="{FF2B5EF4-FFF2-40B4-BE49-F238E27FC236}">
                <a16:creationId xmlns:a16="http://schemas.microsoft.com/office/drawing/2014/main" xmlns="" id="{71BEE848-B555-4B90-A6A3-7B2CF97451DF}"/>
              </a:ext>
            </a:extLst>
          </p:cNvPr>
          <p:cNvSpPr>
            <a:spLocks noGrp="1" noChangeArrowheads="1"/>
          </p:cNvSpPr>
          <p:nvPr>
            <p:ph type="title"/>
          </p:nvPr>
        </p:nvSpPr>
        <p:spPr/>
        <p:txBody>
          <a:bodyPr/>
          <a:lstStyle/>
          <a:p>
            <a:pPr eaLnBrk="1" hangingPunct="1"/>
            <a:r>
              <a:rPr lang="en-AU" altLang="en-US"/>
              <a:t>Project Evaluation - What</a:t>
            </a:r>
          </a:p>
        </p:txBody>
      </p:sp>
      <p:sp>
        <p:nvSpPr>
          <p:cNvPr id="9221" name="Rectangle 1027">
            <a:extLst>
              <a:ext uri="{FF2B5EF4-FFF2-40B4-BE49-F238E27FC236}">
                <a16:creationId xmlns:a16="http://schemas.microsoft.com/office/drawing/2014/main" xmlns="" id="{9C25BE29-9AC6-45DB-86C2-4F7D758E9ADB}"/>
              </a:ext>
            </a:extLst>
          </p:cNvPr>
          <p:cNvSpPr>
            <a:spLocks noGrp="1" noChangeArrowheads="1"/>
          </p:cNvSpPr>
          <p:nvPr>
            <p:ph type="body" idx="1"/>
          </p:nvPr>
        </p:nvSpPr>
        <p:spPr/>
        <p:txBody>
          <a:bodyPr/>
          <a:lstStyle/>
          <a:p>
            <a:pPr eaLnBrk="1" hangingPunct="1"/>
            <a:r>
              <a:rPr lang="en-AU" altLang="en-US" dirty="0"/>
              <a:t>Strategic assessment</a:t>
            </a:r>
          </a:p>
          <a:p>
            <a:pPr eaLnBrk="1" hangingPunct="1"/>
            <a:r>
              <a:rPr lang="en-AU" altLang="en-US" dirty="0"/>
              <a:t>Technical assessment</a:t>
            </a:r>
          </a:p>
          <a:p>
            <a:pPr eaLnBrk="1" hangingPunct="1"/>
            <a:r>
              <a:rPr lang="en-AU" altLang="en-US" dirty="0"/>
              <a:t>Economic assessment</a:t>
            </a:r>
          </a:p>
        </p:txBody>
      </p:sp>
      <p:pic>
        <p:nvPicPr>
          <p:cNvPr id="3" name="Picture 2">
            <a:extLst>
              <a:ext uri="{FF2B5EF4-FFF2-40B4-BE49-F238E27FC236}">
                <a16:creationId xmlns:a16="http://schemas.microsoft.com/office/drawing/2014/main" xmlns="" id="{D83DAF0F-4BCE-CD70-541A-53943062EECA}"/>
              </a:ext>
            </a:extLst>
          </p:cNvPr>
          <p:cNvPicPr>
            <a:picLocks noChangeAspect="1"/>
          </p:cNvPicPr>
          <p:nvPr/>
        </p:nvPicPr>
        <p:blipFill>
          <a:blip r:embed="rId2"/>
          <a:stretch>
            <a:fillRect/>
          </a:stretch>
        </p:blipFill>
        <p:spPr>
          <a:xfrm>
            <a:off x="96252" y="3429000"/>
            <a:ext cx="8951495" cy="2231413"/>
          </a:xfrm>
          <a:prstGeom prst="rect">
            <a:avLst/>
          </a:prstGeom>
        </p:spPr>
      </p:pic>
      <p:pic>
        <p:nvPicPr>
          <p:cNvPr id="5" name="Picture 4">
            <a:extLst>
              <a:ext uri="{FF2B5EF4-FFF2-40B4-BE49-F238E27FC236}">
                <a16:creationId xmlns:a16="http://schemas.microsoft.com/office/drawing/2014/main" xmlns="" id="{93E6A748-1631-0916-B9A1-EA0FFCAE8394}"/>
              </a:ext>
            </a:extLst>
          </p:cNvPr>
          <p:cNvPicPr>
            <a:picLocks noChangeAspect="1"/>
          </p:cNvPicPr>
          <p:nvPr/>
        </p:nvPicPr>
        <p:blipFill>
          <a:blip r:embed="rId3"/>
          <a:stretch>
            <a:fillRect/>
          </a:stretch>
        </p:blipFill>
        <p:spPr>
          <a:xfrm>
            <a:off x="225986" y="3485927"/>
            <a:ext cx="8821761" cy="2117558"/>
          </a:xfrm>
          <a:prstGeom prst="rect">
            <a:avLst/>
          </a:prstGeom>
        </p:spPr>
      </p:pic>
      <p:pic>
        <p:nvPicPr>
          <p:cNvPr id="7" name="Picture 6">
            <a:extLst>
              <a:ext uri="{FF2B5EF4-FFF2-40B4-BE49-F238E27FC236}">
                <a16:creationId xmlns:a16="http://schemas.microsoft.com/office/drawing/2014/main" xmlns="" id="{A7579AD4-75D8-751C-8B40-4B80B7FAD6F6}"/>
              </a:ext>
            </a:extLst>
          </p:cNvPr>
          <p:cNvPicPr>
            <a:picLocks noChangeAspect="1"/>
          </p:cNvPicPr>
          <p:nvPr/>
        </p:nvPicPr>
        <p:blipFill>
          <a:blip r:embed="rId4"/>
          <a:stretch>
            <a:fillRect/>
          </a:stretch>
        </p:blipFill>
        <p:spPr>
          <a:xfrm>
            <a:off x="225985" y="3360369"/>
            <a:ext cx="8776313" cy="31968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5">
            <a:extLst>
              <a:ext uri="{FF2B5EF4-FFF2-40B4-BE49-F238E27FC236}">
                <a16:creationId xmlns:a16="http://schemas.microsoft.com/office/drawing/2014/main" xmlns="" id="{47CA559E-54CE-4D70-AB59-575E6E78FB7F}"/>
              </a:ext>
            </a:extLst>
          </p:cNvPr>
          <p:cNvSpPr>
            <a:spLocks noGrp="1"/>
          </p:cNvSpPr>
          <p:nvPr>
            <p:ph type="sldNum" sz="quarter" idx="12"/>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pPr eaLnBrk="1" hangingPunct="1"/>
            <a:fld id="{13865729-15C4-47FF-86B0-266DDE2EB000}" type="slidenum">
              <a:rPr lang="en-AU" altLang="en-US" sz="1400"/>
              <a:pPr eaLnBrk="1" hangingPunct="1"/>
              <a:t>10</a:t>
            </a:fld>
            <a:endParaRPr lang="en-AU" altLang="en-US" sz="1400"/>
          </a:p>
        </p:txBody>
      </p:sp>
      <p:sp>
        <p:nvSpPr>
          <p:cNvPr id="10244" name="Rectangle 2">
            <a:extLst>
              <a:ext uri="{FF2B5EF4-FFF2-40B4-BE49-F238E27FC236}">
                <a16:creationId xmlns:a16="http://schemas.microsoft.com/office/drawing/2014/main" xmlns="" id="{C59B5CD6-BE0C-4648-8D58-80913F5EB7CB}"/>
              </a:ext>
            </a:extLst>
          </p:cNvPr>
          <p:cNvSpPr>
            <a:spLocks noGrp="1" noChangeArrowheads="1"/>
          </p:cNvSpPr>
          <p:nvPr>
            <p:ph type="title"/>
          </p:nvPr>
        </p:nvSpPr>
        <p:spPr/>
        <p:txBody>
          <a:bodyPr/>
          <a:lstStyle/>
          <a:p>
            <a:pPr eaLnBrk="1" hangingPunct="1"/>
            <a:r>
              <a:rPr lang="en-AU" altLang="en-US" dirty="0"/>
              <a:t>Project Evaluation - How</a:t>
            </a:r>
          </a:p>
        </p:txBody>
      </p:sp>
      <p:sp>
        <p:nvSpPr>
          <p:cNvPr id="10245" name="Rectangle 3">
            <a:extLst>
              <a:ext uri="{FF2B5EF4-FFF2-40B4-BE49-F238E27FC236}">
                <a16:creationId xmlns:a16="http://schemas.microsoft.com/office/drawing/2014/main" xmlns="" id="{B16522B5-0C6E-4BC3-AA55-88A52B228A68}"/>
              </a:ext>
            </a:extLst>
          </p:cNvPr>
          <p:cNvSpPr>
            <a:spLocks noGrp="1" noChangeArrowheads="1"/>
          </p:cNvSpPr>
          <p:nvPr>
            <p:ph type="body" idx="1"/>
          </p:nvPr>
        </p:nvSpPr>
        <p:spPr/>
        <p:txBody>
          <a:bodyPr/>
          <a:lstStyle/>
          <a:p>
            <a:pPr eaLnBrk="1" hangingPunct="1"/>
            <a:r>
              <a:rPr lang="en-AU" altLang="en-US" dirty="0"/>
              <a:t>Cost-benefit analysis</a:t>
            </a:r>
          </a:p>
          <a:p>
            <a:pPr eaLnBrk="1" hangingPunct="1"/>
            <a:r>
              <a:rPr lang="en-AU" altLang="en-US" dirty="0"/>
              <a:t>Cash flow forecasting</a:t>
            </a:r>
          </a:p>
          <a:p>
            <a:pPr eaLnBrk="1" hangingPunct="1"/>
            <a:r>
              <a:rPr lang="en-AU" altLang="en-US" dirty="0"/>
              <a:t>Cost-benefit evaluation techniques</a:t>
            </a:r>
          </a:p>
          <a:p>
            <a:pPr eaLnBrk="1" hangingPunct="1"/>
            <a:r>
              <a:rPr lang="en-AU" altLang="en-US" dirty="0"/>
              <a:t>Risk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descr="A white text with black text&#10;&#10;Description automatically generated">
            <a:extLst>
              <a:ext uri="{FF2B5EF4-FFF2-40B4-BE49-F238E27FC236}">
                <a16:creationId xmlns:a16="http://schemas.microsoft.com/office/drawing/2014/main" xmlns="" id="{2BA12344-E81D-C0D1-F364-060350BDB081}"/>
              </a:ext>
            </a:extLst>
          </p:cNvPr>
          <p:cNvPicPr>
            <a:picLocks noGrp="1" noChangeAspect="1"/>
          </p:cNvPicPr>
          <p:nvPr>
            <p:ph idx="1"/>
          </p:nvPr>
        </p:nvPicPr>
        <p:blipFill>
          <a:blip r:embed="rId2"/>
          <a:stretch>
            <a:fillRect/>
          </a:stretch>
        </p:blipFill>
        <p:spPr>
          <a:xfrm>
            <a:off x="482600" y="1179830"/>
            <a:ext cx="8178799" cy="4498339"/>
          </a:xfrm>
          <a:prstGeom prst="rect">
            <a:avLst/>
          </a:prstGeom>
        </p:spPr>
      </p:pic>
      <p:sp>
        <p:nvSpPr>
          <p:cNvPr id="4" name="Slide Number Placeholder 3">
            <a:extLst>
              <a:ext uri="{FF2B5EF4-FFF2-40B4-BE49-F238E27FC236}">
                <a16:creationId xmlns:a16="http://schemas.microsoft.com/office/drawing/2014/main" xmlns="" id="{17CFE9CA-4A70-50F1-70ED-87D3613EE1EF}"/>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11</a:t>
            </a:fld>
            <a:endParaRPr lang="en-US">
              <a:solidFill>
                <a:schemeClr val="tx1">
                  <a:tint val="75000"/>
                </a:schemeClr>
              </a:solidFill>
            </a:endParaRPr>
          </a:p>
        </p:txBody>
      </p:sp>
      <p:pic>
        <p:nvPicPr>
          <p:cNvPr id="8" name="Picture 7">
            <a:extLst>
              <a:ext uri="{FF2B5EF4-FFF2-40B4-BE49-F238E27FC236}">
                <a16:creationId xmlns:a16="http://schemas.microsoft.com/office/drawing/2014/main" xmlns="" id="{830D0FE7-87FD-4ABA-82A3-89EF9CCB739B}"/>
              </a:ext>
            </a:extLst>
          </p:cNvPr>
          <p:cNvPicPr>
            <a:picLocks noChangeAspect="1"/>
          </p:cNvPicPr>
          <p:nvPr/>
        </p:nvPicPr>
        <p:blipFill>
          <a:blip r:embed="rId3"/>
          <a:stretch>
            <a:fillRect/>
          </a:stretch>
        </p:blipFill>
        <p:spPr>
          <a:xfrm>
            <a:off x="144378" y="1127090"/>
            <a:ext cx="8661399" cy="4603817"/>
          </a:xfrm>
          <a:prstGeom prst="rect">
            <a:avLst/>
          </a:prstGeom>
        </p:spPr>
      </p:pic>
      <p:pic>
        <p:nvPicPr>
          <p:cNvPr id="10" name="Picture 9">
            <a:extLst>
              <a:ext uri="{FF2B5EF4-FFF2-40B4-BE49-F238E27FC236}">
                <a16:creationId xmlns:a16="http://schemas.microsoft.com/office/drawing/2014/main" xmlns="" id="{6957792A-BFE1-6685-844A-F67A1DF9BEB7}"/>
              </a:ext>
            </a:extLst>
          </p:cNvPr>
          <p:cNvPicPr>
            <a:picLocks noChangeAspect="1"/>
          </p:cNvPicPr>
          <p:nvPr/>
        </p:nvPicPr>
        <p:blipFill>
          <a:blip r:embed="rId4"/>
          <a:stretch>
            <a:fillRect/>
          </a:stretch>
        </p:blipFill>
        <p:spPr>
          <a:xfrm>
            <a:off x="144377" y="1115465"/>
            <a:ext cx="8841065" cy="4792040"/>
          </a:xfrm>
          <a:prstGeom prst="rect">
            <a:avLst/>
          </a:prstGeom>
        </p:spPr>
      </p:pic>
      <p:pic>
        <p:nvPicPr>
          <p:cNvPr id="12" name="Picture 11">
            <a:extLst>
              <a:ext uri="{FF2B5EF4-FFF2-40B4-BE49-F238E27FC236}">
                <a16:creationId xmlns:a16="http://schemas.microsoft.com/office/drawing/2014/main" xmlns="" id="{5DDB5008-B278-8958-0A1C-000512F0E1E6}"/>
              </a:ext>
            </a:extLst>
          </p:cNvPr>
          <p:cNvPicPr>
            <a:picLocks noChangeAspect="1"/>
          </p:cNvPicPr>
          <p:nvPr/>
        </p:nvPicPr>
        <p:blipFill>
          <a:blip r:embed="rId5"/>
          <a:stretch>
            <a:fillRect/>
          </a:stretch>
        </p:blipFill>
        <p:spPr>
          <a:xfrm>
            <a:off x="158558" y="1127089"/>
            <a:ext cx="8826968" cy="4792039"/>
          </a:xfrm>
          <a:prstGeom prst="rect">
            <a:avLst/>
          </a:prstGeom>
        </p:spPr>
      </p:pic>
    </p:spTree>
    <p:extLst>
      <p:ext uri="{BB962C8B-B14F-4D97-AF65-F5344CB8AC3E}">
        <p14:creationId xmlns:p14="http://schemas.microsoft.com/office/powerpoint/2010/main" val="347133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lide Number Placeholder 5">
            <a:extLst>
              <a:ext uri="{FF2B5EF4-FFF2-40B4-BE49-F238E27FC236}">
                <a16:creationId xmlns:a16="http://schemas.microsoft.com/office/drawing/2014/main" xmlns="" id="{9BA48508-EBC7-4BF2-936A-E2F559997B9A}"/>
              </a:ext>
            </a:extLst>
          </p:cNvPr>
          <p:cNvSpPr>
            <a:spLocks noGrp="1"/>
          </p:cNvSpPr>
          <p:nvPr>
            <p:ph type="sldNum" sz="quarter" idx="12"/>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pPr eaLnBrk="1" hangingPunct="1"/>
            <a:fld id="{BC9F90C6-33FD-460F-B060-71C3657DE066}" type="slidenum">
              <a:rPr lang="en-AU" altLang="en-US" sz="1400"/>
              <a:pPr eaLnBrk="1" hangingPunct="1"/>
              <a:t>12</a:t>
            </a:fld>
            <a:endParaRPr lang="en-AU" altLang="en-US" sz="1400"/>
          </a:p>
        </p:txBody>
      </p:sp>
      <p:sp>
        <p:nvSpPr>
          <p:cNvPr id="13316" name="Rectangle 2">
            <a:extLst>
              <a:ext uri="{FF2B5EF4-FFF2-40B4-BE49-F238E27FC236}">
                <a16:creationId xmlns:a16="http://schemas.microsoft.com/office/drawing/2014/main" xmlns="" id="{01205971-4754-4AA2-BDDC-BC1B4C99668A}"/>
              </a:ext>
            </a:extLst>
          </p:cNvPr>
          <p:cNvSpPr>
            <a:spLocks noGrp="1" noChangeArrowheads="1"/>
          </p:cNvSpPr>
          <p:nvPr>
            <p:ph type="title"/>
          </p:nvPr>
        </p:nvSpPr>
        <p:spPr>
          <a:xfrm>
            <a:off x="998538" y="465138"/>
            <a:ext cx="7793037" cy="1143000"/>
          </a:xfrm>
        </p:spPr>
        <p:txBody>
          <a:bodyPr/>
          <a:lstStyle/>
          <a:p>
            <a:pPr eaLnBrk="1" hangingPunct="1"/>
            <a:r>
              <a:rPr lang="en-AU" altLang="en-US"/>
              <a:t>Strategic Assessment</a:t>
            </a:r>
          </a:p>
        </p:txBody>
      </p:sp>
      <p:sp>
        <p:nvSpPr>
          <p:cNvPr id="13317" name="Rectangle 3">
            <a:extLst>
              <a:ext uri="{FF2B5EF4-FFF2-40B4-BE49-F238E27FC236}">
                <a16:creationId xmlns:a16="http://schemas.microsoft.com/office/drawing/2014/main" xmlns="" id="{49CA862D-404D-4BCD-95DA-095B04034D2E}"/>
              </a:ext>
            </a:extLst>
          </p:cNvPr>
          <p:cNvSpPr>
            <a:spLocks noGrp="1" noChangeArrowheads="1"/>
          </p:cNvSpPr>
          <p:nvPr>
            <p:ph type="body" idx="1"/>
          </p:nvPr>
        </p:nvSpPr>
        <p:spPr/>
        <p:txBody>
          <a:bodyPr/>
          <a:lstStyle/>
          <a:p>
            <a:pPr eaLnBrk="1" hangingPunct="1"/>
            <a:r>
              <a:rPr lang="en-AU" altLang="en-US" sz="2800"/>
              <a:t>Used to assess whether a project fits in the </a:t>
            </a:r>
            <a:r>
              <a:rPr lang="en-AU" altLang="en-US" sz="2800" i="1"/>
              <a:t>long-term goal </a:t>
            </a:r>
            <a:r>
              <a:rPr lang="en-AU" altLang="en-US" sz="2800"/>
              <a:t>of the organization</a:t>
            </a:r>
          </a:p>
          <a:p>
            <a:pPr eaLnBrk="1" hangingPunct="1"/>
            <a:r>
              <a:rPr lang="en-AU" altLang="en-US" sz="2800"/>
              <a:t>Usually carried out by senior management</a:t>
            </a:r>
          </a:p>
          <a:p>
            <a:pPr eaLnBrk="1" hangingPunct="1"/>
            <a:r>
              <a:rPr lang="en-AU" altLang="en-US" sz="2800"/>
              <a:t>Needs a strategic plan that clearly defines the objectives of the organization</a:t>
            </a:r>
          </a:p>
          <a:p>
            <a:pPr eaLnBrk="1" hangingPunct="1"/>
            <a:r>
              <a:rPr lang="en-AU" altLang="en-US" sz="2800"/>
              <a:t>Evaluates individual projects against the strategic plan or the overall business objectives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xmlns="" id="{07AEB493-7853-4A04-9D0D-8882E6BF7DE2}"/>
              </a:ext>
            </a:extLst>
          </p:cNvPr>
          <p:cNvSpPr>
            <a:spLocks noGrp="1"/>
          </p:cNvSpPr>
          <p:nvPr>
            <p:ph type="title"/>
          </p:nvPr>
        </p:nvSpPr>
        <p:spPr/>
        <p:txBody>
          <a:bodyPr/>
          <a:lstStyle/>
          <a:p>
            <a:r>
              <a:rPr lang="en-US" altLang="en-US" sz="4000"/>
              <a:t>Evaluation of individual projects</a:t>
            </a:r>
          </a:p>
        </p:txBody>
      </p:sp>
      <p:sp>
        <p:nvSpPr>
          <p:cNvPr id="16387" name="Content Placeholder 2">
            <a:extLst>
              <a:ext uri="{FF2B5EF4-FFF2-40B4-BE49-F238E27FC236}">
                <a16:creationId xmlns:a16="http://schemas.microsoft.com/office/drawing/2014/main" xmlns="" id="{6F9D1111-CE3C-4703-8E0B-3AC541D96ACB}"/>
              </a:ext>
            </a:extLst>
          </p:cNvPr>
          <p:cNvSpPr>
            <a:spLocks noGrp="1"/>
          </p:cNvSpPr>
          <p:nvPr>
            <p:ph idx="1"/>
          </p:nvPr>
        </p:nvSpPr>
        <p:spPr/>
        <p:txBody>
          <a:bodyPr/>
          <a:lstStyle/>
          <a:p>
            <a:r>
              <a:rPr lang="en-US" altLang="en-US"/>
              <a:t>Technical Assessment</a:t>
            </a:r>
          </a:p>
          <a:p>
            <a:pPr lvl="1"/>
            <a:r>
              <a:rPr lang="en-US" altLang="en-US"/>
              <a:t>Evaluate required functionality against hardware and software</a:t>
            </a:r>
          </a:p>
          <a:p>
            <a:pPr lvl="1"/>
            <a:r>
              <a:rPr lang="en-US" altLang="en-US"/>
              <a:t>The cost of technology adopted must be taken into account in the cost benefit analysis</a:t>
            </a:r>
          </a:p>
          <a:p>
            <a:endParaRPr lang="en-US" altLang="en-US"/>
          </a:p>
        </p:txBody>
      </p:sp>
      <p:sp>
        <p:nvSpPr>
          <p:cNvPr id="16389" name="Slide Number Placeholder 4">
            <a:extLst>
              <a:ext uri="{FF2B5EF4-FFF2-40B4-BE49-F238E27FC236}">
                <a16:creationId xmlns:a16="http://schemas.microsoft.com/office/drawing/2014/main" xmlns="" id="{8FFCE488-9007-4F02-8873-634F328D3911}"/>
              </a:ext>
            </a:extLst>
          </p:cNvPr>
          <p:cNvSpPr>
            <a:spLocks noGrp="1"/>
          </p:cNvSpPr>
          <p:nvPr>
            <p:ph type="sldNum" sz="quarter" idx="12"/>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pPr eaLnBrk="1" hangingPunct="1"/>
            <a:fld id="{BFCEA11C-C0AF-41A4-9FCA-292D769DA434}" type="slidenum">
              <a:rPr lang="en-AU" altLang="en-US" sz="1400"/>
              <a:pPr eaLnBrk="1" hangingPunct="1"/>
              <a:t>13</a:t>
            </a:fld>
            <a:endParaRPr lang="en-AU" altLang="en-US"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5">
            <a:extLst>
              <a:ext uri="{FF2B5EF4-FFF2-40B4-BE49-F238E27FC236}">
                <a16:creationId xmlns:a16="http://schemas.microsoft.com/office/drawing/2014/main" xmlns="" id="{9359638B-4432-4C5B-8651-486BBB07DAA5}"/>
              </a:ext>
            </a:extLst>
          </p:cNvPr>
          <p:cNvSpPr>
            <a:spLocks noGrp="1"/>
          </p:cNvSpPr>
          <p:nvPr>
            <p:ph type="sldNum" sz="quarter" idx="12"/>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pPr eaLnBrk="1" hangingPunct="1"/>
            <a:fld id="{701A650B-0755-4586-8267-CE6D8837F3C0}" type="slidenum">
              <a:rPr lang="en-AU" altLang="en-US" sz="1400"/>
              <a:pPr eaLnBrk="1" hangingPunct="1"/>
              <a:t>14</a:t>
            </a:fld>
            <a:endParaRPr lang="en-AU" altLang="en-US" sz="1400"/>
          </a:p>
        </p:txBody>
      </p:sp>
      <p:sp>
        <p:nvSpPr>
          <p:cNvPr id="11268" name="Rectangle 1026">
            <a:extLst>
              <a:ext uri="{FF2B5EF4-FFF2-40B4-BE49-F238E27FC236}">
                <a16:creationId xmlns:a16="http://schemas.microsoft.com/office/drawing/2014/main" xmlns="" id="{6FD4EAEA-43BF-417B-AD3F-1A5176893045}"/>
              </a:ext>
            </a:extLst>
          </p:cNvPr>
          <p:cNvSpPr>
            <a:spLocks noGrp="1" noChangeArrowheads="1"/>
          </p:cNvSpPr>
          <p:nvPr>
            <p:ph type="title"/>
          </p:nvPr>
        </p:nvSpPr>
        <p:spPr/>
        <p:txBody>
          <a:bodyPr/>
          <a:lstStyle/>
          <a:p>
            <a:pPr eaLnBrk="1" hangingPunct="1"/>
            <a:r>
              <a:rPr lang="en-AU" altLang="en-US"/>
              <a:t>Economic Assessment</a:t>
            </a:r>
          </a:p>
        </p:txBody>
      </p:sp>
      <p:sp>
        <p:nvSpPr>
          <p:cNvPr id="11269" name="Rectangle 1027">
            <a:extLst>
              <a:ext uri="{FF2B5EF4-FFF2-40B4-BE49-F238E27FC236}">
                <a16:creationId xmlns:a16="http://schemas.microsoft.com/office/drawing/2014/main" xmlns="" id="{BAA3055F-7FD3-445E-A06B-C26053EC56D4}"/>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en-US"/>
              <a:t>Why?</a:t>
            </a:r>
          </a:p>
          <a:p>
            <a:pPr eaLnBrk="1" hangingPunct="1"/>
            <a:r>
              <a:rPr lang="en-AU" altLang="en-US"/>
              <a:t>Consider whether the project is the best among other options</a:t>
            </a:r>
          </a:p>
          <a:p>
            <a:pPr eaLnBrk="1" hangingPunct="1"/>
            <a:r>
              <a:rPr lang="en-AU" altLang="en-US"/>
              <a:t>Prioritise the projects so that the resources can be allocated effectively if several projects are underway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5">
            <a:extLst>
              <a:ext uri="{FF2B5EF4-FFF2-40B4-BE49-F238E27FC236}">
                <a16:creationId xmlns:a16="http://schemas.microsoft.com/office/drawing/2014/main" xmlns="" id="{A96C126D-BC7F-46EE-91B0-BAAEDDA7E3C7}"/>
              </a:ext>
            </a:extLst>
          </p:cNvPr>
          <p:cNvSpPr>
            <a:spLocks noGrp="1"/>
          </p:cNvSpPr>
          <p:nvPr>
            <p:ph type="sldNum" sz="quarter" idx="12"/>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pPr eaLnBrk="1" hangingPunct="1"/>
            <a:fld id="{11D44DDA-5788-4AA1-A910-A87A6F95FBC6}" type="slidenum">
              <a:rPr lang="en-AU" altLang="en-US" sz="1400"/>
              <a:pPr eaLnBrk="1" hangingPunct="1"/>
              <a:t>15</a:t>
            </a:fld>
            <a:endParaRPr lang="en-AU" altLang="en-US" sz="1400"/>
          </a:p>
        </p:txBody>
      </p:sp>
      <p:sp>
        <p:nvSpPr>
          <p:cNvPr id="12292" name="Rectangle 1026">
            <a:extLst>
              <a:ext uri="{FF2B5EF4-FFF2-40B4-BE49-F238E27FC236}">
                <a16:creationId xmlns:a16="http://schemas.microsoft.com/office/drawing/2014/main" xmlns="" id="{532E9F22-79E3-4455-B04C-C02E13ED7CE1}"/>
              </a:ext>
            </a:extLst>
          </p:cNvPr>
          <p:cNvSpPr>
            <a:spLocks noGrp="1" noChangeArrowheads="1"/>
          </p:cNvSpPr>
          <p:nvPr>
            <p:ph type="title"/>
          </p:nvPr>
        </p:nvSpPr>
        <p:spPr/>
        <p:txBody>
          <a:bodyPr/>
          <a:lstStyle/>
          <a:p>
            <a:pPr eaLnBrk="1" hangingPunct="1"/>
            <a:r>
              <a:rPr lang="en-AU" altLang="en-US"/>
              <a:t>Economic Assessment (</a:t>
            </a:r>
            <a:r>
              <a:rPr lang="en-US" altLang="en-US"/>
              <a:t>c</a:t>
            </a:r>
            <a:r>
              <a:rPr lang="en-AU" altLang="en-US"/>
              <a:t>ont’d)</a:t>
            </a:r>
          </a:p>
        </p:txBody>
      </p:sp>
      <p:sp>
        <p:nvSpPr>
          <p:cNvPr id="12293" name="Rectangle 1027">
            <a:extLst>
              <a:ext uri="{FF2B5EF4-FFF2-40B4-BE49-F238E27FC236}">
                <a16:creationId xmlns:a16="http://schemas.microsoft.com/office/drawing/2014/main" xmlns="" id="{57567560-CC54-4FBB-B236-4271492CC35D}"/>
              </a:ext>
            </a:extLst>
          </p:cNvPr>
          <p:cNvSpPr>
            <a:spLocks noGrp="1" noChangeArrowheads="1"/>
          </p:cNvSpPr>
          <p:nvPr>
            <p:ph type="body" idx="1"/>
          </p:nvPr>
        </p:nvSpPr>
        <p:spPr/>
        <p:txBody>
          <a:bodyPr/>
          <a:lstStyle/>
          <a:p>
            <a:pPr eaLnBrk="1" hangingPunct="1">
              <a:buFont typeface="Wingdings" panose="05000000000000000000" pitchFamily="2" charset="2"/>
              <a:buNone/>
            </a:pPr>
            <a:r>
              <a:rPr lang="en-AU" altLang="en-US"/>
              <a:t>How?</a:t>
            </a:r>
          </a:p>
          <a:p>
            <a:pPr eaLnBrk="1" hangingPunct="1"/>
            <a:r>
              <a:rPr lang="en-AU" altLang="en-US"/>
              <a:t>Cost-benefit analysis</a:t>
            </a:r>
          </a:p>
          <a:p>
            <a:pPr eaLnBrk="1" hangingPunct="1"/>
            <a:r>
              <a:rPr lang="en-AU" altLang="en-US"/>
              <a:t>Cash flow forecasting</a:t>
            </a:r>
          </a:p>
          <a:p>
            <a:pPr eaLnBrk="1" hangingPunct="1"/>
            <a:r>
              <a:rPr lang="en-AU" altLang="en-US"/>
              <a:t>Various cost-benefit evaluation techniques</a:t>
            </a:r>
            <a:endParaRPr lang="en-US" altLang="en-US"/>
          </a:p>
          <a:p>
            <a:pPr lvl="1" eaLnBrk="1" hangingPunct="1"/>
            <a:r>
              <a:rPr lang="en-AU" altLang="en-US"/>
              <a:t>NPV and IRR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xmlns="" id="{28D53357-ADE8-4F68-BDD6-1FF8B0762E2E}"/>
              </a:ext>
            </a:extLst>
          </p:cNvPr>
          <p:cNvSpPr>
            <a:spLocks noGrp="1" noChangeArrowheads="1"/>
          </p:cNvSpPr>
          <p:nvPr>
            <p:ph type="title"/>
          </p:nvPr>
        </p:nvSpPr>
        <p:spPr/>
        <p:txBody>
          <a:bodyPr/>
          <a:lstStyle/>
          <a:p>
            <a:r>
              <a:rPr lang="en-GB" altLang="en-US" dirty="0"/>
              <a:t>Cost benefit analysis (CBA)</a:t>
            </a:r>
          </a:p>
        </p:txBody>
      </p:sp>
      <p:sp>
        <p:nvSpPr>
          <p:cNvPr id="29699" name="Rectangle 3">
            <a:extLst>
              <a:ext uri="{FF2B5EF4-FFF2-40B4-BE49-F238E27FC236}">
                <a16:creationId xmlns:a16="http://schemas.microsoft.com/office/drawing/2014/main" xmlns="" id="{D986C74E-15C2-42F2-8036-D95F7EBE3D9B}"/>
              </a:ext>
            </a:extLst>
          </p:cNvPr>
          <p:cNvSpPr>
            <a:spLocks noGrp="1" noChangeArrowheads="1"/>
          </p:cNvSpPr>
          <p:nvPr>
            <p:ph type="body" idx="1"/>
          </p:nvPr>
        </p:nvSpPr>
        <p:spPr/>
        <p:txBody>
          <a:bodyPr/>
          <a:lstStyle/>
          <a:p>
            <a:pPr>
              <a:buFont typeface="Monotype Sorts" pitchFamily="1" charset="2"/>
              <a:buNone/>
            </a:pPr>
            <a:r>
              <a:rPr lang="en-GB" altLang="en-US"/>
              <a:t>This relates to an individual project. You need to:</a:t>
            </a:r>
          </a:p>
          <a:p>
            <a:r>
              <a:rPr lang="en-GB" altLang="en-US"/>
              <a:t>Identify all the costs which could be:</a:t>
            </a:r>
          </a:p>
          <a:p>
            <a:pPr lvl="1"/>
            <a:r>
              <a:rPr lang="en-GB" altLang="en-US"/>
              <a:t>Development costs</a:t>
            </a:r>
          </a:p>
          <a:p>
            <a:pPr lvl="1"/>
            <a:r>
              <a:rPr lang="en-GB" altLang="en-US"/>
              <a:t>Set-up</a:t>
            </a:r>
          </a:p>
          <a:p>
            <a:pPr lvl="1"/>
            <a:r>
              <a:rPr lang="en-GB" altLang="en-US"/>
              <a:t>Operational costs</a:t>
            </a:r>
          </a:p>
          <a:p>
            <a:r>
              <a:rPr lang="en-GB" altLang="en-US"/>
              <a:t>Identify the value of benefits</a:t>
            </a:r>
          </a:p>
          <a:p>
            <a:r>
              <a:rPr lang="en-GB" altLang="en-US"/>
              <a:t>Check benefits are greater than costs</a:t>
            </a:r>
          </a:p>
        </p:txBody>
      </p:sp>
      <p:sp>
        <p:nvSpPr>
          <p:cNvPr id="6" name="Slide Number Placeholder 3">
            <a:extLst>
              <a:ext uri="{FF2B5EF4-FFF2-40B4-BE49-F238E27FC236}">
                <a16:creationId xmlns:a16="http://schemas.microsoft.com/office/drawing/2014/main" xmlns="" id="{4A1A7D31-40C9-42AD-A707-8A14A5336C65}"/>
              </a:ext>
            </a:extLst>
          </p:cNvPr>
          <p:cNvSpPr>
            <a:spLocks noGrp="1"/>
          </p:cNvSpPr>
          <p:nvPr>
            <p:ph type="sldNum" sz="quarter" idx="12"/>
          </p:nvPr>
        </p:nvSpPr>
        <p:spPr>
          <a:xfrm>
            <a:off x="6457950" y="6375205"/>
            <a:ext cx="2057400" cy="365125"/>
          </a:xfrm>
        </p:spPr>
        <p:txBody>
          <a:bodyPr/>
          <a:lstStyle/>
          <a:p>
            <a:fld id="{60D6D740-8150-433F-9426-3FCFF681501A}" type="slidenum">
              <a:rPr lang="en-US" smtClean="0">
                <a:solidFill>
                  <a:schemeClr val="tx1"/>
                </a:solidFill>
              </a:rPr>
              <a:pPr/>
              <a:t>16</a:t>
            </a:fld>
            <a:endParaRPr lang="en-US"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xmlns="" id="{5094606C-2D3C-4CF5-B90A-80DB5148007F}"/>
              </a:ext>
            </a:extLst>
          </p:cNvPr>
          <p:cNvSpPr>
            <a:spLocks noGrp="1" noChangeArrowheads="1"/>
          </p:cNvSpPr>
          <p:nvPr>
            <p:ph type="title"/>
          </p:nvPr>
        </p:nvSpPr>
        <p:spPr/>
        <p:txBody>
          <a:bodyPr/>
          <a:lstStyle/>
          <a:p>
            <a:r>
              <a:rPr lang="en-GB" altLang="en-US" sz="3200"/>
              <a:t>Product/system life cycle cash flows</a:t>
            </a:r>
          </a:p>
        </p:txBody>
      </p:sp>
      <p:sp>
        <p:nvSpPr>
          <p:cNvPr id="97283" name="Rectangle 3">
            <a:extLst>
              <a:ext uri="{FF2B5EF4-FFF2-40B4-BE49-F238E27FC236}">
                <a16:creationId xmlns:a16="http://schemas.microsoft.com/office/drawing/2014/main" xmlns="" id="{04922C43-B005-443D-B7B2-7B73F1BBEB6B}"/>
              </a:ext>
            </a:extLst>
          </p:cNvPr>
          <p:cNvSpPr>
            <a:spLocks noGrp="1" noChangeArrowheads="1"/>
          </p:cNvSpPr>
          <p:nvPr>
            <p:ph type="body" idx="1"/>
          </p:nvPr>
        </p:nvSpPr>
        <p:spPr>
          <a:xfrm>
            <a:off x="685800" y="4117157"/>
            <a:ext cx="7772400" cy="2114550"/>
          </a:xfrm>
        </p:spPr>
        <p:txBody>
          <a:bodyPr>
            <a:normAutofit fontScale="92500" lnSpcReduction="10000"/>
          </a:bodyPr>
          <a:lstStyle/>
          <a:p>
            <a:r>
              <a:rPr lang="en-GB" altLang="en-US" sz="2000" dirty="0"/>
              <a:t>The timing of costs and income for a product of system needs to be estimated.</a:t>
            </a:r>
          </a:p>
          <a:p>
            <a:r>
              <a:rPr lang="en-GB" altLang="en-US" sz="2000" dirty="0"/>
              <a:t>The development of the project will incur costs.</a:t>
            </a:r>
          </a:p>
          <a:p>
            <a:r>
              <a:rPr lang="en-GB" altLang="en-US" sz="2000" dirty="0"/>
              <a:t> When the system or product is released it will generate income that gradually pays off costs</a:t>
            </a:r>
          </a:p>
          <a:p>
            <a:r>
              <a:rPr lang="en-GB" altLang="en-US" sz="2000" dirty="0"/>
              <a:t>Some costs may relate to decommissioning – think of demolishing a nuclear power station.</a:t>
            </a:r>
          </a:p>
        </p:txBody>
      </p:sp>
      <p:pic>
        <p:nvPicPr>
          <p:cNvPr id="97284" name="Picture 4">
            <a:extLst>
              <a:ext uri="{FF2B5EF4-FFF2-40B4-BE49-F238E27FC236}">
                <a16:creationId xmlns:a16="http://schemas.microsoft.com/office/drawing/2014/main" xmlns="" id="{09D3EFAF-6BF1-438D-AD9D-80F67DCD7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842679"/>
            <a:ext cx="6337300" cy="2122487"/>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3">
            <a:extLst>
              <a:ext uri="{FF2B5EF4-FFF2-40B4-BE49-F238E27FC236}">
                <a16:creationId xmlns:a16="http://schemas.microsoft.com/office/drawing/2014/main" xmlns="" id="{5FA447FC-4AA7-4D3D-A5B9-71B33AAA7367}"/>
              </a:ext>
            </a:extLst>
          </p:cNvPr>
          <p:cNvSpPr>
            <a:spLocks noGrp="1"/>
          </p:cNvSpPr>
          <p:nvPr>
            <p:ph type="sldNum" sz="quarter" idx="12"/>
          </p:nvPr>
        </p:nvSpPr>
        <p:spPr>
          <a:xfrm>
            <a:off x="6457950" y="6375205"/>
            <a:ext cx="2057400" cy="365125"/>
          </a:xfrm>
        </p:spPr>
        <p:txBody>
          <a:bodyPr/>
          <a:lstStyle/>
          <a:p>
            <a:fld id="{60D6D740-8150-433F-9426-3FCFF681501A}" type="slidenum">
              <a:rPr lang="en-US" smtClean="0">
                <a:solidFill>
                  <a:schemeClr val="tx1"/>
                </a:solidFill>
              </a:rPr>
              <a:pPr/>
              <a:t>17</a:t>
            </a:fld>
            <a:endParaRPr lang="en-US"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8F3944-2FC7-426B-9FF3-600B11A3C14C}"/>
              </a:ext>
            </a:extLst>
          </p:cNvPr>
          <p:cNvSpPr>
            <a:spLocks noGrp="1"/>
          </p:cNvSpPr>
          <p:nvPr>
            <p:ph type="title"/>
          </p:nvPr>
        </p:nvSpPr>
        <p:spPr/>
        <p:txBody>
          <a:bodyPr>
            <a:normAutofit/>
          </a:bodyPr>
          <a:lstStyle/>
          <a:p>
            <a:r>
              <a:rPr lang="en-US" dirty="0"/>
              <a:t>EA– Cash Flow Forecasting</a:t>
            </a:r>
          </a:p>
        </p:txBody>
      </p:sp>
      <p:sp>
        <p:nvSpPr>
          <p:cNvPr id="4" name="Slide Number Placeholder 3">
            <a:extLst>
              <a:ext uri="{FF2B5EF4-FFF2-40B4-BE49-F238E27FC236}">
                <a16:creationId xmlns:a16="http://schemas.microsoft.com/office/drawing/2014/main" xmlns="" id="{939D4A53-7AA0-4D1E-90F8-557CA81FCD21}"/>
              </a:ext>
            </a:extLst>
          </p:cNvPr>
          <p:cNvSpPr>
            <a:spLocks noGrp="1"/>
          </p:cNvSpPr>
          <p:nvPr>
            <p:ph type="sldNum" sz="quarter" idx="12"/>
          </p:nvPr>
        </p:nvSpPr>
        <p:spPr/>
        <p:txBody>
          <a:bodyPr/>
          <a:lstStyle/>
          <a:p>
            <a:fld id="{60D6D740-8150-433F-9426-3FCFF681501A}" type="slidenum">
              <a:rPr lang="en-US" smtClean="0"/>
              <a:pPr/>
              <a:t>18</a:t>
            </a:fld>
            <a:endParaRPr lang="en-US" dirty="0"/>
          </a:p>
        </p:txBody>
      </p:sp>
      <p:sp>
        <p:nvSpPr>
          <p:cNvPr id="5" name="Rectangle 3">
            <a:extLst>
              <a:ext uri="{FF2B5EF4-FFF2-40B4-BE49-F238E27FC236}">
                <a16:creationId xmlns:a16="http://schemas.microsoft.com/office/drawing/2014/main" xmlns="" id="{469059E6-8DB4-4DD0-B846-7E0304C51519}"/>
              </a:ext>
            </a:extLst>
          </p:cNvPr>
          <p:cNvSpPr txBox="1">
            <a:spLocks noChangeArrowheads="1"/>
          </p:cNvSpPr>
          <p:nvPr/>
        </p:nvSpPr>
        <p:spPr>
          <a:xfrm>
            <a:off x="705495" y="5497514"/>
            <a:ext cx="5467350" cy="1223962"/>
          </a:xfrm>
          <a:prstGeom prst="rect">
            <a:avLst/>
          </a:prstGeom>
        </p:spPr>
        <p:txBody>
          <a:bodyPr>
            <a:normAutofit fontScale="92500" lnSpcReduction="20000"/>
          </a:bodyPr>
          <a:lstStyle>
            <a:lvl1pPr marL="320040" indent="-320040" algn="l" rtl="0" eaLnBrk="1" latinLnBrk="0" hangingPunct="1">
              <a:spcBef>
                <a:spcPts val="700"/>
              </a:spcBef>
              <a:buClr>
                <a:schemeClr val="tx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tx2"/>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tx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tx2"/>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tx2"/>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Font typeface="Wingdings"/>
              <a:buNone/>
              <a:defRPr/>
            </a:pPr>
            <a:r>
              <a:rPr lang="en-AU" altLang="en-US" sz="1700" b="1" dirty="0">
                <a:solidFill>
                  <a:srgbClr val="000000"/>
                </a:solidFill>
                <a:latin typeface="Times New Roman" panose="02020603050405020304" pitchFamily="18" charset="0"/>
                <a:cs typeface="Times New Roman" panose="02020603050405020304" pitchFamily="18" charset="0"/>
              </a:rPr>
              <a:t>Problem with Cashflow Forecasting</a:t>
            </a:r>
          </a:p>
          <a:p>
            <a:pPr>
              <a:buClr>
                <a:srgbClr val="000000"/>
              </a:buClr>
              <a:defRPr/>
            </a:pPr>
            <a:r>
              <a:rPr lang="en-AU" altLang="en-US" sz="1900" dirty="0">
                <a:solidFill>
                  <a:srgbClr val="000000"/>
                </a:solidFill>
                <a:latin typeface="Times New Roman" panose="02020603050405020304" pitchFamily="18" charset="0"/>
                <a:cs typeface="Times New Roman" panose="02020603050405020304" pitchFamily="18" charset="0"/>
              </a:rPr>
              <a:t>Need to forecast</a:t>
            </a:r>
            <a:r>
              <a:rPr lang="en-US" altLang="en-US" sz="1900" dirty="0">
                <a:solidFill>
                  <a:srgbClr val="000000"/>
                </a:solidFill>
                <a:latin typeface="Times New Roman" panose="02020603050405020304" pitchFamily="18" charset="0"/>
                <a:cs typeface="Times New Roman" panose="02020603050405020304" pitchFamily="18" charset="0"/>
              </a:rPr>
              <a:t> the expenditure and the income</a:t>
            </a:r>
            <a:endParaRPr lang="en-AU" altLang="en-US" sz="1900" dirty="0">
              <a:solidFill>
                <a:srgbClr val="000000"/>
              </a:solidFill>
              <a:latin typeface="Times New Roman" panose="02020603050405020304" pitchFamily="18" charset="0"/>
              <a:cs typeface="Times New Roman" panose="02020603050405020304" pitchFamily="18" charset="0"/>
            </a:endParaRPr>
          </a:p>
          <a:p>
            <a:pPr>
              <a:buClr>
                <a:srgbClr val="000000"/>
              </a:buClr>
              <a:defRPr/>
            </a:pPr>
            <a:r>
              <a:rPr lang="en-AU" altLang="en-US" sz="1900" dirty="0">
                <a:solidFill>
                  <a:srgbClr val="000000"/>
                </a:solidFill>
                <a:latin typeface="Times New Roman" panose="02020603050405020304" pitchFamily="18" charset="0"/>
                <a:cs typeface="Times New Roman" panose="02020603050405020304" pitchFamily="18" charset="0"/>
              </a:rPr>
              <a:t>Accurate forecast is not easy</a:t>
            </a:r>
          </a:p>
          <a:p>
            <a:pPr>
              <a:buClr>
                <a:srgbClr val="000000"/>
              </a:buClr>
              <a:defRPr/>
            </a:pPr>
            <a:r>
              <a:rPr lang="en-AU" altLang="en-US" sz="1900" dirty="0">
                <a:solidFill>
                  <a:srgbClr val="000000"/>
                </a:solidFill>
                <a:latin typeface="Times New Roman" panose="02020603050405020304" pitchFamily="18" charset="0"/>
                <a:cs typeface="Times New Roman" panose="02020603050405020304" pitchFamily="18" charset="0"/>
              </a:rPr>
              <a:t>Need to revise the forecast from time to time</a:t>
            </a:r>
          </a:p>
        </p:txBody>
      </p:sp>
      <p:graphicFrame>
        <p:nvGraphicFramePr>
          <p:cNvPr id="6" name="Table 5">
            <a:extLst>
              <a:ext uri="{FF2B5EF4-FFF2-40B4-BE49-F238E27FC236}">
                <a16:creationId xmlns:a16="http://schemas.microsoft.com/office/drawing/2014/main" xmlns="" id="{0E3D7205-14F3-4C1E-A419-CA46E247E91F}"/>
              </a:ext>
            </a:extLst>
          </p:cNvPr>
          <p:cNvGraphicFramePr>
            <a:graphicFrameLocks noGrp="1"/>
          </p:cNvGraphicFramePr>
          <p:nvPr>
            <p:extLst>
              <p:ext uri="{D42A27DB-BD31-4B8C-83A1-F6EECF244321}">
                <p14:modId xmlns:p14="http://schemas.microsoft.com/office/powerpoint/2010/main" val="4168781210"/>
              </p:ext>
            </p:extLst>
          </p:nvPr>
        </p:nvGraphicFramePr>
        <p:xfrm>
          <a:off x="628650" y="1681511"/>
          <a:ext cx="8001000" cy="3630081"/>
        </p:xfrm>
        <a:graphic>
          <a:graphicData uri="http://schemas.openxmlformats.org/drawingml/2006/table">
            <a:tbl>
              <a:tblPr>
                <a:tableStyleId>{FABFCF23-3B69-468F-B69F-88F6DE6A72F2}</a:tableStyleId>
              </a:tblPr>
              <a:tblGrid>
                <a:gridCol w="475368">
                  <a:extLst>
                    <a:ext uri="{9D8B030D-6E8A-4147-A177-3AD203B41FA5}">
                      <a16:colId xmlns:a16="http://schemas.microsoft.com/office/drawing/2014/main" xmlns="" val="20000"/>
                    </a:ext>
                  </a:extLst>
                </a:gridCol>
                <a:gridCol w="906286">
                  <a:extLst>
                    <a:ext uri="{9D8B030D-6E8A-4147-A177-3AD203B41FA5}">
                      <a16:colId xmlns:a16="http://schemas.microsoft.com/office/drawing/2014/main" xmlns="" val="20001"/>
                    </a:ext>
                  </a:extLst>
                </a:gridCol>
                <a:gridCol w="1541551">
                  <a:extLst>
                    <a:ext uri="{9D8B030D-6E8A-4147-A177-3AD203B41FA5}">
                      <a16:colId xmlns:a16="http://schemas.microsoft.com/office/drawing/2014/main" xmlns="" val="20002"/>
                    </a:ext>
                  </a:extLst>
                </a:gridCol>
                <a:gridCol w="1698978">
                  <a:extLst>
                    <a:ext uri="{9D8B030D-6E8A-4147-A177-3AD203B41FA5}">
                      <a16:colId xmlns:a16="http://schemas.microsoft.com/office/drawing/2014/main" xmlns="" val="20003"/>
                    </a:ext>
                  </a:extLst>
                </a:gridCol>
                <a:gridCol w="1520560">
                  <a:extLst>
                    <a:ext uri="{9D8B030D-6E8A-4147-A177-3AD203B41FA5}">
                      <a16:colId xmlns:a16="http://schemas.microsoft.com/office/drawing/2014/main" xmlns="" val="20004"/>
                    </a:ext>
                  </a:extLst>
                </a:gridCol>
                <a:gridCol w="1858257">
                  <a:extLst>
                    <a:ext uri="{9D8B030D-6E8A-4147-A177-3AD203B41FA5}">
                      <a16:colId xmlns:a16="http://schemas.microsoft.com/office/drawing/2014/main" xmlns="" val="20005"/>
                    </a:ext>
                  </a:extLst>
                </a:gridCol>
              </a:tblGrid>
              <a:tr h="453143">
                <a:tc gridSpan="4">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92075" marR="0">
                        <a:lnSpc>
                          <a:spcPct val="107000"/>
                        </a:lnSpc>
                        <a:spcBef>
                          <a:spcPts val="330"/>
                        </a:spcBef>
                        <a:spcAft>
                          <a:spcPts val="0"/>
                        </a:spcAft>
                      </a:pPr>
                      <a:r>
                        <a:rPr lang="en-US" sz="1700" spc="-5" dirty="0">
                          <a:solidFill>
                            <a:srgbClr val="000000"/>
                          </a:solidFill>
                          <a:effectLst/>
                        </a:rPr>
                        <a:t>Yea</a:t>
                      </a:r>
                      <a:r>
                        <a:rPr lang="en-US" sz="1700" dirty="0">
                          <a:solidFill>
                            <a:srgbClr val="000000"/>
                          </a:solidFill>
                          <a:effectLst/>
                        </a:rPr>
                        <a:t>r                </a:t>
                      </a:r>
                      <a:r>
                        <a:rPr lang="en-US" sz="1700" spc="60" dirty="0">
                          <a:solidFill>
                            <a:srgbClr val="000000"/>
                          </a:solidFill>
                          <a:effectLst/>
                        </a:rPr>
                        <a:t>       </a:t>
                      </a:r>
                      <a:r>
                        <a:rPr lang="en-US" sz="1700" spc="-5" dirty="0">
                          <a:solidFill>
                            <a:srgbClr val="000000"/>
                          </a:solidFill>
                          <a:effectLst/>
                        </a:rPr>
                        <a:t>Projec</a:t>
                      </a:r>
                      <a:r>
                        <a:rPr lang="en-US" sz="1700" dirty="0">
                          <a:solidFill>
                            <a:srgbClr val="000000"/>
                          </a:solidFill>
                          <a:effectLst/>
                        </a:rPr>
                        <a:t>t 1         </a:t>
                      </a:r>
                      <a:r>
                        <a:rPr lang="en-US" sz="1700" spc="175" dirty="0">
                          <a:solidFill>
                            <a:srgbClr val="000000"/>
                          </a:solidFill>
                          <a:effectLst/>
                        </a:rPr>
                        <a:t>    </a:t>
                      </a:r>
                      <a:r>
                        <a:rPr lang="en-US" sz="1700" dirty="0">
                          <a:solidFill>
                            <a:srgbClr val="000000"/>
                          </a:solidFill>
                          <a:effectLst/>
                        </a:rPr>
                        <a:t>P</a:t>
                      </a:r>
                      <a:r>
                        <a:rPr lang="en-US" sz="1700" spc="-5" dirty="0">
                          <a:solidFill>
                            <a:srgbClr val="000000"/>
                          </a:solidFill>
                          <a:effectLst/>
                        </a:rPr>
                        <a:t>rojec</a:t>
                      </a:r>
                      <a:r>
                        <a:rPr lang="en-US" sz="1700" dirty="0">
                          <a:solidFill>
                            <a:srgbClr val="000000"/>
                          </a:solidFill>
                          <a:effectLst/>
                        </a:rPr>
                        <a:t>t 2</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273685" marR="0">
                        <a:lnSpc>
                          <a:spcPct val="107000"/>
                        </a:lnSpc>
                        <a:spcBef>
                          <a:spcPts val="330"/>
                        </a:spcBef>
                        <a:spcAft>
                          <a:spcPts val="0"/>
                        </a:spcAft>
                      </a:pPr>
                      <a:r>
                        <a:rPr lang="en-US" sz="1700" dirty="0">
                          <a:solidFill>
                            <a:srgbClr val="000000"/>
                          </a:solidFill>
                          <a:effectLst/>
                        </a:rPr>
                        <a:t>P</a:t>
                      </a:r>
                      <a:r>
                        <a:rPr lang="en-US" sz="1700" spc="-5" dirty="0">
                          <a:solidFill>
                            <a:srgbClr val="000000"/>
                          </a:solidFill>
                          <a:effectLst/>
                        </a:rPr>
                        <a:t>rojec</a:t>
                      </a:r>
                      <a:r>
                        <a:rPr lang="en-US" sz="1700" dirty="0">
                          <a:solidFill>
                            <a:srgbClr val="000000"/>
                          </a:solidFill>
                          <a:effectLst/>
                        </a:rPr>
                        <a:t>t 3</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354965" marR="0">
                        <a:lnSpc>
                          <a:spcPct val="107000"/>
                        </a:lnSpc>
                        <a:spcBef>
                          <a:spcPts val="330"/>
                        </a:spcBef>
                        <a:spcAft>
                          <a:spcPts val="0"/>
                        </a:spcAft>
                      </a:pPr>
                      <a:r>
                        <a:rPr lang="en-US" sz="1700" dirty="0">
                          <a:solidFill>
                            <a:srgbClr val="000000"/>
                          </a:solidFill>
                          <a:effectLst/>
                        </a:rPr>
                        <a:t>P</a:t>
                      </a:r>
                      <a:r>
                        <a:rPr lang="en-US" sz="1700" spc="-5" dirty="0">
                          <a:solidFill>
                            <a:srgbClr val="000000"/>
                          </a:solidFill>
                          <a:effectLst/>
                        </a:rPr>
                        <a:t>rojec</a:t>
                      </a:r>
                      <a:r>
                        <a:rPr lang="en-US" sz="1700" dirty="0">
                          <a:solidFill>
                            <a:srgbClr val="000000"/>
                          </a:solidFill>
                          <a:effectLst/>
                        </a:rPr>
                        <a:t>t 4</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xmlns="" val="10000"/>
                  </a:ext>
                </a:extLst>
              </a:tr>
              <a:tr h="408076">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92075" marR="0">
                        <a:lnSpc>
                          <a:spcPct val="107000"/>
                        </a:lnSpc>
                        <a:spcBef>
                          <a:spcPts val="330"/>
                        </a:spcBef>
                        <a:spcAft>
                          <a:spcPts val="0"/>
                        </a:spcAft>
                      </a:pPr>
                      <a:r>
                        <a:rPr lang="en-US" sz="1700">
                          <a:solidFill>
                            <a:srgbClr val="000000"/>
                          </a:solidFill>
                          <a:effectLst/>
                        </a:rPr>
                        <a:t>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ct val="107000"/>
                        </a:lnSpc>
                        <a:spcBef>
                          <a:spcPts val="0"/>
                        </a:spcBef>
                        <a:spcAft>
                          <a:spcPts val="0"/>
                        </a:spcAft>
                      </a:pPr>
                      <a:r>
                        <a:rPr lang="en-US" sz="1200" dirty="0">
                          <a:solidFill>
                            <a:srgbClr val="000000"/>
                          </a:solidFill>
                          <a:effectLst/>
                        </a:rPr>
                        <a:t> </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316865" marR="0">
                        <a:lnSpc>
                          <a:spcPct val="107000"/>
                        </a:lnSpc>
                        <a:spcBef>
                          <a:spcPts val="330"/>
                        </a:spcBef>
                        <a:spcAft>
                          <a:spcPts val="0"/>
                        </a:spcAft>
                      </a:pPr>
                      <a:r>
                        <a:rPr lang="en-US" sz="1700" spc="5" dirty="0">
                          <a:solidFill>
                            <a:srgbClr val="000000"/>
                          </a:solidFill>
                          <a:effectLst/>
                        </a:rPr>
                        <a:t>-100,000</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377190" marR="0">
                        <a:lnSpc>
                          <a:spcPct val="107000"/>
                        </a:lnSpc>
                        <a:spcBef>
                          <a:spcPts val="330"/>
                        </a:spcBef>
                        <a:spcAft>
                          <a:spcPts val="0"/>
                        </a:spcAft>
                      </a:pPr>
                      <a:r>
                        <a:rPr lang="en-US" sz="1700" spc="5" dirty="0">
                          <a:solidFill>
                            <a:srgbClr val="000000"/>
                          </a:solidFill>
                          <a:effectLst/>
                        </a:rPr>
                        <a:t>-1,000,000</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274320" marR="0">
                        <a:lnSpc>
                          <a:spcPct val="107000"/>
                        </a:lnSpc>
                        <a:spcBef>
                          <a:spcPts val="330"/>
                        </a:spcBef>
                        <a:spcAft>
                          <a:spcPts val="0"/>
                        </a:spcAft>
                      </a:pPr>
                      <a:r>
                        <a:rPr lang="en-US" sz="1700" spc="5">
                          <a:solidFill>
                            <a:srgbClr val="000000"/>
                          </a:solidFill>
                          <a:effectLst/>
                        </a:rPr>
                        <a:t>-100,000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354965" marR="0">
                        <a:lnSpc>
                          <a:spcPct val="107000"/>
                        </a:lnSpc>
                        <a:spcBef>
                          <a:spcPts val="330"/>
                        </a:spcBef>
                        <a:spcAft>
                          <a:spcPts val="0"/>
                        </a:spcAft>
                      </a:pPr>
                      <a:r>
                        <a:rPr lang="en-US" sz="1700" spc="5">
                          <a:solidFill>
                            <a:srgbClr val="000000"/>
                          </a:solidFill>
                          <a:effectLst/>
                        </a:rPr>
                        <a:t>-120,000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xmlns="" val="10001"/>
                  </a:ext>
                </a:extLst>
              </a:tr>
              <a:tr h="453760">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92075" marR="0">
                        <a:lnSpc>
                          <a:spcPct val="107000"/>
                        </a:lnSpc>
                        <a:spcBef>
                          <a:spcPts val="0"/>
                        </a:spcBef>
                        <a:spcAft>
                          <a:spcPts val="0"/>
                        </a:spcAft>
                      </a:pPr>
                      <a:r>
                        <a:rPr lang="en-US" sz="1700">
                          <a:solidFill>
                            <a:srgbClr val="000000"/>
                          </a:solidFill>
                          <a:effectLst/>
                        </a:rPr>
                        <a:t>1</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ct val="107000"/>
                        </a:lnSpc>
                        <a:spcBef>
                          <a:spcPts val="0"/>
                        </a:spcBef>
                        <a:spcAft>
                          <a:spcPts val="0"/>
                        </a:spcAft>
                      </a:pPr>
                      <a:r>
                        <a:rPr lang="en-US" sz="1200">
                          <a:solidFill>
                            <a:srgbClr val="000000"/>
                          </a:solidFill>
                          <a:effectLst/>
                        </a:rPr>
                        <a:t> </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dirty="0">
                          <a:solidFill>
                            <a:srgbClr val="000000"/>
                          </a:solidFill>
                          <a:effectLst/>
                        </a:rPr>
                        <a:t> </a:t>
                      </a:r>
                      <a:endParaRPr lang="en-US" sz="1100" dirty="0">
                        <a:solidFill>
                          <a:srgbClr val="000000"/>
                        </a:solidFill>
                        <a:effectLst/>
                      </a:endParaRPr>
                    </a:p>
                    <a:p>
                      <a:pPr marL="454025" marR="0">
                        <a:lnSpc>
                          <a:spcPct val="107000"/>
                        </a:lnSpc>
                        <a:spcBef>
                          <a:spcPts val="0"/>
                        </a:spcBef>
                        <a:spcAft>
                          <a:spcPts val="0"/>
                        </a:spcAft>
                      </a:pPr>
                      <a:r>
                        <a:rPr lang="en-US" sz="1700" spc="5" dirty="0">
                          <a:solidFill>
                            <a:srgbClr val="000000"/>
                          </a:solidFill>
                          <a:effectLst/>
                        </a:rPr>
                        <a:t>10,000</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dirty="0">
                          <a:solidFill>
                            <a:srgbClr val="000000"/>
                          </a:solidFill>
                          <a:effectLst/>
                        </a:rPr>
                        <a:t> </a:t>
                      </a:r>
                      <a:endParaRPr lang="en-US" sz="1100" dirty="0">
                        <a:solidFill>
                          <a:srgbClr val="000000"/>
                        </a:solidFill>
                        <a:effectLst/>
                      </a:endParaRPr>
                    </a:p>
                    <a:p>
                      <a:pPr marL="651510" marR="0">
                        <a:lnSpc>
                          <a:spcPct val="107000"/>
                        </a:lnSpc>
                        <a:spcBef>
                          <a:spcPts val="0"/>
                        </a:spcBef>
                        <a:spcAft>
                          <a:spcPts val="0"/>
                        </a:spcAft>
                      </a:pPr>
                      <a:r>
                        <a:rPr lang="en-US" sz="1700" spc="5" dirty="0">
                          <a:solidFill>
                            <a:srgbClr val="000000"/>
                          </a:solidFill>
                          <a:effectLst/>
                        </a:rPr>
                        <a:t>200,000</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480695" marR="0">
                        <a:lnSpc>
                          <a:spcPct val="107000"/>
                        </a:lnSpc>
                        <a:spcBef>
                          <a:spcPts val="0"/>
                        </a:spcBef>
                        <a:spcAft>
                          <a:spcPts val="0"/>
                        </a:spcAft>
                      </a:pPr>
                      <a:r>
                        <a:rPr lang="en-US" sz="1700" spc="5">
                          <a:solidFill>
                            <a:srgbClr val="000000"/>
                          </a:solidFill>
                          <a:effectLst/>
                        </a:rPr>
                        <a:t>30,000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562610" marR="0">
                        <a:lnSpc>
                          <a:spcPct val="107000"/>
                        </a:lnSpc>
                        <a:spcBef>
                          <a:spcPts val="0"/>
                        </a:spcBef>
                        <a:spcAft>
                          <a:spcPts val="0"/>
                        </a:spcAft>
                      </a:pPr>
                      <a:r>
                        <a:rPr lang="en-US" sz="1700" spc="5">
                          <a:solidFill>
                            <a:srgbClr val="000000"/>
                          </a:solidFill>
                          <a:effectLst/>
                        </a:rPr>
                        <a:t>30,000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xmlns="" val="10002"/>
                  </a:ext>
                </a:extLst>
              </a:tr>
              <a:tr h="453760">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92075" marR="0">
                        <a:lnSpc>
                          <a:spcPct val="107000"/>
                        </a:lnSpc>
                        <a:spcBef>
                          <a:spcPts val="0"/>
                        </a:spcBef>
                        <a:spcAft>
                          <a:spcPts val="0"/>
                        </a:spcAft>
                      </a:pPr>
                      <a:r>
                        <a:rPr lang="en-US" sz="1700">
                          <a:solidFill>
                            <a:srgbClr val="000000"/>
                          </a:solidFill>
                          <a:effectLst/>
                        </a:rPr>
                        <a:t>2</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ct val="107000"/>
                        </a:lnSpc>
                        <a:spcBef>
                          <a:spcPts val="0"/>
                        </a:spcBef>
                        <a:spcAft>
                          <a:spcPts val="0"/>
                        </a:spcAft>
                      </a:pPr>
                      <a:r>
                        <a:rPr lang="en-US" sz="1200">
                          <a:solidFill>
                            <a:srgbClr val="000000"/>
                          </a:solidFill>
                          <a:effectLst/>
                        </a:rPr>
                        <a:t> </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dirty="0">
                          <a:solidFill>
                            <a:srgbClr val="000000"/>
                          </a:solidFill>
                          <a:effectLst/>
                        </a:rPr>
                        <a:t> </a:t>
                      </a:r>
                      <a:endParaRPr lang="en-US" sz="1100" dirty="0">
                        <a:solidFill>
                          <a:srgbClr val="000000"/>
                        </a:solidFill>
                        <a:effectLst/>
                      </a:endParaRPr>
                    </a:p>
                    <a:p>
                      <a:pPr marL="454025" marR="0">
                        <a:lnSpc>
                          <a:spcPct val="107000"/>
                        </a:lnSpc>
                        <a:spcBef>
                          <a:spcPts val="0"/>
                        </a:spcBef>
                        <a:spcAft>
                          <a:spcPts val="0"/>
                        </a:spcAft>
                      </a:pPr>
                      <a:r>
                        <a:rPr lang="en-US" sz="1700" spc="5" dirty="0">
                          <a:solidFill>
                            <a:srgbClr val="000000"/>
                          </a:solidFill>
                          <a:effectLst/>
                        </a:rPr>
                        <a:t>10,000</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651510" marR="0">
                        <a:lnSpc>
                          <a:spcPct val="107000"/>
                        </a:lnSpc>
                        <a:spcBef>
                          <a:spcPts val="0"/>
                        </a:spcBef>
                        <a:spcAft>
                          <a:spcPts val="0"/>
                        </a:spcAft>
                      </a:pPr>
                      <a:r>
                        <a:rPr lang="en-US" sz="1700" spc="5">
                          <a:solidFill>
                            <a:srgbClr val="000000"/>
                          </a:solidFill>
                          <a:effectLst/>
                        </a:rPr>
                        <a:t>200,000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480695" marR="0">
                        <a:lnSpc>
                          <a:spcPct val="107000"/>
                        </a:lnSpc>
                        <a:spcBef>
                          <a:spcPts val="0"/>
                        </a:spcBef>
                        <a:spcAft>
                          <a:spcPts val="0"/>
                        </a:spcAft>
                      </a:pPr>
                      <a:r>
                        <a:rPr lang="en-US" sz="1700" spc="5">
                          <a:solidFill>
                            <a:srgbClr val="000000"/>
                          </a:solidFill>
                          <a:effectLst/>
                        </a:rPr>
                        <a:t>30,000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562610" marR="0">
                        <a:lnSpc>
                          <a:spcPct val="107000"/>
                        </a:lnSpc>
                        <a:spcBef>
                          <a:spcPts val="0"/>
                        </a:spcBef>
                        <a:spcAft>
                          <a:spcPts val="0"/>
                        </a:spcAft>
                      </a:pPr>
                      <a:r>
                        <a:rPr lang="en-US" sz="1700" spc="5">
                          <a:solidFill>
                            <a:srgbClr val="000000"/>
                          </a:solidFill>
                          <a:effectLst/>
                        </a:rPr>
                        <a:t>30,000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xmlns="" val="10003"/>
                  </a:ext>
                </a:extLst>
              </a:tr>
              <a:tr h="453760">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92075" marR="0">
                        <a:lnSpc>
                          <a:spcPct val="107000"/>
                        </a:lnSpc>
                        <a:spcBef>
                          <a:spcPts val="0"/>
                        </a:spcBef>
                        <a:spcAft>
                          <a:spcPts val="0"/>
                        </a:spcAft>
                      </a:pPr>
                      <a:r>
                        <a:rPr lang="en-US" sz="1700">
                          <a:solidFill>
                            <a:srgbClr val="000000"/>
                          </a:solidFill>
                          <a:effectLst/>
                        </a:rPr>
                        <a:t>3</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ct val="107000"/>
                        </a:lnSpc>
                        <a:spcBef>
                          <a:spcPts val="0"/>
                        </a:spcBef>
                        <a:spcAft>
                          <a:spcPts val="0"/>
                        </a:spcAft>
                      </a:pPr>
                      <a:r>
                        <a:rPr lang="en-US" sz="1200">
                          <a:solidFill>
                            <a:srgbClr val="000000"/>
                          </a:solidFill>
                          <a:effectLst/>
                        </a:rPr>
                        <a:t> </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dirty="0">
                          <a:solidFill>
                            <a:srgbClr val="000000"/>
                          </a:solidFill>
                          <a:effectLst/>
                        </a:rPr>
                        <a:t> </a:t>
                      </a:r>
                      <a:endParaRPr lang="en-US" sz="1100" dirty="0">
                        <a:solidFill>
                          <a:srgbClr val="000000"/>
                        </a:solidFill>
                        <a:effectLst/>
                      </a:endParaRPr>
                    </a:p>
                    <a:p>
                      <a:pPr marL="454025" marR="0">
                        <a:lnSpc>
                          <a:spcPct val="107000"/>
                        </a:lnSpc>
                        <a:spcBef>
                          <a:spcPts val="0"/>
                        </a:spcBef>
                        <a:spcAft>
                          <a:spcPts val="0"/>
                        </a:spcAft>
                      </a:pPr>
                      <a:r>
                        <a:rPr lang="en-US" sz="1700" spc="5" dirty="0">
                          <a:solidFill>
                            <a:srgbClr val="000000"/>
                          </a:solidFill>
                          <a:effectLst/>
                        </a:rPr>
                        <a:t>10,000</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651510" marR="0">
                        <a:lnSpc>
                          <a:spcPct val="107000"/>
                        </a:lnSpc>
                        <a:spcBef>
                          <a:spcPts val="0"/>
                        </a:spcBef>
                        <a:spcAft>
                          <a:spcPts val="0"/>
                        </a:spcAft>
                      </a:pPr>
                      <a:r>
                        <a:rPr lang="en-US" sz="1700" spc="5">
                          <a:solidFill>
                            <a:srgbClr val="000000"/>
                          </a:solidFill>
                          <a:effectLst/>
                        </a:rPr>
                        <a:t>200,000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480695" marR="0">
                        <a:lnSpc>
                          <a:spcPct val="107000"/>
                        </a:lnSpc>
                        <a:spcBef>
                          <a:spcPts val="0"/>
                        </a:spcBef>
                        <a:spcAft>
                          <a:spcPts val="0"/>
                        </a:spcAft>
                      </a:pPr>
                      <a:r>
                        <a:rPr lang="en-US" sz="1700" spc="5">
                          <a:solidFill>
                            <a:srgbClr val="000000"/>
                          </a:solidFill>
                          <a:effectLst/>
                        </a:rPr>
                        <a:t>30,000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562610" marR="0">
                        <a:lnSpc>
                          <a:spcPct val="107000"/>
                        </a:lnSpc>
                        <a:spcBef>
                          <a:spcPts val="0"/>
                        </a:spcBef>
                        <a:spcAft>
                          <a:spcPts val="0"/>
                        </a:spcAft>
                      </a:pPr>
                      <a:r>
                        <a:rPr lang="en-US" sz="1700" spc="5">
                          <a:solidFill>
                            <a:srgbClr val="000000"/>
                          </a:solidFill>
                          <a:effectLst/>
                        </a:rPr>
                        <a:t>30,000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xmlns="" val="10004"/>
                  </a:ext>
                </a:extLst>
              </a:tr>
              <a:tr h="453760">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92075" marR="0">
                        <a:lnSpc>
                          <a:spcPct val="107000"/>
                        </a:lnSpc>
                        <a:spcBef>
                          <a:spcPts val="0"/>
                        </a:spcBef>
                        <a:spcAft>
                          <a:spcPts val="0"/>
                        </a:spcAft>
                      </a:pPr>
                      <a:r>
                        <a:rPr lang="en-US" sz="1700">
                          <a:solidFill>
                            <a:srgbClr val="000000"/>
                          </a:solidFill>
                          <a:effectLst/>
                        </a:rPr>
                        <a:t>4</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ct val="107000"/>
                        </a:lnSpc>
                        <a:spcBef>
                          <a:spcPts val="0"/>
                        </a:spcBef>
                        <a:spcAft>
                          <a:spcPts val="0"/>
                        </a:spcAft>
                      </a:pPr>
                      <a:r>
                        <a:rPr lang="en-US" sz="1200">
                          <a:solidFill>
                            <a:srgbClr val="000000"/>
                          </a:solidFill>
                          <a:effectLst/>
                        </a:rPr>
                        <a:t> </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dirty="0">
                          <a:solidFill>
                            <a:srgbClr val="000000"/>
                          </a:solidFill>
                          <a:effectLst/>
                        </a:rPr>
                        <a:t> </a:t>
                      </a:r>
                      <a:endParaRPr lang="en-US" sz="1100" dirty="0">
                        <a:solidFill>
                          <a:srgbClr val="000000"/>
                        </a:solidFill>
                        <a:effectLst/>
                      </a:endParaRPr>
                    </a:p>
                    <a:p>
                      <a:pPr marL="454025" marR="0">
                        <a:lnSpc>
                          <a:spcPct val="107000"/>
                        </a:lnSpc>
                        <a:spcBef>
                          <a:spcPts val="0"/>
                        </a:spcBef>
                        <a:spcAft>
                          <a:spcPts val="0"/>
                        </a:spcAft>
                      </a:pPr>
                      <a:r>
                        <a:rPr lang="en-US" sz="1700" spc="5" dirty="0">
                          <a:solidFill>
                            <a:srgbClr val="000000"/>
                          </a:solidFill>
                          <a:effectLst/>
                        </a:rPr>
                        <a:t>20,000</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651510" marR="0">
                        <a:lnSpc>
                          <a:spcPct val="107000"/>
                        </a:lnSpc>
                        <a:spcBef>
                          <a:spcPts val="0"/>
                        </a:spcBef>
                        <a:spcAft>
                          <a:spcPts val="0"/>
                        </a:spcAft>
                      </a:pPr>
                      <a:r>
                        <a:rPr lang="en-US" sz="1700" spc="5">
                          <a:solidFill>
                            <a:srgbClr val="000000"/>
                          </a:solidFill>
                          <a:effectLst/>
                        </a:rPr>
                        <a:t>200,000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480695" marR="0">
                        <a:lnSpc>
                          <a:spcPct val="107000"/>
                        </a:lnSpc>
                        <a:spcBef>
                          <a:spcPts val="0"/>
                        </a:spcBef>
                        <a:spcAft>
                          <a:spcPts val="0"/>
                        </a:spcAft>
                      </a:pPr>
                      <a:r>
                        <a:rPr lang="en-US" sz="1700" spc="5">
                          <a:solidFill>
                            <a:srgbClr val="000000"/>
                          </a:solidFill>
                          <a:effectLst/>
                        </a:rPr>
                        <a:t>30,000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562610" marR="0">
                        <a:lnSpc>
                          <a:spcPct val="107000"/>
                        </a:lnSpc>
                        <a:spcBef>
                          <a:spcPts val="0"/>
                        </a:spcBef>
                        <a:spcAft>
                          <a:spcPts val="0"/>
                        </a:spcAft>
                      </a:pPr>
                      <a:r>
                        <a:rPr lang="en-US" sz="1700" spc="5">
                          <a:solidFill>
                            <a:srgbClr val="000000"/>
                          </a:solidFill>
                          <a:effectLst/>
                        </a:rPr>
                        <a:t>30,000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xmlns="" val="10005"/>
                  </a:ext>
                </a:extLst>
              </a:tr>
              <a:tr h="453760">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92075" marR="0">
                        <a:lnSpc>
                          <a:spcPct val="107000"/>
                        </a:lnSpc>
                        <a:spcBef>
                          <a:spcPts val="0"/>
                        </a:spcBef>
                        <a:spcAft>
                          <a:spcPts val="0"/>
                        </a:spcAft>
                      </a:pPr>
                      <a:r>
                        <a:rPr lang="en-US" sz="1700">
                          <a:solidFill>
                            <a:srgbClr val="000000"/>
                          </a:solidFill>
                          <a:effectLst/>
                        </a:rPr>
                        <a:t>5</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ct val="107000"/>
                        </a:lnSpc>
                        <a:spcBef>
                          <a:spcPts val="0"/>
                        </a:spcBef>
                        <a:spcAft>
                          <a:spcPts val="0"/>
                        </a:spcAft>
                      </a:pPr>
                      <a:r>
                        <a:rPr lang="en-US" sz="1200">
                          <a:solidFill>
                            <a:srgbClr val="000000"/>
                          </a:solidFill>
                          <a:effectLst/>
                        </a:rPr>
                        <a:t> </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dirty="0">
                          <a:solidFill>
                            <a:srgbClr val="000000"/>
                          </a:solidFill>
                          <a:effectLst/>
                        </a:rPr>
                        <a:t> </a:t>
                      </a:r>
                      <a:endParaRPr lang="en-US" sz="1100" dirty="0">
                        <a:solidFill>
                          <a:srgbClr val="000000"/>
                        </a:solidFill>
                        <a:effectLst/>
                      </a:endParaRPr>
                    </a:p>
                    <a:p>
                      <a:pPr marL="316865" marR="0">
                        <a:lnSpc>
                          <a:spcPct val="107000"/>
                        </a:lnSpc>
                        <a:spcBef>
                          <a:spcPts val="0"/>
                        </a:spcBef>
                        <a:spcAft>
                          <a:spcPts val="0"/>
                        </a:spcAft>
                      </a:pPr>
                      <a:r>
                        <a:rPr lang="en-US" sz="1700" spc="5" dirty="0">
                          <a:solidFill>
                            <a:srgbClr val="000000"/>
                          </a:solidFill>
                          <a:effectLst/>
                        </a:rPr>
                        <a:t>100,000</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650875" marR="0">
                        <a:lnSpc>
                          <a:spcPct val="107000"/>
                        </a:lnSpc>
                        <a:spcBef>
                          <a:spcPts val="0"/>
                        </a:spcBef>
                        <a:spcAft>
                          <a:spcPts val="0"/>
                        </a:spcAft>
                      </a:pPr>
                      <a:r>
                        <a:rPr lang="en-US" sz="1700" spc="5">
                          <a:solidFill>
                            <a:srgbClr val="000000"/>
                          </a:solidFill>
                          <a:effectLst/>
                        </a:rPr>
                        <a:t>300,000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480060" marR="0">
                        <a:lnSpc>
                          <a:spcPct val="107000"/>
                        </a:lnSpc>
                        <a:spcBef>
                          <a:spcPts val="0"/>
                        </a:spcBef>
                        <a:spcAft>
                          <a:spcPts val="0"/>
                        </a:spcAft>
                      </a:pPr>
                      <a:r>
                        <a:rPr lang="en-US" sz="1700" spc="5">
                          <a:solidFill>
                            <a:srgbClr val="000000"/>
                          </a:solidFill>
                          <a:effectLst/>
                        </a:rPr>
                        <a:t>30,000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5"/>
                        </a:spcBef>
                        <a:spcAft>
                          <a:spcPts val="0"/>
                        </a:spcAft>
                      </a:pPr>
                      <a:r>
                        <a:rPr lang="en-US" sz="700">
                          <a:solidFill>
                            <a:srgbClr val="000000"/>
                          </a:solidFill>
                          <a:effectLst/>
                        </a:rPr>
                        <a:t> </a:t>
                      </a:r>
                      <a:endParaRPr lang="en-US" sz="1100">
                        <a:solidFill>
                          <a:srgbClr val="000000"/>
                        </a:solidFill>
                        <a:effectLst/>
                      </a:endParaRPr>
                    </a:p>
                    <a:p>
                      <a:pPr marL="561975" marR="0">
                        <a:lnSpc>
                          <a:spcPct val="107000"/>
                        </a:lnSpc>
                        <a:spcBef>
                          <a:spcPts val="0"/>
                        </a:spcBef>
                        <a:spcAft>
                          <a:spcPts val="0"/>
                        </a:spcAft>
                      </a:pPr>
                      <a:r>
                        <a:rPr lang="en-US" sz="1700" spc="5">
                          <a:solidFill>
                            <a:srgbClr val="000000"/>
                          </a:solidFill>
                          <a:effectLst/>
                        </a:rPr>
                        <a:t>75,000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xmlns="" val="10006"/>
                  </a:ext>
                </a:extLst>
              </a:tr>
              <a:tr h="500062">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92075" marR="0">
                        <a:lnSpc>
                          <a:spcPct val="107000"/>
                        </a:lnSpc>
                        <a:spcBef>
                          <a:spcPts val="0"/>
                        </a:spcBef>
                        <a:spcAft>
                          <a:spcPts val="0"/>
                        </a:spcAft>
                      </a:pPr>
                      <a:r>
                        <a:rPr lang="en-US" sz="1700" spc="5">
                          <a:solidFill>
                            <a:srgbClr val="000000"/>
                          </a:solidFill>
                          <a:effectLst/>
                        </a:rPr>
                        <a:t>Net</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34290" marR="0">
                        <a:lnSpc>
                          <a:spcPct val="107000"/>
                        </a:lnSpc>
                        <a:spcBef>
                          <a:spcPts val="0"/>
                        </a:spcBef>
                        <a:spcAft>
                          <a:spcPts val="0"/>
                        </a:spcAft>
                      </a:pPr>
                      <a:r>
                        <a:rPr lang="en-US" sz="1700" spc="5">
                          <a:solidFill>
                            <a:srgbClr val="000000"/>
                          </a:solidFill>
                          <a:effectLst/>
                        </a:rPr>
                        <a:t>Pr</a:t>
                      </a:r>
                      <a:r>
                        <a:rPr lang="en-US" sz="1700" spc="-5">
                          <a:solidFill>
                            <a:srgbClr val="000000"/>
                          </a:solidFill>
                          <a:effectLst/>
                        </a:rPr>
                        <a:t>o</a:t>
                      </a:r>
                      <a:r>
                        <a:rPr lang="en-US" sz="1700">
                          <a:solidFill>
                            <a:srgbClr val="000000"/>
                          </a:solidFill>
                          <a:effectLst/>
                        </a:rPr>
                        <a:t>f</a:t>
                      </a:r>
                      <a:r>
                        <a:rPr lang="en-US" sz="1700" spc="5">
                          <a:solidFill>
                            <a:srgbClr val="000000"/>
                          </a:solidFill>
                          <a:effectLst/>
                        </a:rPr>
                        <a:t>it</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dirty="0">
                          <a:solidFill>
                            <a:srgbClr val="000000"/>
                          </a:solidFill>
                          <a:effectLst/>
                        </a:rPr>
                        <a:t> </a:t>
                      </a:r>
                      <a:endParaRPr lang="en-US" sz="1100" dirty="0">
                        <a:solidFill>
                          <a:srgbClr val="000000"/>
                        </a:solidFill>
                        <a:effectLst/>
                      </a:endParaRPr>
                    </a:p>
                    <a:p>
                      <a:pPr marL="456565" marR="0">
                        <a:lnSpc>
                          <a:spcPct val="107000"/>
                        </a:lnSpc>
                        <a:spcBef>
                          <a:spcPts val="0"/>
                        </a:spcBef>
                        <a:spcAft>
                          <a:spcPts val="0"/>
                        </a:spcAft>
                      </a:pPr>
                      <a:r>
                        <a:rPr lang="en-US" sz="1700" spc="5" dirty="0">
                          <a:solidFill>
                            <a:srgbClr val="000000"/>
                          </a:solidFill>
                          <a:effectLst/>
                        </a:rPr>
                        <a:t>50,000</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653415" marR="0">
                        <a:lnSpc>
                          <a:spcPct val="107000"/>
                        </a:lnSpc>
                        <a:spcBef>
                          <a:spcPts val="0"/>
                        </a:spcBef>
                        <a:spcAft>
                          <a:spcPts val="0"/>
                        </a:spcAft>
                      </a:pPr>
                      <a:r>
                        <a:rPr lang="en-US" sz="1700" spc="5">
                          <a:solidFill>
                            <a:srgbClr val="000000"/>
                          </a:solidFill>
                          <a:effectLst/>
                        </a:rPr>
                        <a:t>100,000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a:solidFill>
                            <a:srgbClr val="000000"/>
                          </a:solidFill>
                          <a:effectLst/>
                        </a:rPr>
                        <a:t> </a:t>
                      </a:r>
                      <a:endParaRPr lang="en-US" sz="1100">
                        <a:solidFill>
                          <a:srgbClr val="000000"/>
                        </a:solidFill>
                        <a:effectLst/>
                      </a:endParaRPr>
                    </a:p>
                    <a:p>
                      <a:pPr marL="481965" marR="0">
                        <a:lnSpc>
                          <a:spcPct val="107000"/>
                        </a:lnSpc>
                        <a:spcBef>
                          <a:spcPts val="0"/>
                        </a:spcBef>
                        <a:spcAft>
                          <a:spcPts val="0"/>
                        </a:spcAft>
                      </a:pPr>
                      <a:r>
                        <a:rPr lang="en-US" sz="1700" spc="5">
                          <a:solidFill>
                            <a:srgbClr val="000000"/>
                          </a:solidFill>
                          <a:effectLst/>
                        </a:rPr>
                        <a:t>50,000</a:t>
                      </a:r>
                      <a:endParaRPr lang="en-US" sz="11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tc>
                  <a:txBody>
                    <a:bodyPr/>
                    <a:lstStyle>
                      <a:lvl1pPr marL="0" algn="l" defTabSz="914400" rtl="0" eaLnBrk="1" latinLnBrk="0" hangingPunct="1">
                        <a:defRPr sz="1800" kern="1200">
                          <a:solidFill>
                            <a:schemeClr val="lt1"/>
                          </a:solidFill>
                          <a:latin typeface="Georgia"/>
                          <a:ea typeface=""/>
                          <a:cs typeface=""/>
                        </a:defRPr>
                      </a:lvl1pPr>
                      <a:lvl2pPr marL="457200" algn="l" defTabSz="914400" rtl="0" eaLnBrk="1" latinLnBrk="0" hangingPunct="1">
                        <a:defRPr sz="1800" kern="1200">
                          <a:solidFill>
                            <a:schemeClr val="lt1"/>
                          </a:solidFill>
                          <a:latin typeface="Georgia"/>
                          <a:ea typeface=""/>
                          <a:cs typeface=""/>
                        </a:defRPr>
                      </a:lvl2pPr>
                      <a:lvl3pPr marL="914400" algn="l" defTabSz="914400" rtl="0" eaLnBrk="1" latinLnBrk="0" hangingPunct="1">
                        <a:defRPr sz="1800" kern="1200">
                          <a:solidFill>
                            <a:schemeClr val="lt1"/>
                          </a:solidFill>
                          <a:latin typeface="Georgia"/>
                          <a:ea typeface=""/>
                          <a:cs typeface=""/>
                        </a:defRPr>
                      </a:lvl3pPr>
                      <a:lvl4pPr marL="1371600" algn="l" defTabSz="914400" rtl="0" eaLnBrk="1" latinLnBrk="0" hangingPunct="1">
                        <a:defRPr sz="1800" kern="1200">
                          <a:solidFill>
                            <a:schemeClr val="lt1"/>
                          </a:solidFill>
                          <a:latin typeface="Georgia"/>
                          <a:ea typeface=""/>
                          <a:cs typeface=""/>
                        </a:defRPr>
                      </a:lvl4pPr>
                      <a:lvl5pPr marL="1828800" algn="l" defTabSz="914400" rtl="0" eaLnBrk="1" latinLnBrk="0" hangingPunct="1">
                        <a:defRPr sz="1800" kern="1200">
                          <a:solidFill>
                            <a:schemeClr val="lt1"/>
                          </a:solidFill>
                          <a:latin typeface="Georgia"/>
                          <a:ea typeface=""/>
                          <a:cs typeface=""/>
                        </a:defRPr>
                      </a:lvl5pPr>
                      <a:lvl6pPr marL="2286000" algn="l" defTabSz="914400" rtl="0" eaLnBrk="1" latinLnBrk="0" hangingPunct="1">
                        <a:defRPr sz="1800" kern="1200">
                          <a:solidFill>
                            <a:schemeClr val="lt1"/>
                          </a:solidFill>
                          <a:latin typeface="Georgia"/>
                          <a:ea typeface=""/>
                          <a:cs typeface=""/>
                        </a:defRPr>
                      </a:lvl6pPr>
                      <a:lvl7pPr marL="2743200" algn="l" defTabSz="914400" rtl="0" eaLnBrk="1" latinLnBrk="0" hangingPunct="1">
                        <a:defRPr sz="1800" kern="1200">
                          <a:solidFill>
                            <a:schemeClr val="lt1"/>
                          </a:solidFill>
                          <a:latin typeface="Georgia"/>
                          <a:ea typeface=""/>
                          <a:cs typeface=""/>
                        </a:defRPr>
                      </a:lvl7pPr>
                      <a:lvl8pPr marL="3200400" algn="l" defTabSz="914400" rtl="0" eaLnBrk="1" latinLnBrk="0" hangingPunct="1">
                        <a:defRPr sz="1800" kern="1200">
                          <a:solidFill>
                            <a:schemeClr val="lt1"/>
                          </a:solidFill>
                          <a:latin typeface="Georgia"/>
                          <a:ea typeface=""/>
                          <a:cs typeface=""/>
                        </a:defRPr>
                      </a:lvl8pPr>
                      <a:lvl9pPr marL="3657600" algn="l" defTabSz="914400" rtl="0" eaLnBrk="1" latinLnBrk="0" hangingPunct="1">
                        <a:defRPr sz="1800" kern="1200">
                          <a:solidFill>
                            <a:schemeClr val="lt1"/>
                          </a:solidFill>
                          <a:latin typeface="Georgia"/>
                          <a:ea typeface=""/>
                          <a:cs typeface=""/>
                        </a:defRPr>
                      </a:lvl9pPr>
                    </a:lstStyle>
                    <a:p>
                      <a:pPr marL="0" marR="0">
                        <a:lnSpc>
                          <a:spcPts val="700"/>
                        </a:lnSpc>
                        <a:spcBef>
                          <a:spcPts val="0"/>
                        </a:spcBef>
                        <a:spcAft>
                          <a:spcPts val="0"/>
                        </a:spcAft>
                      </a:pPr>
                      <a:r>
                        <a:rPr lang="en-US" sz="700" dirty="0">
                          <a:solidFill>
                            <a:srgbClr val="000000"/>
                          </a:solidFill>
                          <a:effectLst/>
                        </a:rPr>
                        <a:t> </a:t>
                      </a:r>
                      <a:endParaRPr lang="en-US" sz="1100" dirty="0">
                        <a:solidFill>
                          <a:srgbClr val="000000"/>
                        </a:solidFill>
                        <a:effectLst/>
                      </a:endParaRPr>
                    </a:p>
                    <a:p>
                      <a:pPr marL="562610" marR="0">
                        <a:lnSpc>
                          <a:spcPct val="107000"/>
                        </a:lnSpc>
                        <a:spcBef>
                          <a:spcPts val="0"/>
                        </a:spcBef>
                        <a:spcAft>
                          <a:spcPts val="0"/>
                        </a:spcAft>
                      </a:pPr>
                      <a:r>
                        <a:rPr lang="en-US" sz="1700" spc="5" dirty="0">
                          <a:solidFill>
                            <a:srgbClr val="000000"/>
                          </a:solidFill>
                          <a:effectLst/>
                        </a:rPr>
                        <a:t>75,000</a:t>
                      </a:r>
                      <a:endParaRPr lang="en-US" sz="11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362376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xmlns="" id="{50C7F439-A09A-4A26-8FEB-C7E6CC485C32}"/>
              </a:ext>
            </a:extLst>
          </p:cNvPr>
          <p:cNvSpPr>
            <a:spLocks noGrp="1"/>
          </p:cNvSpPr>
          <p:nvPr>
            <p:ph type="title"/>
          </p:nvPr>
        </p:nvSpPr>
        <p:spPr/>
        <p:txBody>
          <a:bodyPr>
            <a:normAutofit fontScale="90000"/>
          </a:bodyPr>
          <a:lstStyle/>
          <a:p>
            <a:r>
              <a:rPr lang="en-US" altLang="en-US" dirty="0"/>
              <a:t>Cost-benefit evaluation techniques</a:t>
            </a:r>
          </a:p>
        </p:txBody>
      </p:sp>
      <p:sp>
        <p:nvSpPr>
          <p:cNvPr id="3" name="Content Placeholder 2">
            <a:extLst>
              <a:ext uri="{FF2B5EF4-FFF2-40B4-BE49-F238E27FC236}">
                <a16:creationId xmlns:a16="http://schemas.microsoft.com/office/drawing/2014/main" xmlns="" id="{39D7BDB6-A6BC-4800-B6F7-7011E84C9971}"/>
              </a:ext>
            </a:extLst>
          </p:cNvPr>
          <p:cNvSpPr>
            <a:spLocks noGrp="1"/>
          </p:cNvSpPr>
          <p:nvPr>
            <p:ph idx="1"/>
          </p:nvPr>
        </p:nvSpPr>
        <p:spPr/>
        <p:txBody>
          <a:bodyPr>
            <a:normAutofit fontScale="92500" lnSpcReduction="20000"/>
          </a:bodyPr>
          <a:lstStyle/>
          <a:p>
            <a:pPr>
              <a:defRPr/>
            </a:pPr>
            <a:r>
              <a:rPr lang="en-US" dirty="0"/>
              <a:t>Net Profit</a:t>
            </a:r>
          </a:p>
          <a:p>
            <a:pPr lvl="1">
              <a:defRPr/>
            </a:pPr>
            <a:r>
              <a:rPr lang="en-US" dirty="0"/>
              <a:t>Difference b/w total cost and total income</a:t>
            </a:r>
          </a:p>
          <a:p>
            <a:pPr>
              <a:defRPr/>
            </a:pPr>
            <a:r>
              <a:rPr lang="en-US" dirty="0"/>
              <a:t>Payback Period</a:t>
            </a:r>
          </a:p>
          <a:p>
            <a:pPr lvl="1">
              <a:defRPr/>
            </a:pPr>
            <a:r>
              <a:rPr lang="en-US" dirty="0"/>
              <a:t>Time taken to pay back the initial investment</a:t>
            </a:r>
          </a:p>
          <a:p>
            <a:pPr>
              <a:defRPr/>
            </a:pPr>
            <a:r>
              <a:rPr lang="en-US" dirty="0"/>
              <a:t>Return on Investment</a:t>
            </a:r>
          </a:p>
          <a:p>
            <a:pPr lvl="1">
              <a:defRPr/>
            </a:pPr>
            <a:r>
              <a:rPr lang="en-US" dirty="0"/>
              <a:t>Compare the net profitability to the investment required</a:t>
            </a:r>
          </a:p>
          <a:p>
            <a:pPr>
              <a:defRPr/>
            </a:pPr>
            <a:r>
              <a:rPr lang="en-US" dirty="0"/>
              <a:t>Net Present value</a:t>
            </a:r>
          </a:p>
          <a:p>
            <a:pPr lvl="1">
              <a:defRPr/>
            </a:pPr>
            <a:r>
              <a:rPr lang="en-US" dirty="0"/>
              <a:t>Used in capital budgeting to analyze the profitability of an investment or project.</a:t>
            </a:r>
          </a:p>
          <a:p>
            <a:pPr lvl="1">
              <a:defRPr/>
            </a:pPr>
            <a:r>
              <a:rPr lang="en-US" dirty="0"/>
              <a:t>NPV measures the total amount by which an investment is expected to increase based on the present value of its potential cash flows and initial cost.</a:t>
            </a:r>
          </a:p>
          <a:p>
            <a:pPr>
              <a:defRPr/>
            </a:pPr>
            <a:r>
              <a:rPr lang="en-US" dirty="0"/>
              <a:t>Internal Rate of return</a:t>
            </a:r>
          </a:p>
        </p:txBody>
      </p:sp>
      <p:sp>
        <p:nvSpPr>
          <p:cNvPr id="21509" name="Slide Number Placeholder 4">
            <a:extLst>
              <a:ext uri="{FF2B5EF4-FFF2-40B4-BE49-F238E27FC236}">
                <a16:creationId xmlns:a16="http://schemas.microsoft.com/office/drawing/2014/main" xmlns="" id="{029ED572-AE3F-4989-B822-2C881F4FF80E}"/>
              </a:ext>
            </a:extLst>
          </p:cNvPr>
          <p:cNvSpPr>
            <a:spLocks noGrp="1"/>
          </p:cNvSpPr>
          <p:nvPr>
            <p:ph type="sldNum" sz="quarter" idx="12"/>
          </p:nvPr>
        </p:nvSpPr>
        <p:spPr>
          <a:noFill/>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50000"/>
              </a:spcBef>
              <a:spcAft>
                <a:spcPct val="0"/>
              </a:spcAft>
              <a:defRPr sz="2400">
                <a:solidFill>
                  <a:schemeClr val="tx1"/>
                </a:solidFill>
                <a:latin typeface="Tahoma" panose="020B0604030504040204" pitchFamily="34" charset="0"/>
              </a:defRPr>
            </a:lvl6pPr>
            <a:lvl7pPr marL="2971800" indent="-228600" eaLnBrk="0" fontAlgn="base" hangingPunct="0">
              <a:spcBef>
                <a:spcPct val="50000"/>
              </a:spcBef>
              <a:spcAft>
                <a:spcPct val="0"/>
              </a:spcAft>
              <a:defRPr sz="2400">
                <a:solidFill>
                  <a:schemeClr val="tx1"/>
                </a:solidFill>
                <a:latin typeface="Tahoma" panose="020B0604030504040204" pitchFamily="34" charset="0"/>
              </a:defRPr>
            </a:lvl7pPr>
            <a:lvl8pPr marL="3429000" indent="-228600" eaLnBrk="0" fontAlgn="base" hangingPunct="0">
              <a:spcBef>
                <a:spcPct val="50000"/>
              </a:spcBef>
              <a:spcAft>
                <a:spcPct val="0"/>
              </a:spcAft>
              <a:defRPr sz="2400">
                <a:solidFill>
                  <a:schemeClr val="tx1"/>
                </a:solidFill>
                <a:latin typeface="Tahoma" panose="020B0604030504040204" pitchFamily="34" charset="0"/>
              </a:defRPr>
            </a:lvl8pPr>
            <a:lvl9pPr marL="3886200" indent="-228600" eaLnBrk="0" fontAlgn="base" hangingPunct="0">
              <a:spcBef>
                <a:spcPct val="50000"/>
              </a:spcBef>
              <a:spcAft>
                <a:spcPct val="0"/>
              </a:spcAft>
              <a:defRPr sz="2400">
                <a:solidFill>
                  <a:schemeClr val="tx1"/>
                </a:solidFill>
                <a:latin typeface="Tahoma" panose="020B0604030504040204" pitchFamily="34" charset="0"/>
              </a:defRPr>
            </a:lvl9pPr>
          </a:lstStyle>
          <a:p>
            <a:pPr eaLnBrk="1" hangingPunct="1"/>
            <a:fld id="{611E402D-94FA-4129-BC59-C11D86AFA842}" type="slidenum">
              <a:rPr lang="en-AU" altLang="en-US" sz="1400"/>
              <a:pPr eaLnBrk="1" hangingPunct="1"/>
              <a:t>19</a:t>
            </a:fld>
            <a:endParaRPr lang="en-AU" altLang="en-US"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xmlns="" id="{11E9C39E-EB91-1C8D-E2D3-9E4A5EC0C228}"/>
              </a:ext>
            </a:extLst>
          </p:cNvPr>
          <p:cNvPicPr>
            <a:picLocks noGrp="1" noChangeAspect="1"/>
          </p:cNvPicPr>
          <p:nvPr>
            <p:ph idx="1"/>
          </p:nvPr>
        </p:nvPicPr>
        <p:blipFill>
          <a:blip r:embed="rId2"/>
          <a:stretch>
            <a:fillRect/>
          </a:stretch>
        </p:blipFill>
        <p:spPr>
          <a:xfrm>
            <a:off x="482600" y="924243"/>
            <a:ext cx="8178799" cy="5009513"/>
          </a:xfrm>
          <a:prstGeom prst="rect">
            <a:avLst/>
          </a:prstGeom>
        </p:spPr>
      </p:pic>
      <p:sp>
        <p:nvSpPr>
          <p:cNvPr id="4" name="Slide Number Placeholder 3">
            <a:extLst>
              <a:ext uri="{FF2B5EF4-FFF2-40B4-BE49-F238E27FC236}">
                <a16:creationId xmlns:a16="http://schemas.microsoft.com/office/drawing/2014/main" xmlns="" id="{9AE7A8BB-8FDB-3429-D94C-D7F2F917D6DD}"/>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20</a:t>
            </a:fld>
            <a:endParaRPr lang="en-US">
              <a:solidFill>
                <a:schemeClr val="tx1">
                  <a:tint val="75000"/>
                </a:schemeClr>
              </a:solidFill>
            </a:endParaRPr>
          </a:p>
        </p:txBody>
      </p:sp>
    </p:spTree>
    <p:extLst>
      <p:ext uri="{BB962C8B-B14F-4D97-AF65-F5344CB8AC3E}">
        <p14:creationId xmlns:p14="http://schemas.microsoft.com/office/powerpoint/2010/main" val="260699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xmlns="" id="{D4771268-CB57-404A-9271-370EB28F609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E38ADD8-477A-6DC6-ADC2-ECBEB204A45E}"/>
              </a:ext>
            </a:extLst>
          </p:cNvPr>
          <p:cNvSpPr>
            <a:spLocks noGrp="1"/>
          </p:cNvSpPr>
          <p:nvPr>
            <p:ph type="title"/>
          </p:nvPr>
        </p:nvSpPr>
        <p:spPr>
          <a:xfrm>
            <a:off x="771525" y="1967266"/>
            <a:ext cx="1971675" cy="2547257"/>
          </a:xfrm>
          <a:noFill/>
        </p:spPr>
        <p:txBody>
          <a:bodyPr vert="horz" lIns="91440" tIns="45720" rIns="91440" bIns="45720" rtlCol="0" anchor="ctr">
            <a:normAutofit/>
          </a:bodyPr>
          <a:lstStyle/>
          <a:p>
            <a:pPr algn="ctr"/>
            <a:r>
              <a:rPr lang="en-US" sz="3100" kern="1200" dirty="0">
                <a:solidFill>
                  <a:srgbClr val="FFFFFF"/>
                </a:solidFill>
                <a:latin typeface="+mj-lt"/>
                <a:ea typeface="+mj-ea"/>
                <a:cs typeface="+mj-cs"/>
              </a:rPr>
              <a:t>Payback Period</a:t>
            </a:r>
          </a:p>
        </p:txBody>
      </p:sp>
      <p:pic>
        <p:nvPicPr>
          <p:cNvPr id="6" name="Content Placeholder 5">
            <a:extLst>
              <a:ext uri="{FF2B5EF4-FFF2-40B4-BE49-F238E27FC236}">
                <a16:creationId xmlns:a16="http://schemas.microsoft.com/office/drawing/2014/main" xmlns="" id="{89F259F2-12E8-B872-ABC5-5C692B8160CA}"/>
              </a:ext>
            </a:extLst>
          </p:cNvPr>
          <p:cNvPicPr>
            <a:picLocks noGrp="1" noChangeAspect="1"/>
          </p:cNvPicPr>
          <p:nvPr>
            <p:ph idx="1"/>
          </p:nvPr>
        </p:nvPicPr>
        <p:blipFill>
          <a:blip r:embed="rId2"/>
          <a:stretch>
            <a:fillRect/>
          </a:stretch>
        </p:blipFill>
        <p:spPr>
          <a:xfrm>
            <a:off x="3193804" y="1233479"/>
            <a:ext cx="5652758" cy="4623035"/>
          </a:xfrm>
          <a:prstGeom prst="rect">
            <a:avLst/>
          </a:prstGeom>
        </p:spPr>
      </p:pic>
      <p:sp>
        <p:nvSpPr>
          <p:cNvPr id="4" name="Slide Number Placeholder 3">
            <a:extLst>
              <a:ext uri="{FF2B5EF4-FFF2-40B4-BE49-F238E27FC236}">
                <a16:creationId xmlns:a16="http://schemas.microsoft.com/office/drawing/2014/main" xmlns="" id="{C47E989E-D060-608A-58A0-BD82DC282C3A}"/>
              </a:ext>
            </a:extLst>
          </p:cNvPr>
          <p:cNvSpPr>
            <a:spLocks noGrp="1"/>
          </p:cNvSpPr>
          <p:nvPr>
            <p:ph type="sldNum" sz="quarter" idx="12"/>
          </p:nvPr>
        </p:nvSpPr>
        <p:spPr>
          <a:xfrm>
            <a:off x="8275638" y="6356350"/>
            <a:ext cx="385761" cy="365125"/>
          </a:xfrm>
        </p:spPr>
        <p:txBody>
          <a:bodyPr vert="horz" lIns="91440" tIns="45720" rIns="91440" bIns="45720" rtlCol="0" anchor="ctr">
            <a:normAutofit/>
          </a:bodyPr>
          <a:lstStyle/>
          <a:p>
            <a:pPr defTabSz="914400">
              <a:spcAft>
                <a:spcPts val="600"/>
              </a:spcAft>
            </a:pPr>
            <a:fld id="{60D6D740-8150-433F-9426-3FCFF681501A}" type="slidenum">
              <a:rPr lang="en-US">
                <a:solidFill>
                  <a:schemeClr val="tx1">
                    <a:alpha val="80000"/>
                  </a:schemeClr>
                </a:solidFill>
              </a:rPr>
              <a:pPr defTabSz="914400">
                <a:spcAft>
                  <a:spcPts val="600"/>
                </a:spcAft>
              </a:pPr>
              <a:t>21</a:t>
            </a:fld>
            <a:endParaRPr lang="en-US">
              <a:solidFill>
                <a:schemeClr val="tx1">
                  <a:alpha val="80000"/>
                </a:schemeClr>
              </a:solidFill>
            </a:endParaRPr>
          </a:p>
        </p:txBody>
      </p:sp>
    </p:spTree>
    <p:extLst>
      <p:ext uri="{BB962C8B-B14F-4D97-AF65-F5344CB8AC3E}">
        <p14:creationId xmlns:p14="http://schemas.microsoft.com/office/powerpoint/2010/main" val="2914948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descr="A screenshot of a report&#10;&#10;Description automatically generated">
            <a:extLst>
              <a:ext uri="{FF2B5EF4-FFF2-40B4-BE49-F238E27FC236}">
                <a16:creationId xmlns:a16="http://schemas.microsoft.com/office/drawing/2014/main" xmlns="" id="{D59F1126-903E-5C76-F81E-56EBDF21C4B1}"/>
              </a:ext>
            </a:extLst>
          </p:cNvPr>
          <p:cNvPicPr>
            <a:picLocks noGrp="1" noChangeAspect="1"/>
          </p:cNvPicPr>
          <p:nvPr>
            <p:ph idx="1"/>
          </p:nvPr>
        </p:nvPicPr>
        <p:blipFill>
          <a:blip r:embed="rId2"/>
          <a:stretch>
            <a:fillRect/>
          </a:stretch>
        </p:blipFill>
        <p:spPr>
          <a:xfrm>
            <a:off x="482600" y="770890"/>
            <a:ext cx="8178799" cy="5316218"/>
          </a:xfrm>
          <a:prstGeom prst="rect">
            <a:avLst/>
          </a:prstGeom>
        </p:spPr>
      </p:pic>
      <p:sp>
        <p:nvSpPr>
          <p:cNvPr id="4" name="Slide Number Placeholder 3">
            <a:extLst>
              <a:ext uri="{FF2B5EF4-FFF2-40B4-BE49-F238E27FC236}">
                <a16:creationId xmlns:a16="http://schemas.microsoft.com/office/drawing/2014/main" xmlns="" id="{8EAE0A76-CA0F-1A22-F9C3-4F2FEF5930FD}"/>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22</a:t>
            </a:fld>
            <a:endParaRPr lang="en-US">
              <a:solidFill>
                <a:schemeClr val="tx1">
                  <a:tint val="75000"/>
                </a:schemeClr>
              </a:solidFill>
            </a:endParaRPr>
          </a:p>
        </p:txBody>
      </p:sp>
    </p:spTree>
    <p:extLst>
      <p:ext uri="{BB962C8B-B14F-4D97-AF65-F5344CB8AC3E}">
        <p14:creationId xmlns:p14="http://schemas.microsoft.com/office/powerpoint/2010/main" val="3776072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5F9CFCE6-877F-4858-B8BD-2C52CA8AFB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solidFill>
            <a:srgbClr val="382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8213F8A0-12AE-4514-8372-0DD766EC28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692649" y="480060"/>
            <a:ext cx="409359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white paper with black text&#10;&#10;Description automatically generated">
            <a:extLst>
              <a:ext uri="{FF2B5EF4-FFF2-40B4-BE49-F238E27FC236}">
                <a16:creationId xmlns:a16="http://schemas.microsoft.com/office/drawing/2014/main" xmlns="" id="{0FA4ED71-2F83-C00A-1BFC-771C14F65E63}"/>
              </a:ext>
            </a:extLst>
          </p:cNvPr>
          <p:cNvPicPr>
            <a:picLocks noChangeAspect="1"/>
          </p:cNvPicPr>
          <p:nvPr/>
        </p:nvPicPr>
        <p:blipFill>
          <a:blip r:embed="rId2"/>
          <a:stretch>
            <a:fillRect/>
          </a:stretch>
        </p:blipFill>
        <p:spPr>
          <a:xfrm>
            <a:off x="4815776" y="1195754"/>
            <a:ext cx="3847338" cy="4262511"/>
          </a:xfrm>
          <a:prstGeom prst="rect">
            <a:avLst/>
          </a:prstGeom>
        </p:spPr>
      </p:pic>
      <p:sp>
        <p:nvSpPr>
          <p:cNvPr id="12" name="Rectangle 11">
            <a:extLst>
              <a:ext uri="{FF2B5EF4-FFF2-40B4-BE49-F238E27FC236}">
                <a16:creationId xmlns:a16="http://schemas.microsoft.com/office/drawing/2014/main" xmlns="" id="{9EFF17D4-9A8C-4CE5-B096-D8CCD440043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57759" y="480060"/>
            <a:ext cx="4093590"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10;&#10;Description automatically generated">
            <a:extLst>
              <a:ext uri="{FF2B5EF4-FFF2-40B4-BE49-F238E27FC236}">
                <a16:creationId xmlns:a16="http://schemas.microsoft.com/office/drawing/2014/main" xmlns="" id="{CF5DB60B-3B4D-9BE3-68D3-CEF272E6418C}"/>
              </a:ext>
            </a:extLst>
          </p:cNvPr>
          <p:cNvPicPr>
            <a:picLocks noChangeAspect="1"/>
          </p:cNvPicPr>
          <p:nvPr/>
        </p:nvPicPr>
        <p:blipFill>
          <a:blip r:embed="rId3"/>
          <a:stretch>
            <a:fillRect/>
          </a:stretch>
        </p:blipFill>
        <p:spPr>
          <a:xfrm>
            <a:off x="480885" y="1434905"/>
            <a:ext cx="3847338" cy="3910817"/>
          </a:xfrm>
          <a:prstGeom prst="rect">
            <a:avLst/>
          </a:prstGeom>
        </p:spPr>
      </p:pic>
      <p:sp>
        <p:nvSpPr>
          <p:cNvPr id="4" name="Slide Number Placeholder 3">
            <a:extLst>
              <a:ext uri="{FF2B5EF4-FFF2-40B4-BE49-F238E27FC236}">
                <a16:creationId xmlns:a16="http://schemas.microsoft.com/office/drawing/2014/main" xmlns="" id="{F2D1992E-47DF-E924-D2BC-60FD9AC96C0D}"/>
              </a:ext>
            </a:extLst>
          </p:cNvPr>
          <p:cNvSpPr>
            <a:spLocks noGrp="1"/>
          </p:cNvSpPr>
          <p:nvPr>
            <p:ph type="sldNum" sz="quarter" idx="12"/>
          </p:nvPr>
        </p:nvSpPr>
        <p:spPr>
          <a:xfrm>
            <a:off x="6457950" y="6356350"/>
            <a:ext cx="2059686"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rgbClr val="FFFFFF"/>
                </a:solidFill>
              </a:rPr>
              <a:pPr defTabSz="914400">
                <a:spcAft>
                  <a:spcPts val="600"/>
                </a:spcAft>
              </a:pPr>
              <a:t>23</a:t>
            </a:fld>
            <a:endParaRPr lang="en-US">
              <a:solidFill>
                <a:srgbClr val="FFFFFF"/>
              </a:solidFill>
            </a:endParaRPr>
          </a:p>
        </p:txBody>
      </p:sp>
    </p:spTree>
    <p:extLst>
      <p:ext uri="{BB962C8B-B14F-4D97-AF65-F5344CB8AC3E}">
        <p14:creationId xmlns:p14="http://schemas.microsoft.com/office/powerpoint/2010/main" val="1946156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xmlns="" id="{D04BF859-34B9-A74D-BB97-EBA5A29A1FDB}"/>
              </a:ext>
            </a:extLst>
          </p:cNvPr>
          <p:cNvPicPr>
            <a:picLocks noGrp="1" noChangeAspect="1"/>
          </p:cNvPicPr>
          <p:nvPr>
            <p:ph idx="1"/>
          </p:nvPr>
        </p:nvPicPr>
        <p:blipFill>
          <a:blip r:embed="rId2"/>
          <a:stretch>
            <a:fillRect/>
          </a:stretch>
        </p:blipFill>
        <p:spPr>
          <a:xfrm>
            <a:off x="482600" y="1772793"/>
            <a:ext cx="8178799" cy="3312413"/>
          </a:xfrm>
          <a:prstGeom prst="rect">
            <a:avLst/>
          </a:prstGeom>
        </p:spPr>
      </p:pic>
      <p:sp>
        <p:nvSpPr>
          <p:cNvPr id="4" name="Slide Number Placeholder 3">
            <a:extLst>
              <a:ext uri="{FF2B5EF4-FFF2-40B4-BE49-F238E27FC236}">
                <a16:creationId xmlns:a16="http://schemas.microsoft.com/office/drawing/2014/main" xmlns="" id="{E1A55750-75FD-6FA2-179D-029C7933109F}"/>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24</a:t>
            </a:fld>
            <a:endParaRPr lang="en-US">
              <a:solidFill>
                <a:schemeClr val="tx1">
                  <a:tint val="75000"/>
                </a:schemeClr>
              </a:solidFill>
            </a:endParaRPr>
          </a:p>
        </p:txBody>
      </p:sp>
    </p:spTree>
    <p:extLst>
      <p:ext uri="{BB962C8B-B14F-4D97-AF65-F5344CB8AC3E}">
        <p14:creationId xmlns:p14="http://schemas.microsoft.com/office/powerpoint/2010/main" val="3232074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B0F09F-A845-47D4-A54B-00A7F889B5B0}"/>
              </a:ext>
            </a:extLst>
          </p:cNvPr>
          <p:cNvSpPr>
            <a:spLocks noGrp="1"/>
          </p:cNvSpPr>
          <p:nvPr>
            <p:ph type="title"/>
          </p:nvPr>
        </p:nvSpPr>
        <p:spPr/>
        <p:txBody>
          <a:bodyPr/>
          <a:lstStyle/>
          <a:p>
            <a:r>
              <a:rPr lang="en-GB" altLang="en-US" dirty="0"/>
              <a:t>Net profit</a:t>
            </a:r>
            <a:endParaRPr lang="en-US" dirty="0"/>
          </a:p>
        </p:txBody>
      </p:sp>
      <p:sp>
        <p:nvSpPr>
          <p:cNvPr id="4" name="Slide Number Placeholder 3">
            <a:extLst>
              <a:ext uri="{FF2B5EF4-FFF2-40B4-BE49-F238E27FC236}">
                <a16:creationId xmlns:a16="http://schemas.microsoft.com/office/drawing/2014/main" xmlns="" id="{0F62BCA4-3B28-45A6-A48E-41E16CF9AD8A}"/>
              </a:ext>
            </a:extLst>
          </p:cNvPr>
          <p:cNvSpPr>
            <a:spLocks noGrp="1"/>
          </p:cNvSpPr>
          <p:nvPr>
            <p:ph type="sldNum" sz="quarter" idx="12"/>
          </p:nvPr>
        </p:nvSpPr>
        <p:spPr/>
        <p:txBody>
          <a:bodyPr/>
          <a:lstStyle/>
          <a:p>
            <a:fld id="{60D6D740-8150-433F-9426-3FCFF681501A}" type="slidenum">
              <a:rPr lang="en-US" smtClean="0"/>
              <a:pPr/>
              <a:t>25</a:t>
            </a:fld>
            <a:endParaRPr lang="en-US" dirty="0"/>
          </a:p>
        </p:txBody>
      </p:sp>
      <p:sp>
        <p:nvSpPr>
          <p:cNvPr id="7" name="Rectangle 35">
            <a:extLst>
              <a:ext uri="{FF2B5EF4-FFF2-40B4-BE49-F238E27FC236}">
                <a16:creationId xmlns:a16="http://schemas.microsoft.com/office/drawing/2014/main" xmlns="" id="{F3F58B34-5A47-4B48-839C-37F49904C351}"/>
              </a:ext>
            </a:extLst>
          </p:cNvPr>
          <p:cNvSpPr txBox="1">
            <a:spLocks noChangeArrowheads="1"/>
          </p:cNvSpPr>
          <p:nvPr/>
        </p:nvSpPr>
        <p:spPr>
          <a:xfrm>
            <a:off x="4476750" y="1830389"/>
            <a:ext cx="4038600" cy="45259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pitchFamily="1" charset="2"/>
              <a:buNone/>
            </a:pPr>
            <a:r>
              <a:rPr lang="en-GB" altLang="en-US" sz="2000" dirty="0"/>
              <a:t>‘Year 0’ represents all the costs before system is operation</a:t>
            </a:r>
          </a:p>
          <a:p>
            <a:pPr>
              <a:buFont typeface="Monotype Sorts" pitchFamily="1" charset="2"/>
              <a:buNone/>
            </a:pPr>
            <a:r>
              <a:rPr lang="en-GB" altLang="en-US" sz="2000" dirty="0"/>
              <a:t>‘Cash-flow’ is value of income less outgoing </a:t>
            </a:r>
          </a:p>
          <a:p>
            <a:pPr>
              <a:buFont typeface="Monotype Sorts" pitchFamily="1" charset="2"/>
              <a:buNone/>
            </a:pPr>
            <a:r>
              <a:rPr lang="en-GB" altLang="en-US" sz="2000" dirty="0"/>
              <a:t>Net profit value of all the cash-flows for the lifetime of the application</a:t>
            </a:r>
          </a:p>
        </p:txBody>
      </p:sp>
      <p:graphicFrame>
        <p:nvGraphicFramePr>
          <p:cNvPr id="8" name="Group 128">
            <a:extLst>
              <a:ext uri="{FF2B5EF4-FFF2-40B4-BE49-F238E27FC236}">
                <a16:creationId xmlns:a16="http://schemas.microsoft.com/office/drawing/2014/main" xmlns="" id="{318B124F-81A5-4B1F-BD0C-11ED4F9754E4}"/>
              </a:ext>
            </a:extLst>
          </p:cNvPr>
          <p:cNvGraphicFramePr>
            <a:graphicFrameLocks/>
          </p:cNvGraphicFramePr>
          <p:nvPr>
            <p:extLst>
              <p:ext uri="{D42A27DB-BD31-4B8C-83A1-F6EECF244321}">
                <p14:modId xmlns:p14="http://schemas.microsoft.com/office/powerpoint/2010/main" val="1107148310"/>
              </p:ext>
            </p:extLst>
          </p:nvPr>
        </p:nvGraphicFramePr>
        <p:xfrm>
          <a:off x="704850" y="1861410"/>
          <a:ext cx="3600450" cy="4392615"/>
        </p:xfrm>
        <a:graphic>
          <a:graphicData uri="http://schemas.openxmlformats.org/drawingml/2006/table">
            <a:tbl>
              <a:tblPr/>
              <a:tblGrid>
                <a:gridCol w="1430337">
                  <a:extLst>
                    <a:ext uri="{9D8B030D-6E8A-4147-A177-3AD203B41FA5}">
                      <a16:colId xmlns:a16="http://schemas.microsoft.com/office/drawing/2014/main" xmlns="" val="410202192"/>
                    </a:ext>
                  </a:extLst>
                </a:gridCol>
                <a:gridCol w="2170113">
                  <a:extLst>
                    <a:ext uri="{9D8B030D-6E8A-4147-A177-3AD203B41FA5}">
                      <a16:colId xmlns:a16="http://schemas.microsoft.com/office/drawing/2014/main" xmlns="" val="1977210755"/>
                    </a:ext>
                  </a:extLst>
                </a:gridCol>
              </a:tblGrid>
              <a:tr h="549275">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1" i="0" u="none" strike="noStrike" cap="none" normalizeH="0" baseline="0" dirty="0">
                          <a:ln>
                            <a:noFill/>
                          </a:ln>
                          <a:solidFill>
                            <a:schemeClr val="tx1"/>
                          </a:solidFill>
                          <a:effectLst/>
                          <a:latin typeface="+mn-lt"/>
                        </a:rPr>
                        <a:t>Year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1" i="0" u="none" strike="noStrike" cap="none" normalizeH="0" baseline="0" dirty="0">
                          <a:ln>
                            <a:noFill/>
                          </a:ln>
                          <a:solidFill>
                            <a:schemeClr val="tx1"/>
                          </a:solidFill>
                          <a:effectLst/>
                          <a:latin typeface="+mn-lt"/>
                        </a:rPr>
                        <a:t>Cash-flow</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07604931"/>
                  </a:ext>
                </a:extLst>
              </a:tr>
              <a:tr h="547688">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mn-lt"/>
                        </a:rPr>
                        <a:t>-100,000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472485845"/>
                  </a:ext>
                </a:extLst>
              </a:tr>
              <a:tr h="550863">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mn-lt"/>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10,000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22812475"/>
                  </a:ext>
                </a:extLst>
              </a:tr>
              <a:tr h="547688">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mn-lt"/>
                        </a:rPr>
                        <a:t>10,000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008745196"/>
                  </a:ext>
                </a:extLst>
              </a:tr>
              <a:tr h="549275">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mn-lt"/>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10,000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985647901"/>
                  </a:ext>
                </a:extLst>
              </a:tr>
              <a:tr h="547688">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mn-lt"/>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mn-lt"/>
                        </a:rPr>
                        <a:t>20,000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663407532"/>
                  </a:ext>
                </a:extLst>
              </a:tr>
              <a:tr h="550863">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mn-lt"/>
                        </a:rPr>
                        <a:t>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100,000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187015044"/>
                  </a:ext>
                </a:extLst>
              </a:tr>
              <a:tr h="549275">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mn-lt"/>
                        </a:rPr>
                        <a:t>Net profit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50,000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345411802"/>
                  </a:ext>
                </a:extLst>
              </a:tr>
            </a:tbl>
          </a:graphicData>
        </a:graphic>
      </p:graphicFrame>
    </p:spTree>
    <p:extLst>
      <p:ext uri="{BB962C8B-B14F-4D97-AF65-F5344CB8AC3E}">
        <p14:creationId xmlns:p14="http://schemas.microsoft.com/office/powerpoint/2010/main" val="192267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4">
            <a:extLst>
              <a:ext uri="{FF2B5EF4-FFF2-40B4-BE49-F238E27FC236}">
                <a16:creationId xmlns:a16="http://schemas.microsoft.com/office/drawing/2014/main" xmlns="" id="{DB82F048-5961-4BFD-848D-6855E7F35B1D}"/>
              </a:ext>
            </a:extLst>
          </p:cNvPr>
          <p:cNvSpPr>
            <a:spLocks noGrp="1"/>
          </p:cNvSpPr>
          <p:nvPr>
            <p:ph type="sldNum" sz="quarter" idx="11"/>
          </p:nvPr>
        </p:nvSpPr>
        <p:spPr bwMode="auto">
          <a:xfrm>
            <a:off x="6659563" y="6092825"/>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en-GB"/>
            </a:defPPr>
            <a:lvl1pPr algn="r" rtl="0" eaLnBrk="0" fontAlgn="base" hangingPunct="0">
              <a:spcBef>
                <a:spcPct val="0"/>
              </a:spcBef>
              <a:spcAft>
                <a:spcPct val="0"/>
              </a:spcAft>
              <a:buFont typeface="Arial" panose="020B0604020202020204" pitchFamily="34" charset="0"/>
              <a:buNone/>
              <a:defRPr sz="1400" kern="1200">
                <a:solidFill>
                  <a:srgbClr val="FFFF99"/>
                </a:solidFill>
                <a:latin typeface="Times New Roman" panose="02020603050405020304" pitchFamily="18"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149C8BDD-6025-42F3-8F71-2798B5BFCE84}" type="slidenum">
              <a:rPr lang="en-US" altLang="en-US" smtClean="0">
                <a:solidFill>
                  <a:schemeClr val="tx1"/>
                </a:solidFill>
              </a:rPr>
              <a:pPr/>
              <a:t>26</a:t>
            </a:fld>
            <a:endParaRPr lang="en-US" altLang="en-US">
              <a:solidFill>
                <a:schemeClr val="tx1"/>
              </a:solidFill>
            </a:endParaRPr>
          </a:p>
        </p:txBody>
      </p:sp>
      <p:sp>
        <p:nvSpPr>
          <p:cNvPr id="35844" name="Rectangle 4">
            <a:extLst>
              <a:ext uri="{FF2B5EF4-FFF2-40B4-BE49-F238E27FC236}">
                <a16:creationId xmlns:a16="http://schemas.microsoft.com/office/drawing/2014/main" xmlns="" id="{7DF9F00F-082C-4CB9-AC12-44CCD34EAD91}"/>
              </a:ext>
            </a:extLst>
          </p:cNvPr>
          <p:cNvSpPr>
            <a:spLocks noChangeArrowheads="1"/>
          </p:cNvSpPr>
          <p:nvPr/>
        </p:nvSpPr>
        <p:spPr bwMode="auto">
          <a:xfrm>
            <a:off x="623887" y="73631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defTabSz="762000">
              <a:defRPr sz="3600" b="1">
                <a:solidFill>
                  <a:srgbClr val="FFFF99"/>
                </a:solidFill>
                <a:latin typeface="Arial" panose="020B0604020202020204" pitchFamily="34" charset="0"/>
              </a:defRPr>
            </a:lvl1pPr>
            <a:lvl2pPr algn="ctr" defTabSz="762000">
              <a:defRPr sz="3600" b="1">
                <a:solidFill>
                  <a:srgbClr val="FFFF99"/>
                </a:solidFill>
                <a:latin typeface="Arial" panose="020B0604020202020204" pitchFamily="34" charset="0"/>
              </a:defRPr>
            </a:lvl2pPr>
            <a:lvl3pPr algn="ctr" defTabSz="762000">
              <a:defRPr sz="3600" b="1">
                <a:solidFill>
                  <a:srgbClr val="FFFF99"/>
                </a:solidFill>
                <a:latin typeface="Arial" panose="020B0604020202020204" pitchFamily="34" charset="0"/>
              </a:defRPr>
            </a:lvl3pPr>
            <a:lvl4pPr algn="ctr" defTabSz="762000">
              <a:defRPr sz="3600" b="1">
                <a:solidFill>
                  <a:srgbClr val="FFFF99"/>
                </a:solidFill>
                <a:latin typeface="Arial" panose="020B0604020202020204" pitchFamily="34" charset="0"/>
              </a:defRPr>
            </a:lvl4pPr>
            <a:lvl5pPr algn="ctr" defTabSz="762000">
              <a:defRPr sz="3600" b="1">
                <a:solidFill>
                  <a:srgbClr val="FFFF99"/>
                </a:solidFill>
                <a:latin typeface="Arial" panose="020B0604020202020204" pitchFamily="34" charset="0"/>
              </a:defRPr>
            </a:lvl5pPr>
            <a:lvl6pPr marL="457200" algn="ctr" defTabSz="762000" eaLnBrk="0" fontAlgn="base" hangingPunct="0">
              <a:spcBef>
                <a:spcPct val="0"/>
              </a:spcBef>
              <a:spcAft>
                <a:spcPct val="0"/>
              </a:spcAft>
              <a:defRPr sz="3600" b="1">
                <a:solidFill>
                  <a:srgbClr val="FFFF99"/>
                </a:solidFill>
                <a:latin typeface="Arial" panose="020B0604020202020204" pitchFamily="34" charset="0"/>
              </a:defRPr>
            </a:lvl6pPr>
            <a:lvl7pPr marL="914400" algn="ctr" defTabSz="762000" eaLnBrk="0" fontAlgn="base" hangingPunct="0">
              <a:spcBef>
                <a:spcPct val="0"/>
              </a:spcBef>
              <a:spcAft>
                <a:spcPct val="0"/>
              </a:spcAft>
              <a:defRPr sz="3600" b="1">
                <a:solidFill>
                  <a:srgbClr val="FFFF99"/>
                </a:solidFill>
                <a:latin typeface="Arial" panose="020B0604020202020204" pitchFamily="34" charset="0"/>
              </a:defRPr>
            </a:lvl7pPr>
            <a:lvl8pPr marL="1371600" algn="ctr" defTabSz="762000" eaLnBrk="0" fontAlgn="base" hangingPunct="0">
              <a:spcBef>
                <a:spcPct val="0"/>
              </a:spcBef>
              <a:spcAft>
                <a:spcPct val="0"/>
              </a:spcAft>
              <a:defRPr sz="3600" b="1">
                <a:solidFill>
                  <a:srgbClr val="FFFF99"/>
                </a:solidFill>
                <a:latin typeface="Arial" panose="020B0604020202020204" pitchFamily="34" charset="0"/>
              </a:defRPr>
            </a:lvl8pPr>
            <a:lvl9pPr marL="1828800" algn="ctr" defTabSz="762000" eaLnBrk="0" fontAlgn="base" hangingPunct="0">
              <a:spcBef>
                <a:spcPct val="0"/>
              </a:spcBef>
              <a:spcAft>
                <a:spcPct val="0"/>
              </a:spcAft>
              <a:defRPr sz="3600" b="1">
                <a:solidFill>
                  <a:srgbClr val="FFFF99"/>
                </a:solidFill>
                <a:latin typeface="Arial" panose="020B0604020202020204" pitchFamily="34" charset="0"/>
              </a:defRPr>
            </a:lvl9pPr>
          </a:lstStyle>
          <a:p>
            <a:pPr algn="l"/>
            <a:r>
              <a:rPr lang="en-GB" altLang="en-US" b="0" dirty="0">
                <a:solidFill>
                  <a:schemeClr val="tx1"/>
                </a:solidFill>
                <a:latin typeface="+mj-lt"/>
              </a:rPr>
              <a:t>Pay back period</a:t>
            </a:r>
          </a:p>
        </p:txBody>
      </p:sp>
      <p:sp>
        <p:nvSpPr>
          <p:cNvPr id="35845" name="Rectangle 5">
            <a:extLst>
              <a:ext uri="{FF2B5EF4-FFF2-40B4-BE49-F238E27FC236}">
                <a16:creationId xmlns:a16="http://schemas.microsoft.com/office/drawing/2014/main" xmlns="" id="{B91C062C-7413-4378-8F27-B7AB23070730}"/>
              </a:ext>
            </a:extLst>
          </p:cNvPr>
          <p:cNvSpPr>
            <a:spLocks noChangeArrowheads="1"/>
          </p:cNvSpPr>
          <p:nvPr/>
        </p:nvSpPr>
        <p:spPr bwMode="auto">
          <a:xfrm>
            <a:off x="623887" y="1823122"/>
            <a:ext cx="812891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762000">
              <a:spcBef>
                <a:spcPct val="20000"/>
              </a:spcBef>
              <a:buClr>
                <a:schemeClr val="accent2"/>
              </a:buClr>
              <a:buSzPct val="60000"/>
              <a:buFont typeface="Monotype Sorts" pitchFamily="1" charset="2"/>
              <a:buBlip>
                <a:blip r:embed="rId3"/>
              </a:buBlip>
              <a:defRPr sz="2000">
                <a:solidFill>
                  <a:srgbClr val="FFFFB3"/>
                </a:solidFill>
                <a:latin typeface="Arial" panose="020B0604020202020204" pitchFamily="34" charset="0"/>
              </a:defRPr>
            </a:lvl1pPr>
            <a:lvl2pPr marL="742950" indent="-285750" defTabSz="762000">
              <a:spcBef>
                <a:spcPct val="20000"/>
              </a:spcBef>
              <a:buClr>
                <a:schemeClr val="accent2"/>
              </a:buClr>
              <a:buSzPct val="60000"/>
              <a:buFont typeface="Monotype Sorts" pitchFamily="1" charset="2"/>
              <a:buBlip>
                <a:blip r:embed="rId4"/>
              </a:buBlip>
              <a:defRPr sz="2000">
                <a:solidFill>
                  <a:srgbClr val="FFFFB3"/>
                </a:solidFill>
                <a:latin typeface="Arial" panose="020B0604020202020204" pitchFamily="34" charset="0"/>
              </a:defRPr>
            </a:lvl2pPr>
            <a:lvl3pPr marL="1143000" indent="-228600" defTabSz="762000">
              <a:spcBef>
                <a:spcPct val="20000"/>
              </a:spcBef>
              <a:buSzPct val="100000"/>
              <a:buChar char="•"/>
              <a:defRPr sz="2000">
                <a:solidFill>
                  <a:srgbClr val="FFFFB3"/>
                </a:solidFill>
                <a:latin typeface="Arial" panose="020B0604020202020204" pitchFamily="34" charset="0"/>
              </a:defRPr>
            </a:lvl3pPr>
            <a:lvl4pPr marL="1562100" indent="-228600" defTabSz="762000">
              <a:spcBef>
                <a:spcPct val="20000"/>
              </a:spcBef>
              <a:buSzPct val="100000"/>
              <a:buFont typeface="Times" panose="02020603050405020304" pitchFamily="18" charset="0"/>
              <a:buChar char="•"/>
              <a:defRPr>
                <a:solidFill>
                  <a:srgbClr val="000000"/>
                </a:solidFill>
                <a:latin typeface="Arial" panose="020B0604020202020204" pitchFamily="34" charset="0"/>
              </a:defRPr>
            </a:lvl4pPr>
            <a:lvl5pPr marL="1981200" indent="-228600" defTabSz="762000">
              <a:spcBef>
                <a:spcPct val="20000"/>
              </a:spcBef>
              <a:buSzPct val="100000"/>
              <a:buChar char="•"/>
              <a:defRPr>
                <a:solidFill>
                  <a:srgbClr val="000000"/>
                </a:solidFill>
                <a:latin typeface="Arial" panose="020B0604020202020204" pitchFamily="34" charset="0"/>
              </a:defRPr>
            </a:lvl5pPr>
            <a:lvl6pPr marL="2438400" indent="-228600" defTabSz="762000" eaLnBrk="0" fontAlgn="base" hangingPunct="0">
              <a:spcBef>
                <a:spcPct val="20000"/>
              </a:spcBef>
              <a:spcAft>
                <a:spcPct val="0"/>
              </a:spcAft>
              <a:buSzPct val="100000"/>
              <a:buChar char="•"/>
              <a:defRPr>
                <a:solidFill>
                  <a:srgbClr val="000000"/>
                </a:solidFill>
                <a:latin typeface="Arial" panose="020B0604020202020204" pitchFamily="34" charset="0"/>
              </a:defRPr>
            </a:lvl6pPr>
            <a:lvl7pPr marL="2895600" indent="-228600" defTabSz="762000" eaLnBrk="0" fontAlgn="base" hangingPunct="0">
              <a:spcBef>
                <a:spcPct val="20000"/>
              </a:spcBef>
              <a:spcAft>
                <a:spcPct val="0"/>
              </a:spcAft>
              <a:buSzPct val="100000"/>
              <a:buChar char="•"/>
              <a:defRPr>
                <a:solidFill>
                  <a:srgbClr val="000000"/>
                </a:solidFill>
                <a:latin typeface="Arial" panose="020B0604020202020204" pitchFamily="34" charset="0"/>
              </a:defRPr>
            </a:lvl7pPr>
            <a:lvl8pPr marL="3352800" indent="-228600" defTabSz="762000" eaLnBrk="0" fontAlgn="base" hangingPunct="0">
              <a:spcBef>
                <a:spcPct val="20000"/>
              </a:spcBef>
              <a:spcAft>
                <a:spcPct val="0"/>
              </a:spcAft>
              <a:buSzPct val="100000"/>
              <a:buChar char="•"/>
              <a:defRPr>
                <a:solidFill>
                  <a:srgbClr val="000000"/>
                </a:solidFill>
                <a:latin typeface="Arial" panose="020B0604020202020204" pitchFamily="34" charset="0"/>
              </a:defRPr>
            </a:lvl8pPr>
            <a:lvl9pPr marL="3810000" indent="-228600" defTabSz="762000" eaLnBrk="0" fontAlgn="base" hangingPunct="0">
              <a:spcBef>
                <a:spcPct val="20000"/>
              </a:spcBef>
              <a:spcAft>
                <a:spcPct val="0"/>
              </a:spcAft>
              <a:buSzPct val="100000"/>
              <a:buChar char="•"/>
              <a:defRPr>
                <a:solidFill>
                  <a:srgbClr val="000000"/>
                </a:solidFill>
                <a:latin typeface="Arial" panose="020B0604020202020204" pitchFamily="34" charset="0"/>
              </a:defRPr>
            </a:lvl9pPr>
          </a:lstStyle>
          <a:p>
            <a:pPr>
              <a:buFont typeface="Monotype Sorts" pitchFamily="1" charset="2"/>
              <a:buNone/>
            </a:pPr>
            <a:r>
              <a:rPr lang="en-GB" altLang="en-US" dirty="0">
                <a:solidFill>
                  <a:schemeClr val="tx1"/>
                </a:solidFill>
                <a:latin typeface="+mn-lt"/>
              </a:rPr>
              <a:t>This is the time it takes to start generating a surplus of income over outgoings. What would it be below?</a:t>
            </a:r>
          </a:p>
        </p:txBody>
      </p:sp>
      <p:graphicFrame>
        <p:nvGraphicFramePr>
          <p:cNvPr id="35898" name="Group 58">
            <a:extLst>
              <a:ext uri="{FF2B5EF4-FFF2-40B4-BE49-F238E27FC236}">
                <a16:creationId xmlns:a16="http://schemas.microsoft.com/office/drawing/2014/main" xmlns="" id="{4A6AD1E4-0F59-4AA7-A486-32326F0D6102}"/>
              </a:ext>
            </a:extLst>
          </p:cNvPr>
          <p:cNvGraphicFramePr>
            <a:graphicFrameLocks noGrp="1"/>
          </p:cNvGraphicFramePr>
          <p:nvPr>
            <p:extLst>
              <p:ext uri="{D42A27DB-BD31-4B8C-83A1-F6EECF244321}">
                <p14:modId xmlns:p14="http://schemas.microsoft.com/office/powerpoint/2010/main" val="1320739530"/>
              </p:ext>
            </p:extLst>
          </p:nvPr>
        </p:nvGraphicFramePr>
        <p:xfrm>
          <a:off x="1461154" y="2871163"/>
          <a:ext cx="6454382" cy="3450262"/>
        </p:xfrm>
        <a:graphic>
          <a:graphicData uri="http://schemas.openxmlformats.org/drawingml/2006/table">
            <a:tbl>
              <a:tblPr/>
              <a:tblGrid>
                <a:gridCol w="1600575">
                  <a:extLst>
                    <a:ext uri="{9D8B030D-6E8A-4147-A177-3AD203B41FA5}">
                      <a16:colId xmlns:a16="http://schemas.microsoft.com/office/drawing/2014/main" xmlns="" val="2114313345"/>
                    </a:ext>
                  </a:extLst>
                </a:gridCol>
                <a:gridCol w="2426269">
                  <a:extLst>
                    <a:ext uri="{9D8B030D-6E8A-4147-A177-3AD203B41FA5}">
                      <a16:colId xmlns:a16="http://schemas.microsoft.com/office/drawing/2014/main" xmlns="" val="1578054845"/>
                    </a:ext>
                  </a:extLst>
                </a:gridCol>
                <a:gridCol w="2427538">
                  <a:extLst>
                    <a:ext uri="{9D8B030D-6E8A-4147-A177-3AD203B41FA5}">
                      <a16:colId xmlns:a16="http://schemas.microsoft.com/office/drawing/2014/main" xmlns="" val="2186965357"/>
                    </a:ext>
                  </a:extLst>
                </a:gridCol>
              </a:tblGrid>
              <a:tr h="470947">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1" i="0" u="none" strike="noStrike" cap="none" normalizeH="0" baseline="0" dirty="0">
                          <a:ln>
                            <a:noFill/>
                          </a:ln>
                          <a:solidFill>
                            <a:schemeClr val="tx1"/>
                          </a:solidFill>
                          <a:effectLst/>
                          <a:latin typeface="+mn-lt"/>
                        </a:rPr>
                        <a:t>Year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1" i="0" u="none" strike="noStrike" cap="none" normalizeH="0" baseline="0" dirty="0">
                          <a:ln>
                            <a:noFill/>
                          </a:ln>
                          <a:solidFill>
                            <a:schemeClr val="tx1"/>
                          </a:solidFill>
                          <a:effectLst/>
                          <a:latin typeface="+mn-lt"/>
                        </a:rPr>
                        <a:t>Cash-flow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1" i="0" u="none" strike="noStrike" cap="none" normalizeH="0" baseline="0" dirty="0">
                          <a:ln>
                            <a:noFill/>
                          </a:ln>
                          <a:solidFill>
                            <a:schemeClr val="tx1"/>
                          </a:solidFill>
                          <a:effectLst/>
                          <a:latin typeface="+mn-lt"/>
                        </a:rPr>
                        <a:t>Accumulated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353473511"/>
                  </a:ext>
                </a:extLst>
              </a:tr>
              <a:tr h="495356">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rgbClr val="CC0000"/>
                          </a:solidFill>
                          <a:effectLst/>
                          <a:latin typeface="+mn-lt"/>
                        </a:rPr>
                        <a:t>-100,000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rgbClr val="CC0000"/>
                          </a:solidFill>
                          <a:effectLst/>
                          <a:latin typeface="+mn-lt"/>
                        </a:rPr>
                        <a:t>-100,000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005961799"/>
                  </a:ext>
                </a:extLst>
              </a:tr>
              <a:tr h="498228">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10,000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rgbClr val="CC0000"/>
                          </a:solidFill>
                          <a:effectLst/>
                          <a:latin typeface="+mn-lt"/>
                        </a:rPr>
                        <a:t>-90,000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239433020"/>
                  </a:ext>
                </a:extLst>
              </a:tr>
              <a:tr h="495356">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10,000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rgbClr val="CC0000"/>
                          </a:solidFill>
                          <a:effectLst/>
                          <a:latin typeface="+mn-lt"/>
                        </a:rPr>
                        <a:t>-80,000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453667670"/>
                  </a:ext>
                </a:extLst>
              </a:tr>
              <a:tr h="496791">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10,000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rgbClr val="CC0000"/>
                          </a:solidFill>
                          <a:effectLst/>
                          <a:latin typeface="+mn-lt"/>
                        </a:rPr>
                        <a:t>-70,000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987979359"/>
                  </a:ext>
                </a:extLst>
              </a:tr>
              <a:tr h="495356">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20,000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rgbClr val="CC0000"/>
                          </a:solidFill>
                          <a:effectLst/>
                          <a:latin typeface="+mn-lt"/>
                        </a:rPr>
                        <a:t>-50,000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149866246"/>
                  </a:ext>
                </a:extLst>
              </a:tr>
              <a:tr h="498228">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100,000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mn-lt"/>
                        </a:rPr>
                        <a:t>50,000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68335165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xmlns="" id="{8761DDFE-071F-4200-B0AA-394476C2D2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xmlns="" id="{9460678F-7041-DAF3-E215-E8A7C8989E77}"/>
              </a:ext>
            </a:extLst>
          </p:cNvPr>
          <p:cNvPicPr>
            <a:picLocks noChangeAspect="1"/>
          </p:cNvPicPr>
          <p:nvPr/>
        </p:nvPicPr>
        <p:blipFill>
          <a:blip r:embed="rId2"/>
          <a:stretch>
            <a:fillRect/>
          </a:stretch>
        </p:blipFill>
        <p:spPr>
          <a:xfrm>
            <a:off x="145219" y="478263"/>
            <a:ext cx="8851274" cy="4934584"/>
          </a:xfrm>
          <a:prstGeom prst="rect">
            <a:avLst/>
          </a:prstGeom>
        </p:spPr>
      </p:pic>
      <p:pic>
        <p:nvPicPr>
          <p:cNvPr id="8" name="Picture 7">
            <a:extLst>
              <a:ext uri="{FF2B5EF4-FFF2-40B4-BE49-F238E27FC236}">
                <a16:creationId xmlns:a16="http://schemas.microsoft.com/office/drawing/2014/main" xmlns="" id="{D4639069-F35D-DA96-D9AE-567E8BA49543}"/>
              </a:ext>
            </a:extLst>
          </p:cNvPr>
          <p:cNvPicPr>
            <a:picLocks noChangeAspect="1"/>
          </p:cNvPicPr>
          <p:nvPr/>
        </p:nvPicPr>
        <p:blipFill>
          <a:blip r:embed="rId3"/>
          <a:stretch>
            <a:fillRect/>
          </a:stretch>
        </p:blipFill>
        <p:spPr>
          <a:xfrm>
            <a:off x="26980" y="431793"/>
            <a:ext cx="9087751" cy="3953171"/>
          </a:xfrm>
          <a:prstGeom prst="rect">
            <a:avLst/>
          </a:prstGeom>
          <a:ln w="88900" cap="sq" cmpd="thickThin">
            <a:solidFill>
              <a:srgbClr val="000000"/>
            </a:solidFill>
            <a:prstDash val="solid"/>
            <a:miter lim="800000"/>
          </a:ln>
          <a:effectLst>
            <a:innerShdw blurRad="76200">
              <a:srgbClr val="000000"/>
            </a:innerShdw>
          </a:effectLst>
        </p:spPr>
      </p:pic>
      <p:sp>
        <p:nvSpPr>
          <p:cNvPr id="4" name="Slide Number Placeholder 3">
            <a:extLst>
              <a:ext uri="{FF2B5EF4-FFF2-40B4-BE49-F238E27FC236}">
                <a16:creationId xmlns:a16="http://schemas.microsoft.com/office/drawing/2014/main" xmlns="" id="{D40ADCB4-EFF1-28CE-CB4C-1BDEDD7EDA93}"/>
              </a:ext>
            </a:extLst>
          </p:cNvPr>
          <p:cNvSpPr>
            <a:spLocks noGrp="1"/>
          </p:cNvSpPr>
          <p:nvPr>
            <p:ph type="sldNum" sz="quarter" idx="12"/>
          </p:nvPr>
        </p:nvSpPr>
        <p:spPr>
          <a:xfrm>
            <a:off x="6457950" y="6356350"/>
            <a:ext cx="2057400" cy="365125"/>
          </a:xfrm>
        </p:spPr>
        <p:txBody>
          <a:bodyPr>
            <a:normAutofit/>
          </a:bodyPr>
          <a:lstStyle/>
          <a:p>
            <a:pPr>
              <a:spcAft>
                <a:spcPts val="600"/>
              </a:spcAft>
            </a:pPr>
            <a:fld id="{60D6D740-8150-433F-9426-3FCFF681501A}" type="slidenum">
              <a:rPr lang="en-US" smtClean="0"/>
              <a:pPr>
                <a:spcAft>
                  <a:spcPts val="600"/>
                </a:spcAft>
              </a:pPr>
              <a:t>27</a:t>
            </a:fld>
            <a:endParaRPr lang="en-US"/>
          </a:p>
        </p:txBody>
      </p:sp>
    </p:spTree>
    <p:extLst>
      <p:ext uri="{BB962C8B-B14F-4D97-AF65-F5344CB8AC3E}">
        <p14:creationId xmlns:p14="http://schemas.microsoft.com/office/powerpoint/2010/main" val="1927493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A54AA2-72AC-432C-A4C4-22F803ED81D0}"/>
              </a:ext>
            </a:extLst>
          </p:cNvPr>
          <p:cNvSpPr>
            <a:spLocks noGrp="1"/>
          </p:cNvSpPr>
          <p:nvPr>
            <p:ph type="title"/>
          </p:nvPr>
        </p:nvSpPr>
        <p:spPr/>
        <p:txBody>
          <a:bodyPr/>
          <a:lstStyle/>
          <a:p>
            <a:r>
              <a:rPr lang="en-GB" altLang="en-US" dirty="0"/>
              <a:t>Return on investment (ROI)</a:t>
            </a:r>
            <a:endParaRPr lang="en-US" dirty="0"/>
          </a:p>
        </p:txBody>
      </p:sp>
      <p:sp>
        <p:nvSpPr>
          <p:cNvPr id="4" name="Slide Number Placeholder 3">
            <a:extLst>
              <a:ext uri="{FF2B5EF4-FFF2-40B4-BE49-F238E27FC236}">
                <a16:creationId xmlns:a16="http://schemas.microsoft.com/office/drawing/2014/main" xmlns="" id="{09C0A255-72B7-4701-89B0-B996290637FB}"/>
              </a:ext>
            </a:extLst>
          </p:cNvPr>
          <p:cNvSpPr>
            <a:spLocks noGrp="1"/>
          </p:cNvSpPr>
          <p:nvPr>
            <p:ph type="sldNum" sz="quarter" idx="12"/>
          </p:nvPr>
        </p:nvSpPr>
        <p:spPr/>
        <p:txBody>
          <a:bodyPr/>
          <a:lstStyle/>
          <a:p>
            <a:fld id="{60D6D740-8150-433F-9426-3FCFF681501A}" type="slidenum">
              <a:rPr lang="en-US" smtClean="0"/>
              <a:pPr/>
              <a:t>28</a:t>
            </a:fld>
            <a:endParaRPr lang="en-US" dirty="0"/>
          </a:p>
        </p:txBody>
      </p:sp>
      <p:sp>
        <p:nvSpPr>
          <p:cNvPr id="5" name="Rectangle 3">
            <a:extLst>
              <a:ext uri="{FF2B5EF4-FFF2-40B4-BE49-F238E27FC236}">
                <a16:creationId xmlns:a16="http://schemas.microsoft.com/office/drawing/2014/main" xmlns="" id="{22EDE68A-CEEE-4988-830B-B4C498464EF0}"/>
              </a:ext>
            </a:extLst>
          </p:cNvPr>
          <p:cNvSpPr txBox="1">
            <a:spLocks noChangeArrowheads="1"/>
          </p:cNvSpPr>
          <p:nvPr/>
        </p:nvSpPr>
        <p:spPr>
          <a:xfrm>
            <a:off x="1471228" y="2083592"/>
            <a:ext cx="1450975" cy="820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pitchFamily="1" charset="2"/>
              <a:buNone/>
            </a:pPr>
            <a:r>
              <a:rPr lang="en-GB" altLang="en-US" sz="2400"/>
              <a:t>ROI = </a:t>
            </a:r>
            <a:endParaRPr lang="en-GB" altLang="en-US" sz="2400" dirty="0"/>
          </a:p>
        </p:txBody>
      </p:sp>
      <p:sp>
        <p:nvSpPr>
          <p:cNvPr id="6" name="Text Box 7">
            <a:extLst>
              <a:ext uri="{FF2B5EF4-FFF2-40B4-BE49-F238E27FC236}">
                <a16:creationId xmlns:a16="http://schemas.microsoft.com/office/drawing/2014/main" xmlns="" id="{BE7B9399-609F-4F1F-A4B2-495D05CB6D9A}"/>
              </a:ext>
            </a:extLst>
          </p:cNvPr>
          <p:cNvSpPr txBox="1">
            <a:spLocks noChangeArrowheads="1"/>
          </p:cNvSpPr>
          <p:nvPr/>
        </p:nvSpPr>
        <p:spPr bwMode="auto">
          <a:xfrm>
            <a:off x="2406650" y="1917701"/>
            <a:ext cx="287444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sz="2400" u="sng" dirty="0"/>
              <a:t>Average annual profit</a:t>
            </a:r>
          </a:p>
          <a:p>
            <a:pPr eaLnBrk="1" hangingPunct="1"/>
            <a:r>
              <a:rPr lang="en-GB" altLang="en-US" sz="2400" dirty="0"/>
              <a:t>Total investment</a:t>
            </a:r>
          </a:p>
        </p:txBody>
      </p:sp>
      <p:sp>
        <p:nvSpPr>
          <p:cNvPr id="7" name="Text Box 9">
            <a:extLst>
              <a:ext uri="{FF2B5EF4-FFF2-40B4-BE49-F238E27FC236}">
                <a16:creationId xmlns:a16="http://schemas.microsoft.com/office/drawing/2014/main" xmlns="" id="{7F5C7EBF-5B2E-4660-B241-4E467A7F973E}"/>
              </a:ext>
            </a:extLst>
          </p:cNvPr>
          <p:cNvSpPr txBox="1">
            <a:spLocks noChangeArrowheads="1"/>
          </p:cNvSpPr>
          <p:nvPr/>
        </p:nvSpPr>
        <p:spPr bwMode="auto">
          <a:xfrm>
            <a:off x="5360668" y="2050132"/>
            <a:ext cx="8803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sz="2400" dirty="0"/>
              <a:t>X 100</a:t>
            </a:r>
          </a:p>
        </p:txBody>
      </p:sp>
      <p:sp>
        <p:nvSpPr>
          <p:cNvPr id="8" name="Text Box 10">
            <a:extLst>
              <a:ext uri="{FF2B5EF4-FFF2-40B4-BE49-F238E27FC236}">
                <a16:creationId xmlns:a16="http://schemas.microsoft.com/office/drawing/2014/main" xmlns="" id="{281A618B-12DA-4A60-A9A9-7B2D5B0E72B1}"/>
              </a:ext>
            </a:extLst>
          </p:cNvPr>
          <p:cNvSpPr txBox="1">
            <a:spLocks noChangeArrowheads="1"/>
          </p:cNvSpPr>
          <p:nvPr/>
        </p:nvSpPr>
        <p:spPr bwMode="auto">
          <a:xfrm>
            <a:off x="1328418" y="2751158"/>
            <a:ext cx="543130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GB" altLang="en-US" sz="2800" dirty="0"/>
              <a:t>In the previous example</a:t>
            </a:r>
          </a:p>
          <a:p>
            <a:pPr eaLnBrk="1" hangingPunct="1">
              <a:buFontTx/>
              <a:buChar char="•"/>
            </a:pPr>
            <a:r>
              <a:rPr lang="en-GB" altLang="en-US" sz="2800" dirty="0"/>
              <a:t>  average annual profit </a:t>
            </a:r>
            <a:br>
              <a:rPr lang="en-GB" altLang="en-US" sz="2800" dirty="0"/>
            </a:br>
            <a:r>
              <a:rPr lang="en-GB" altLang="en-US" sz="2800" dirty="0"/>
              <a:t>	= 50,000/5  </a:t>
            </a:r>
            <a:br>
              <a:rPr lang="en-GB" altLang="en-US" sz="2800" dirty="0"/>
            </a:br>
            <a:r>
              <a:rPr lang="en-GB" altLang="en-US" sz="2800" dirty="0"/>
              <a:t>	= 10,000</a:t>
            </a:r>
          </a:p>
          <a:p>
            <a:pPr eaLnBrk="1" hangingPunct="1">
              <a:buFontTx/>
              <a:buChar char="•"/>
            </a:pPr>
            <a:r>
              <a:rPr lang="en-GB" altLang="en-US" sz="2800" dirty="0"/>
              <a:t> ROI 	= 10,000/100,000 X 100			=  10% </a:t>
            </a:r>
          </a:p>
          <a:p>
            <a:pPr eaLnBrk="1" hangingPunct="1">
              <a:buFontTx/>
              <a:buChar char="•"/>
            </a:pPr>
            <a:endParaRPr lang="en-GB" altLang="en-US" sz="2400" dirty="0"/>
          </a:p>
          <a:p>
            <a:pPr eaLnBrk="1" hangingPunct="1"/>
            <a:r>
              <a:rPr lang="en-GB" altLang="en-US" sz="2800" dirty="0"/>
              <a:t>ROI is also known as:</a:t>
            </a:r>
          </a:p>
          <a:p>
            <a:pPr eaLnBrk="1" hangingPunct="1"/>
            <a:r>
              <a:rPr lang="en-GB" altLang="en-US" sz="2800" dirty="0"/>
              <a:t>Accounting rate of return (</a:t>
            </a:r>
            <a:r>
              <a:rPr lang="en-GB" altLang="en-US" sz="2800" dirty="0" err="1"/>
              <a:t>ARR</a:t>
            </a:r>
            <a:r>
              <a:rPr lang="en-GB" altLang="en-US" sz="2800" dirty="0"/>
              <a:t>)</a:t>
            </a:r>
          </a:p>
        </p:txBody>
      </p:sp>
    </p:spTree>
    <p:extLst>
      <p:ext uri="{BB962C8B-B14F-4D97-AF65-F5344CB8AC3E}">
        <p14:creationId xmlns:p14="http://schemas.microsoft.com/office/powerpoint/2010/main" val="740252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4">
            <a:extLst>
              <a:ext uri="{FF2B5EF4-FFF2-40B4-BE49-F238E27FC236}">
                <a16:creationId xmlns:a16="http://schemas.microsoft.com/office/drawing/2014/main" xmlns="" id="{DB82F048-5961-4BFD-848D-6855E7F35B1D}"/>
              </a:ext>
            </a:extLst>
          </p:cNvPr>
          <p:cNvSpPr>
            <a:spLocks noGrp="1"/>
          </p:cNvSpPr>
          <p:nvPr>
            <p:ph type="sldNum" sz="quarter" idx="11"/>
          </p:nvPr>
        </p:nvSpPr>
        <p:spPr bwMode="auto">
          <a:xfrm>
            <a:off x="6659563" y="6092825"/>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en-GB"/>
            </a:defPPr>
            <a:lvl1pPr algn="r" rtl="0" eaLnBrk="0" fontAlgn="base" hangingPunct="0">
              <a:spcBef>
                <a:spcPct val="0"/>
              </a:spcBef>
              <a:spcAft>
                <a:spcPct val="0"/>
              </a:spcAft>
              <a:buFont typeface="Arial" panose="020B0604020202020204" pitchFamily="34" charset="0"/>
              <a:buNone/>
              <a:defRPr sz="1400" kern="1200">
                <a:solidFill>
                  <a:srgbClr val="FFFF99"/>
                </a:solidFill>
                <a:latin typeface="Times New Roman" panose="02020603050405020304" pitchFamily="18"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149C8BDD-6025-42F3-8F71-2798B5BFCE84}" type="slidenum">
              <a:rPr lang="en-US" altLang="en-US" smtClean="0">
                <a:solidFill>
                  <a:schemeClr val="tx1"/>
                </a:solidFill>
              </a:rPr>
              <a:pPr/>
              <a:t>29</a:t>
            </a:fld>
            <a:endParaRPr lang="en-US" altLang="en-US">
              <a:solidFill>
                <a:schemeClr val="tx1"/>
              </a:solidFill>
            </a:endParaRPr>
          </a:p>
        </p:txBody>
      </p:sp>
      <p:sp>
        <p:nvSpPr>
          <p:cNvPr id="35844" name="Rectangle 4">
            <a:extLst>
              <a:ext uri="{FF2B5EF4-FFF2-40B4-BE49-F238E27FC236}">
                <a16:creationId xmlns:a16="http://schemas.microsoft.com/office/drawing/2014/main" xmlns="" id="{7DF9F00F-082C-4CB9-AC12-44CCD34EAD91}"/>
              </a:ext>
            </a:extLst>
          </p:cNvPr>
          <p:cNvSpPr>
            <a:spLocks noChangeArrowheads="1"/>
          </p:cNvSpPr>
          <p:nvPr/>
        </p:nvSpPr>
        <p:spPr bwMode="auto">
          <a:xfrm>
            <a:off x="623887" y="73631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defTabSz="762000">
              <a:defRPr sz="3600" b="1">
                <a:solidFill>
                  <a:srgbClr val="FFFF99"/>
                </a:solidFill>
                <a:latin typeface="Arial" panose="020B0604020202020204" pitchFamily="34" charset="0"/>
              </a:defRPr>
            </a:lvl1pPr>
            <a:lvl2pPr algn="ctr" defTabSz="762000">
              <a:defRPr sz="3600" b="1">
                <a:solidFill>
                  <a:srgbClr val="FFFF99"/>
                </a:solidFill>
                <a:latin typeface="Arial" panose="020B0604020202020204" pitchFamily="34" charset="0"/>
              </a:defRPr>
            </a:lvl2pPr>
            <a:lvl3pPr algn="ctr" defTabSz="762000">
              <a:defRPr sz="3600" b="1">
                <a:solidFill>
                  <a:srgbClr val="FFFF99"/>
                </a:solidFill>
                <a:latin typeface="Arial" panose="020B0604020202020204" pitchFamily="34" charset="0"/>
              </a:defRPr>
            </a:lvl3pPr>
            <a:lvl4pPr algn="ctr" defTabSz="762000">
              <a:defRPr sz="3600" b="1">
                <a:solidFill>
                  <a:srgbClr val="FFFF99"/>
                </a:solidFill>
                <a:latin typeface="Arial" panose="020B0604020202020204" pitchFamily="34" charset="0"/>
              </a:defRPr>
            </a:lvl4pPr>
            <a:lvl5pPr algn="ctr" defTabSz="762000">
              <a:defRPr sz="3600" b="1">
                <a:solidFill>
                  <a:srgbClr val="FFFF99"/>
                </a:solidFill>
                <a:latin typeface="Arial" panose="020B0604020202020204" pitchFamily="34" charset="0"/>
              </a:defRPr>
            </a:lvl5pPr>
            <a:lvl6pPr marL="457200" algn="ctr" defTabSz="762000" eaLnBrk="0" fontAlgn="base" hangingPunct="0">
              <a:spcBef>
                <a:spcPct val="0"/>
              </a:spcBef>
              <a:spcAft>
                <a:spcPct val="0"/>
              </a:spcAft>
              <a:defRPr sz="3600" b="1">
                <a:solidFill>
                  <a:srgbClr val="FFFF99"/>
                </a:solidFill>
                <a:latin typeface="Arial" panose="020B0604020202020204" pitchFamily="34" charset="0"/>
              </a:defRPr>
            </a:lvl6pPr>
            <a:lvl7pPr marL="914400" algn="ctr" defTabSz="762000" eaLnBrk="0" fontAlgn="base" hangingPunct="0">
              <a:spcBef>
                <a:spcPct val="0"/>
              </a:spcBef>
              <a:spcAft>
                <a:spcPct val="0"/>
              </a:spcAft>
              <a:defRPr sz="3600" b="1">
                <a:solidFill>
                  <a:srgbClr val="FFFF99"/>
                </a:solidFill>
                <a:latin typeface="Arial" panose="020B0604020202020204" pitchFamily="34" charset="0"/>
              </a:defRPr>
            </a:lvl7pPr>
            <a:lvl8pPr marL="1371600" algn="ctr" defTabSz="762000" eaLnBrk="0" fontAlgn="base" hangingPunct="0">
              <a:spcBef>
                <a:spcPct val="0"/>
              </a:spcBef>
              <a:spcAft>
                <a:spcPct val="0"/>
              </a:spcAft>
              <a:defRPr sz="3600" b="1">
                <a:solidFill>
                  <a:srgbClr val="FFFF99"/>
                </a:solidFill>
                <a:latin typeface="Arial" panose="020B0604020202020204" pitchFamily="34" charset="0"/>
              </a:defRPr>
            </a:lvl8pPr>
            <a:lvl9pPr marL="1828800" algn="ctr" defTabSz="762000" eaLnBrk="0" fontAlgn="base" hangingPunct="0">
              <a:spcBef>
                <a:spcPct val="0"/>
              </a:spcBef>
              <a:spcAft>
                <a:spcPct val="0"/>
              </a:spcAft>
              <a:defRPr sz="3600" b="1">
                <a:solidFill>
                  <a:srgbClr val="FFFF99"/>
                </a:solidFill>
                <a:latin typeface="Arial" panose="020B0604020202020204" pitchFamily="34" charset="0"/>
              </a:defRPr>
            </a:lvl9pPr>
          </a:lstStyle>
          <a:p>
            <a:pPr algn="l"/>
            <a:r>
              <a:rPr lang="en-GB" altLang="en-US" b="0" dirty="0">
                <a:solidFill>
                  <a:schemeClr val="tx1"/>
                </a:solidFill>
                <a:latin typeface="+mj-lt"/>
              </a:rPr>
              <a:t>Calculate Payback period and ROI</a:t>
            </a:r>
          </a:p>
        </p:txBody>
      </p:sp>
      <p:pic>
        <p:nvPicPr>
          <p:cNvPr id="3" name="Picture 2">
            <a:extLst>
              <a:ext uri="{FF2B5EF4-FFF2-40B4-BE49-F238E27FC236}">
                <a16:creationId xmlns:a16="http://schemas.microsoft.com/office/drawing/2014/main" xmlns="" id="{66B24E81-3CEF-4D8D-A355-27F73E8074C9}"/>
              </a:ext>
            </a:extLst>
          </p:cNvPr>
          <p:cNvPicPr>
            <a:picLocks noChangeAspect="1"/>
          </p:cNvPicPr>
          <p:nvPr/>
        </p:nvPicPr>
        <p:blipFill rotWithShape="1">
          <a:blip r:embed="rId3"/>
          <a:srcRect l="20854" t="37968" r="21829" b="25827"/>
          <a:stretch/>
        </p:blipFill>
        <p:spPr>
          <a:xfrm>
            <a:off x="468351" y="1616927"/>
            <a:ext cx="8385136" cy="4933098"/>
          </a:xfrm>
          <a:prstGeom prst="rect">
            <a:avLst/>
          </a:prstGeom>
        </p:spPr>
      </p:pic>
    </p:spTree>
    <p:extLst>
      <p:ext uri="{BB962C8B-B14F-4D97-AF65-F5344CB8AC3E}">
        <p14:creationId xmlns:p14="http://schemas.microsoft.com/office/powerpoint/2010/main" val="4274989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4">
            <a:extLst>
              <a:ext uri="{FF2B5EF4-FFF2-40B4-BE49-F238E27FC236}">
                <a16:creationId xmlns:a16="http://schemas.microsoft.com/office/drawing/2014/main" xmlns="" id="{DB82F048-5961-4BFD-848D-6855E7F35B1D}"/>
              </a:ext>
            </a:extLst>
          </p:cNvPr>
          <p:cNvSpPr>
            <a:spLocks noGrp="1"/>
          </p:cNvSpPr>
          <p:nvPr>
            <p:ph type="sldNum" sz="quarter" idx="11"/>
          </p:nvPr>
        </p:nvSpPr>
        <p:spPr bwMode="auto">
          <a:xfrm>
            <a:off x="6659563" y="6092825"/>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en-GB"/>
            </a:defPPr>
            <a:lvl1pPr algn="r" rtl="0" eaLnBrk="0" fontAlgn="base" hangingPunct="0">
              <a:spcBef>
                <a:spcPct val="0"/>
              </a:spcBef>
              <a:spcAft>
                <a:spcPct val="0"/>
              </a:spcAft>
              <a:buFont typeface="Arial" panose="020B0604020202020204" pitchFamily="34" charset="0"/>
              <a:buNone/>
              <a:defRPr sz="1400" kern="1200">
                <a:solidFill>
                  <a:srgbClr val="FFFF99"/>
                </a:solidFill>
                <a:latin typeface="Times New Roman" panose="02020603050405020304" pitchFamily="18"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149C8BDD-6025-42F3-8F71-2798B5BFCE84}" type="slidenum">
              <a:rPr lang="en-US" altLang="en-US" smtClean="0">
                <a:solidFill>
                  <a:schemeClr val="tx1"/>
                </a:solidFill>
              </a:rPr>
              <a:pPr/>
              <a:t>30</a:t>
            </a:fld>
            <a:endParaRPr lang="en-US" altLang="en-US">
              <a:solidFill>
                <a:schemeClr val="tx1"/>
              </a:solidFill>
            </a:endParaRPr>
          </a:p>
        </p:txBody>
      </p:sp>
      <p:sp>
        <p:nvSpPr>
          <p:cNvPr id="35844" name="Rectangle 4">
            <a:extLst>
              <a:ext uri="{FF2B5EF4-FFF2-40B4-BE49-F238E27FC236}">
                <a16:creationId xmlns:a16="http://schemas.microsoft.com/office/drawing/2014/main" xmlns="" id="{7DF9F00F-082C-4CB9-AC12-44CCD34EAD91}"/>
              </a:ext>
            </a:extLst>
          </p:cNvPr>
          <p:cNvSpPr>
            <a:spLocks noChangeArrowheads="1"/>
          </p:cNvSpPr>
          <p:nvPr/>
        </p:nvSpPr>
        <p:spPr bwMode="auto">
          <a:xfrm>
            <a:off x="623887" y="73631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defTabSz="762000">
              <a:defRPr sz="3600" b="1">
                <a:solidFill>
                  <a:srgbClr val="FFFF99"/>
                </a:solidFill>
                <a:latin typeface="Arial" panose="020B0604020202020204" pitchFamily="34" charset="0"/>
              </a:defRPr>
            </a:lvl1pPr>
            <a:lvl2pPr algn="ctr" defTabSz="762000">
              <a:defRPr sz="3600" b="1">
                <a:solidFill>
                  <a:srgbClr val="FFFF99"/>
                </a:solidFill>
                <a:latin typeface="Arial" panose="020B0604020202020204" pitchFamily="34" charset="0"/>
              </a:defRPr>
            </a:lvl2pPr>
            <a:lvl3pPr algn="ctr" defTabSz="762000">
              <a:defRPr sz="3600" b="1">
                <a:solidFill>
                  <a:srgbClr val="FFFF99"/>
                </a:solidFill>
                <a:latin typeface="Arial" panose="020B0604020202020204" pitchFamily="34" charset="0"/>
              </a:defRPr>
            </a:lvl3pPr>
            <a:lvl4pPr algn="ctr" defTabSz="762000">
              <a:defRPr sz="3600" b="1">
                <a:solidFill>
                  <a:srgbClr val="FFFF99"/>
                </a:solidFill>
                <a:latin typeface="Arial" panose="020B0604020202020204" pitchFamily="34" charset="0"/>
              </a:defRPr>
            </a:lvl4pPr>
            <a:lvl5pPr algn="ctr" defTabSz="762000">
              <a:defRPr sz="3600" b="1">
                <a:solidFill>
                  <a:srgbClr val="FFFF99"/>
                </a:solidFill>
                <a:latin typeface="Arial" panose="020B0604020202020204" pitchFamily="34" charset="0"/>
              </a:defRPr>
            </a:lvl5pPr>
            <a:lvl6pPr marL="457200" algn="ctr" defTabSz="762000" eaLnBrk="0" fontAlgn="base" hangingPunct="0">
              <a:spcBef>
                <a:spcPct val="0"/>
              </a:spcBef>
              <a:spcAft>
                <a:spcPct val="0"/>
              </a:spcAft>
              <a:defRPr sz="3600" b="1">
                <a:solidFill>
                  <a:srgbClr val="FFFF99"/>
                </a:solidFill>
                <a:latin typeface="Arial" panose="020B0604020202020204" pitchFamily="34" charset="0"/>
              </a:defRPr>
            </a:lvl6pPr>
            <a:lvl7pPr marL="914400" algn="ctr" defTabSz="762000" eaLnBrk="0" fontAlgn="base" hangingPunct="0">
              <a:spcBef>
                <a:spcPct val="0"/>
              </a:spcBef>
              <a:spcAft>
                <a:spcPct val="0"/>
              </a:spcAft>
              <a:defRPr sz="3600" b="1">
                <a:solidFill>
                  <a:srgbClr val="FFFF99"/>
                </a:solidFill>
                <a:latin typeface="Arial" panose="020B0604020202020204" pitchFamily="34" charset="0"/>
              </a:defRPr>
            </a:lvl7pPr>
            <a:lvl8pPr marL="1371600" algn="ctr" defTabSz="762000" eaLnBrk="0" fontAlgn="base" hangingPunct="0">
              <a:spcBef>
                <a:spcPct val="0"/>
              </a:spcBef>
              <a:spcAft>
                <a:spcPct val="0"/>
              </a:spcAft>
              <a:defRPr sz="3600" b="1">
                <a:solidFill>
                  <a:srgbClr val="FFFF99"/>
                </a:solidFill>
                <a:latin typeface="Arial" panose="020B0604020202020204" pitchFamily="34" charset="0"/>
              </a:defRPr>
            </a:lvl8pPr>
            <a:lvl9pPr marL="1828800" algn="ctr" defTabSz="762000" eaLnBrk="0" fontAlgn="base" hangingPunct="0">
              <a:spcBef>
                <a:spcPct val="0"/>
              </a:spcBef>
              <a:spcAft>
                <a:spcPct val="0"/>
              </a:spcAft>
              <a:defRPr sz="3600" b="1">
                <a:solidFill>
                  <a:srgbClr val="FFFF99"/>
                </a:solidFill>
                <a:latin typeface="Arial" panose="020B0604020202020204" pitchFamily="34" charset="0"/>
              </a:defRPr>
            </a:lvl9pPr>
          </a:lstStyle>
          <a:p>
            <a:pPr algn="l"/>
            <a:r>
              <a:rPr lang="en-GB" altLang="en-US" b="0" dirty="0">
                <a:solidFill>
                  <a:schemeClr val="tx1"/>
                </a:solidFill>
                <a:latin typeface="+mj-lt"/>
              </a:rPr>
              <a:t>Calculate Pay back period and ROI</a:t>
            </a:r>
          </a:p>
        </p:txBody>
      </p:sp>
      <p:sp>
        <p:nvSpPr>
          <p:cNvPr id="6" name="TextBox 5">
            <a:extLst>
              <a:ext uri="{FF2B5EF4-FFF2-40B4-BE49-F238E27FC236}">
                <a16:creationId xmlns:a16="http://schemas.microsoft.com/office/drawing/2014/main" xmlns="" id="{66ECA983-AFDB-4CA5-B0D7-70DABBA87055}"/>
              </a:ext>
            </a:extLst>
          </p:cNvPr>
          <p:cNvSpPr txBox="1"/>
          <p:nvPr/>
        </p:nvSpPr>
        <p:spPr>
          <a:xfrm>
            <a:off x="528811" y="2025710"/>
            <a:ext cx="8419752" cy="4524315"/>
          </a:xfrm>
          <a:prstGeom prst="rect">
            <a:avLst/>
          </a:prstGeom>
          <a:noFill/>
        </p:spPr>
        <p:txBody>
          <a:bodyPr wrap="square">
            <a:spAutoFit/>
          </a:bodyPr>
          <a:lstStyle/>
          <a:p>
            <a:pPr algn="just"/>
            <a:r>
              <a:rPr lang="en-US" sz="2400" dirty="0"/>
              <a:t>Calculating payback periods </a:t>
            </a:r>
          </a:p>
          <a:p>
            <a:pPr algn="just"/>
            <a:r>
              <a:rPr lang="en-US" sz="2400" dirty="0"/>
              <a:t>The payback periods for each of the projects will occur during the year indicated:</a:t>
            </a:r>
          </a:p>
          <a:p>
            <a:pPr marL="342900" indent="-342900" algn="just">
              <a:buFont typeface="Arial" panose="020B0604020202020204" pitchFamily="34" charset="0"/>
              <a:buChar char="•"/>
            </a:pPr>
            <a:r>
              <a:rPr lang="en-US" sz="2400" dirty="0"/>
              <a:t>project 1, year 5; </a:t>
            </a:r>
          </a:p>
          <a:p>
            <a:pPr marL="342900" indent="-342900" algn="just">
              <a:buFont typeface="Arial" panose="020B0604020202020204" pitchFamily="34" charset="0"/>
              <a:buChar char="•"/>
            </a:pPr>
            <a:r>
              <a:rPr lang="en-US" sz="2400" dirty="0"/>
              <a:t>project 2, year 5; </a:t>
            </a:r>
          </a:p>
          <a:p>
            <a:pPr marL="342900" indent="-342900" algn="just">
              <a:buFont typeface="Arial" panose="020B0604020202020204" pitchFamily="34" charset="0"/>
              <a:buChar char="•"/>
            </a:pPr>
            <a:r>
              <a:rPr lang="en-US" sz="2400" dirty="0"/>
              <a:t>project 3, year 4</a:t>
            </a:r>
          </a:p>
          <a:p>
            <a:pPr marL="342900" indent="-342900" algn="just">
              <a:buFont typeface="Arial" panose="020B0604020202020204" pitchFamily="34" charset="0"/>
              <a:buChar char="•"/>
            </a:pPr>
            <a:r>
              <a:rPr lang="en-US" sz="2400" dirty="0"/>
              <a:t>project 4, at the end of year 4. </a:t>
            </a:r>
          </a:p>
          <a:p>
            <a:pPr algn="just"/>
            <a:r>
              <a:rPr lang="en-US" sz="2400" dirty="0"/>
              <a:t>We would therefore </a:t>
            </a:r>
            <a:r>
              <a:rPr lang="en-US" sz="2400" dirty="0">
                <a:highlight>
                  <a:srgbClr val="FFFF00"/>
                </a:highlight>
              </a:rPr>
              <a:t>favor project </a:t>
            </a:r>
            <a:r>
              <a:rPr lang="en-US" sz="2400" dirty="0"/>
              <a:t>3 or 4 over the other two. Note that, in reality, with relatively short-term projects such as these we would produce a monthly (or at least quarterly) cash flow forecast and it is therefore likely that project 3 would be seen more clearly to have a </a:t>
            </a:r>
            <a:r>
              <a:rPr lang="en-US" sz="2400" dirty="0">
                <a:highlight>
                  <a:srgbClr val="FFFF00"/>
                </a:highlight>
              </a:rPr>
              <a:t>shorter payback period </a:t>
            </a:r>
            <a:r>
              <a:rPr lang="en-US" sz="2400" dirty="0"/>
              <a:t>than project 4</a:t>
            </a:r>
            <a:endParaRPr lang="x-none" sz="2400" dirty="0"/>
          </a:p>
        </p:txBody>
      </p:sp>
    </p:spTree>
    <p:extLst>
      <p:ext uri="{BB962C8B-B14F-4D97-AF65-F5344CB8AC3E}">
        <p14:creationId xmlns:p14="http://schemas.microsoft.com/office/powerpoint/2010/main" val="581067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4">
            <a:extLst>
              <a:ext uri="{FF2B5EF4-FFF2-40B4-BE49-F238E27FC236}">
                <a16:creationId xmlns:a16="http://schemas.microsoft.com/office/drawing/2014/main" xmlns="" id="{DB82F048-5961-4BFD-848D-6855E7F35B1D}"/>
              </a:ext>
            </a:extLst>
          </p:cNvPr>
          <p:cNvSpPr>
            <a:spLocks noGrp="1"/>
          </p:cNvSpPr>
          <p:nvPr>
            <p:ph type="sldNum" sz="quarter" idx="11"/>
          </p:nvPr>
        </p:nvSpPr>
        <p:spPr bwMode="auto">
          <a:xfrm>
            <a:off x="6659563" y="6092825"/>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en-GB"/>
            </a:defPPr>
            <a:lvl1pPr algn="r" rtl="0" eaLnBrk="0" fontAlgn="base" hangingPunct="0">
              <a:spcBef>
                <a:spcPct val="0"/>
              </a:spcBef>
              <a:spcAft>
                <a:spcPct val="0"/>
              </a:spcAft>
              <a:buFont typeface="Arial" panose="020B0604020202020204" pitchFamily="34" charset="0"/>
              <a:buNone/>
              <a:defRPr sz="1400" kern="1200">
                <a:solidFill>
                  <a:srgbClr val="FFFF99"/>
                </a:solidFill>
                <a:latin typeface="Times New Roman" panose="02020603050405020304" pitchFamily="18"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149C8BDD-6025-42F3-8F71-2798B5BFCE84}" type="slidenum">
              <a:rPr lang="en-US" altLang="en-US" smtClean="0">
                <a:solidFill>
                  <a:schemeClr val="tx1"/>
                </a:solidFill>
              </a:rPr>
              <a:pPr/>
              <a:t>31</a:t>
            </a:fld>
            <a:endParaRPr lang="en-US" altLang="en-US">
              <a:solidFill>
                <a:schemeClr val="tx1"/>
              </a:solidFill>
            </a:endParaRPr>
          </a:p>
        </p:txBody>
      </p:sp>
      <p:sp>
        <p:nvSpPr>
          <p:cNvPr id="35844" name="Rectangle 4">
            <a:extLst>
              <a:ext uri="{FF2B5EF4-FFF2-40B4-BE49-F238E27FC236}">
                <a16:creationId xmlns:a16="http://schemas.microsoft.com/office/drawing/2014/main" xmlns="" id="{7DF9F00F-082C-4CB9-AC12-44CCD34EAD91}"/>
              </a:ext>
            </a:extLst>
          </p:cNvPr>
          <p:cNvSpPr>
            <a:spLocks noChangeArrowheads="1"/>
          </p:cNvSpPr>
          <p:nvPr/>
        </p:nvSpPr>
        <p:spPr bwMode="auto">
          <a:xfrm>
            <a:off x="623887" y="73631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defTabSz="762000">
              <a:defRPr sz="3600" b="1">
                <a:solidFill>
                  <a:srgbClr val="FFFF99"/>
                </a:solidFill>
                <a:latin typeface="Arial" panose="020B0604020202020204" pitchFamily="34" charset="0"/>
              </a:defRPr>
            </a:lvl1pPr>
            <a:lvl2pPr algn="ctr" defTabSz="762000">
              <a:defRPr sz="3600" b="1">
                <a:solidFill>
                  <a:srgbClr val="FFFF99"/>
                </a:solidFill>
                <a:latin typeface="Arial" panose="020B0604020202020204" pitchFamily="34" charset="0"/>
              </a:defRPr>
            </a:lvl2pPr>
            <a:lvl3pPr algn="ctr" defTabSz="762000">
              <a:defRPr sz="3600" b="1">
                <a:solidFill>
                  <a:srgbClr val="FFFF99"/>
                </a:solidFill>
                <a:latin typeface="Arial" panose="020B0604020202020204" pitchFamily="34" charset="0"/>
              </a:defRPr>
            </a:lvl3pPr>
            <a:lvl4pPr algn="ctr" defTabSz="762000">
              <a:defRPr sz="3600" b="1">
                <a:solidFill>
                  <a:srgbClr val="FFFF99"/>
                </a:solidFill>
                <a:latin typeface="Arial" panose="020B0604020202020204" pitchFamily="34" charset="0"/>
              </a:defRPr>
            </a:lvl4pPr>
            <a:lvl5pPr algn="ctr" defTabSz="762000">
              <a:defRPr sz="3600" b="1">
                <a:solidFill>
                  <a:srgbClr val="FFFF99"/>
                </a:solidFill>
                <a:latin typeface="Arial" panose="020B0604020202020204" pitchFamily="34" charset="0"/>
              </a:defRPr>
            </a:lvl5pPr>
            <a:lvl6pPr marL="457200" algn="ctr" defTabSz="762000" eaLnBrk="0" fontAlgn="base" hangingPunct="0">
              <a:spcBef>
                <a:spcPct val="0"/>
              </a:spcBef>
              <a:spcAft>
                <a:spcPct val="0"/>
              </a:spcAft>
              <a:defRPr sz="3600" b="1">
                <a:solidFill>
                  <a:srgbClr val="FFFF99"/>
                </a:solidFill>
                <a:latin typeface="Arial" panose="020B0604020202020204" pitchFamily="34" charset="0"/>
              </a:defRPr>
            </a:lvl6pPr>
            <a:lvl7pPr marL="914400" algn="ctr" defTabSz="762000" eaLnBrk="0" fontAlgn="base" hangingPunct="0">
              <a:spcBef>
                <a:spcPct val="0"/>
              </a:spcBef>
              <a:spcAft>
                <a:spcPct val="0"/>
              </a:spcAft>
              <a:defRPr sz="3600" b="1">
                <a:solidFill>
                  <a:srgbClr val="FFFF99"/>
                </a:solidFill>
                <a:latin typeface="Arial" panose="020B0604020202020204" pitchFamily="34" charset="0"/>
              </a:defRPr>
            </a:lvl7pPr>
            <a:lvl8pPr marL="1371600" algn="ctr" defTabSz="762000" eaLnBrk="0" fontAlgn="base" hangingPunct="0">
              <a:spcBef>
                <a:spcPct val="0"/>
              </a:spcBef>
              <a:spcAft>
                <a:spcPct val="0"/>
              </a:spcAft>
              <a:defRPr sz="3600" b="1">
                <a:solidFill>
                  <a:srgbClr val="FFFF99"/>
                </a:solidFill>
                <a:latin typeface="Arial" panose="020B0604020202020204" pitchFamily="34" charset="0"/>
              </a:defRPr>
            </a:lvl8pPr>
            <a:lvl9pPr marL="1828800" algn="ctr" defTabSz="762000" eaLnBrk="0" fontAlgn="base" hangingPunct="0">
              <a:spcBef>
                <a:spcPct val="0"/>
              </a:spcBef>
              <a:spcAft>
                <a:spcPct val="0"/>
              </a:spcAft>
              <a:defRPr sz="3600" b="1">
                <a:solidFill>
                  <a:srgbClr val="FFFF99"/>
                </a:solidFill>
                <a:latin typeface="Arial" panose="020B0604020202020204" pitchFamily="34" charset="0"/>
              </a:defRPr>
            </a:lvl9pPr>
          </a:lstStyle>
          <a:p>
            <a:pPr algn="l"/>
            <a:r>
              <a:rPr lang="en-GB" altLang="en-US" b="0" dirty="0">
                <a:solidFill>
                  <a:schemeClr val="tx1"/>
                </a:solidFill>
                <a:latin typeface="+mj-lt"/>
              </a:rPr>
              <a:t>Calculate Pay back period and ROI</a:t>
            </a:r>
          </a:p>
        </p:txBody>
      </p:sp>
      <p:sp>
        <p:nvSpPr>
          <p:cNvPr id="6" name="TextBox 5">
            <a:extLst>
              <a:ext uri="{FF2B5EF4-FFF2-40B4-BE49-F238E27FC236}">
                <a16:creationId xmlns:a16="http://schemas.microsoft.com/office/drawing/2014/main" xmlns="" id="{66ECA983-AFDB-4CA5-B0D7-70DABBA87055}"/>
              </a:ext>
            </a:extLst>
          </p:cNvPr>
          <p:cNvSpPr txBox="1"/>
          <p:nvPr/>
        </p:nvSpPr>
        <p:spPr>
          <a:xfrm>
            <a:off x="528811" y="2025710"/>
            <a:ext cx="8419752" cy="2677656"/>
          </a:xfrm>
          <a:prstGeom prst="rect">
            <a:avLst/>
          </a:prstGeom>
          <a:noFill/>
        </p:spPr>
        <p:txBody>
          <a:bodyPr wrap="square">
            <a:spAutoFit/>
          </a:bodyPr>
          <a:lstStyle/>
          <a:p>
            <a:pPr algn="just"/>
            <a:r>
              <a:rPr lang="en-US" sz="2400" dirty="0"/>
              <a:t>The return on investments for each of the projects is –</a:t>
            </a:r>
          </a:p>
          <a:p>
            <a:pPr marL="800100" lvl="1" indent="-342900" algn="just">
              <a:buFont typeface="Arial" panose="020B0604020202020204" pitchFamily="34" charset="0"/>
              <a:buChar char="•"/>
            </a:pPr>
            <a:r>
              <a:rPr lang="en-US" sz="2400" dirty="0"/>
              <a:t>project 1: 10%, </a:t>
            </a:r>
          </a:p>
          <a:p>
            <a:pPr marL="800100" lvl="1" indent="-342900" algn="just">
              <a:buFont typeface="Arial" panose="020B0604020202020204" pitchFamily="34" charset="0"/>
              <a:buChar char="•"/>
            </a:pPr>
            <a:r>
              <a:rPr lang="en-US" sz="2400" dirty="0"/>
              <a:t>project 2: 2%, </a:t>
            </a:r>
          </a:p>
          <a:p>
            <a:pPr marL="800100" lvl="1" indent="-342900" algn="just">
              <a:buFont typeface="Arial" panose="020B0604020202020204" pitchFamily="34" charset="0"/>
              <a:buChar char="•"/>
            </a:pPr>
            <a:r>
              <a:rPr lang="en-US" sz="2400" dirty="0"/>
              <a:t>project 3: 10% </a:t>
            </a:r>
          </a:p>
          <a:p>
            <a:pPr marL="800100" lvl="1" indent="-342900" algn="just">
              <a:buFont typeface="Arial" panose="020B0604020202020204" pitchFamily="34" charset="0"/>
              <a:buChar char="•"/>
            </a:pPr>
            <a:r>
              <a:rPr lang="en-US" sz="2400" dirty="0"/>
              <a:t>project 4: 12.5%. </a:t>
            </a:r>
          </a:p>
          <a:p>
            <a:pPr algn="just"/>
            <a:r>
              <a:rPr lang="en-US" sz="2400" dirty="0"/>
              <a:t>Project 4 therefore stands out as being the </a:t>
            </a:r>
            <a:r>
              <a:rPr lang="en-US" sz="2400" dirty="0">
                <a:highlight>
                  <a:srgbClr val="FFFF00"/>
                </a:highlight>
              </a:rPr>
              <a:t>most beneficial </a:t>
            </a:r>
            <a:r>
              <a:rPr lang="en-US" sz="2400" dirty="0"/>
              <a:t>as it earns the </a:t>
            </a:r>
            <a:r>
              <a:rPr lang="en-US" sz="2400" dirty="0">
                <a:highlight>
                  <a:srgbClr val="FFFF00"/>
                </a:highlight>
              </a:rPr>
              <a:t>highest</a:t>
            </a:r>
            <a:r>
              <a:rPr lang="en-US" sz="2400" dirty="0"/>
              <a:t> return</a:t>
            </a:r>
            <a:endParaRPr lang="x-none" sz="2400" dirty="0"/>
          </a:p>
        </p:txBody>
      </p:sp>
    </p:spTree>
    <p:extLst>
      <p:ext uri="{BB962C8B-B14F-4D97-AF65-F5344CB8AC3E}">
        <p14:creationId xmlns:p14="http://schemas.microsoft.com/office/powerpoint/2010/main" val="2686102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9BA2BD-C3F0-4A18-8392-F21E8739E5CF}"/>
              </a:ext>
            </a:extLst>
          </p:cNvPr>
          <p:cNvSpPr>
            <a:spLocks noGrp="1"/>
          </p:cNvSpPr>
          <p:nvPr>
            <p:ph type="title"/>
          </p:nvPr>
        </p:nvSpPr>
        <p:spPr/>
        <p:txBody>
          <a:bodyPr>
            <a:normAutofit fontScale="90000"/>
          </a:bodyPr>
          <a:lstStyle/>
          <a:p>
            <a:r>
              <a:rPr lang="en-US" dirty="0"/>
              <a:t>Net Profit, Payback Period and ROI</a:t>
            </a:r>
          </a:p>
        </p:txBody>
      </p:sp>
      <p:sp>
        <p:nvSpPr>
          <p:cNvPr id="4" name="Slide Number Placeholder 3">
            <a:extLst>
              <a:ext uri="{FF2B5EF4-FFF2-40B4-BE49-F238E27FC236}">
                <a16:creationId xmlns:a16="http://schemas.microsoft.com/office/drawing/2014/main" xmlns="" id="{491078BB-D5EB-4A2F-AB1F-D75204041CDE}"/>
              </a:ext>
            </a:extLst>
          </p:cNvPr>
          <p:cNvSpPr>
            <a:spLocks noGrp="1"/>
          </p:cNvSpPr>
          <p:nvPr>
            <p:ph type="sldNum" sz="quarter" idx="12"/>
          </p:nvPr>
        </p:nvSpPr>
        <p:spPr/>
        <p:txBody>
          <a:bodyPr/>
          <a:lstStyle/>
          <a:p>
            <a:fld id="{60D6D740-8150-433F-9426-3FCFF681501A}" type="slidenum">
              <a:rPr lang="en-US" smtClean="0"/>
              <a:pPr/>
              <a:t>32</a:t>
            </a:fld>
            <a:endParaRPr lang="en-US" dirty="0"/>
          </a:p>
        </p:txBody>
      </p:sp>
      <p:graphicFrame>
        <p:nvGraphicFramePr>
          <p:cNvPr id="5" name="Content Placeholder 4">
            <a:extLst>
              <a:ext uri="{FF2B5EF4-FFF2-40B4-BE49-F238E27FC236}">
                <a16:creationId xmlns:a16="http://schemas.microsoft.com/office/drawing/2014/main" xmlns="" id="{58077995-A7E2-409E-A6E7-D762A948BA52}"/>
              </a:ext>
            </a:extLst>
          </p:cNvPr>
          <p:cNvGraphicFramePr>
            <a:graphicFrameLocks noGrp="1"/>
          </p:cNvGraphicFramePr>
          <p:nvPr>
            <p:ph sz="quarter" idx="1"/>
            <p:extLst>
              <p:ext uri="{D42A27DB-BD31-4B8C-83A1-F6EECF244321}">
                <p14:modId xmlns:p14="http://schemas.microsoft.com/office/powerpoint/2010/main" val="2589488634"/>
              </p:ext>
            </p:extLst>
          </p:nvPr>
        </p:nvGraphicFramePr>
        <p:xfrm>
          <a:off x="802500" y="1860023"/>
          <a:ext cx="7538999" cy="4496328"/>
        </p:xfrm>
        <a:graphic>
          <a:graphicData uri="http://schemas.openxmlformats.org/drawingml/2006/table">
            <a:tbl>
              <a:tblPr firstRow="1" bandRow="1">
                <a:tableStyleId>{5C22544A-7EE6-4342-B048-85BDC9FD1C3A}</a:tableStyleId>
              </a:tblPr>
              <a:tblGrid>
                <a:gridCol w="1420233">
                  <a:extLst>
                    <a:ext uri="{9D8B030D-6E8A-4147-A177-3AD203B41FA5}">
                      <a16:colId xmlns:a16="http://schemas.microsoft.com/office/drawing/2014/main" xmlns="" val="20000"/>
                    </a:ext>
                  </a:extLst>
                </a:gridCol>
                <a:gridCol w="2516577">
                  <a:extLst>
                    <a:ext uri="{9D8B030D-6E8A-4147-A177-3AD203B41FA5}">
                      <a16:colId xmlns:a16="http://schemas.microsoft.com/office/drawing/2014/main" xmlns="" val="20001"/>
                    </a:ext>
                  </a:extLst>
                </a:gridCol>
                <a:gridCol w="3602189">
                  <a:extLst>
                    <a:ext uri="{9D8B030D-6E8A-4147-A177-3AD203B41FA5}">
                      <a16:colId xmlns:a16="http://schemas.microsoft.com/office/drawing/2014/main" xmlns="" val="20002"/>
                    </a:ext>
                  </a:extLst>
                </a:gridCol>
              </a:tblGrid>
              <a:tr h="550314">
                <a:tc>
                  <a:txBody>
                    <a:bodyPr/>
                    <a:lstStyle/>
                    <a:p>
                      <a:r>
                        <a:rPr lang="en-US" sz="2000" dirty="0">
                          <a:solidFill>
                            <a:schemeClr val="tx1"/>
                          </a:solidFill>
                          <a:latin typeface="+mn-lt"/>
                        </a:rPr>
                        <a:t>Technique</a:t>
                      </a:r>
                    </a:p>
                  </a:txBody>
                  <a:tcPr marL="91437" marR="91437" marT="45724" marB="45724"/>
                </a:tc>
                <a:tc>
                  <a:txBody>
                    <a:bodyPr/>
                    <a:lstStyle/>
                    <a:p>
                      <a:r>
                        <a:rPr lang="en-US" sz="2000" dirty="0">
                          <a:solidFill>
                            <a:schemeClr val="tx1"/>
                          </a:solidFill>
                          <a:latin typeface="+mn-lt"/>
                        </a:rPr>
                        <a:t>Advantages</a:t>
                      </a:r>
                    </a:p>
                  </a:txBody>
                  <a:tcPr marL="91437" marR="91437" marT="45724" marB="45724"/>
                </a:tc>
                <a:tc>
                  <a:txBody>
                    <a:bodyPr/>
                    <a:lstStyle/>
                    <a:p>
                      <a:r>
                        <a:rPr lang="en-US" sz="2000" dirty="0">
                          <a:solidFill>
                            <a:schemeClr val="tx1"/>
                          </a:solidFill>
                          <a:latin typeface="+mn-lt"/>
                        </a:rPr>
                        <a:t>Disadvantages</a:t>
                      </a:r>
                    </a:p>
                  </a:txBody>
                  <a:tcPr marL="91437" marR="91437" marT="45724" marB="45724"/>
                </a:tc>
                <a:extLst>
                  <a:ext uri="{0D108BD9-81ED-4DB2-BD59-A6C34878D82A}">
                    <a16:rowId xmlns:a16="http://schemas.microsoft.com/office/drawing/2014/main" xmlns="" val="10000"/>
                  </a:ext>
                </a:extLst>
              </a:tr>
              <a:tr h="1079615">
                <a:tc>
                  <a:txBody>
                    <a:bodyPr/>
                    <a:lstStyle/>
                    <a:p>
                      <a:r>
                        <a:rPr lang="en-US" sz="2000" dirty="0">
                          <a:latin typeface="+mn-lt"/>
                        </a:rPr>
                        <a:t>Net Profit</a:t>
                      </a:r>
                    </a:p>
                  </a:txBody>
                  <a:tcPr marL="91437" marR="91437" marT="45724" marB="45724"/>
                </a:tc>
                <a:tc>
                  <a:txBody>
                    <a:bodyPr/>
                    <a:lstStyle/>
                    <a:p>
                      <a:r>
                        <a:rPr lang="en-US" sz="1800" dirty="0">
                          <a:latin typeface="+mn-lt"/>
                          <a:cs typeface="Times New Roman" panose="02020603050405020304" pitchFamily="18" charset="0"/>
                        </a:rPr>
                        <a:t>Simple to Use</a:t>
                      </a:r>
                    </a:p>
                  </a:txBody>
                  <a:tcPr marL="91437" marR="91437" marT="45724" marB="45724"/>
                </a:tc>
                <a:tc>
                  <a:txBody>
                    <a:bodyPr/>
                    <a:lstStyle/>
                    <a:p>
                      <a:r>
                        <a:rPr lang="en-US" sz="1800" dirty="0">
                          <a:latin typeface="+mn-lt"/>
                          <a:cs typeface="Times New Roman" panose="02020603050405020304" pitchFamily="18" charset="0"/>
                        </a:rPr>
                        <a:t>-Does not show profit relative to size of investment </a:t>
                      </a:r>
                    </a:p>
                    <a:p>
                      <a:r>
                        <a:rPr lang="en-US" sz="1800" dirty="0">
                          <a:latin typeface="+mn-lt"/>
                          <a:cs typeface="Times New Roman" panose="02020603050405020304" pitchFamily="18" charset="0"/>
                        </a:rPr>
                        <a:t>-Ignores the Timing of cash flow</a:t>
                      </a:r>
                    </a:p>
                  </a:txBody>
                  <a:tcPr marL="91437" marR="91437" marT="45724" marB="45724"/>
                </a:tc>
                <a:extLst>
                  <a:ext uri="{0D108BD9-81ED-4DB2-BD59-A6C34878D82A}">
                    <a16:rowId xmlns:a16="http://schemas.microsoft.com/office/drawing/2014/main" xmlns="" val="10001"/>
                  </a:ext>
                </a:extLst>
              </a:tr>
              <a:tr h="1464231">
                <a:tc>
                  <a:txBody>
                    <a:bodyPr/>
                    <a:lstStyle/>
                    <a:p>
                      <a:r>
                        <a:rPr lang="en-US" sz="2000" dirty="0">
                          <a:latin typeface="+mn-lt"/>
                        </a:rPr>
                        <a:t>Payback Period</a:t>
                      </a:r>
                    </a:p>
                  </a:txBody>
                  <a:tcPr marL="91437" marR="91437" marT="45724" marB="4572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altLang="en-US" sz="1800" dirty="0">
                          <a:latin typeface="+mn-lt"/>
                          <a:cs typeface="Times New Roman" panose="02020603050405020304" pitchFamily="18" charset="0"/>
                        </a:rPr>
                        <a:t>-Simple to calculate, not particular sensitive to small forecasting errors.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altLang="en-US" sz="1800" dirty="0">
                          <a:latin typeface="+mn-lt"/>
                          <a:cs typeface="Times New Roman" panose="02020603050405020304" pitchFamily="18" charset="0"/>
                        </a:rPr>
                        <a:t>-Give some idea of cashflow impact</a:t>
                      </a:r>
                    </a:p>
                  </a:txBody>
                  <a:tcPr marL="91437" marR="91437" marT="45724" marB="45724"/>
                </a:tc>
                <a:tc>
                  <a:txBody>
                    <a:bodyPr/>
                    <a:lstStyle/>
                    <a:p>
                      <a:r>
                        <a:rPr lang="en-AU" altLang="en-US" sz="1800" dirty="0">
                          <a:latin typeface="+mn-lt"/>
                          <a:cs typeface="Times New Roman" panose="02020603050405020304" pitchFamily="18" charset="0"/>
                        </a:rPr>
                        <a:t>-Ignores any income (or expenditure) after the payback period.</a:t>
                      </a:r>
                    </a:p>
                    <a:p>
                      <a:r>
                        <a:rPr lang="en-US" sz="1800" dirty="0">
                          <a:latin typeface="+mn-lt"/>
                          <a:cs typeface="Times New Roman" panose="02020603050405020304" pitchFamily="18" charset="0"/>
                        </a:rPr>
                        <a:t>-Ignores overall profitability of project</a:t>
                      </a:r>
                    </a:p>
                  </a:txBody>
                  <a:tcPr marL="91437" marR="91437" marT="45724" marB="45724"/>
                </a:tc>
                <a:extLst>
                  <a:ext uri="{0D108BD9-81ED-4DB2-BD59-A6C34878D82A}">
                    <a16:rowId xmlns:a16="http://schemas.microsoft.com/office/drawing/2014/main" xmlns="" val="10002"/>
                  </a:ext>
                </a:extLst>
              </a:tr>
              <a:tr h="14021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altLang="en-US" sz="2000" dirty="0">
                          <a:latin typeface="+mn-lt"/>
                        </a:rPr>
                        <a:t>Return on Investment (ROI)</a:t>
                      </a:r>
                    </a:p>
                    <a:p>
                      <a:endParaRPr lang="en-US" sz="2000" dirty="0">
                        <a:latin typeface="+mn-lt"/>
                      </a:endParaRPr>
                    </a:p>
                  </a:txBody>
                  <a:tcPr marL="91437" marR="91437" marT="45724" marB="45724"/>
                </a:tc>
                <a:tc>
                  <a:txBody>
                    <a:bodyPr/>
                    <a:lstStyle/>
                    <a:p>
                      <a:r>
                        <a:rPr lang="en-AU" altLang="en-US" sz="1800" dirty="0">
                          <a:latin typeface="+mn-lt"/>
                          <a:cs typeface="Times New Roman" panose="02020603050405020304" pitchFamily="18" charset="0"/>
                        </a:rPr>
                        <a:t>simple and easy to calculate, quite popular</a:t>
                      </a:r>
                      <a:endParaRPr lang="en-US" sz="1800" dirty="0">
                        <a:latin typeface="+mn-lt"/>
                        <a:cs typeface="Times New Roman" panose="02020603050405020304" pitchFamily="18" charset="0"/>
                      </a:endParaRPr>
                    </a:p>
                  </a:txBody>
                  <a:tcPr marL="91437" marR="91437" marT="45724" marB="45724"/>
                </a:tc>
                <a:tc>
                  <a:txBody>
                    <a:bodyPr/>
                    <a:lstStyle/>
                    <a:p>
                      <a:r>
                        <a:rPr lang="en-AU" altLang="en-US" sz="1800" dirty="0">
                          <a:latin typeface="+mn-lt"/>
                          <a:cs typeface="Times New Roman" panose="02020603050405020304" pitchFamily="18" charset="0"/>
                        </a:rPr>
                        <a:t>-Ignores the timing of the cash flow.</a:t>
                      </a:r>
                      <a:br>
                        <a:rPr lang="en-AU" altLang="en-US" sz="1800" dirty="0">
                          <a:latin typeface="+mn-lt"/>
                          <a:cs typeface="Times New Roman" panose="02020603050405020304" pitchFamily="18" charset="0"/>
                        </a:rPr>
                      </a:br>
                      <a:r>
                        <a:rPr lang="en-AU" altLang="en-US" sz="1800" dirty="0">
                          <a:latin typeface="+mn-lt"/>
                          <a:cs typeface="Times New Roman" panose="02020603050405020304" pitchFamily="18" charset="0"/>
                        </a:rPr>
                        <a:t>-Potentially very misleading because rate of return bears no relationship with the current interest rates</a:t>
                      </a:r>
                      <a:endParaRPr lang="en-US" sz="1800" dirty="0">
                        <a:latin typeface="+mn-lt"/>
                        <a:cs typeface="Times New Roman" panose="02020603050405020304" pitchFamily="18" charset="0"/>
                      </a:endParaRPr>
                    </a:p>
                  </a:txBody>
                  <a:tcPr marL="91437" marR="91437" marT="45724" marB="45724"/>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068754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xmlns="" id="{1B5A9235-B521-4D90-AEA3-A361A5096139}"/>
              </a:ext>
            </a:extLst>
          </p:cNvPr>
          <p:cNvSpPr>
            <a:spLocks noGrp="1" noChangeArrowheads="1"/>
          </p:cNvSpPr>
          <p:nvPr>
            <p:ph type="title"/>
          </p:nvPr>
        </p:nvSpPr>
        <p:spPr/>
        <p:txBody>
          <a:bodyPr/>
          <a:lstStyle/>
          <a:p>
            <a:r>
              <a:rPr lang="en-GB" altLang="en-US" dirty="0"/>
              <a:t>Net present value</a:t>
            </a:r>
          </a:p>
        </p:txBody>
      </p:sp>
      <p:sp>
        <p:nvSpPr>
          <p:cNvPr id="40963" name="Rectangle 3">
            <a:extLst>
              <a:ext uri="{FF2B5EF4-FFF2-40B4-BE49-F238E27FC236}">
                <a16:creationId xmlns:a16="http://schemas.microsoft.com/office/drawing/2014/main" xmlns="" id="{DC7F9B23-9AB6-4F80-8201-223816917817}"/>
              </a:ext>
            </a:extLst>
          </p:cNvPr>
          <p:cNvSpPr>
            <a:spLocks noGrp="1" noChangeArrowheads="1"/>
          </p:cNvSpPr>
          <p:nvPr>
            <p:ph type="body" idx="1"/>
          </p:nvPr>
        </p:nvSpPr>
        <p:spPr/>
        <p:txBody>
          <a:bodyPr/>
          <a:lstStyle/>
          <a:p>
            <a:pPr>
              <a:lnSpc>
                <a:spcPct val="90000"/>
              </a:lnSpc>
              <a:buFont typeface="Monotype Sorts" pitchFamily="1" charset="2"/>
              <a:buNone/>
            </a:pPr>
            <a:r>
              <a:rPr lang="en-GB" altLang="en-US" dirty="0"/>
              <a:t>Would you rather I gave you £100 today or in 12 months time?</a:t>
            </a:r>
          </a:p>
          <a:p>
            <a:pPr>
              <a:lnSpc>
                <a:spcPct val="90000"/>
              </a:lnSpc>
              <a:buFont typeface="Monotype Sorts" pitchFamily="1" charset="2"/>
              <a:buNone/>
            </a:pPr>
            <a:r>
              <a:rPr lang="en-GB" altLang="en-US" dirty="0"/>
              <a:t>If I gave you £100 now you </a:t>
            </a:r>
            <a:r>
              <a:rPr lang="en-GB" altLang="en-US" i="1" dirty="0"/>
              <a:t>could</a:t>
            </a:r>
            <a:r>
              <a:rPr lang="en-GB" altLang="en-US" dirty="0"/>
              <a:t> put it in savings account and get interest on it.</a:t>
            </a:r>
          </a:p>
          <a:p>
            <a:pPr>
              <a:lnSpc>
                <a:spcPct val="90000"/>
              </a:lnSpc>
              <a:buFont typeface="Monotype Sorts" pitchFamily="1" charset="2"/>
              <a:buNone/>
            </a:pPr>
            <a:r>
              <a:rPr lang="en-GB" altLang="en-US" dirty="0"/>
              <a:t>If the interest rate was 10% how much would I have to invest now to get £100 in a year’s time?</a:t>
            </a:r>
          </a:p>
          <a:p>
            <a:pPr>
              <a:lnSpc>
                <a:spcPct val="90000"/>
              </a:lnSpc>
              <a:buFont typeface="Monotype Sorts" pitchFamily="1" charset="2"/>
              <a:buNone/>
            </a:pPr>
            <a:r>
              <a:rPr lang="en-GB" altLang="en-US" dirty="0"/>
              <a:t>This figure is the </a:t>
            </a:r>
            <a:r>
              <a:rPr lang="en-GB" altLang="en-US" i="1" dirty="0"/>
              <a:t>net present value</a:t>
            </a:r>
            <a:r>
              <a:rPr lang="en-GB" altLang="en-US" dirty="0"/>
              <a:t> of £100 in one year’s time</a:t>
            </a:r>
          </a:p>
        </p:txBody>
      </p:sp>
      <p:sp>
        <p:nvSpPr>
          <p:cNvPr id="6" name="Slide Number Placeholder 3">
            <a:extLst>
              <a:ext uri="{FF2B5EF4-FFF2-40B4-BE49-F238E27FC236}">
                <a16:creationId xmlns:a16="http://schemas.microsoft.com/office/drawing/2014/main" xmlns="" id="{69DB8277-D2BC-4EBF-9D62-8E3067EFB640}"/>
              </a:ext>
            </a:extLst>
          </p:cNvPr>
          <p:cNvSpPr>
            <a:spLocks noGrp="1"/>
          </p:cNvSpPr>
          <p:nvPr>
            <p:ph type="sldNum" sz="quarter" idx="12"/>
          </p:nvPr>
        </p:nvSpPr>
        <p:spPr>
          <a:xfrm>
            <a:off x="6457950" y="6356351"/>
            <a:ext cx="2057400" cy="365125"/>
          </a:xfrm>
        </p:spPr>
        <p:txBody>
          <a:bodyPr/>
          <a:lstStyle/>
          <a:p>
            <a:fld id="{60D6D740-8150-433F-9426-3FCFF681501A}" type="slidenum">
              <a:rPr lang="en-US" smtClean="0"/>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xmlns="" id="{FD722129-711A-4E93-AFC9-1151102DF422}"/>
              </a:ext>
            </a:extLst>
          </p:cNvPr>
          <p:cNvSpPr>
            <a:spLocks noGrp="1" noChangeArrowheads="1"/>
          </p:cNvSpPr>
          <p:nvPr>
            <p:ph type="title"/>
          </p:nvPr>
        </p:nvSpPr>
        <p:spPr/>
        <p:txBody>
          <a:bodyPr/>
          <a:lstStyle/>
          <a:p>
            <a:r>
              <a:rPr lang="en-GB" altLang="en-US"/>
              <a:t>Discount factor</a:t>
            </a:r>
          </a:p>
        </p:txBody>
      </p:sp>
      <p:sp>
        <p:nvSpPr>
          <p:cNvPr id="43011" name="Rectangle 3">
            <a:extLst>
              <a:ext uri="{FF2B5EF4-FFF2-40B4-BE49-F238E27FC236}">
                <a16:creationId xmlns:a16="http://schemas.microsoft.com/office/drawing/2014/main" xmlns="" id="{7CF3FE08-E19C-4F1E-913B-681D336B130D}"/>
              </a:ext>
            </a:extLst>
          </p:cNvPr>
          <p:cNvSpPr>
            <a:spLocks noGrp="1" noChangeArrowheads="1"/>
          </p:cNvSpPr>
          <p:nvPr>
            <p:ph type="body" idx="1"/>
          </p:nvPr>
        </p:nvSpPr>
        <p:spPr>
          <a:xfrm>
            <a:off x="684213" y="1700213"/>
            <a:ext cx="7626350" cy="4106862"/>
          </a:xfrm>
        </p:spPr>
        <p:txBody>
          <a:bodyPr/>
          <a:lstStyle/>
          <a:p>
            <a:pPr>
              <a:buFont typeface="Monotype Sorts" pitchFamily="1" charset="2"/>
              <a:buNone/>
            </a:pPr>
            <a:r>
              <a:rPr lang="en-GB" altLang="en-US" dirty="0"/>
              <a:t>Discount factor =  1/(1+r)</a:t>
            </a:r>
            <a:r>
              <a:rPr lang="en-GB" altLang="en-US" baseline="30000" dirty="0"/>
              <a:t>t</a:t>
            </a:r>
          </a:p>
          <a:p>
            <a:pPr lvl="1">
              <a:buFont typeface="Monotype Sorts" pitchFamily="1" charset="2"/>
              <a:buNone/>
            </a:pPr>
            <a:r>
              <a:rPr lang="en-GB" altLang="en-US" i="1" dirty="0"/>
              <a:t>r</a:t>
            </a:r>
            <a:r>
              <a:rPr lang="en-GB" altLang="en-US" dirty="0"/>
              <a:t> is the interest rate (e.g. 10% is 0.10)</a:t>
            </a:r>
          </a:p>
          <a:p>
            <a:pPr lvl="1">
              <a:buFont typeface="Monotype Sorts" pitchFamily="1" charset="2"/>
              <a:buNone/>
            </a:pPr>
            <a:r>
              <a:rPr lang="en-GB" altLang="en-US" i="1" dirty="0"/>
              <a:t>t</a:t>
            </a:r>
            <a:r>
              <a:rPr lang="en-GB" altLang="en-US" dirty="0"/>
              <a:t> is the number of years</a:t>
            </a:r>
          </a:p>
          <a:p>
            <a:pPr>
              <a:buFont typeface="Monotype Sorts" pitchFamily="1" charset="2"/>
              <a:buNone/>
            </a:pPr>
            <a:r>
              <a:rPr lang="en-GB" altLang="en-US" dirty="0"/>
              <a:t>In the case of 10% rate and one year</a:t>
            </a:r>
          </a:p>
          <a:p>
            <a:pPr>
              <a:buFont typeface="Monotype Sorts" pitchFamily="1" charset="2"/>
              <a:buNone/>
            </a:pPr>
            <a:r>
              <a:rPr lang="en-GB" altLang="en-US" dirty="0"/>
              <a:t>Discount factor = 1/(1+0.10) = 0.9091</a:t>
            </a:r>
          </a:p>
          <a:p>
            <a:pPr>
              <a:buFont typeface="Monotype Sorts" pitchFamily="1" charset="2"/>
              <a:buNone/>
            </a:pPr>
            <a:r>
              <a:rPr lang="en-GB" altLang="en-US" dirty="0"/>
              <a:t>In the case of 10% rate and two years</a:t>
            </a:r>
          </a:p>
          <a:p>
            <a:pPr>
              <a:buFont typeface="Monotype Sorts" pitchFamily="1" charset="2"/>
              <a:buNone/>
            </a:pPr>
            <a:r>
              <a:rPr lang="en-GB" altLang="en-US" dirty="0"/>
              <a:t>Discount factor = 1/(1.10 x 1.10) =0.8264</a:t>
            </a:r>
          </a:p>
        </p:txBody>
      </p:sp>
      <p:sp>
        <p:nvSpPr>
          <p:cNvPr id="6" name="Slide Number Placeholder 3">
            <a:extLst>
              <a:ext uri="{FF2B5EF4-FFF2-40B4-BE49-F238E27FC236}">
                <a16:creationId xmlns:a16="http://schemas.microsoft.com/office/drawing/2014/main" xmlns="" id="{DE8AD5A8-D283-4048-8E63-765AB947D907}"/>
              </a:ext>
            </a:extLst>
          </p:cNvPr>
          <p:cNvSpPr>
            <a:spLocks noGrp="1"/>
          </p:cNvSpPr>
          <p:nvPr>
            <p:ph type="sldNum" sz="quarter" idx="12"/>
          </p:nvPr>
        </p:nvSpPr>
        <p:spPr>
          <a:xfrm>
            <a:off x="6457950" y="6356351"/>
            <a:ext cx="2057400" cy="365125"/>
          </a:xfrm>
        </p:spPr>
        <p:txBody>
          <a:bodyPr/>
          <a:lstStyle/>
          <a:p>
            <a:fld id="{60D6D740-8150-433F-9426-3FCFF681501A}" type="slidenum">
              <a:rPr lang="en-US" smtClean="0"/>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ABBA7-62DF-4BCE-8CA9-3C27F54A39E3}"/>
              </a:ext>
            </a:extLst>
          </p:cNvPr>
          <p:cNvSpPr>
            <a:spLocks noGrp="1"/>
          </p:cNvSpPr>
          <p:nvPr>
            <p:ph type="title"/>
          </p:nvPr>
        </p:nvSpPr>
        <p:spPr/>
        <p:txBody>
          <a:bodyPr/>
          <a:lstStyle/>
          <a:p>
            <a:r>
              <a:rPr lang="en-GB" altLang="en-US" dirty="0"/>
              <a:t>Applying discount factors</a:t>
            </a:r>
            <a:endParaRPr lang="en-US" dirty="0"/>
          </a:p>
        </p:txBody>
      </p:sp>
      <p:sp>
        <p:nvSpPr>
          <p:cNvPr id="4" name="Slide Number Placeholder 3">
            <a:extLst>
              <a:ext uri="{FF2B5EF4-FFF2-40B4-BE49-F238E27FC236}">
                <a16:creationId xmlns:a16="http://schemas.microsoft.com/office/drawing/2014/main" xmlns="" id="{B30D5F1D-E91E-4A3E-B9C3-100847981861}"/>
              </a:ext>
            </a:extLst>
          </p:cNvPr>
          <p:cNvSpPr>
            <a:spLocks noGrp="1"/>
          </p:cNvSpPr>
          <p:nvPr>
            <p:ph type="sldNum" sz="quarter" idx="12"/>
          </p:nvPr>
        </p:nvSpPr>
        <p:spPr/>
        <p:txBody>
          <a:bodyPr/>
          <a:lstStyle/>
          <a:p>
            <a:fld id="{60D6D740-8150-433F-9426-3FCFF681501A}" type="slidenum">
              <a:rPr lang="en-US" smtClean="0"/>
              <a:pPr/>
              <a:t>35</a:t>
            </a:fld>
            <a:endParaRPr lang="en-US" dirty="0"/>
          </a:p>
        </p:txBody>
      </p:sp>
      <p:graphicFrame>
        <p:nvGraphicFramePr>
          <p:cNvPr id="5" name="Group 156">
            <a:extLst>
              <a:ext uri="{FF2B5EF4-FFF2-40B4-BE49-F238E27FC236}">
                <a16:creationId xmlns:a16="http://schemas.microsoft.com/office/drawing/2014/main" xmlns="" id="{CB8D6E03-2833-4A5D-9863-CCA1554DAE61}"/>
              </a:ext>
            </a:extLst>
          </p:cNvPr>
          <p:cNvGraphicFramePr>
            <a:graphicFrameLocks noGrp="1"/>
          </p:cNvGraphicFramePr>
          <p:nvPr>
            <p:ph idx="1"/>
            <p:extLst>
              <p:ext uri="{D42A27DB-BD31-4B8C-83A1-F6EECF244321}">
                <p14:modId xmlns:p14="http://schemas.microsoft.com/office/powerpoint/2010/main" val="3688295506"/>
              </p:ext>
            </p:extLst>
          </p:nvPr>
        </p:nvGraphicFramePr>
        <p:xfrm>
          <a:off x="672838" y="2059781"/>
          <a:ext cx="7931150" cy="3927477"/>
        </p:xfrm>
        <a:graphic>
          <a:graphicData uri="http://schemas.openxmlformats.org/drawingml/2006/table">
            <a:tbl>
              <a:tblPr/>
              <a:tblGrid>
                <a:gridCol w="1303338">
                  <a:extLst>
                    <a:ext uri="{9D8B030D-6E8A-4147-A177-3AD203B41FA5}">
                      <a16:colId xmlns:a16="http://schemas.microsoft.com/office/drawing/2014/main" xmlns="" val="3936221240"/>
                    </a:ext>
                  </a:extLst>
                </a:gridCol>
                <a:gridCol w="2152650">
                  <a:extLst>
                    <a:ext uri="{9D8B030D-6E8A-4147-A177-3AD203B41FA5}">
                      <a16:colId xmlns:a16="http://schemas.microsoft.com/office/drawing/2014/main" xmlns="" val="1386577288"/>
                    </a:ext>
                  </a:extLst>
                </a:gridCol>
                <a:gridCol w="2238375">
                  <a:extLst>
                    <a:ext uri="{9D8B030D-6E8A-4147-A177-3AD203B41FA5}">
                      <a16:colId xmlns:a16="http://schemas.microsoft.com/office/drawing/2014/main" xmlns="" val="2707753365"/>
                    </a:ext>
                  </a:extLst>
                </a:gridCol>
                <a:gridCol w="2236787">
                  <a:extLst>
                    <a:ext uri="{9D8B030D-6E8A-4147-A177-3AD203B41FA5}">
                      <a16:colId xmlns:a16="http://schemas.microsoft.com/office/drawing/2014/main" xmlns="" val="1967308520"/>
                    </a:ext>
                  </a:extLst>
                </a:gridCol>
              </a:tblGrid>
              <a:tr h="588963">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600" b="1" i="0" u="none" strike="noStrike" cap="none" normalizeH="0" baseline="0" dirty="0">
                          <a:ln>
                            <a:noFill/>
                          </a:ln>
                          <a:solidFill>
                            <a:schemeClr val="tx1"/>
                          </a:solidFill>
                          <a:effectLst/>
                          <a:latin typeface="Arial" panose="020B0604020202020204" pitchFamily="34" charset="0"/>
                        </a:rPr>
                        <a:t>Year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600" b="1" i="0" u="none" strike="noStrike" cap="none" normalizeH="0" baseline="0">
                          <a:ln>
                            <a:noFill/>
                          </a:ln>
                          <a:solidFill>
                            <a:schemeClr val="tx1"/>
                          </a:solidFill>
                          <a:effectLst/>
                          <a:latin typeface="Arial" panose="020B0604020202020204" pitchFamily="34" charset="0"/>
                        </a:rPr>
                        <a:t>Cash-flow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600" b="1" i="0" u="none" strike="noStrike" cap="none" normalizeH="0" baseline="0">
                          <a:ln>
                            <a:noFill/>
                          </a:ln>
                          <a:solidFill>
                            <a:schemeClr val="tx1"/>
                          </a:solidFill>
                          <a:effectLst/>
                          <a:latin typeface="Arial" panose="020B0604020202020204" pitchFamily="34" charset="0"/>
                        </a:rPr>
                        <a:t>Discount factor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600" b="1" i="0" u="none" strike="noStrike" cap="none" normalizeH="0" baseline="0" dirty="0">
                          <a:ln>
                            <a:noFill/>
                          </a:ln>
                          <a:solidFill>
                            <a:schemeClr val="tx1"/>
                          </a:solidFill>
                          <a:effectLst/>
                          <a:latin typeface="Arial" panose="020B0604020202020204" pitchFamily="34" charset="0"/>
                        </a:rPr>
                        <a:t>Discounted cash flow</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173162858"/>
                  </a:ext>
                </a:extLst>
              </a:tr>
              <a:tr h="452438">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Arial" panose="020B0604020202020204"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-100,000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1.0000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-100,000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475353461"/>
                  </a:ext>
                </a:extLst>
              </a:tr>
              <a:tr h="431800">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10,000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0.9091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9,091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534156104"/>
                  </a:ext>
                </a:extLst>
              </a:tr>
              <a:tr h="431800">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10,000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0.8264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8,264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852555665"/>
                  </a:ext>
                </a:extLst>
              </a:tr>
              <a:tr h="431800">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Arial" panose="020B0604020202020204" pitchFamily="34" charset="0"/>
                        </a:rPr>
                        <a:t>10,000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0.7513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7,513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990600190"/>
                  </a:ext>
                </a:extLst>
              </a:tr>
              <a:tr h="433388">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20,000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Arial" panose="020B0604020202020204" pitchFamily="34" charset="0"/>
                        </a:rPr>
                        <a:t>0.6830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Arial" panose="020B0604020202020204" pitchFamily="34" charset="0"/>
                        </a:rPr>
                        <a:t>13,660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168679931"/>
                  </a:ext>
                </a:extLst>
              </a:tr>
              <a:tr h="503238">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Arial" panose="020B0604020202020204" pitchFamily="34" charset="0"/>
                        </a:rPr>
                        <a:t>100,000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a:ln>
                            <a:noFill/>
                          </a:ln>
                          <a:solidFill>
                            <a:schemeClr val="tx1"/>
                          </a:solidFill>
                          <a:effectLst/>
                          <a:latin typeface="Arial" panose="020B0604020202020204" pitchFamily="34" charset="0"/>
                        </a:rPr>
                        <a:t>0.6209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Arial" panose="020B0604020202020204" pitchFamily="34" charset="0"/>
                        </a:rPr>
                        <a:t>62,090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582592060"/>
                  </a:ext>
                </a:extLst>
              </a:tr>
              <a:tr h="654050">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endParaRPr kumimoji="0" lang="en-US" altLang="en-US" sz="1600" b="0" i="0" u="none" strike="noStrike" cap="none" normalizeH="0" baseline="0">
                        <a:ln>
                          <a:noFill/>
                        </a:ln>
                        <a:solidFill>
                          <a:schemeClr val="tx1"/>
                        </a:solidFill>
                        <a:effectLst/>
                        <a:latin typeface="Arial" panose="020B0604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endParaRPr kumimoji="0" lang="en-US" altLang="en-US" sz="16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600" b="1" i="0" u="none" strike="noStrike" cap="none" normalizeH="0" baseline="0" dirty="0">
                          <a:ln>
                            <a:noFill/>
                          </a:ln>
                          <a:solidFill>
                            <a:schemeClr val="tx1"/>
                          </a:solidFill>
                          <a:effectLst/>
                          <a:latin typeface="Arial" panose="020B0604020202020204" pitchFamily="34" charset="0"/>
                        </a:rPr>
                        <a:t>NPV</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0"/>
                        </a:spcBef>
                        <a:spcAft>
                          <a:spcPct val="0"/>
                        </a:spcAft>
                        <a:buClr>
                          <a:schemeClr val="accent2"/>
                        </a:buClr>
                        <a:buSzPct val="60000"/>
                        <a:buFont typeface="Monotype Sorts" pitchFamily="1" charset="2"/>
                        <a:buNone/>
                        <a:tabLst/>
                      </a:pPr>
                      <a:r>
                        <a:rPr kumimoji="0" lang="en-GB" altLang="en-US" sz="1800" b="0" i="0" u="none" strike="noStrike" cap="none" normalizeH="0" baseline="0" dirty="0">
                          <a:ln>
                            <a:noFill/>
                          </a:ln>
                          <a:solidFill>
                            <a:schemeClr val="tx1"/>
                          </a:solidFill>
                          <a:effectLst/>
                          <a:latin typeface="Arial" panose="020B0604020202020204" pitchFamily="34" charset="0"/>
                        </a:rPr>
                        <a:t>618</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340252337"/>
                  </a:ext>
                </a:extLst>
              </a:tr>
            </a:tbl>
          </a:graphicData>
        </a:graphic>
      </p:graphicFrame>
    </p:spTree>
    <p:extLst>
      <p:ext uri="{BB962C8B-B14F-4D97-AF65-F5344CB8AC3E}">
        <p14:creationId xmlns:p14="http://schemas.microsoft.com/office/powerpoint/2010/main" val="3134387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944C8C-4197-494F-9A43-F7F887462269}"/>
              </a:ext>
            </a:extLst>
          </p:cNvPr>
          <p:cNvSpPr>
            <a:spLocks noGrp="1"/>
          </p:cNvSpPr>
          <p:nvPr>
            <p:ph type="title"/>
          </p:nvPr>
        </p:nvSpPr>
        <p:spPr/>
        <p:txBody>
          <a:bodyPr/>
          <a:lstStyle/>
          <a:p>
            <a:r>
              <a:rPr lang="en-IN" dirty="0"/>
              <a:t>Activity </a:t>
            </a:r>
            <a:endParaRPr lang="x-none" dirty="0"/>
          </a:p>
        </p:txBody>
      </p:sp>
      <p:sp>
        <p:nvSpPr>
          <p:cNvPr id="3" name="Slide Number Placeholder 2">
            <a:extLst>
              <a:ext uri="{FF2B5EF4-FFF2-40B4-BE49-F238E27FC236}">
                <a16:creationId xmlns:a16="http://schemas.microsoft.com/office/drawing/2014/main" xmlns="" id="{B8AA3006-406F-44A0-BF49-E69C458AA5A2}"/>
              </a:ext>
            </a:extLst>
          </p:cNvPr>
          <p:cNvSpPr>
            <a:spLocks noGrp="1"/>
          </p:cNvSpPr>
          <p:nvPr>
            <p:ph type="sldNum" sz="quarter" idx="12"/>
          </p:nvPr>
        </p:nvSpPr>
        <p:spPr/>
        <p:txBody>
          <a:bodyPr/>
          <a:lstStyle/>
          <a:p>
            <a:fld id="{CDE4BBE6-ABD8-4AAC-A679-4F37D73C8978}" type="slidenum">
              <a:rPr lang="en-US" smtClean="0"/>
              <a:t>36</a:t>
            </a:fld>
            <a:endParaRPr lang="en-US"/>
          </a:p>
        </p:txBody>
      </p:sp>
      <p:pic>
        <p:nvPicPr>
          <p:cNvPr id="5" name="Picture 4">
            <a:extLst>
              <a:ext uri="{FF2B5EF4-FFF2-40B4-BE49-F238E27FC236}">
                <a16:creationId xmlns:a16="http://schemas.microsoft.com/office/drawing/2014/main" xmlns="" id="{D5EAE8E8-E031-4CCB-A97F-7F77140A59F0}"/>
              </a:ext>
            </a:extLst>
          </p:cNvPr>
          <p:cNvPicPr>
            <a:picLocks noChangeAspect="1"/>
          </p:cNvPicPr>
          <p:nvPr/>
        </p:nvPicPr>
        <p:blipFill rotWithShape="1">
          <a:blip r:embed="rId2"/>
          <a:srcRect l="14644" t="20581" r="15713" b="14713"/>
          <a:stretch/>
        </p:blipFill>
        <p:spPr>
          <a:xfrm>
            <a:off x="424544" y="1915886"/>
            <a:ext cx="8447314" cy="4576988"/>
          </a:xfrm>
          <a:prstGeom prst="rect">
            <a:avLst/>
          </a:prstGeom>
        </p:spPr>
      </p:pic>
    </p:spTree>
    <p:extLst>
      <p:ext uri="{BB962C8B-B14F-4D97-AF65-F5344CB8AC3E}">
        <p14:creationId xmlns:p14="http://schemas.microsoft.com/office/powerpoint/2010/main" val="2732615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81F2E7-D99B-4CB9-899A-A418E390673C}"/>
              </a:ext>
            </a:extLst>
          </p:cNvPr>
          <p:cNvSpPr>
            <a:spLocks noGrp="1"/>
          </p:cNvSpPr>
          <p:nvPr>
            <p:ph type="title"/>
          </p:nvPr>
        </p:nvSpPr>
        <p:spPr/>
        <p:txBody>
          <a:bodyPr>
            <a:noAutofit/>
          </a:bodyPr>
          <a:lstStyle/>
          <a:p>
            <a:r>
              <a:rPr lang="en-US" altLang="en-US" sz="3200" b="1" dirty="0">
                <a:latin typeface="Times New Roman" panose="02020603050405020304" pitchFamily="18" charset="0"/>
                <a:cs typeface="Times New Roman" panose="02020603050405020304" pitchFamily="18" charset="0"/>
              </a:rPr>
              <a:t>Cost Benefit Evaluation Techniques - NPV</a:t>
            </a:r>
            <a:endParaRPr lang="en-US" sz="3200" dirty="0"/>
          </a:p>
        </p:txBody>
      </p:sp>
      <p:sp>
        <p:nvSpPr>
          <p:cNvPr id="4" name="Slide Number Placeholder 3">
            <a:extLst>
              <a:ext uri="{FF2B5EF4-FFF2-40B4-BE49-F238E27FC236}">
                <a16:creationId xmlns:a16="http://schemas.microsoft.com/office/drawing/2014/main" xmlns="" id="{02D86FF8-5978-423E-A858-5807471D235C}"/>
              </a:ext>
            </a:extLst>
          </p:cNvPr>
          <p:cNvSpPr>
            <a:spLocks noGrp="1"/>
          </p:cNvSpPr>
          <p:nvPr>
            <p:ph type="sldNum" sz="quarter" idx="12"/>
          </p:nvPr>
        </p:nvSpPr>
        <p:spPr/>
        <p:txBody>
          <a:bodyPr/>
          <a:lstStyle/>
          <a:p>
            <a:fld id="{60D6D740-8150-433F-9426-3FCFF681501A}" type="slidenum">
              <a:rPr lang="en-US" smtClean="0"/>
              <a:pPr/>
              <a:t>37</a:t>
            </a:fld>
            <a:endParaRPr lang="en-US" dirty="0"/>
          </a:p>
        </p:txBody>
      </p:sp>
      <p:sp>
        <p:nvSpPr>
          <p:cNvPr id="5" name="TextBox 4">
            <a:extLst>
              <a:ext uri="{FF2B5EF4-FFF2-40B4-BE49-F238E27FC236}">
                <a16:creationId xmlns:a16="http://schemas.microsoft.com/office/drawing/2014/main" xmlns="" id="{68ACA28D-CEEC-4680-96F0-F369B71CA59A}"/>
              </a:ext>
            </a:extLst>
          </p:cNvPr>
          <p:cNvSpPr txBox="1"/>
          <p:nvPr/>
        </p:nvSpPr>
        <p:spPr>
          <a:xfrm>
            <a:off x="841375" y="5486912"/>
            <a:ext cx="7673975" cy="830997"/>
          </a:xfrm>
          <a:prstGeom prst="rect">
            <a:avLst/>
          </a:prstGeom>
          <a:noFill/>
        </p:spPr>
        <p:txBody>
          <a:bodyPr>
            <a:spAutoFit/>
          </a:bodyPr>
          <a:lstStyle/>
          <a:p>
            <a:pPr>
              <a:defRPr/>
            </a:pPr>
            <a:r>
              <a:rPr lang="en-US" sz="1600" b="1" dirty="0">
                <a:solidFill>
                  <a:srgbClr val="000000"/>
                </a:solidFill>
                <a:cs typeface="Times New Roman" panose="02020603050405020304" pitchFamily="18" charset="0"/>
              </a:rPr>
              <a:t>Though Project 2 and 3 have same initial investment and net profits but significant different in NPV value. This difference in NPV reflects, we must wait longer for the bulk of income.</a:t>
            </a:r>
          </a:p>
        </p:txBody>
      </p:sp>
      <p:graphicFrame>
        <p:nvGraphicFramePr>
          <p:cNvPr id="6" name="Table 5">
            <a:extLst>
              <a:ext uri="{FF2B5EF4-FFF2-40B4-BE49-F238E27FC236}">
                <a16:creationId xmlns:a16="http://schemas.microsoft.com/office/drawing/2014/main" xmlns="" id="{C917B4FA-79CC-4470-91A6-F35205B9896E}"/>
              </a:ext>
            </a:extLst>
          </p:cNvPr>
          <p:cNvGraphicFramePr>
            <a:graphicFrameLocks noGrp="1"/>
          </p:cNvGraphicFramePr>
          <p:nvPr>
            <p:extLst>
              <p:ext uri="{D42A27DB-BD31-4B8C-83A1-F6EECF244321}">
                <p14:modId xmlns:p14="http://schemas.microsoft.com/office/powerpoint/2010/main" val="1851224485"/>
              </p:ext>
            </p:extLst>
          </p:nvPr>
        </p:nvGraphicFramePr>
        <p:xfrm>
          <a:off x="366563" y="1856832"/>
          <a:ext cx="8410873" cy="3475743"/>
        </p:xfrm>
        <a:graphic>
          <a:graphicData uri="http://schemas.openxmlformats.org/drawingml/2006/table">
            <a:tbl>
              <a:tblPr/>
              <a:tblGrid>
                <a:gridCol w="1234624">
                  <a:extLst>
                    <a:ext uri="{9D8B030D-6E8A-4147-A177-3AD203B41FA5}">
                      <a16:colId xmlns:a16="http://schemas.microsoft.com/office/drawing/2014/main" xmlns="" val="20000"/>
                    </a:ext>
                  </a:extLst>
                </a:gridCol>
                <a:gridCol w="1234624">
                  <a:extLst>
                    <a:ext uri="{9D8B030D-6E8A-4147-A177-3AD203B41FA5}">
                      <a16:colId xmlns:a16="http://schemas.microsoft.com/office/drawing/2014/main" xmlns="" val="20001"/>
                    </a:ext>
                  </a:extLst>
                </a:gridCol>
                <a:gridCol w="1234624">
                  <a:extLst>
                    <a:ext uri="{9D8B030D-6E8A-4147-A177-3AD203B41FA5}">
                      <a16:colId xmlns:a16="http://schemas.microsoft.com/office/drawing/2014/main" xmlns="" val="20002"/>
                    </a:ext>
                  </a:extLst>
                </a:gridCol>
                <a:gridCol w="1748891">
                  <a:extLst>
                    <a:ext uri="{9D8B030D-6E8A-4147-A177-3AD203B41FA5}">
                      <a16:colId xmlns:a16="http://schemas.microsoft.com/office/drawing/2014/main" xmlns="" val="20003"/>
                    </a:ext>
                  </a:extLst>
                </a:gridCol>
                <a:gridCol w="1414833">
                  <a:extLst>
                    <a:ext uri="{9D8B030D-6E8A-4147-A177-3AD203B41FA5}">
                      <a16:colId xmlns:a16="http://schemas.microsoft.com/office/drawing/2014/main" xmlns="" val="20004"/>
                    </a:ext>
                  </a:extLst>
                </a:gridCol>
                <a:gridCol w="1543277">
                  <a:extLst>
                    <a:ext uri="{9D8B030D-6E8A-4147-A177-3AD203B41FA5}">
                      <a16:colId xmlns:a16="http://schemas.microsoft.com/office/drawing/2014/main" xmlns="" val="20005"/>
                    </a:ext>
                  </a:extLst>
                </a:gridCol>
              </a:tblGrid>
              <a:tr h="1194343">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b="1" u="none" strike="noStrike" dirty="0">
                          <a:effectLst/>
                          <a:latin typeface="+mn-lt"/>
                          <a:cs typeface="Times New Roman" panose="02020603050405020304" pitchFamily="18" charset="0"/>
                        </a:rPr>
                        <a:t>Year</a:t>
                      </a:r>
                      <a:endParaRPr lang="en-US" sz="1400" b="1"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b="1" u="none" strike="noStrike" dirty="0">
                          <a:effectLst/>
                          <a:latin typeface="+mn-lt"/>
                          <a:cs typeface="Times New Roman" panose="02020603050405020304" pitchFamily="18" charset="0"/>
                        </a:rPr>
                        <a:t>Cashflow</a:t>
                      </a:r>
                    </a:p>
                    <a:p>
                      <a:pPr algn="ctr" fontAlgn="ctr"/>
                      <a:r>
                        <a:rPr lang="en-US" sz="1400" b="1" i="0" u="none" strike="noStrike" dirty="0">
                          <a:solidFill>
                            <a:srgbClr val="000000"/>
                          </a:solidFill>
                          <a:effectLst/>
                          <a:latin typeface="+mn-lt"/>
                          <a:cs typeface="Times New Roman" panose="02020603050405020304" pitchFamily="18" charset="0"/>
                        </a:rPr>
                        <a:t>Project 2</a:t>
                      </a: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b="1" u="none" strike="noStrike" dirty="0">
                          <a:effectLst/>
                          <a:latin typeface="+mn-lt"/>
                          <a:cs typeface="Times New Roman" panose="02020603050405020304" pitchFamily="18" charset="0"/>
                        </a:rPr>
                        <a:t>Cashflow</a:t>
                      </a:r>
                    </a:p>
                    <a:p>
                      <a:pPr algn="ctr" fontAlgn="ctr"/>
                      <a:r>
                        <a:rPr lang="en-US" sz="1400" b="1" i="0" u="none" strike="noStrike" dirty="0">
                          <a:solidFill>
                            <a:srgbClr val="000000"/>
                          </a:solidFill>
                          <a:effectLst/>
                          <a:latin typeface="+mn-lt"/>
                          <a:cs typeface="Times New Roman" panose="02020603050405020304" pitchFamily="18" charset="0"/>
                        </a:rPr>
                        <a:t>Project 3</a:t>
                      </a: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pt-BR" sz="1400" b="1" u="none" strike="noStrike" dirty="0">
                          <a:effectLst/>
                          <a:latin typeface="+mn-lt"/>
                          <a:cs typeface="Times New Roman" panose="02020603050405020304" pitchFamily="18" charset="0"/>
                        </a:rPr>
                        <a:t>Discount Factor (10%) PV = 1/(1+r)</a:t>
                      </a:r>
                      <a:r>
                        <a:rPr lang="pt-BR" sz="1400" b="1" u="none" strike="noStrike" baseline="30000" dirty="0">
                          <a:effectLst/>
                          <a:latin typeface="+mn-lt"/>
                          <a:cs typeface="Times New Roman" panose="02020603050405020304" pitchFamily="18" charset="0"/>
                        </a:rPr>
                        <a:t>n</a:t>
                      </a:r>
                      <a:endParaRPr lang="pt-BR" sz="1400" b="1"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b="1" u="none" strike="noStrike" dirty="0">
                          <a:effectLst/>
                          <a:latin typeface="+mn-lt"/>
                          <a:cs typeface="Times New Roman" panose="02020603050405020304" pitchFamily="18" charset="0"/>
                        </a:rPr>
                        <a:t>Discounted Cashflow Project 2</a:t>
                      </a:r>
                    </a:p>
                    <a:p>
                      <a:pPr algn="ctr" fontAlgn="ctr"/>
                      <a:r>
                        <a:rPr lang="en-US" sz="1400" b="1" i="0" u="none" strike="noStrike" dirty="0">
                          <a:solidFill>
                            <a:srgbClr val="000000"/>
                          </a:solidFill>
                          <a:effectLst/>
                          <a:latin typeface="+mn-lt"/>
                          <a:cs typeface="Times New Roman" panose="02020603050405020304" pitchFamily="18" charset="0"/>
                        </a:rPr>
                        <a:t>(cash flow * discount factor)</a:t>
                      </a: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b="1" u="none" strike="noStrike" dirty="0">
                          <a:effectLst/>
                          <a:latin typeface="+mn-lt"/>
                          <a:cs typeface="Times New Roman" panose="02020603050405020304" pitchFamily="18" charset="0"/>
                        </a:rPr>
                        <a:t>Discounted Cashflow Project 3</a:t>
                      </a:r>
                      <a:endParaRPr lang="en-US" sz="1400" b="1"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extLst>
                  <a:ext uri="{0D108BD9-81ED-4DB2-BD59-A6C34878D82A}">
                    <a16:rowId xmlns:a16="http://schemas.microsoft.com/office/drawing/2014/main" xmlns="" val="10000"/>
                  </a:ext>
                </a:extLst>
              </a:tr>
              <a:tr h="256050">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-100,000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-100,000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-100,000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-100,000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extLst>
                  <a:ext uri="{0D108BD9-81ED-4DB2-BD59-A6C34878D82A}">
                    <a16:rowId xmlns:a16="http://schemas.microsoft.com/office/drawing/2014/main" xmlns="" val="10001"/>
                  </a:ext>
                </a:extLst>
              </a:tr>
              <a:tr h="256050">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30,000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0.9091</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9091</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27273</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extLst>
                  <a:ext uri="{0D108BD9-81ED-4DB2-BD59-A6C34878D82A}">
                    <a16:rowId xmlns:a16="http://schemas.microsoft.com/office/drawing/2014/main" xmlns="" val="10002"/>
                  </a:ext>
                </a:extLst>
              </a:tr>
              <a:tr h="256050">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2</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30,000</a:t>
                      </a:r>
                      <a:endParaRPr lang="en-US" sz="1400" b="0"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0.8264</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8264</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24792</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extLst>
                  <a:ext uri="{0D108BD9-81ED-4DB2-BD59-A6C34878D82A}">
                    <a16:rowId xmlns:a16="http://schemas.microsoft.com/office/drawing/2014/main" xmlns="" val="10003"/>
                  </a:ext>
                </a:extLst>
              </a:tr>
              <a:tr h="256050">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3</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10,000</a:t>
                      </a:r>
                      <a:endParaRPr lang="en-US" sz="1400" b="0"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30,000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0.7513</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7513</a:t>
                      </a:r>
                      <a:endParaRPr lang="en-US" sz="1400" b="0"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22539</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extLst>
                  <a:ext uri="{0D108BD9-81ED-4DB2-BD59-A6C34878D82A}">
                    <a16:rowId xmlns:a16="http://schemas.microsoft.com/office/drawing/2014/main" xmlns="" val="10004"/>
                  </a:ext>
                </a:extLst>
              </a:tr>
              <a:tr h="256050">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4</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20,000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30,000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0.683</a:t>
                      </a:r>
                      <a:endParaRPr lang="en-US" sz="1400" b="0"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13,660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20490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extLst>
                  <a:ext uri="{0D108BD9-81ED-4DB2-BD59-A6C34878D82A}">
                    <a16:rowId xmlns:a16="http://schemas.microsoft.com/office/drawing/2014/main" xmlns="" val="10005"/>
                  </a:ext>
                </a:extLst>
              </a:tr>
              <a:tr h="268851">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5</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100,000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30,000</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0.6209</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62,090</a:t>
                      </a:r>
                      <a:endParaRPr lang="en-US" sz="1400" b="0"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18627</a:t>
                      </a:r>
                      <a:endParaRPr lang="en-US" sz="1400" b="0"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extLst>
                  <a:ext uri="{0D108BD9-81ED-4DB2-BD59-A6C34878D82A}">
                    <a16:rowId xmlns:a16="http://schemas.microsoft.com/office/drawing/2014/main" xmlns="" val="10006"/>
                  </a:ext>
                </a:extLst>
              </a:tr>
              <a:tr h="463448">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Net profit</a:t>
                      </a:r>
                      <a:endParaRPr lang="en-US" sz="1400" b="1"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50,000</a:t>
                      </a:r>
                      <a:endParaRPr lang="en-US" sz="1400" b="1"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50,000</a:t>
                      </a:r>
                      <a:endParaRPr lang="en-US" sz="1400" b="1"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 </a:t>
                      </a:r>
                      <a:endParaRPr lang="en-US" sz="1400" b="1"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 </a:t>
                      </a:r>
                      <a:endParaRPr lang="en-US" sz="1400" b="1"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 </a:t>
                      </a:r>
                      <a:endParaRPr lang="en-US" sz="1400" b="1"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extLst>
                  <a:ext uri="{0D108BD9-81ED-4DB2-BD59-A6C34878D82A}">
                    <a16:rowId xmlns:a16="http://schemas.microsoft.com/office/drawing/2014/main" xmlns="" val="10007"/>
                  </a:ext>
                </a:extLst>
              </a:tr>
              <a:tr h="268851">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NPV</a:t>
                      </a:r>
                      <a:endParaRPr lang="en-US" sz="1400" b="1"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a:effectLst/>
                          <a:latin typeface="+mn-lt"/>
                          <a:cs typeface="Times New Roman" panose="02020603050405020304" pitchFamily="18" charset="0"/>
                        </a:rPr>
                        <a:t> </a:t>
                      </a:r>
                      <a:endParaRPr lang="en-US" sz="1400" b="1" i="0" u="none" strike="noStrike">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 </a:t>
                      </a:r>
                      <a:endParaRPr lang="en-US" sz="1400" b="1"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 </a:t>
                      </a:r>
                      <a:endParaRPr lang="en-US" sz="1400" b="1"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618</a:t>
                      </a:r>
                      <a:endParaRPr lang="en-US" sz="1400" b="1"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tc>
                  <a:txBody>
                    <a:bodyPr/>
                    <a:lstStyle>
                      <a:lvl1pPr marL="0" algn="l" defTabSz="914400" rtl="0" eaLnBrk="1" latinLnBrk="0" hangingPunct="1">
                        <a:defRPr sz="1800" kern="1200">
                          <a:solidFill>
                            <a:schemeClr val="dk1"/>
                          </a:solidFill>
                          <a:latin typeface="Georgia"/>
                          <a:ea typeface=""/>
                          <a:cs typeface=""/>
                        </a:defRPr>
                      </a:lvl1pPr>
                      <a:lvl2pPr marL="457200" algn="l" defTabSz="914400" rtl="0" eaLnBrk="1" latinLnBrk="0" hangingPunct="1">
                        <a:defRPr sz="1800" kern="1200">
                          <a:solidFill>
                            <a:schemeClr val="dk1"/>
                          </a:solidFill>
                          <a:latin typeface="Georgia"/>
                          <a:ea typeface=""/>
                          <a:cs typeface=""/>
                        </a:defRPr>
                      </a:lvl2pPr>
                      <a:lvl3pPr marL="914400" algn="l" defTabSz="914400" rtl="0" eaLnBrk="1" latinLnBrk="0" hangingPunct="1">
                        <a:defRPr sz="1800" kern="1200">
                          <a:solidFill>
                            <a:schemeClr val="dk1"/>
                          </a:solidFill>
                          <a:latin typeface="Georgia"/>
                          <a:ea typeface=""/>
                          <a:cs typeface=""/>
                        </a:defRPr>
                      </a:lvl3pPr>
                      <a:lvl4pPr marL="1371600" algn="l" defTabSz="914400" rtl="0" eaLnBrk="1" latinLnBrk="0" hangingPunct="1">
                        <a:defRPr sz="1800" kern="1200">
                          <a:solidFill>
                            <a:schemeClr val="dk1"/>
                          </a:solidFill>
                          <a:latin typeface="Georgia"/>
                          <a:ea typeface=""/>
                          <a:cs typeface=""/>
                        </a:defRPr>
                      </a:lvl4pPr>
                      <a:lvl5pPr marL="1828800" algn="l" defTabSz="914400" rtl="0" eaLnBrk="1" latinLnBrk="0" hangingPunct="1">
                        <a:defRPr sz="1800" kern="1200">
                          <a:solidFill>
                            <a:schemeClr val="dk1"/>
                          </a:solidFill>
                          <a:latin typeface="Georgia"/>
                          <a:ea typeface=""/>
                          <a:cs typeface=""/>
                        </a:defRPr>
                      </a:lvl5pPr>
                      <a:lvl6pPr marL="2286000" algn="l" defTabSz="914400" rtl="0" eaLnBrk="1" latinLnBrk="0" hangingPunct="1">
                        <a:defRPr sz="1800" kern="1200">
                          <a:solidFill>
                            <a:schemeClr val="dk1"/>
                          </a:solidFill>
                          <a:latin typeface="Georgia"/>
                          <a:ea typeface=""/>
                          <a:cs typeface=""/>
                        </a:defRPr>
                      </a:lvl6pPr>
                      <a:lvl7pPr marL="2743200" algn="l" defTabSz="914400" rtl="0" eaLnBrk="1" latinLnBrk="0" hangingPunct="1">
                        <a:defRPr sz="1800" kern="1200">
                          <a:solidFill>
                            <a:schemeClr val="dk1"/>
                          </a:solidFill>
                          <a:latin typeface="Georgia"/>
                          <a:ea typeface=""/>
                          <a:cs typeface=""/>
                        </a:defRPr>
                      </a:lvl7pPr>
                      <a:lvl8pPr marL="3200400" algn="l" defTabSz="914400" rtl="0" eaLnBrk="1" latinLnBrk="0" hangingPunct="1">
                        <a:defRPr sz="1800" kern="1200">
                          <a:solidFill>
                            <a:schemeClr val="dk1"/>
                          </a:solidFill>
                          <a:latin typeface="Georgia"/>
                          <a:ea typeface=""/>
                          <a:cs typeface=""/>
                        </a:defRPr>
                      </a:lvl8pPr>
                      <a:lvl9pPr marL="3657600" algn="l" defTabSz="914400" rtl="0" eaLnBrk="1" latinLnBrk="0" hangingPunct="1">
                        <a:defRPr sz="1800" kern="1200">
                          <a:solidFill>
                            <a:schemeClr val="dk1"/>
                          </a:solidFill>
                          <a:latin typeface="Georgia"/>
                          <a:ea typeface=""/>
                          <a:cs typeface=""/>
                        </a:defRPr>
                      </a:lvl9pPr>
                    </a:lstStyle>
                    <a:p>
                      <a:pPr algn="ctr" fontAlgn="ctr"/>
                      <a:r>
                        <a:rPr lang="en-US" sz="1400" u="none" strike="noStrike" dirty="0">
                          <a:effectLst/>
                          <a:latin typeface="+mn-lt"/>
                          <a:cs typeface="Times New Roman" panose="02020603050405020304" pitchFamily="18" charset="0"/>
                        </a:rPr>
                        <a:t>13,721</a:t>
                      </a:r>
                      <a:endParaRPr lang="en-US" sz="1400" b="1" i="0" u="none" strike="noStrike" dirty="0">
                        <a:solidFill>
                          <a:srgbClr val="000000"/>
                        </a:solidFill>
                        <a:effectLst/>
                        <a:latin typeface="+mn-lt"/>
                        <a:cs typeface="Times New Roman" panose="02020603050405020304" pitchFamily="18" charset="0"/>
                      </a:endParaRPr>
                    </a:p>
                  </a:txBody>
                  <a:tcPr marL="9525" marR="9525" marT="9523"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4B6D2">
                        <a:tint val="20000"/>
                      </a:srgbClr>
                    </a:solidFill>
                  </a:tcPr>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750162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7A15A2-3DA9-4809-A942-3A1DA5398B16}"/>
              </a:ext>
            </a:extLst>
          </p:cNvPr>
          <p:cNvSpPr>
            <a:spLocks noGrp="1"/>
          </p:cNvSpPr>
          <p:nvPr>
            <p:ph type="title"/>
          </p:nvPr>
        </p:nvSpPr>
        <p:spPr/>
        <p:txBody>
          <a:bodyPr>
            <a:noAutofit/>
          </a:bodyPr>
          <a:lstStyle/>
          <a:p>
            <a:r>
              <a:rPr lang="en-US" altLang="en-US" sz="3200" b="1" dirty="0">
                <a:latin typeface="Times New Roman" panose="02020603050405020304" pitchFamily="18" charset="0"/>
                <a:cs typeface="Times New Roman" panose="02020603050405020304" pitchFamily="18" charset="0"/>
              </a:rPr>
              <a:t>Cost Benefit Evaluation Techniques - NPV</a:t>
            </a:r>
            <a:endParaRPr lang="en-US" sz="3200" dirty="0"/>
          </a:p>
        </p:txBody>
      </p:sp>
      <p:sp>
        <p:nvSpPr>
          <p:cNvPr id="4" name="Slide Number Placeholder 3">
            <a:extLst>
              <a:ext uri="{FF2B5EF4-FFF2-40B4-BE49-F238E27FC236}">
                <a16:creationId xmlns:a16="http://schemas.microsoft.com/office/drawing/2014/main" xmlns="" id="{CBE20732-5DD9-4F5C-ABAC-73501AF17C37}"/>
              </a:ext>
            </a:extLst>
          </p:cNvPr>
          <p:cNvSpPr>
            <a:spLocks noGrp="1"/>
          </p:cNvSpPr>
          <p:nvPr>
            <p:ph type="sldNum" sz="quarter" idx="12"/>
          </p:nvPr>
        </p:nvSpPr>
        <p:spPr/>
        <p:txBody>
          <a:bodyPr/>
          <a:lstStyle/>
          <a:p>
            <a:fld id="{60D6D740-8150-433F-9426-3FCFF681501A}" type="slidenum">
              <a:rPr lang="en-US" smtClean="0"/>
              <a:pPr/>
              <a:t>38</a:t>
            </a:fld>
            <a:endParaRPr lang="en-US" dirty="0"/>
          </a:p>
        </p:txBody>
      </p:sp>
      <p:graphicFrame>
        <p:nvGraphicFramePr>
          <p:cNvPr id="5" name="Table 4">
            <a:extLst>
              <a:ext uri="{FF2B5EF4-FFF2-40B4-BE49-F238E27FC236}">
                <a16:creationId xmlns:a16="http://schemas.microsoft.com/office/drawing/2014/main" xmlns="" id="{F374A047-DF25-4C7B-B7B0-BCF9FCADF68F}"/>
              </a:ext>
            </a:extLst>
          </p:cNvPr>
          <p:cNvGraphicFramePr>
            <a:graphicFrameLocks/>
          </p:cNvGraphicFramePr>
          <p:nvPr>
            <p:extLst>
              <p:ext uri="{D42A27DB-BD31-4B8C-83A1-F6EECF244321}">
                <p14:modId xmlns:p14="http://schemas.microsoft.com/office/powerpoint/2010/main" val="1767747222"/>
              </p:ext>
            </p:extLst>
          </p:nvPr>
        </p:nvGraphicFramePr>
        <p:xfrm>
          <a:off x="558799" y="2286288"/>
          <a:ext cx="8026401" cy="2377312"/>
        </p:xfrm>
        <a:graphic>
          <a:graphicData uri="http://schemas.openxmlformats.org/drawingml/2006/table">
            <a:tbl>
              <a:tblPr firstRow="1" bandRow="1">
                <a:tableStyleId>{5C22544A-7EE6-4342-B048-85BDC9FD1C3A}</a:tableStyleId>
              </a:tblPr>
              <a:tblGrid>
                <a:gridCol w="2044461">
                  <a:extLst>
                    <a:ext uri="{9D8B030D-6E8A-4147-A177-3AD203B41FA5}">
                      <a16:colId xmlns:a16="http://schemas.microsoft.com/office/drawing/2014/main" xmlns="" val="20000"/>
                    </a:ext>
                  </a:extLst>
                </a:gridCol>
                <a:gridCol w="2801668">
                  <a:extLst>
                    <a:ext uri="{9D8B030D-6E8A-4147-A177-3AD203B41FA5}">
                      <a16:colId xmlns:a16="http://schemas.microsoft.com/office/drawing/2014/main" xmlns="" val="20001"/>
                    </a:ext>
                  </a:extLst>
                </a:gridCol>
                <a:gridCol w="3180272">
                  <a:extLst>
                    <a:ext uri="{9D8B030D-6E8A-4147-A177-3AD203B41FA5}">
                      <a16:colId xmlns:a16="http://schemas.microsoft.com/office/drawing/2014/main" xmlns="" val="20002"/>
                    </a:ext>
                  </a:extLst>
                </a:gridCol>
              </a:tblGrid>
              <a:tr h="365607">
                <a:tc>
                  <a:txBody>
                    <a:bodyPr/>
                    <a:lstStyle/>
                    <a:p>
                      <a:r>
                        <a:rPr lang="en-US" sz="1800" dirty="0">
                          <a:solidFill>
                            <a:schemeClr val="tx1"/>
                          </a:solidFill>
                          <a:latin typeface="+mn-lt"/>
                        </a:rPr>
                        <a:t>Technique</a:t>
                      </a:r>
                    </a:p>
                  </a:txBody>
                  <a:tcPr marL="91433" marR="91433" marT="45688" marB="45688"/>
                </a:tc>
                <a:tc>
                  <a:txBody>
                    <a:bodyPr/>
                    <a:lstStyle/>
                    <a:p>
                      <a:r>
                        <a:rPr lang="en-US" sz="1800" dirty="0">
                          <a:solidFill>
                            <a:schemeClr val="tx1"/>
                          </a:solidFill>
                          <a:latin typeface="+mn-lt"/>
                        </a:rPr>
                        <a:t>Advantages</a:t>
                      </a:r>
                    </a:p>
                  </a:txBody>
                  <a:tcPr marL="91433" marR="91433" marT="45688" marB="45688"/>
                </a:tc>
                <a:tc>
                  <a:txBody>
                    <a:bodyPr/>
                    <a:lstStyle/>
                    <a:p>
                      <a:r>
                        <a:rPr lang="en-US" sz="1800" dirty="0">
                          <a:solidFill>
                            <a:schemeClr val="tx1"/>
                          </a:solidFill>
                          <a:latin typeface="+mn-lt"/>
                        </a:rPr>
                        <a:t>Disadvantages</a:t>
                      </a:r>
                    </a:p>
                  </a:txBody>
                  <a:tcPr marL="91433" marR="91433" marT="45688" marB="45688"/>
                </a:tc>
                <a:extLst>
                  <a:ext uri="{0D108BD9-81ED-4DB2-BD59-A6C34878D82A}">
                    <a16:rowId xmlns:a16="http://schemas.microsoft.com/office/drawing/2014/main" xmlns="" val="10000"/>
                  </a:ext>
                </a:extLst>
              </a:tr>
              <a:tr h="1371118">
                <a:tc>
                  <a:txBody>
                    <a:bodyPr/>
                    <a:lstStyle/>
                    <a:p>
                      <a:r>
                        <a:rPr lang="en-US" sz="1800" dirty="0">
                          <a:latin typeface="+mn-lt"/>
                        </a:rPr>
                        <a:t>Net Present Value</a:t>
                      </a:r>
                    </a:p>
                  </a:txBody>
                  <a:tcPr marL="91433" marR="91433" marT="45688" marB="45688"/>
                </a:tc>
                <a:tc>
                  <a:txBody>
                    <a:bodyPr/>
                    <a:lstStyle/>
                    <a:p>
                      <a:r>
                        <a:rPr lang="en-AU" altLang="en-US" sz="1800" dirty="0">
                          <a:latin typeface="+mn-lt"/>
                          <a:cs typeface="Times New Roman" panose="02020603050405020304" pitchFamily="18" charset="0"/>
                        </a:rPr>
                        <a:t>-Takes into account the profitability.</a:t>
                      </a:r>
                    </a:p>
                    <a:p>
                      <a:r>
                        <a:rPr lang="en-AU" sz="1800" dirty="0">
                          <a:latin typeface="+mn-lt"/>
                          <a:cs typeface="Times New Roman" panose="02020603050405020304" pitchFamily="18" charset="0"/>
                        </a:rPr>
                        <a:t>-Consider the timings of payments.</a:t>
                      </a:r>
                    </a:p>
                    <a:p>
                      <a:r>
                        <a:rPr lang="en-AU" sz="1800" dirty="0">
                          <a:latin typeface="+mn-lt"/>
                          <a:cs typeface="Times New Roman" panose="02020603050405020304" pitchFamily="18" charset="0"/>
                        </a:rPr>
                        <a:t>-Consider economic situation through discount rate.</a:t>
                      </a:r>
                      <a:endParaRPr lang="en-US" sz="1800" dirty="0">
                        <a:latin typeface="+mn-lt"/>
                        <a:cs typeface="Times New Roman" panose="02020603050405020304" pitchFamily="18" charset="0"/>
                      </a:endParaRPr>
                    </a:p>
                  </a:txBody>
                  <a:tcPr marL="91433" marR="91433" marT="45688" marB="45688"/>
                </a:tc>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AU" altLang="en-US" sz="1800" dirty="0">
                          <a:latin typeface="+mn-lt"/>
                          <a:cs typeface="Times New Roman" panose="02020603050405020304" pitchFamily="18" charset="0"/>
                        </a:rPr>
                        <a:t>-Hard to select an appropriate discount rate.</a:t>
                      </a:r>
                      <a:br>
                        <a:rPr lang="en-AU" altLang="en-US" sz="1800" dirty="0">
                          <a:latin typeface="+mn-lt"/>
                          <a:cs typeface="Times New Roman" panose="02020603050405020304" pitchFamily="18" charset="0"/>
                        </a:rPr>
                      </a:br>
                      <a:r>
                        <a:rPr lang="en-AU" altLang="en-US" sz="1800" dirty="0">
                          <a:latin typeface="+mn-lt"/>
                          <a:cs typeface="Times New Roman" panose="02020603050405020304" pitchFamily="18" charset="0"/>
                        </a:rPr>
                        <a:t>-</a:t>
                      </a:r>
                      <a:r>
                        <a:rPr kumimoji="0" lang="en-AU" altLang="en-US" sz="1800" kern="1200" dirty="0">
                          <a:solidFill>
                            <a:schemeClr val="dk1"/>
                          </a:solidFill>
                          <a:latin typeface="+mn-lt"/>
                          <a:ea typeface="+mn-ea"/>
                          <a:cs typeface="Times New Roman" panose="02020603050405020304" pitchFamily="18" charset="0"/>
                        </a:rPr>
                        <a:t>May not be directly comparable with earnings from other investments or the costs of borrowing capital</a:t>
                      </a:r>
                    </a:p>
                    <a:p>
                      <a:pPr marL="0" lvl="2" indent="0"/>
                      <a:endParaRPr lang="en-AU" altLang="en-US" sz="1800" dirty="0">
                        <a:latin typeface="+mn-lt"/>
                        <a:cs typeface="Times New Roman" panose="02020603050405020304" pitchFamily="18" charset="0"/>
                      </a:endParaRPr>
                    </a:p>
                  </a:txBody>
                  <a:tcPr marL="91433" marR="91433" marT="45688" marB="45688"/>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28983508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xmlns="" id="{9E55C3B9-81D0-4B82-B447-9667E6C573B4}"/>
              </a:ext>
            </a:extLst>
          </p:cNvPr>
          <p:cNvSpPr>
            <a:spLocks noGrp="1" noChangeArrowheads="1"/>
          </p:cNvSpPr>
          <p:nvPr>
            <p:ph type="title"/>
          </p:nvPr>
        </p:nvSpPr>
        <p:spPr/>
        <p:txBody>
          <a:bodyPr/>
          <a:lstStyle/>
          <a:p>
            <a:r>
              <a:rPr lang="en-GB" altLang="en-US"/>
              <a:t>Internal rate of return</a:t>
            </a:r>
          </a:p>
        </p:txBody>
      </p:sp>
      <p:sp>
        <p:nvSpPr>
          <p:cNvPr id="47107" name="Rectangle 3">
            <a:extLst>
              <a:ext uri="{FF2B5EF4-FFF2-40B4-BE49-F238E27FC236}">
                <a16:creationId xmlns:a16="http://schemas.microsoft.com/office/drawing/2014/main" xmlns="" id="{55AEA77E-20A5-467A-8531-79F5B4F46BAD}"/>
              </a:ext>
            </a:extLst>
          </p:cNvPr>
          <p:cNvSpPr>
            <a:spLocks noGrp="1" noChangeArrowheads="1"/>
          </p:cNvSpPr>
          <p:nvPr>
            <p:ph type="body" idx="1"/>
          </p:nvPr>
        </p:nvSpPr>
        <p:spPr/>
        <p:txBody>
          <a:bodyPr/>
          <a:lstStyle/>
          <a:p>
            <a:r>
              <a:rPr lang="en-GB" altLang="en-US"/>
              <a:t>Internal rate of return (IRR) is the discount rate that would produce an NPV of 0 for the project</a:t>
            </a:r>
          </a:p>
          <a:p>
            <a:r>
              <a:rPr lang="en-GB" altLang="en-US"/>
              <a:t>Can be used to compare different investment opportunities</a:t>
            </a:r>
          </a:p>
          <a:p>
            <a:r>
              <a:rPr lang="en-GB" altLang="en-US"/>
              <a:t>There is a Microsoft Excel function which can be used to calculate</a:t>
            </a:r>
          </a:p>
        </p:txBody>
      </p:sp>
      <p:sp>
        <p:nvSpPr>
          <p:cNvPr id="6" name="Slide Number Placeholder 3">
            <a:extLst>
              <a:ext uri="{FF2B5EF4-FFF2-40B4-BE49-F238E27FC236}">
                <a16:creationId xmlns:a16="http://schemas.microsoft.com/office/drawing/2014/main" xmlns="" id="{B189AEFC-3BBC-4783-8FB8-55133AEAA64E}"/>
              </a:ext>
            </a:extLst>
          </p:cNvPr>
          <p:cNvSpPr>
            <a:spLocks noGrp="1"/>
          </p:cNvSpPr>
          <p:nvPr>
            <p:ph type="sldNum" sz="quarter" idx="12"/>
          </p:nvPr>
        </p:nvSpPr>
        <p:spPr>
          <a:xfrm>
            <a:off x="6457950" y="6356351"/>
            <a:ext cx="2057400" cy="365125"/>
          </a:xfrm>
        </p:spPr>
        <p:txBody>
          <a:bodyPr/>
          <a:lstStyle/>
          <a:p>
            <a:fld id="{60D6D740-8150-433F-9426-3FCFF681501A}" type="slidenum">
              <a:rPr lang="en-US" smtClean="0"/>
              <a:pPr/>
              <a:t>39</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4112</TotalTime>
  <Words>2148</Words>
  <Application>Microsoft Office PowerPoint</Application>
  <PresentationFormat>On-screen Show (4:3)</PresentationFormat>
  <Paragraphs>470</Paragraphs>
  <Slides>39</Slides>
  <Notes>18</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FUNDAMENTALS OF SOFTWARE PROJECT MANAGEMENT    Cost Benefit Analysis </vt:lpstr>
      <vt:lpstr>Main topics to be covered</vt:lpstr>
      <vt:lpstr>The business case</vt:lpstr>
      <vt:lpstr>Contents of a business case</vt:lpstr>
      <vt:lpstr>Contents of a business case Cont.</vt:lpstr>
      <vt:lpstr>Project Evaluation</vt:lpstr>
      <vt:lpstr>Project Evaluation - Why</vt:lpstr>
      <vt:lpstr>Project Evaluation–Who and When</vt:lpstr>
      <vt:lpstr>Project Evaluation - What</vt:lpstr>
      <vt:lpstr>Project Evaluation - How</vt:lpstr>
      <vt:lpstr>PowerPoint Presentation</vt:lpstr>
      <vt:lpstr>Strategic Assessment</vt:lpstr>
      <vt:lpstr>Evaluation of individual projects</vt:lpstr>
      <vt:lpstr>Economic Assessment</vt:lpstr>
      <vt:lpstr>Economic Assessment (cont’d)</vt:lpstr>
      <vt:lpstr>Cost benefit analysis (CBA)</vt:lpstr>
      <vt:lpstr>Product/system life cycle cash flows</vt:lpstr>
      <vt:lpstr>EA– Cash Flow Forecasting</vt:lpstr>
      <vt:lpstr>Cost-benefit evaluation techniques</vt:lpstr>
      <vt:lpstr>PowerPoint Presentation</vt:lpstr>
      <vt:lpstr>Payback Period</vt:lpstr>
      <vt:lpstr>PowerPoint Presentation</vt:lpstr>
      <vt:lpstr>PowerPoint Presentation</vt:lpstr>
      <vt:lpstr>PowerPoint Presentation</vt:lpstr>
      <vt:lpstr>Net profit</vt:lpstr>
      <vt:lpstr>PowerPoint Presentation</vt:lpstr>
      <vt:lpstr>PowerPoint Presentation</vt:lpstr>
      <vt:lpstr>Return on investment (ROI)</vt:lpstr>
      <vt:lpstr>PowerPoint Presentation</vt:lpstr>
      <vt:lpstr>PowerPoint Presentation</vt:lpstr>
      <vt:lpstr>PowerPoint Presentation</vt:lpstr>
      <vt:lpstr>Net Profit, Payback Period and ROI</vt:lpstr>
      <vt:lpstr>Net present value</vt:lpstr>
      <vt:lpstr>Discount factor</vt:lpstr>
      <vt:lpstr>Applying discount factors</vt:lpstr>
      <vt:lpstr>Activity </vt:lpstr>
      <vt:lpstr>Cost Benefit Evaluation Techniques - NPV</vt:lpstr>
      <vt:lpstr>Cost Benefit Evaluation Techniques - NPV</vt:lpstr>
      <vt:lpstr>Internal rate of return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and Analysis</dc:title>
  <dc:creator>Muhammad Mr.. Bilal</dc:creator>
  <cp:lastModifiedBy>haadia</cp:lastModifiedBy>
  <cp:revision>333</cp:revision>
  <dcterms:created xsi:type="dcterms:W3CDTF">2021-08-26T07:43:58Z</dcterms:created>
  <dcterms:modified xsi:type="dcterms:W3CDTF">2025-11-17T12:38:51Z</dcterms:modified>
</cp:coreProperties>
</file>