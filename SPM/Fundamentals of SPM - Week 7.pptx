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handoutMasterIdLst>
    <p:handoutMasterId r:id="rId46"/>
  </p:handoutMasterIdLst>
  <p:sldIdLst>
    <p:sldId id="295" r:id="rId2"/>
    <p:sldId id="271" r:id="rId3"/>
    <p:sldId id="338" r:id="rId4"/>
    <p:sldId id="384" r:id="rId5"/>
    <p:sldId id="411" r:id="rId6"/>
    <p:sldId id="322" r:id="rId7"/>
    <p:sldId id="300" r:id="rId8"/>
    <p:sldId id="301" r:id="rId9"/>
    <p:sldId id="259" r:id="rId10"/>
    <p:sldId id="362" r:id="rId11"/>
    <p:sldId id="264" r:id="rId12"/>
    <p:sldId id="262" r:id="rId13"/>
    <p:sldId id="365" r:id="rId14"/>
    <p:sldId id="263" r:id="rId15"/>
    <p:sldId id="302" r:id="rId16"/>
    <p:sldId id="361" r:id="rId17"/>
    <p:sldId id="303" r:id="rId18"/>
    <p:sldId id="304" r:id="rId19"/>
    <p:sldId id="393" r:id="rId20"/>
    <p:sldId id="323" r:id="rId21"/>
    <p:sldId id="386" r:id="rId22"/>
    <p:sldId id="265" r:id="rId23"/>
    <p:sldId id="267" r:id="rId24"/>
    <p:sldId id="324" r:id="rId25"/>
    <p:sldId id="325" r:id="rId26"/>
    <p:sldId id="326" r:id="rId27"/>
    <p:sldId id="327" r:id="rId28"/>
    <p:sldId id="284" r:id="rId29"/>
    <p:sldId id="285" r:id="rId30"/>
    <p:sldId id="347" r:id="rId31"/>
    <p:sldId id="348" r:id="rId32"/>
    <p:sldId id="349" r:id="rId33"/>
    <p:sldId id="350" r:id="rId34"/>
    <p:sldId id="351" r:id="rId35"/>
    <p:sldId id="368" r:id="rId36"/>
    <p:sldId id="390" r:id="rId37"/>
    <p:sldId id="356" r:id="rId38"/>
    <p:sldId id="405" r:id="rId39"/>
    <p:sldId id="391" r:id="rId40"/>
    <p:sldId id="387" r:id="rId41"/>
    <p:sldId id="389" r:id="rId42"/>
    <p:sldId id="383" r:id="rId43"/>
    <p:sldId id="281"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70" autoAdjust="0"/>
    <p:restoredTop sz="93557" autoAdjust="0"/>
  </p:normalViewPr>
  <p:slideViewPr>
    <p:cSldViewPr snapToGrid="0">
      <p:cViewPr varScale="1">
        <p:scale>
          <a:sx n="64" d="100"/>
          <a:sy n="64" d="100"/>
        </p:scale>
        <p:origin x="1208" y="48"/>
      </p:cViewPr>
      <p:guideLst/>
    </p:cSldViewPr>
  </p:slideViewPr>
  <p:notesTextViewPr>
    <p:cViewPr>
      <p:scale>
        <a:sx n="1" d="1"/>
        <a:sy n="1" d="1"/>
      </p:scale>
      <p:origin x="0" y="0"/>
    </p:cViewPr>
  </p:notesTextViewPr>
  <p:notesViewPr>
    <p:cSldViewPr snapToGrid="0">
      <p:cViewPr varScale="1">
        <p:scale>
          <a:sx n="88" d="100"/>
          <a:sy n="88" d="100"/>
        </p:scale>
        <p:origin x="3822"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4EE401-9990-4847-9393-B587C049108F}" type="datetimeFigureOut">
              <a:rPr lang="en-US" smtClean="0"/>
              <a:t>10/7/2024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06A5EC-6475-4ACA-82A7-7E5503099B49}" type="slidenum">
              <a:rPr lang="en-US" smtClean="0"/>
              <a:t>‹#›</a:t>
            </a:fld>
            <a:endParaRPr lang="en-US"/>
          </a:p>
        </p:txBody>
      </p:sp>
    </p:spTree>
    <p:extLst>
      <p:ext uri="{BB962C8B-B14F-4D97-AF65-F5344CB8AC3E}">
        <p14:creationId xmlns:p14="http://schemas.microsoft.com/office/powerpoint/2010/main" val="29960421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336036-6769-40BF-B513-474833C74DCA}" type="datetimeFigureOut">
              <a:rPr lang="en-US" smtClean="0"/>
              <a:t>10/7/2024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8C5D26-D9CE-49B4-8A24-9C5C7281350F}" type="slidenum">
              <a:rPr lang="en-US" smtClean="0"/>
              <a:t>‹#›</a:t>
            </a:fld>
            <a:endParaRPr lang="en-US"/>
          </a:p>
        </p:txBody>
      </p:sp>
    </p:spTree>
    <p:extLst>
      <p:ext uri="{BB962C8B-B14F-4D97-AF65-F5344CB8AC3E}">
        <p14:creationId xmlns:p14="http://schemas.microsoft.com/office/powerpoint/2010/main" val="1071080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D6E0EA3F-A962-48C5-AE70-B6C240E111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C29D1374-EB82-4DDD-9E7E-84DB905FE724}" type="slidenum">
              <a:rPr lang="en-US" altLang="en-US" sz="1200"/>
              <a:pPr eaLnBrk="1" hangingPunct="1"/>
              <a:t>2</a:t>
            </a:fld>
            <a:endParaRPr lang="en-US" altLang="en-US" sz="1200"/>
          </a:p>
        </p:txBody>
      </p:sp>
      <p:sp>
        <p:nvSpPr>
          <p:cNvPr id="84995" name="Rectangle 2">
            <a:extLst>
              <a:ext uri="{FF2B5EF4-FFF2-40B4-BE49-F238E27FC236}">
                <a16:creationId xmlns:a16="http://schemas.microsoft.com/office/drawing/2014/main" id="{2086A458-8714-428A-82A2-705A639435D2}"/>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15AB9332-6509-406D-A773-37E8D1223F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An oxymoron is </a:t>
            </a:r>
            <a:r>
              <a:rPr lang="en-US" b="1" i="0" dirty="0">
                <a:solidFill>
                  <a:srgbClr val="202124"/>
                </a:solidFill>
                <a:effectLst/>
                <a:latin typeface="arial" panose="020B0604020202020204" pitchFamily="34" charset="0"/>
              </a:rPr>
              <a:t>a self-contradicting word or group of words</a:t>
            </a:r>
            <a:r>
              <a:rPr lang="en-US" b="0" i="0" dirty="0">
                <a:solidFill>
                  <a:srgbClr val="202124"/>
                </a:solidFill>
                <a:effectLst/>
                <a:latin typeface="arial" panose="020B0604020202020204" pitchFamily="34" charset="0"/>
              </a:rPr>
              <a:t> </a:t>
            </a:r>
            <a:endParaRPr lang="en-PK" dirty="0"/>
          </a:p>
        </p:txBody>
      </p:sp>
      <p:sp>
        <p:nvSpPr>
          <p:cNvPr id="4" name="Slide Number Placeholder 3"/>
          <p:cNvSpPr>
            <a:spLocks noGrp="1"/>
          </p:cNvSpPr>
          <p:nvPr>
            <p:ph type="sldNum" sz="quarter" idx="5"/>
          </p:nvPr>
        </p:nvSpPr>
        <p:spPr/>
        <p:txBody>
          <a:bodyPr/>
          <a:lstStyle/>
          <a:p>
            <a:fld id="{F68C5D26-D9CE-49B4-8A24-9C5C7281350F}" type="slidenum">
              <a:rPr lang="en-US" smtClean="0"/>
              <a:t>4</a:t>
            </a:fld>
            <a:endParaRPr lang="en-US"/>
          </a:p>
        </p:txBody>
      </p:sp>
    </p:spTree>
    <p:extLst>
      <p:ext uri="{BB962C8B-B14F-4D97-AF65-F5344CB8AC3E}">
        <p14:creationId xmlns:p14="http://schemas.microsoft.com/office/powerpoint/2010/main" val="29714796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dirty="0"/>
              <a:t>A key point here is that developers may in fact be very competent, but incorrect estimates leading to unachievable targets will lead to extreme customer dissatisfaction.</a:t>
            </a:r>
          </a:p>
          <a:p>
            <a:endParaRPr lang="en-US" dirty="0"/>
          </a:p>
        </p:txBody>
      </p:sp>
      <p:sp>
        <p:nvSpPr>
          <p:cNvPr id="4" name="Slide Number Placeholder 3"/>
          <p:cNvSpPr>
            <a:spLocks noGrp="1"/>
          </p:cNvSpPr>
          <p:nvPr>
            <p:ph type="sldNum" sz="quarter" idx="5"/>
          </p:nvPr>
        </p:nvSpPr>
        <p:spPr/>
        <p:txBody>
          <a:bodyPr/>
          <a:lstStyle/>
          <a:p>
            <a:fld id="{F68C5D26-D9CE-49B4-8A24-9C5C7281350F}" type="slidenum">
              <a:rPr lang="en-US" smtClean="0"/>
              <a:t>6</a:t>
            </a:fld>
            <a:endParaRPr lang="en-US"/>
          </a:p>
        </p:txBody>
      </p:sp>
    </p:spTree>
    <p:extLst>
      <p:ext uri="{BB962C8B-B14F-4D97-AF65-F5344CB8AC3E}">
        <p14:creationId xmlns:p14="http://schemas.microsoft.com/office/powerpoint/2010/main" val="2984378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31">
            <a:extLst>
              <a:ext uri="{FF2B5EF4-FFF2-40B4-BE49-F238E27FC236}">
                <a16:creationId xmlns:a16="http://schemas.microsoft.com/office/drawing/2014/main" id="{5AB72A26-36B9-4B70-97CD-6DFAA2631A62}"/>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DB72B3E-E30E-4DF8-A6F6-68175B34C0F1}"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15363" name="Rectangle 2">
            <a:extLst>
              <a:ext uri="{FF2B5EF4-FFF2-40B4-BE49-F238E27FC236}">
                <a16:creationId xmlns:a16="http://schemas.microsoft.com/office/drawing/2014/main" id="{6ED78797-9FF9-44C3-AAD2-9DC0531FD67F}"/>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9F3259BC-13C8-4689-A20B-84F770FF9EF8}"/>
              </a:ext>
            </a:extLst>
          </p:cNvPr>
          <p:cNvSpPr>
            <a:spLocks noGrp="1" noChangeArrowheads="1"/>
          </p:cNvSpPr>
          <p:nvPr>
            <p:ph type="body" idx="1"/>
          </p:nvPr>
        </p:nvSpPr>
        <p:spPr>
          <a:noFill/>
        </p:spPr>
        <p:txBody>
          <a:bodyPr/>
          <a:lstStyle/>
          <a:p>
            <a:r>
              <a:rPr lang="en-GB" altLang="en-US" dirty="0"/>
              <a:t>Section 5.1. of the textbook.</a:t>
            </a:r>
          </a:p>
          <a:p>
            <a:r>
              <a:rPr lang="en-GB" altLang="en-US" dirty="0"/>
              <a:t>Exercise 5.1 where the reader is asked to calculate productivity rates for activities on a real project illustrates some of the difficulties of interpreting project data.</a:t>
            </a:r>
          </a:p>
        </p:txBody>
      </p:sp>
    </p:spTree>
    <p:extLst>
      <p:ext uri="{BB962C8B-B14F-4D97-AF65-F5344CB8AC3E}">
        <p14:creationId xmlns:p14="http://schemas.microsoft.com/office/powerpoint/2010/main" val="34991211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31">
            <a:extLst>
              <a:ext uri="{FF2B5EF4-FFF2-40B4-BE49-F238E27FC236}">
                <a16:creationId xmlns:a16="http://schemas.microsoft.com/office/drawing/2014/main" id="{8B3C11F8-BC21-42F9-A278-DB7BC3552CA3}"/>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663E314-3F77-4286-99D3-790704179A4A}"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
        <p:nvSpPr>
          <p:cNvPr id="19459" name="Rectangle 2">
            <a:extLst>
              <a:ext uri="{FF2B5EF4-FFF2-40B4-BE49-F238E27FC236}">
                <a16:creationId xmlns:a16="http://schemas.microsoft.com/office/drawing/2014/main" id="{EA2797FE-4CF1-4953-BE92-B6ED40BC19FC}"/>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024374C6-3C54-4984-857F-D6783126C3F5}"/>
              </a:ext>
            </a:extLst>
          </p:cNvPr>
          <p:cNvSpPr>
            <a:spLocks noGrp="1" noChangeArrowheads="1"/>
          </p:cNvSpPr>
          <p:nvPr>
            <p:ph type="body" idx="1"/>
          </p:nvPr>
        </p:nvSpPr>
        <p:spPr>
          <a:noFill/>
        </p:spPr>
        <p:txBody>
          <a:bodyPr/>
          <a:lstStyle/>
          <a:p>
            <a:r>
              <a:rPr lang="en-GB" altLang="en-US"/>
              <a:t>Despite our reservation about past project data –see slide 3 - we still need to collect and analyse it! If we don’t know how big the job is, we can’t estimate how long it will take to do.</a:t>
            </a:r>
          </a:p>
        </p:txBody>
      </p:sp>
    </p:spTree>
    <p:extLst>
      <p:ext uri="{BB962C8B-B14F-4D97-AF65-F5344CB8AC3E}">
        <p14:creationId xmlns:p14="http://schemas.microsoft.com/office/powerpoint/2010/main" val="835147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031">
            <a:extLst>
              <a:ext uri="{FF2B5EF4-FFF2-40B4-BE49-F238E27FC236}">
                <a16:creationId xmlns:a16="http://schemas.microsoft.com/office/drawing/2014/main" id="{987CB02D-9E18-4270-BD98-2CBDEDE9A988}"/>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DD56AB6-69F6-44D2-A0B9-78FE2BF6C802}"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21507" name="Rectangle 2">
            <a:extLst>
              <a:ext uri="{FF2B5EF4-FFF2-40B4-BE49-F238E27FC236}">
                <a16:creationId xmlns:a16="http://schemas.microsoft.com/office/drawing/2014/main" id="{7B25C645-3508-4B87-A191-0921F06F7E51}"/>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CA112316-F918-423D-928B-2DEA44080BC4}"/>
              </a:ext>
            </a:extLst>
          </p:cNvPr>
          <p:cNvSpPr>
            <a:spLocks noGrp="1" noChangeArrowheads="1"/>
          </p:cNvSpPr>
          <p:nvPr>
            <p:ph type="body" idx="1"/>
          </p:nvPr>
        </p:nvSpPr>
        <p:spPr>
          <a:noFill/>
        </p:spPr>
        <p:txBody>
          <a:bodyPr/>
          <a:lstStyle/>
          <a:p>
            <a:r>
              <a:rPr lang="en-GB" altLang="en-US"/>
              <a:t>This taxonomy is based loosely on Barry Boehm’s in the big blue book, ‘Software Engineering Economics’.</a:t>
            </a:r>
          </a:p>
          <a:p>
            <a:r>
              <a:rPr lang="en-GB" altLang="en-US"/>
              <a:t>One problem is that different people call these approaches by different names. In the case of bottom-up and analogy some of the alternative nomenclatures have been listed.</a:t>
            </a:r>
          </a:p>
          <a:p>
            <a:r>
              <a:rPr lang="en-GB" altLang="en-US"/>
              <a:t>‘Parkinson’ is setting a target based on the amount of staff effort you happen to have available at the time. ‘Price to win’ is setting a target that is likely to win business when tendering for work. Boehm is scathing about these as methods of estimating. However, sometimes you might have to start with an estimate of an acceptable cost and then set the scope of the project and the application to be built to be within that cost.</a:t>
            </a:r>
          </a:p>
          <a:p>
            <a:r>
              <a:rPr lang="en-GB" altLang="en-US"/>
              <a:t>This is discussed in Section 5.5 of the textbook.</a:t>
            </a:r>
          </a:p>
        </p:txBody>
      </p:sp>
    </p:spTree>
    <p:extLst>
      <p:ext uri="{BB962C8B-B14F-4D97-AF65-F5344CB8AC3E}">
        <p14:creationId xmlns:p14="http://schemas.microsoft.com/office/powerpoint/2010/main" val="5249016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31">
            <a:extLst>
              <a:ext uri="{FF2B5EF4-FFF2-40B4-BE49-F238E27FC236}">
                <a16:creationId xmlns:a16="http://schemas.microsoft.com/office/drawing/2014/main" id="{64AC276F-DFFE-41A4-8E77-F80473410296}"/>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DBEAF2C-7437-4533-B9EF-7FD1D6FFDCF2}"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27651" name="Rectangle 2">
            <a:extLst>
              <a:ext uri="{FF2B5EF4-FFF2-40B4-BE49-F238E27FC236}">
                <a16:creationId xmlns:a16="http://schemas.microsoft.com/office/drawing/2014/main" id="{2B68876C-4036-4D37-AD32-39215FFF7BE4}"/>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394F1127-805E-48ED-800E-A155CB816E29}"/>
              </a:ext>
            </a:extLst>
          </p:cNvPr>
          <p:cNvSpPr>
            <a:spLocks noGrp="1" noChangeArrowheads="1"/>
          </p:cNvSpPr>
          <p:nvPr>
            <p:ph type="body" idx="1"/>
          </p:nvPr>
        </p:nvSpPr>
        <p:spPr>
          <a:noFill/>
        </p:spPr>
        <p:txBody>
          <a:bodyPr/>
          <a:lstStyle/>
          <a:p>
            <a:r>
              <a:rPr lang="en-GB" altLang="en-US"/>
              <a:t>The initial overall estimate might have been produced using a parametric model, by analogy or just expert judgement.</a:t>
            </a:r>
          </a:p>
        </p:txBody>
      </p:sp>
    </p:spTree>
    <p:extLst>
      <p:ext uri="{BB962C8B-B14F-4D97-AF65-F5344CB8AC3E}">
        <p14:creationId xmlns:p14="http://schemas.microsoft.com/office/powerpoint/2010/main" val="28153152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31">
            <a:extLst>
              <a:ext uri="{FF2B5EF4-FFF2-40B4-BE49-F238E27FC236}">
                <a16:creationId xmlns:a16="http://schemas.microsoft.com/office/drawing/2014/main" id="{C2B717B6-7ECF-40ED-9820-8BCA5560A0F6}"/>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D7682CD-1686-4181-9974-A321BC0B7CB0}"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25603" name="Rectangle 2">
            <a:extLst>
              <a:ext uri="{FF2B5EF4-FFF2-40B4-BE49-F238E27FC236}">
                <a16:creationId xmlns:a16="http://schemas.microsoft.com/office/drawing/2014/main" id="{306A7545-5926-4470-AC7F-F7E0CC10E2EC}"/>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56014439-242C-4A42-80FC-314BECD18D0D}"/>
              </a:ext>
            </a:extLst>
          </p:cNvPr>
          <p:cNvSpPr>
            <a:spLocks noGrp="1" noChangeArrowheads="1"/>
          </p:cNvSpPr>
          <p:nvPr>
            <p:ph type="body" idx="1"/>
          </p:nvPr>
        </p:nvSpPr>
        <p:spPr>
          <a:noFill/>
        </p:spPr>
        <p:txBody>
          <a:bodyPr/>
          <a:lstStyle/>
          <a:p>
            <a:r>
              <a:rPr lang="en-GB" altLang="en-US" dirty="0"/>
              <a:t>The idea is that even if you have never done something before you can imagine what you could do in about a week.</a:t>
            </a:r>
          </a:p>
          <a:p>
            <a:r>
              <a:rPr lang="en-GB" altLang="en-US" dirty="0"/>
              <a:t>Exercise 5.3 relates to bottom-up estimating</a:t>
            </a:r>
          </a:p>
          <a:p>
            <a:endParaRPr lang="en-GB" altLang="en-US" dirty="0"/>
          </a:p>
        </p:txBody>
      </p:sp>
    </p:spTree>
    <p:extLst>
      <p:ext uri="{BB962C8B-B14F-4D97-AF65-F5344CB8AC3E}">
        <p14:creationId xmlns:p14="http://schemas.microsoft.com/office/powerpoint/2010/main" val="3842679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31">
            <a:extLst>
              <a:ext uri="{FF2B5EF4-FFF2-40B4-BE49-F238E27FC236}">
                <a16:creationId xmlns:a16="http://schemas.microsoft.com/office/drawing/2014/main" id="{FC4B6724-6BB3-4EE5-B0AA-D4B019D7748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D2CB933-9359-43E0-B0A9-4DC40C0F7D4D}"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23555" name="Rectangle 2">
            <a:extLst>
              <a:ext uri="{FF2B5EF4-FFF2-40B4-BE49-F238E27FC236}">
                <a16:creationId xmlns:a16="http://schemas.microsoft.com/office/drawing/2014/main" id="{A0E0F5EF-1B74-4790-9D8F-5D07DA2A68C6}"/>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91A3CAD7-404E-4DB7-90BF-1F2A9E053235}"/>
              </a:ext>
            </a:extLst>
          </p:cNvPr>
          <p:cNvSpPr>
            <a:spLocks noGrp="1" noChangeArrowheads="1"/>
          </p:cNvSpPr>
          <p:nvPr>
            <p:ph type="body" idx="1"/>
          </p:nvPr>
        </p:nvSpPr>
        <p:spPr>
          <a:noFill/>
        </p:spPr>
        <p:txBody>
          <a:bodyPr/>
          <a:lstStyle/>
          <a:p>
            <a:r>
              <a:rPr lang="en-GB" altLang="en-US" dirty="0"/>
              <a:t>There is often confusion between the two approaches as the first part of the bottom-up approach is a top-down analysis of the tasks to be done, followed by the bottom-up adding up of effort for all the work to be done. Make sure you students understand this or it will return to haunt you (and them) at examination time.</a:t>
            </a:r>
          </a:p>
        </p:txBody>
      </p:sp>
    </p:spTree>
    <p:extLst>
      <p:ext uri="{BB962C8B-B14F-4D97-AF65-F5344CB8AC3E}">
        <p14:creationId xmlns:p14="http://schemas.microsoft.com/office/powerpoint/2010/main" val="4602615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31">
            <a:extLst>
              <a:ext uri="{FF2B5EF4-FFF2-40B4-BE49-F238E27FC236}">
                <a16:creationId xmlns:a16="http://schemas.microsoft.com/office/drawing/2014/main" id="{F439D98E-8B81-4B91-88CF-891E73261455}"/>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14E707B-697B-4EE4-A7F5-6093382343F0}"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37891" name="Rectangle 2">
            <a:extLst>
              <a:ext uri="{FF2B5EF4-FFF2-40B4-BE49-F238E27FC236}">
                <a16:creationId xmlns:a16="http://schemas.microsoft.com/office/drawing/2014/main" id="{32AC4AC2-A624-434A-ABC7-45F638FFE5CF}"/>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6BF0F59C-C9F6-4CBD-A495-710DEE97355F}"/>
              </a:ext>
            </a:extLst>
          </p:cNvPr>
          <p:cNvSpPr>
            <a:spLocks noGrp="1" noChangeArrowheads="1"/>
          </p:cNvSpPr>
          <p:nvPr>
            <p:ph type="body" idx="1"/>
          </p:nvPr>
        </p:nvSpPr>
        <p:spPr>
          <a:noFill/>
        </p:spPr>
        <p:txBody>
          <a:bodyPr/>
          <a:lstStyle/>
          <a:p>
            <a:r>
              <a:rPr lang="en-GB" altLang="en-US" dirty="0"/>
              <a:t>Section 5.8</a:t>
            </a:r>
          </a:p>
          <a:p>
            <a:pPr eaLnBrk="1" hangingPunct="1"/>
            <a:r>
              <a:rPr lang="en-US" altLang="en-US" dirty="0"/>
              <a:t>Use somebody who has recent experience on a similar project</a:t>
            </a:r>
          </a:p>
          <a:p>
            <a:pPr eaLnBrk="1" hangingPunct="1"/>
            <a:r>
              <a:rPr lang="en-US" altLang="en-US" dirty="0"/>
              <a:t>You get a “guesstimate”</a:t>
            </a:r>
          </a:p>
          <a:p>
            <a:pPr eaLnBrk="1" hangingPunct="1"/>
            <a:r>
              <a:rPr lang="en-US" altLang="en-US" dirty="0"/>
              <a:t>Accuracy depends on their ‘real’ expertise</a:t>
            </a:r>
          </a:p>
          <a:p>
            <a:pPr eaLnBrk="1" hangingPunct="1"/>
            <a:r>
              <a:rPr lang="en-US" altLang="en-US" dirty="0"/>
              <a:t>Comparable application(s) must be accurately chosen</a:t>
            </a:r>
          </a:p>
          <a:p>
            <a:pPr lvl="1" eaLnBrk="1" hangingPunct="1"/>
            <a:r>
              <a:rPr lang="en-US" altLang="en-US" sz="2400" dirty="0"/>
              <a:t>Systematic</a:t>
            </a:r>
          </a:p>
          <a:p>
            <a:pPr eaLnBrk="1" hangingPunct="1"/>
            <a:r>
              <a:rPr lang="en-US" altLang="en-US" sz="2800" dirty="0"/>
              <a:t>Can use a weighted-average of opinions</a:t>
            </a:r>
          </a:p>
        </p:txBody>
      </p:sp>
    </p:spTree>
    <p:extLst>
      <p:ext uri="{BB962C8B-B14F-4D97-AF65-F5344CB8AC3E}">
        <p14:creationId xmlns:p14="http://schemas.microsoft.com/office/powerpoint/2010/main" val="169570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31">
            <a:extLst>
              <a:ext uri="{FF2B5EF4-FFF2-40B4-BE49-F238E27FC236}">
                <a16:creationId xmlns:a16="http://schemas.microsoft.com/office/drawing/2014/main" id="{C863D0A4-89E0-4AAA-8C25-69883729D01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FB063CC-494D-4282-AC90-3EC09F8D827C}"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39939" name="Rectangle 2">
            <a:extLst>
              <a:ext uri="{FF2B5EF4-FFF2-40B4-BE49-F238E27FC236}">
                <a16:creationId xmlns:a16="http://schemas.microsoft.com/office/drawing/2014/main" id="{D225B12E-F094-4439-B898-BB91FF58BED2}"/>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BC06DACB-EEDB-4F14-B736-AA5CFD56B1F3}"/>
              </a:ext>
            </a:extLst>
          </p:cNvPr>
          <p:cNvSpPr>
            <a:spLocks noGrp="1" noChangeArrowheads="1"/>
          </p:cNvSpPr>
          <p:nvPr>
            <p:ph type="body" idx="1"/>
          </p:nvPr>
        </p:nvSpPr>
        <p:spPr>
          <a:noFill/>
        </p:spPr>
        <p:txBody>
          <a:bodyPr/>
          <a:lstStyle/>
          <a:p>
            <a:r>
              <a:rPr lang="en-GB" altLang="en-US" dirty="0"/>
              <a:t>The source cases, in this situation, are completed projects. For each of details of the factors that would have a bearing on effort are recorded. These might include lines of code, function points (or elements of the FP counts such as the number of inputs, outputs etc), number of team members etc </a:t>
            </a:r>
            <a:r>
              <a:rPr lang="en-GB" altLang="en-US" dirty="0" err="1"/>
              <a:t>etc</a:t>
            </a:r>
            <a:r>
              <a:rPr lang="en-GB" altLang="en-US" dirty="0"/>
              <a:t>. For the values for the new project are used to find one or more instances from the past projects than match the current one. The actual effort from the past project becomes the basis of the estimate for the new project.</a:t>
            </a:r>
          </a:p>
        </p:txBody>
      </p:sp>
    </p:spTree>
    <p:extLst>
      <p:ext uri="{BB962C8B-B14F-4D97-AF65-F5344CB8AC3E}">
        <p14:creationId xmlns:p14="http://schemas.microsoft.com/office/powerpoint/2010/main" val="2472264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Pricing to win The software cost is estimated to be </a:t>
            </a:r>
            <a:r>
              <a:rPr lang="en-US" b="1" i="0" dirty="0">
                <a:solidFill>
                  <a:srgbClr val="202124"/>
                </a:solidFill>
                <a:effectLst/>
                <a:latin typeface="arial" panose="020B0604020202020204" pitchFamily="34" charset="0"/>
              </a:rPr>
              <a:t>whatever the customer has available to spend on the project</a:t>
            </a:r>
            <a:r>
              <a:rPr lang="en-US" b="0" i="0" dirty="0">
                <a:solidFill>
                  <a:srgbClr val="202124"/>
                </a:solidFill>
                <a:effectLst/>
                <a:latin typeface="arial" panose="020B0604020202020204" pitchFamily="34" charset="0"/>
              </a:rPr>
              <a:t>. </a:t>
            </a:r>
            <a:endParaRPr lang="en-PK" dirty="0"/>
          </a:p>
        </p:txBody>
      </p:sp>
      <p:sp>
        <p:nvSpPr>
          <p:cNvPr id="4" name="Slide Number Placeholder 3"/>
          <p:cNvSpPr>
            <a:spLocks noGrp="1"/>
          </p:cNvSpPr>
          <p:nvPr>
            <p:ph type="sldNum" sz="quarter" idx="5"/>
          </p:nvPr>
        </p:nvSpPr>
        <p:spPr/>
        <p:txBody>
          <a:bodyPr/>
          <a:lstStyle/>
          <a:p>
            <a:fld id="{F68C5D26-D9CE-49B4-8A24-9C5C7281350F}" type="slidenum">
              <a:rPr lang="en-US" smtClean="0"/>
              <a:t>19</a:t>
            </a:fld>
            <a:endParaRPr lang="en-US"/>
          </a:p>
        </p:txBody>
      </p:sp>
    </p:spTree>
    <p:extLst>
      <p:ext uri="{BB962C8B-B14F-4D97-AF65-F5344CB8AC3E}">
        <p14:creationId xmlns:p14="http://schemas.microsoft.com/office/powerpoint/2010/main" val="2989362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E4A70-5D53-F614-A9A1-60871AB473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D83AB8-5CFA-D10A-229A-9145C7588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7DC25C-BC2C-9B5B-5D04-74CFD2B59A14}"/>
              </a:ext>
            </a:extLst>
          </p:cNvPr>
          <p:cNvSpPr>
            <a:spLocks noGrp="1"/>
          </p:cNvSpPr>
          <p:nvPr>
            <p:ph type="body" idx="1"/>
          </p:nvPr>
        </p:nvSpPr>
        <p:spPr/>
        <p:txBody>
          <a:bodyPr/>
          <a:lstStyle/>
          <a:p>
            <a:r>
              <a:rPr lang="en-GB" altLang="en-US" dirty="0"/>
              <a:t>The answer to the problem of over-optimistic estimates might seem to be to pad out all estimates, but this itself can lead to problems. You might miss out to the competition who could underbid you, if you were tendering for work. Generous estimates also tend to lead to reductions in productivity. On the other hand, having aggressive targets in order to increase productivity could lead to poorer product quality.</a:t>
            </a:r>
          </a:p>
          <a:p>
            <a:r>
              <a:rPr lang="en-GB" altLang="en-US" dirty="0"/>
              <a:t>Ask how many students have heard of Parkinson’s Law – the response could be interesting! It is best to explain that C. Northcote Parkinson was to some extent a humourist, rather than a heavyweight social scientist. </a:t>
            </a:r>
          </a:p>
          <a:p>
            <a:r>
              <a:rPr lang="en-GB" altLang="en-US" dirty="0"/>
              <a:t>Note that ‘zeroth’ is what comes before first.</a:t>
            </a:r>
          </a:p>
          <a:p>
            <a:r>
              <a:rPr lang="en-GB" altLang="en-US" dirty="0"/>
              <a:t>This is discussed in Section 5.3 of the text which also covers </a:t>
            </a:r>
            <a:r>
              <a:rPr lang="en-GB" altLang="en-US" dirty="0" err="1"/>
              <a:t>Brooks’Law</a:t>
            </a:r>
            <a:r>
              <a:rPr lang="en-GB" altLang="en-US" dirty="0"/>
              <a:t>. </a:t>
            </a:r>
          </a:p>
          <a:p>
            <a:endParaRPr lang="en-US" dirty="0"/>
          </a:p>
        </p:txBody>
      </p:sp>
      <p:sp>
        <p:nvSpPr>
          <p:cNvPr id="4" name="Slide Number Placeholder 3">
            <a:extLst>
              <a:ext uri="{FF2B5EF4-FFF2-40B4-BE49-F238E27FC236}">
                <a16:creationId xmlns:a16="http://schemas.microsoft.com/office/drawing/2014/main" id="{90BAB0CC-65CB-E09B-CA87-713EE75BBC34}"/>
              </a:ext>
            </a:extLst>
          </p:cNvPr>
          <p:cNvSpPr>
            <a:spLocks noGrp="1"/>
          </p:cNvSpPr>
          <p:nvPr>
            <p:ph type="sldNum" sz="quarter" idx="5"/>
          </p:nvPr>
        </p:nvSpPr>
        <p:spPr/>
        <p:txBody>
          <a:bodyPr/>
          <a:lstStyle/>
          <a:p>
            <a:fld id="{F68C5D26-D9CE-49B4-8A24-9C5C7281350F}" type="slidenum">
              <a:rPr lang="en-US" smtClean="0"/>
              <a:t>20</a:t>
            </a:fld>
            <a:endParaRPr lang="en-US"/>
          </a:p>
        </p:txBody>
      </p:sp>
    </p:spTree>
    <p:extLst>
      <p:ext uri="{BB962C8B-B14F-4D97-AF65-F5344CB8AC3E}">
        <p14:creationId xmlns:p14="http://schemas.microsoft.com/office/powerpoint/2010/main" val="4019452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31">
            <a:extLst>
              <a:ext uri="{FF2B5EF4-FFF2-40B4-BE49-F238E27FC236}">
                <a16:creationId xmlns:a16="http://schemas.microsoft.com/office/drawing/2014/main" id="{3BFE3EF3-F7F3-4D38-910E-E6796EF5EF15}"/>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54C2A60-B379-431C-BAFA-7D5193FEE835}"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29699" name="Rectangle 2">
            <a:extLst>
              <a:ext uri="{FF2B5EF4-FFF2-40B4-BE49-F238E27FC236}">
                <a16:creationId xmlns:a16="http://schemas.microsoft.com/office/drawing/2014/main" id="{37E29A28-53F1-449D-934A-A817545E15A4}"/>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459536BD-B7C8-47BA-B6A5-ED53AD3DC584}"/>
              </a:ext>
            </a:extLst>
          </p:cNvPr>
          <p:cNvSpPr>
            <a:spLocks noGrp="1" noChangeArrowheads="1"/>
          </p:cNvSpPr>
          <p:nvPr>
            <p:ph type="body" idx="1"/>
          </p:nvPr>
        </p:nvSpPr>
        <p:spPr>
          <a:noFill/>
        </p:spPr>
        <p:txBody>
          <a:bodyPr/>
          <a:lstStyle/>
          <a:p>
            <a:r>
              <a:rPr lang="en-GB" altLang="en-US" dirty="0"/>
              <a:t>The problems with COCOMO is that the input parameter for system size is an estimate of lines of code. This is going to have to be an estimate at the beginning of the project.</a:t>
            </a:r>
          </a:p>
          <a:p>
            <a:r>
              <a:rPr lang="en-GB" altLang="en-US" dirty="0"/>
              <a:t>Function points, as will be seen, counts various features of the logical design of an information system and produced an index number  which reflects the amount of information processing it will have to carry out. This can be crudely equated to the amount of code it will need.</a:t>
            </a:r>
          </a:p>
        </p:txBody>
      </p:sp>
    </p:spTree>
    <p:extLst>
      <p:ext uri="{BB962C8B-B14F-4D97-AF65-F5344CB8AC3E}">
        <p14:creationId xmlns:p14="http://schemas.microsoft.com/office/powerpoint/2010/main" val="3993561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31">
            <a:extLst>
              <a:ext uri="{FF2B5EF4-FFF2-40B4-BE49-F238E27FC236}">
                <a16:creationId xmlns:a16="http://schemas.microsoft.com/office/drawing/2014/main" id="{C34FEF18-305B-42EA-9639-59E36E79DC84}"/>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8D8CB92-4A06-4681-B387-BF0C9BE417CA}"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31747" name="Rectangle 2">
            <a:extLst>
              <a:ext uri="{FF2B5EF4-FFF2-40B4-BE49-F238E27FC236}">
                <a16:creationId xmlns:a16="http://schemas.microsoft.com/office/drawing/2014/main" id="{301A29E7-D51D-4035-BE6F-7EAA3B13B585}"/>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315EBDEE-9585-4AD1-9721-83FF9DBB5D55}"/>
              </a:ext>
            </a:extLst>
          </p:cNvPr>
          <p:cNvSpPr>
            <a:spLocks noGrp="1" noChangeArrowheads="1"/>
          </p:cNvSpPr>
          <p:nvPr>
            <p:ph type="body" idx="1"/>
          </p:nvPr>
        </p:nvSpPr>
        <p:spPr>
          <a:noFill/>
        </p:spPr>
        <p:txBody>
          <a:bodyPr/>
          <a:lstStyle/>
          <a:p>
            <a:r>
              <a:rPr lang="en-GB" altLang="en-US"/>
              <a:t>This is analogous to calculating speed from distance and time.</a:t>
            </a:r>
          </a:p>
        </p:txBody>
      </p:sp>
    </p:spTree>
    <p:extLst>
      <p:ext uri="{BB962C8B-B14F-4D97-AF65-F5344CB8AC3E}">
        <p14:creationId xmlns:p14="http://schemas.microsoft.com/office/powerpoint/2010/main" val="40965932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A4DCF-BC6F-9BE8-2EDC-8099729B3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810738-6FA6-10D1-0042-8BCEF8A266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5DE9AE-786D-2ED3-C35E-0144BEA181BB}"/>
              </a:ext>
            </a:extLst>
          </p:cNvPr>
          <p:cNvSpPr>
            <a:spLocks noGrp="1"/>
          </p:cNvSpPr>
          <p:nvPr>
            <p:ph type="body" idx="1"/>
          </p:nvPr>
        </p:nvSpPr>
        <p:spPr/>
        <p:txBody>
          <a:bodyPr/>
          <a:lstStyle/>
          <a:p>
            <a:r>
              <a:rPr lang="en-US" b="0" i="0" dirty="0">
                <a:solidFill>
                  <a:srgbClr val="0D0D0D"/>
                </a:solidFill>
                <a:effectLst/>
                <a:latin typeface="Söhne"/>
              </a:rPr>
              <a:t>When you calculate productivity rates for activities on a real project, you're attempting to measure how efficiently resources are being utilized to complete specific tasks or activities.</a:t>
            </a:r>
            <a:endParaRPr lang="en-US" dirty="0"/>
          </a:p>
        </p:txBody>
      </p:sp>
      <p:sp>
        <p:nvSpPr>
          <p:cNvPr id="4" name="Slide Number Placeholder 3">
            <a:extLst>
              <a:ext uri="{FF2B5EF4-FFF2-40B4-BE49-F238E27FC236}">
                <a16:creationId xmlns:a16="http://schemas.microsoft.com/office/drawing/2014/main" id="{C3AD8DAD-75F4-B4C1-A3D9-5136848E7DD0}"/>
              </a:ext>
            </a:extLst>
          </p:cNvPr>
          <p:cNvSpPr>
            <a:spLocks noGrp="1"/>
          </p:cNvSpPr>
          <p:nvPr>
            <p:ph type="sldNum" sz="quarter" idx="5"/>
          </p:nvPr>
        </p:nvSpPr>
        <p:spPr/>
        <p:txBody>
          <a:bodyPr/>
          <a:lstStyle/>
          <a:p>
            <a:fld id="{F68C5D26-D9CE-49B4-8A24-9C5C7281350F}" type="slidenum">
              <a:rPr lang="en-US" smtClean="0"/>
              <a:t>24</a:t>
            </a:fld>
            <a:endParaRPr lang="en-US"/>
          </a:p>
        </p:txBody>
      </p:sp>
    </p:spTree>
    <p:extLst>
      <p:ext uri="{BB962C8B-B14F-4D97-AF65-F5344CB8AC3E}">
        <p14:creationId xmlns:p14="http://schemas.microsoft.com/office/powerpoint/2010/main" val="453766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48341-4923-FDD7-9011-5A1D704AB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8BBF89-6CA8-6A19-7EFB-B9BA8E447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B82C6A-726C-5BDE-5623-F5B5764E269B}"/>
              </a:ext>
            </a:extLst>
          </p:cNvPr>
          <p:cNvSpPr>
            <a:spLocks noGrp="1"/>
          </p:cNvSpPr>
          <p:nvPr>
            <p:ph type="body" idx="1"/>
          </p:nvPr>
        </p:nvSpPr>
        <p:spPr/>
        <p:txBody>
          <a:bodyPr/>
          <a:lstStyle/>
          <a:p>
            <a:r>
              <a:rPr lang="en-US" b="0" i="0" dirty="0">
                <a:solidFill>
                  <a:srgbClr val="1F1F1F"/>
                </a:solidFill>
                <a:effectLst/>
                <a:latin typeface="Google Sans"/>
              </a:rPr>
              <a:t>By taking the estimated size of the project (in SLOC) and dividing by the productivity rate, you get an initial estimate of the total work months required.</a:t>
            </a:r>
            <a:endParaRPr lang="en-US" dirty="0"/>
          </a:p>
        </p:txBody>
      </p:sp>
      <p:sp>
        <p:nvSpPr>
          <p:cNvPr id="4" name="Slide Number Placeholder 3">
            <a:extLst>
              <a:ext uri="{FF2B5EF4-FFF2-40B4-BE49-F238E27FC236}">
                <a16:creationId xmlns:a16="http://schemas.microsoft.com/office/drawing/2014/main" id="{ABE0FF69-DAD5-6752-B55E-2243F45F0BA8}"/>
              </a:ext>
            </a:extLst>
          </p:cNvPr>
          <p:cNvSpPr>
            <a:spLocks noGrp="1"/>
          </p:cNvSpPr>
          <p:nvPr>
            <p:ph type="sldNum" sz="quarter" idx="5"/>
          </p:nvPr>
        </p:nvSpPr>
        <p:spPr/>
        <p:txBody>
          <a:bodyPr/>
          <a:lstStyle/>
          <a:p>
            <a:fld id="{F68C5D26-D9CE-49B4-8A24-9C5C7281350F}" type="slidenum">
              <a:rPr lang="en-US" smtClean="0"/>
              <a:t>25</a:t>
            </a:fld>
            <a:endParaRPr lang="en-US"/>
          </a:p>
        </p:txBody>
      </p:sp>
    </p:spTree>
    <p:extLst>
      <p:ext uri="{BB962C8B-B14F-4D97-AF65-F5344CB8AC3E}">
        <p14:creationId xmlns:p14="http://schemas.microsoft.com/office/powerpoint/2010/main" val="2915038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7C608-9F94-6C4E-E8C9-DE6CE5A250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3B2D1-E406-1A7C-2B43-0124DC187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D37562-7965-17DA-7DC1-42F086A7AB54}"/>
              </a:ext>
            </a:extLst>
          </p:cNvPr>
          <p:cNvSpPr>
            <a:spLocks noGrp="1"/>
          </p:cNvSpPr>
          <p:nvPr>
            <p:ph type="body" idx="1"/>
          </p:nvPr>
        </p:nvSpPr>
        <p:spPr/>
        <p:txBody>
          <a:bodyPr/>
          <a:lstStyle/>
          <a:p>
            <a:r>
              <a:rPr lang="en-US" b="0" i="0" dirty="0">
                <a:solidFill>
                  <a:srgbClr val="1F1F1F"/>
                </a:solidFill>
                <a:effectLst/>
                <a:latin typeface="Google Sans"/>
              </a:rPr>
              <a:t>Overall, calculating productivity rate provides valuable data for project managers. It helps with planning, resource allocation, risk assessment, and ultimately, delivering projects on time and within budget.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F1F1F"/>
                </a:solidFill>
                <a:effectLst/>
                <a:latin typeface="Google Sans"/>
              </a:rPr>
              <a:t>Overall productivity = 153868 SLOC / 249.3 work months = 617 SLOC per work month</a:t>
            </a:r>
          </a:p>
          <a:p>
            <a:endParaRPr lang="en-US" dirty="0"/>
          </a:p>
        </p:txBody>
      </p:sp>
      <p:sp>
        <p:nvSpPr>
          <p:cNvPr id="4" name="Slide Number Placeholder 3">
            <a:extLst>
              <a:ext uri="{FF2B5EF4-FFF2-40B4-BE49-F238E27FC236}">
                <a16:creationId xmlns:a16="http://schemas.microsoft.com/office/drawing/2014/main" id="{71B360CE-AAC4-3686-CF6B-601BF5A2DDCC}"/>
              </a:ext>
            </a:extLst>
          </p:cNvPr>
          <p:cNvSpPr>
            <a:spLocks noGrp="1"/>
          </p:cNvSpPr>
          <p:nvPr>
            <p:ph type="sldNum" sz="quarter" idx="5"/>
          </p:nvPr>
        </p:nvSpPr>
        <p:spPr/>
        <p:txBody>
          <a:bodyPr/>
          <a:lstStyle/>
          <a:p>
            <a:fld id="{F68C5D26-D9CE-49B4-8A24-9C5C7281350F}" type="slidenum">
              <a:rPr lang="en-US" smtClean="0"/>
              <a:t>26</a:t>
            </a:fld>
            <a:endParaRPr lang="en-US"/>
          </a:p>
        </p:txBody>
      </p:sp>
    </p:spTree>
    <p:extLst>
      <p:ext uri="{BB962C8B-B14F-4D97-AF65-F5344CB8AC3E}">
        <p14:creationId xmlns:p14="http://schemas.microsoft.com/office/powerpoint/2010/main" val="15559987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0B474-C49A-716F-CFD4-A27E85BBAB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41475-9429-470F-C755-470A8B40D3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F2B23A-61B5-5C72-ACD2-D314ADEE8F02}"/>
              </a:ext>
            </a:extLst>
          </p:cNvPr>
          <p:cNvSpPr>
            <a:spLocks noGrp="1"/>
          </p:cNvSpPr>
          <p:nvPr>
            <p:ph type="body" idx="1"/>
          </p:nvPr>
        </p:nvSpPr>
        <p:spPr/>
        <p:txBody>
          <a:bodyPr/>
          <a:lstStyle/>
          <a:p>
            <a:pPr algn="l"/>
            <a:r>
              <a:rPr lang="en-US" b="0" i="0" dirty="0">
                <a:solidFill>
                  <a:srgbClr val="1F1F1F"/>
                </a:solidFill>
                <a:effectLst/>
                <a:latin typeface="Google Sans"/>
              </a:rPr>
              <a:t>If the table doesn't provide the estimated SLOC for projects a and d. However, we can calculate the effort needed to complete these projects if the average productivity (617 SLOC per work month) was used.</a:t>
            </a:r>
          </a:p>
          <a:p>
            <a:pPr algn="l">
              <a:buFont typeface="Arial" panose="020B0604020202020204" pitchFamily="34" charset="0"/>
              <a:buChar char="•"/>
            </a:pPr>
            <a:r>
              <a:rPr lang="en-US" b="0" i="0" dirty="0">
                <a:solidFill>
                  <a:srgbClr val="1F1F1F"/>
                </a:solidFill>
                <a:effectLst/>
                <a:latin typeface="Google Sans"/>
              </a:rPr>
              <a:t>Effort for project a (estimated): 6050 SLOC / 617 SLOC per work month = 9.80 work months</a:t>
            </a:r>
          </a:p>
          <a:p>
            <a:pPr algn="l">
              <a:buFont typeface="Arial" panose="020B0604020202020204" pitchFamily="34" charset="0"/>
              <a:buChar char="•"/>
            </a:pPr>
            <a:r>
              <a:rPr lang="en-US" b="0" i="0" dirty="0">
                <a:solidFill>
                  <a:srgbClr val="1F1F1F"/>
                </a:solidFill>
                <a:effectLst/>
                <a:latin typeface="Google Sans"/>
              </a:rPr>
              <a:t>Effort for project d (estimated): 5942 SLOC / 617 SLOC per work month = 9.63 work months</a:t>
            </a:r>
          </a:p>
          <a:p>
            <a:pPr algn="l">
              <a:buFont typeface="Arial" panose="020B0604020202020204" pitchFamily="34" charset="0"/>
              <a:buChar char="•"/>
            </a:pPr>
            <a:r>
              <a:rPr lang="en-US" b="0" i="0" dirty="0">
                <a:solidFill>
                  <a:srgbClr val="1F1F1F"/>
                </a:solidFill>
                <a:effectLst/>
                <a:latin typeface="Google Sans"/>
              </a:rPr>
              <a:t>Difference for project a: Actual effort (16.7 work months) - Estimated effort (9.80 work months) = 6.90 work months [over estimated]</a:t>
            </a:r>
          </a:p>
          <a:p>
            <a:pPr algn="l">
              <a:buFont typeface="Arial" panose="020B0604020202020204" pitchFamily="34" charset="0"/>
              <a:buChar char="•"/>
            </a:pPr>
            <a:r>
              <a:rPr lang="en-US" b="0" i="0" dirty="0">
                <a:solidFill>
                  <a:srgbClr val="1F1F1F"/>
                </a:solidFill>
                <a:effectLst/>
                <a:latin typeface="Google Sans"/>
              </a:rPr>
              <a:t>Difference for project d: Actual effort (3.9 work months) - Estimated effort (9.63 work months) =  -5.73 months [under estimated]</a:t>
            </a:r>
          </a:p>
          <a:p>
            <a:pPr algn="l">
              <a:buFont typeface="Arial" panose="020B0604020202020204" pitchFamily="34" charset="0"/>
              <a:buNone/>
            </a:pPr>
            <a:endParaRPr lang="en-US" b="0" i="0" dirty="0">
              <a:solidFill>
                <a:srgbClr val="1F1F1F"/>
              </a:solidFill>
              <a:effectLst/>
              <a:latin typeface="Google Sans"/>
            </a:endParaRPr>
          </a:p>
          <a:p>
            <a:endParaRPr lang="en-US" dirty="0"/>
          </a:p>
        </p:txBody>
      </p:sp>
      <p:sp>
        <p:nvSpPr>
          <p:cNvPr id="4" name="Slide Number Placeholder 3">
            <a:extLst>
              <a:ext uri="{FF2B5EF4-FFF2-40B4-BE49-F238E27FC236}">
                <a16:creationId xmlns:a16="http://schemas.microsoft.com/office/drawing/2014/main" id="{0C35BE83-7CF5-1C66-686E-CEBD6C348AB4}"/>
              </a:ext>
            </a:extLst>
          </p:cNvPr>
          <p:cNvSpPr>
            <a:spLocks noGrp="1"/>
          </p:cNvSpPr>
          <p:nvPr>
            <p:ph type="sldNum" sz="quarter" idx="5"/>
          </p:nvPr>
        </p:nvSpPr>
        <p:spPr/>
        <p:txBody>
          <a:bodyPr/>
          <a:lstStyle/>
          <a:p>
            <a:fld id="{F68C5D26-D9CE-49B4-8A24-9C5C7281350F}" type="slidenum">
              <a:rPr lang="en-US" smtClean="0"/>
              <a:t>27</a:t>
            </a:fld>
            <a:endParaRPr lang="en-US"/>
          </a:p>
        </p:txBody>
      </p:sp>
    </p:spTree>
    <p:extLst>
      <p:ext uri="{BB962C8B-B14F-4D97-AF65-F5344CB8AC3E}">
        <p14:creationId xmlns:p14="http://schemas.microsoft.com/office/powerpoint/2010/main" val="40326920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31">
            <a:extLst>
              <a:ext uri="{FF2B5EF4-FFF2-40B4-BE49-F238E27FC236}">
                <a16:creationId xmlns:a16="http://schemas.microsoft.com/office/drawing/2014/main" id="{CC861856-2808-4780-BE3B-10290F28D584}"/>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83521E0-0F05-4DA9-8B31-C835E89A6077}"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33795" name="Rectangle 2">
            <a:extLst>
              <a:ext uri="{FF2B5EF4-FFF2-40B4-BE49-F238E27FC236}">
                <a16:creationId xmlns:a16="http://schemas.microsoft.com/office/drawing/2014/main" id="{07389D62-5F30-4FE3-B391-9B8FD1735B55}"/>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09DA0124-47C0-4D90-9AA4-AF8A539017B7}"/>
              </a:ext>
            </a:extLst>
          </p:cNvPr>
          <p:cNvSpPr>
            <a:spLocks noGrp="1" noChangeArrowheads="1"/>
          </p:cNvSpPr>
          <p:nvPr>
            <p:ph type="body" idx="1"/>
          </p:nvPr>
        </p:nvSpPr>
        <p:spPr>
          <a:noFill/>
        </p:spPr>
        <p:txBody>
          <a:bodyPr/>
          <a:lstStyle/>
          <a:p>
            <a:r>
              <a:rPr lang="en-GB" altLang="en-US"/>
              <a:t>‘System size’ here can be seen as an index that allows the size of different applications to be compared. It will usually correlate to the number of lines of code required.</a:t>
            </a:r>
          </a:p>
        </p:txBody>
      </p:sp>
    </p:spTree>
    <p:extLst>
      <p:ext uri="{BB962C8B-B14F-4D97-AF65-F5344CB8AC3E}">
        <p14:creationId xmlns:p14="http://schemas.microsoft.com/office/powerpoint/2010/main" val="12745615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31">
            <a:extLst>
              <a:ext uri="{FF2B5EF4-FFF2-40B4-BE49-F238E27FC236}">
                <a16:creationId xmlns:a16="http://schemas.microsoft.com/office/drawing/2014/main" id="{7BD34A2A-7933-4C89-A432-64A67745537D}"/>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548F11B-D5A9-433D-81D9-AFAA763A2A3B}"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35843" name="Rectangle 2">
            <a:extLst>
              <a:ext uri="{FF2B5EF4-FFF2-40B4-BE49-F238E27FC236}">
                <a16:creationId xmlns:a16="http://schemas.microsoft.com/office/drawing/2014/main" id="{C419A8EF-8A5B-4973-AF01-0D233891988E}"/>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D6454A9E-EFF2-45DC-8287-35E264B28FF0}"/>
              </a:ext>
            </a:extLst>
          </p:cNvPr>
          <p:cNvSpPr>
            <a:spLocks noGrp="1" noChangeArrowheads="1"/>
          </p:cNvSpPr>
          <p:nvPr>
            <p:ph type="body" idx="1"/>
          </p:nvPr>
        </p:nvSpPr>
        <p:spPr>
          <a:noFill/>
        </p:spPr>
        <p:txBody>
          <a:bodyPr/>
          <a:lstStyle/>
          <a:p>
            <a:r>
              <a:rPr lang="en-GB" altLang="en-US" dirty="0"/>
              <a:t>COCOMO originally was based on a size parameter of lines of code (actually ‘thousand of delivered </a:t>
            </a:r>
            <a:r>
              <a:rPr lang="en-GB" altLang="en-US" dirty="0" err="1"/>
              <a:t>sourcecode</a:t>
            </a:r>
            <a:r>
              <a:rPr lang="en-GB" altLang="en-US" dirty="0"/>
              <a:t> instructions’ or </a:t>
            </a:r>
            <a:r>
              <a:rPr lang="en-GB" altLang="en-US" dirty="0" err="1"/>
              <a:t>kdsi</a:t>
            </a:r>
            <a:r>
              <a:rPr lang="en-GB" altLang="en-US" dirty="0"/>
              <a:t>). Newer versions recognize the use of functions points as a size measure, but convert them to a number called ‘equivalent lines of code (</a:t>
            </a:r>
            <a:r>
              <a:rPr lang="en-GB" altLang="en-US" dirty="0" err="1"/>
              <a:t>eloc</a:t>
            </a:r>
            <a:r>
              <a:rPr lang="en-GB" altLang="en-US" dirty="0"/>
              <a:t>).</a:t>
            </a:r>
          </a:p>
        </p:txBody>
      </p:sp>
    </p:spTree>
    <p:extLst>
      <p:ext uri="{BB962C8B-B14F-4D97-AF65-F5344CB8AC3E}">
        <p14:creationId xmlns:p14="http://schemas.microsoft.com/office/powerpoint/2010/main" val="3169774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74142" y="741406"/>
            <a:ext cx="8979242" cy="5784098"/>
          </a:xfrm>
          <a:prstGeom prst="rect">
            <a:avLst/>
          </a:prstGeom>
          <a:blipFill dpi="0" rotWithShape="1">
            <a:blip r:embed="rId2">
              <a:alphaModFix amt="30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3" name="Subtitle 2"/>
          <p:cNvSpPr>
            <a:spLocks noGrp="1"/>
          </p:cNvSpPr>
          <p:nvPr>
            <p:ph type="subTitle" idx="1" hasCustomPrompt="1"/>
          </p:nvPr>
        </p:nvSpPr>
        <p:spPr>
          <a:xfrm>
            <a:off x="1143000" y="3095886"/>
            <a:ext cx="6858000" cy="2161914"/>
          </a:xfrm>
        </p:spPr>
        <p:txBody>
          <a:bodyPr>
            <a:normAutofit/>
          </a:bodyPr>
          <a:lstStyle>
            <a:lvl1pPr marL="0" indent="0" algn="ctr">
              <a:buNone/>
              <a:defRPr sz="4400" b="1"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Introduction and Course Organization</a:t>
            </a:r>
          </a:p>
        </p:txBody>
      </p:sp>
      <p:sp>
        <p:nvSpPr>
          <p:cNvPr id="8" name="TextBox 7"/>
          <p:cNvSpPr txBox="1"/>
          <p:nvPr userDrawn="1"/>
        </p:nvSpPr>
        <p:spPr>
          <a:xfrm>
            <a:off x="1143000" y="5230684"/>
            <a:ext cx="6858000" cy="707886"/>
          </a:xfrm>
          <a:prstGeom prst="rect">
            <a:avLst/>
          </a:prstGeom>
          <a:noFill/>
        </p:spPr>
        <p:txBody>
          <a:bodyPr wrap="square" rtlCol="0">
            <a:spAutoFit/>
          </a:bodyPr>
          <a:lstStyle/>
          <a:p>
            <a:pPr algn="ctr"/>
            <a:r>
              <a:rPr lang="en-US" sz="2000" b="1" dirty="0"/>
              <a:t>Fall 2021</a:t>
            </a:r>
          </a:p>
          <a:p>
            <a:pPr algn="ctr"/>
            <a:r>
              <a:rPr lang="en-US" sz="2000" b="1" dirty="0"/>
              <a:t>Dr. Muhammad Bilal</a:t>
            </a:r>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sp>
        <p:nvSpPr>
          <p:cNvPr id="11" name="TextBox 10"/>
          <p:cNvSpPr txBox="1"/>
          <p:nvPr userDrawn="1"/>
        </p:nvSpPr>
        <p:spPr>
          <a:xfrm>
            <a:off x="1143000" y="1210962"/>
            <a:ext cx="6858000" cy="1569660"/>
          </a:xfrm>
          <a:prstGeom prst="rect">
            <a:avLst/>
          </a:prstGeom>
          <a:noFill/>
        </p:spPr>
        <p:txBody>
          <a:bodyPr wrap="square" rtlCol="0">
            <a:spAutoFit/>
          </a:bodyPr>
          <a:lstStyle/>
          <a:p>
            <a:pPr algn="ctr"/>
            <a:r>
              <a:rPr lang="en-US" sz="3200" b="1" dirty="0">
                <a:latin typeface="+mj-lt"/>
              </a:rPr>
              <a:t>FUNDAMENTALS OF</a:t>
            </a:r>
          </a:p>
          <a:p>
            <a:pPr algn="ctr"/>
            <a:r>
              <a:rPr lang="en-US" sz="3200" b="1" dirty="0">
                <a:latin typeface="+mj-lt"/>
              </a:rPr>
              <a:t>SOFTWARE PROJECT MANAGEMENT</a:t>
            </a:r>
          </a:p>
          <a:p>
            <a:pPr algn="ctr"/>
            <a:r>
              <a:rPr lang="en-US" sz="3200" b="1" dirty="0">
                <a:latin typeface="+mj-lt"/>
              </a:rPr>
              <a:t>CS</a:t>
            </a:r>
            <a:r>
              <a:rPr lang="en-US" sz="3200" b="1" baseline="0" dirty="0">
                <a:latin typeface="+mj-lt"/>
              </a:rPr>
              <a:t> 4044</a:t>
            </a:r>
            <a:endParaRPr lang="en-US" sz="3200" b="1" dirty="0">
              <a:latin typeface="+mj-lt"/>
            </a:endParaRPr>
          </a:p>
        </p:txBody>
      </p:sp>
      <p:pic>
        <p:nvPicPr>
          <p:cNvPr id="2" name="Picture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
        <p:nvSpPr>
          <p:cNvPr id="4" name="TextBox 3"/>
          <p:cNvSpPr txBox="1"/>
          <p:nvPr userDrawn="1"/>
        </p:nvSpPr>
        <p:spPr>
          <a:xfrm>
            <a:off x="74142" y="6525504"/>
            <a:ext cx="8979242" cy="246221"/>
          </a:xfrm>
          <a:prstGeom prst="rect">
            <a:avLst/>
          </a:prstGeom>
          <a:solidFill>
            <a:schemeClr val="accent1"/>
          </a:solidFill>
        </p:spPr>
        <p:txBody>
          <a:bodyPr wrap="square" rtlCol="0">
            <a:spAutoFit/>
          </a:bodyPr>
          <a:lstStyle/>
          <a:p>
            <a:pPr algn="ctr"/>
            <a:r>
              <a:rPr lang="en-US" sz="1000" b="1" dirty="0"/>
              <a:t>Department</a:t>
            </a:r>
            <a:r>
              <a:rPr lang="en-US" sz="1000" b="1" baseline="0" dirty="0"/>
              <a:t> of Computer Science, National University of Computer and Emerging Sciences, Chiniot-Faisalabad Campus | +92-111-128-128</a:t>
            </a:r>
            <a:endParaRPr lang="en-US" sz="1000" b="1" dirty="0"/>
          </a:p>
        </p:txBody>
      </p:sp>
    </p:spTree>
    <p:extLst>
      <p:ext uri="{BB962C8B-B14F-4D97-AF65-F5344CB8AC3E}">
        <p14:creationId xmlns:p14="http://schemas.microsoft.com/office/powerpoint/2010/main" val="595482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955589"/>
            <a:ext cx="7886700" cy="735100"/>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60D6D740-8150-433F-9426-3FCFF681501A}" type="slidenum">
              <a:rPr lang="en-US" smtClean="0"/>
              <a:pPr/>
              <a:t>‹#›</a:t>
            </a:fld>
            <a:endParaRPr lang="en-US"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8" name="Picture 7">
            <a:extLst>
              <a:ext uri="{FF2B5EF4-FFF2-40B4-BE49-F238E27FC236}">
                <a16:creationId xmlns:a16="http://schemas.microsoft.com/office/drawing/2014/main" id="{FFEF0590-DF68-4B3D-B21B-60AED912C1C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3457627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3361434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862355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CS4044 - Fundamentals of Software Project Managment</a:t>
            </a:r>
          </a:p>
        </p:txBody>
      </p:sp>
      <p:sp>
        <p:nvSpPr>
          <p:cNvPr id="9" name="Slide Number Placeholder 8"/>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497198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CS4044 - Fundamentals of Software Project Managment</a:t>
            </a:r>
          </a:p>
        </p:txBody>
      </p:sp>
      <p:sp>
        <p:nvSpPr>
          <p:cNvPr id="5" name="Slide Number Placeholder 4"/>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834859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CS4044 - Fundamentals of Software Project Managment</a:t>
            </a:r>
          </a:p>
        </p:txBody>
      </p:sp>
      <p:sp>
        <p:nvSpPr>
          <p:cNvPr id="4" name="Slide Number Placeholder 3"/>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42265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4123485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318878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2432544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015125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4213" y="0"/>
            <a:ext cx="7772400" cy="1143000"/>
          </a:xfrm>
        </p:spPr>
        <p:txBody>
          <a:bodyPr/>
          <a:lstStyle/>
          <a:p>
            <a:r>
              <a:rPr lang="en-US"/>
              <a:t>Click to edit Master title style</a:t>
            </a:r>
            <a:endParaRPr lang="en-ZA"/>
          </a:p>
        </p:txBody>
      </p:sp>
      <p:sp>
        <p:nvSpPr>
          <p:cNvPr id="3" name="Online Image Placeholder 2"/>
          <p:cNvSpPr>
            <a:spLocks noGrp="1"/>
          </p:cNvSpPr>
          <p:nvPr>
            <p:ph type="clipArt" sz="half" idx="1"/>
          </p:nvPr>
        </p:nvSpPr>
        <p:spPr>
          <a:xfrm>
            <a:off x="684213" y="1700213"/>
            <a:ext cx="3810000" cy="4419600"/>
          </a:xfrm>
        </p:spPr>
        <p:txBody>
          <a:bodyPr/>
          <a:lstStyle/>
          <a:p>
            <a:pPr lvl="0"/>
            <a:endParaRPr lang="en-ZA" noProof="0"/>
          </a:p>
        </p:txBody>
      </p:sp>
      <p:sp>
        <p:nvSpPr>
          <p:cNvPr id="4" name="Text Placeholder 3"/>
          <p:cNvSpPr>
            <a:spLocks noGrp="1"/>
          </p:cNvSpPr>
          <p:nvPr>
            <p:ph type="body" sz="half" idx="2"/>
          </p:nvPr>
        </p:nvSpPr>
        <p:spPr>
          <a:xfrm>
            <a:off x="4646613" y="1700213"/>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Rectangle 10">
            <a:extLst>
              <a:ext uri="{FF2B5EF4-FFF2-40B4-BE49-F238E27FC236}">
                <a16:creationId xmlns:a16="http://schemas.microsoft.com/office/drawing/2014/main" id="{D808E71C-9001-4993-8C62-56854AD1377F}"/>
              </a:ext>
            </a:extLst>
          </p:cNvPr>
          <p:cNvSpPr>
            <a:spLocks noGrp="1" noChangeArrowheads="1"/>
          </p:cNvSpPr>
          <p:nvPr>
            <p:ph type="ftr" sz="quarter" idx="10"/>
          </p:nvPr>
        </p:nvSpPr>
        <p:spPr>
          <a:ln/>
        </p:spPr>
        <p:txBody>
          <a:bodyPr/>
          <a:lstStyle>
            <a:lvl1pPr>
              <a:defRPr/>
            </a:lvl1pPr>
          </a:lstStyle>
          <a:p>
            <a:pPr>
              <a:defRPr/>
            </a:pPr>
            <a:r>
              <a:rPr lang="en-US" altLang="en-US"/>
              <a:t>CS4044 - Fundamentals of Software Project Managment</a:t>
            </a:r>
          </a:p>
        </p:txBody>
      </p:sp>
      <p:sp>
        <p:nvSpPr>
          <p:cNvPr id="6" name="Rectangle 11">
            <a:extLst>
              <a:ext uri="{FF2B5EF4-FFF2-40B4-BE49-F238E27FC236}">
                <a16:creationId xmlns:a16="http://schemas.microsoft.com/office/drawing/2014/main" id="{94272968-7730-488A-B5E5-2CCCC9ACE3D3}"/>
              </a:ext>
            </a:extLst>
          </p:cNvPr>
          <p:cNvSpPr>
            <a:spLocks noGrp="1" noChangeArrowheads="1"/>
          </p:cNvSpPr>
          <p:nvPr>
            <p:ph type="sldNum" sz="quarter" idx="11"/>
          </p:nvPr>
        </p:nvSpPr>
        <p:spPr>
          <a:ln/>
        </p:spPr>
        <p:txBody>
          <a:bodyPr/>
          <a:lstStyle>
            <a:lvl1pPr>
              <a:defRPr/>
            </a:lvl1pPr>
          </a:lstStyle>
          <a:p>
            <a:fld id="{D0190F27-4242-45B8-857B-95BC3AAEC0AA}" type="slidenum">
              <a:rPr lang="en-US" altLang="en-US"/>
              <a:pPr/>
              <a:t>‹#›</a:t>
            </a:fld>
            <a:endParaRPr lang="en-US" altLang="en-US"/>
          </a:p>
        </p:txBody>
      </p:sp>
    </p:spTree>
    <p:extLst>
      <p:ext uri="{BB962C8B-B14F-4D97-AF65-F5344CB8AC3E}">
        <p14:creationId xmlns:p14="http://schemas.microsoft.com/office/powerpoint/2010/main" val="781480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246B6-8BC7-4900-B802-5715C0C6BBC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PK"/>
          </a:p>
        </p:txBody>
      </p:sp>
      <p:sp>
        <p:nvSpPr>
          <p:cNvPr id="3" name="Subtitle 2">
            <a:extLst>
              <a:ext uri="{FF2B5EF4-FFF2-40B4-BE49-F238E27FC236}">
                <a16:creationId xmlns:a16="http://schemas.microsoft.com/office/drawing/2014/main" id="{3AC32D74-7B8E-4451-BB7F-AF8F1E2824C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E5FFE4D8-0167-4298-8186-82E2E6DEDC7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7D6E9BA-A492-436C-A5E2-DF8625E46CF2}"/>
              </a:ext>
            </a:extLst>
          </p:cNvPr>
          <p:cNvSpPr>
            <a:spLocks noGrp="1"/>
          </p:cNvSpPr>
          <p:nvPr>
            <p:ph type="ftr" sz="quarter" idx="11"/>
          </p:nvPr>
        </p:nvSpPr>
        <p:spPr/>
        <p:txBody>
          <a:bodyPr/>
          <a:lstStyle/>
          <a:p>
            <a:r>
              <a:rPr lang="en-US"/>
              <a:t>CS4044 - Fundamentals of Software Project Managment</a:t>
            </a:r>
          </a:p>
        </p:txBody>
      </p:sp>
      <p:sp>
        <p:nvSpPr>
          <p:cNvPr id="6" name="Slide Number Placeholder 5">
            <a:extLst>
              <a:ext uri="{FF2B5EF4-FFF2-40B4-BE49-F238E27FC236}">
                <a16:creationId xmlns:a16="http://schemas.microsoft.com/office/drawing/2014/main" id="{ABA0F9C7-899B-4CCA-B1C7-56EC0A531AC6}"/>
              </a:ext>
            </a:extLst>
          </p:cNvPr>
          <p:cNvSpPr>
            <a:spLocks noGrp="1"/>
          </p:cNvSpPr>
          <p:nvPr>
            <p:ph type="sldNum" sz="quarter" idx="12"/>
          </p:nvPr>
        </p:nvSpPr>
        <p:spPr/>
        <p:txBody>
          <a:bodyPr/>
          <a:lstStyle/>
          <a:p>
            <a:fld id="{0797418D-B8E7-4A7C-BF6E-454B79F4EB24}" type="slidenum">
              <a:rPr lang="en-US" smtClean="0"/>
              <a:t>‹#›</a:t>
            </a:fld>
            <a:endParaRPr lang="en-US"/>
          </a:p>
        </p:txBody>
      </p:sp>
    </p:spTree>
    <p:extLst>
      <p:ext uri="{BB962C8B-B14F-4D97-AF65-F5344CB8AC3E}">
        <p14:creationId xmlns:p14="http://schemas.microsoft.com/office/powerpoint/2010/main" val="2710262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CS4044 - Fundamentals of Software Project Managment</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E4BBE6-ABD8-4AAC-A679-4F37D73C8978}" type="slidenum">
              <a:rPr lang="en-US" smtClean="0"/>
              <a:t>‹#›</a:t>
            </a:fld>
            <a:endParaRPr lang="en-US"/>
          </a:p>
        </p:txBody>
      </p:sp>
    </p:spTree>
    <p:extLst>
      <p:ext uri="{BB962C8B-B14F-4D97-AF65-F5344CB8AC3E}">
        <p14:creationId xmlns:p14="http://schemas.microsoft.com/office/powerpoint/2010/main" val="26239750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 id="2147483676"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818" y="0"/>
            <a:ext cx="7472363"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0"/>
            <a:ext cx="7461504"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p:cNvSpPr>
            <a:spLocks noGrp="1"/>
          </p:cNvSpPr>
          <p:nvPr>
            <p:ph type="ctrTitle"/>
          </p:nvPr>
        </p:nvSpPr>
        <p:spPr>
          <a:xfrm>
            <a:off x="835817" y="2046986"/>
            <a:ext cx="7472363" cy="2764028"/>
          </a:xfrm>
        </p:spPr>
        <p:txBody>
          <a:bodyPr anchor="ctr">
            <a:normAutofit fontScale="90000"/>
          </a:bodyPr>
          <a:lstStyle/>
          <a:p>
            <a:r>
              <a:rPr lang="en-IN" sz="4900" dirty="0">
                <a:latin typeface="+mn-lt"/>
                <a:cs typeface="Arial" panose="020B0604020202020204" pitchFamily="34" charset="0"/>
              </a:rPr>
              <a:t>FUNDAMENTALS OF SOFTWARE PROJECT MANAGEMENT</a:t>
            </a:r>
            <a:br>
              <a:rPr lang="en-IN" sz="2800" dirty="0">
                <a:latin typeface="+mn-lt"/>
                <a:cs typeface="Arial" panose="020B0604020202020204" pitchFamily="34" charset="0"/>
              </a:rPr>
            </a:br>
            <a:br>
              <a:rPr lang="en-IN" sz="2800" dirty="0">
                <a:latin typeface="+mn-lt"/>
                <a:cs typeface="Arial" panose="020B0604020202020204" pitchFamily="34" charset="0"/>
              </a:rPr>
            </a:br>
            <a:br>
              <a:rPr lang="en-IN" sz="2800" dirty="0">
                <a:latin typeface="+mn-lt"/>
                <a:cs typeface="Arial" panose="020B0604020202020204" pitchFamily="34" charset="0"/>
              </a:rPr>
            </a:br>
            <a:br>
              <a:rPr lang="en-IN" sz="2800" dirty="0">
                <a:latin typeface="+mn-lt"/>
                <a:cs typeface="Arial" panose="020B0604020202020204" pitchFamily="34" charset="0"/>
              </a:rPr>
            </a:br>
            <a:r>
              <a:rPr lang="en-GB" altLang="en-US" sz="4400" dirty="0"/>
              <a:t>Estimation</a:t>
            </a:r>
            <a:br>
              <a:rPr lang="en-GB" altLang="en-US" sz="2800" dirty="0"/>
            </a:br>
            <a:endParaRPr lang="en-US" sz="2800" dirty="0">
              <a:latin typeface="+mn-lt"/>
              <a:cs typeface="Arial" panose="020B0604020202020204" pitchFamily="34" charset="0"/>
            </a:endParaRPr>
          </a:p>
        </p:txBody>
      </p:sp>
      <p:sp>
        <p:nvSpPr>
          <p:cNvPr id="3" name="Subtitle 2"/>
          <p:cNvSpPr>
            <a:spLocks noGrp="1"/>
          </p:cNvSpPr>
          <p:nvPr>
            <p:ph type="subTitle" idx="1"/>
          </p:nvPr>
        </p:nvSpPr>
        <p:spPr>
          <a:xfrm>
            <a:off x="1475184" y="5645150"/>
            <a:ext cx="6193632" cy="631825"/>
          </a:xfrm>
        </p:spPr>
        <p:txBody>
          <a:bodyPr anchor="ctr">
            <a:normAutofit/>
          </a:bodyPr>
          <a:lstStyle/>
          <a:p>
            <a:r>
              <a:rPr lang="en-IN" sz="2400" dirty="0"/>
              <a:t>Week - 7</a:t>
            </a:r>
            <a:endParaRPr lang="en-US" sz="2400" dirty="0"/>
          </a:p>
          <a:p>
            <a:endParaRPr lang="en-US" sz="2400" dirty="0"/>
          </a:p>
        </p:txBody>
      </p:sp>
      <p:sp>
        <p:nvSpPr>
          <p:cNvPr id="17" name="Rectangle 16">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88920" y="5524786"/>
            <a:ext cx="356616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7866764" y="6356350"/>
            <a:ext cx="951613" cy="365125"/>
          </a:xfrm>
        </p:spPr>
        <p:txBody>
          <a:bodyPr>
            <a:normAutofit/>
          </a:bodyPr>
          <a:lstStyle/>
          <a:p>
            <a:pPr>
              <a:spcAft>
                <a:spcPts val="600"/>
              </a:spcAft>
            </a:pPr>
            <a:fld id="{9966D855-C268-4653-AB02-0C37BDE9B0E4}" type="slidenum">
              <a:rPr lang="en-US">
                <a:solidFill>
                  <a:schemeClr val="tx1">
                    <a:lumMod val="50000"/>
                    <a:lumOff val="50000"/>
                  </a:schemeClr>
                </a:solidFill>
              </a:rPr>
              <a:pPr>
                <a:spcAft>
                  <a:spcPts val="600"/>
                </a:spcAft>
              </a:pPr>
              <a:t>1</a:t>
            </a:fld>
            <a:endParaRPr lang="en-US">
              <a:solidFill>
                <a:schemeClr val="tx1">
                  <a:lumMod val="50000"/>
                  <a:lumOff val="50000"/>
                </a:schemeClr>
              </a:solidFill>
            </a:endParaRPr>
          </a:p>
        </p:txBody>
      </p:sp>
    </p:spTree>
    <p:extLst>
      <p:ext uri="{BB962C8B-B14F-4D97-AF65-F5344CB8AC3E}">
        <p14:creationId xmlns:p14="http://schemas.microsoft.com/office/powerpoint/2010/main" val="926742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6815A4EC-2EE0-485B-8DBB-83706CCA4C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978B423D-C04C-4189-8198-15F15834F4E8}" type="slidenum">
              <a:rPr lang="en-US" altLang="en-US" sz="1200"/>
              <a:pPr eaLnBrk="1" hangingPunct="1"/>
              <a:t>2</a:t>
            </a:fld>
            <a:endParaRPr lang="en-US" altLang="en-US" sz="1200"/>
          </a:p>
        </p:txBody>
      </p:sp>
      <p:sp>
        <p:nvSpPr>
          <p:cNvPr id="6147" name="Rectangle 2">
            <a:extLst>
              <a:ext uri="{FF2B5EF4-FFF2-40B4-BE49-F238E27FC236}">
                <a16:creationId xmlns:a16="http://schemas.microsoft.com/office/drawing/2014/main" id="{9003F9B2-47F7-4F15-8B34-DFE5440E0E29}"/>
              </a:ext>
            </a:extLst>
          </p:cNvPr>
          <p:cNvSpPr>
            <a:spLocks noGrp="1" noChangeArrowheads="1"/>
          </p:cNvSpPr>
          <p:nvPr>
            <p:ph type="title"/>
          </p:nvPr>
        </p:nvSpPr>
        <p:spPr/>
        <p:txBody>
          <a:bodyPr/>
          <a:lstStyle/>
          <a:p>
            <a:pPr eaLnBrk="1" hangingPunct="1"/>
            <a:r>
              <a:rPr lang="en-US" altLang="en-US" sz="4000" dirty="0"/>
              <a:t>Objectives</a:t>
            </a:r>
          </a:p>
        </p:txBody>
      </p:sp>
      <p:sp>
        <p:nvSpPr>
          <p:cNvPr id="6148" name="Rectangle 3">
            <a:extLst>
              <a:ext uri="{FF2B5EF4-FFF2-40B4-BE49-F238E27FC236}">
                <a16:creationId xmlns:a16="http://schemas.microsoft.com/office/drawing/2014/main" id="{5A87AB43-C53A-4DCC-B132-1EDAD9E0CF37}"/>
              </a:ext>
            </a:extLst>
          </p:cNvPr>
          <p:cNvSpPr>
            <a:spLocks noGrp="1" noChangeArrowheads="1"/>
          </p:cNvSpPr>
          <p:nvPr>
            <p:ph type="body" idx="1"/>
          </p:nvPr>
        </p:nvSpPr>
        <p:spPr/>
        <p:txBody>
          <a:bodyPr>
            <a:normAutofit/>
          </a:bodyPr>
          <a:lstStyle/>
          <a:p>
            <a:pPr eaLnBrk="1" hangingPunct="1"/>
            <a:r>
              <a:rPr lang="en-US" altLang="en-US" sz="3200" dirty="0"/>
              <a:t>Estimation</a:t>
            </a:r>
          </a:p>
          <a:p>
            <a:pPr lvl="1"/>
            <a:r>
              <a:rPr lang="en-US" altLang="en-US" sz="2800" dirty="0"/>
              <a:t>taxonomy of Estimation Methods</a:t>
            </a:r>
          </a:p>
          <a:p>
            <a:pPr lvl="2"/>
            <a:r>
              <a:rPr lang="en-US" altLang="en-US" sz="2400" dirty="0"/>
              <a:t>Top-down</a:t>
            </a:r>
          </a:p>
          <a:p>
            <a:pPr lvl="2"/>
            <a:r>
              <a:rPr lang="en-US" altLang="en-US" sz="2400" dirty="0"/>
              <a:t>Bottom-up - activity based, analytical</a:t>
            </a:r>
          </a:p>
          <a:p>
            <a:pPr lvl="2"/>
            <a:r>
              <a:rPr lang="en-US" altLang="en-US" sz="2400" dirty="0"/>
              <a:t>Parametric or algorithmic models  e.g. function points (using formulas and equations)</a:t>
            </a:r>
          </a:p>
          <a:p>
            <a:pPr lvl="2"/>
            <a:r>
              <a:rPr lang="en-US" altLang="en-US" sz="2400" dirty="0"/>
              <a:t>Expert opinion - just guessing?</a:t>
            </a:r>
          </a:p>
          <a:p>
            <a:pPr lvl="2"/>
            <a:r>
              <a:rPr lang="en-US" altLang="en-US" sz="2400" dirty="0"/>
              <a:t>Analogy - case-based, comparative</a:t>
            </a:r>
          </a:p>
          <a:p>
            <a:pPr lvl="2"/>
            <a:r>
              <a:rPr lang="en-US" altLang="en-US" sz="2400" dirty="0"/>
              <a:t>Parkinson and ‘price to win’</a:t>
            </a:r>
          </a:p>
          <a:p>
            <a:pPr lvl="2"/>
            <a:endParaRPr lang="en-US" alt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70FC2CAC-359B-44C5-AFE0-AA96AD65D0E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54646380-D0B4-4E7D-BDAA-7D149809EAA4}" type="slidenum">
              <a:rPr lang="en-US" altLang="en-US" sz="1200"/>
              <a:pPr eaLnBrk="1" hangingPunct="1"/>
              <a:t>3</a:t>
            </a:fld>
            <a:endParaRPr lang="en-US" altLang="en-US" sz="1200"/>
          </a:p>
        </p:txBody>
      </p:sp>
      <p:sp>
        <p:nvSpPr>
          <p:cNvPr id="39939" name="Rectangle 2">
            <a:extLst>
              <a:ext uri="{FF2B5EF4-FFF2-40B4-BE49-F238E27FC236}">
                <a16:creationId xmlns:a16="http://schemas.microsoft.com/office/drawing/2014/main" id="{E0C1F707-3409-4F09-98BC-FE239D541838}"/>
              </a:ext>
            </a:extLst>
          </p:cNvPr>
          <p:cNvSpPr>
            <a:spLocks noGrp="1" noChangeArrowheads="1"/>
          </p:cNvSpPr>
          <p:nvPr>
            <p:ph type="title"/>
          </p:nvPr>
        </p:nvSpPr>
        <p:spPr/>
        <p:txBody>
          <a:bodyPr/>
          <a:lstStyle/>
          <a:p>
            <a:pPr eaLnBrk="1" hangingPunct="1"/>
            <a:r>
              <a:rPr lang="en-US" altLang="en-US" sz="4000"/>
              <a:t>Estimations</a:t>
            </a:r>
          </a:p>
        </p:txBody>
      </p:sp>
      <p:sp>
        <p:nvSpPr>
          <p:cNvPr id="347139" name="Rectangle 3">
            <a:extLst>
              <a:ext uri="{FF2B5EF4-FFF2-40B4-BE49-F238E27FC236}">
                <a16:creationId xmlns:a16="http://schemas.microsoft.com/office/drawing/2014/main" id="{8FB940E6-9C55-448C-B889-9F664DA4FDE9}"/>
              </a:ext>
            </a:extLst>
          </p:cNvPr>
          <p:cNvSpPr>
            <a:spLocks noGrp="1" noChangeArrowheads="1"/>
          </p:cNvSpPr>
          <p:nvPr>
            <p:ph type="body" idx="1"/>
          </p:nvPr>
        </p:nvSpPr>
        <p:spPr/>
        <p:txBody>
          <a:bodyPr>
            <a:noAutofit/>
          </a:bodyPr>
          <a:lstStyle/>
          <a:p>
            <a:pPr marL="0" indent="0" eaLnBrk="1" hangingPunct="1">
              <a:lnSpc>
                <a:spcPct val="90000"/>
              </a:lnSpc>
              <a:buNone/>
            </a:pPr>
            <a:r>
              <a:rPr lang="en-US" altLang="en-US" sz="2400" dirty="0"/>
              <a:t>Very difficult to do, but needed often</a:t>
            </a:r>
          </a:p>
          <a:p>
            <a:pPr marL="0" indent="0" eaLnBrk="1" hangingPunct="1">
              <a:lnSpc>
                <a:spcPct val="90000"/>
              </a:lnSpc>
              <a:buNone/>
            </a:pPr>
            <a:r>
              <a:rPr lang="en-US" altLang="en-US" sz="2400" dirty="0"/>
              <a:t>Created, used or refined during</a:t>
            </a:r>
          </a:p>
          <a:p>
            <a:pPr marL="914400" lvl="1" indent="-457200"/>
            <a:r>
              <a:rPr lang="en-US" altLang="en-US" sz="2000" dirty="0"/>
              <a:t>Strategic planning </a:t>
            </a:r>
          </a:p>
          <a:p>
            <a:pPr marL="914400" lvl="1" indent="-457200"/>
            <a:r>
              <a:rPr lang="en-US" altLang="en-US" sz="2000" dirty="0"/>
              <a:t>Feasibility study and/or SOW</a:t>
            </a:r>
          </a:p>
          <a:p>
            <a:pPr marL="914400" lvl="1" indent="-457200"/>
            <a:r>
              <a:rPr lang="en-US" altLang="en-US" sz="2000" dirty="0"/>
              <a:t>Proposals</a:t>
            </a:r>
          </a:p>
          <a:p>
            <a:pPr marL="914400" lvl="1" indent="-457200"/>
            <a:r>
              <a:rPr lang="en-US" altLang="en-US" sz="2000" dirty="0"/>
              <a:t>Vendor and sub-contractor evaluation</a:t>
            </a:r>
          </a:p>
          <a:p>
            <a:pPr marL="914400" lvl="1" indent="-457200"/>
            <a:r>
              <a:rPr lang="en-US" altLang="en-US" sz="2000" dirty="0"/>
              <a:t>Project planning (iteratively)</a:t>
            </a:r>
          </a:p>
          <a:p>
            <a:pPr marL="0" indent="0" eaLnBrk="1" hangingPunct="1">
              <a:lnSpc>
                <a:spcPct val="90000"/>
              </a:lnSpc>
              <a:buNone/>
            </a:pPr>
            <a:r>
              <a:rPr lang="en-US" altLang="en-US" sz="2400" dirty="0"/>
              <a:t>Basic process</a:t>
            </a:r>
          </a:p>
          <a:p>
            <a:pPr marL="914400" lvl="1" indent="-457200" eaLnBrk="1" hangingPunct="1">
              <a:lnSpc>
                <a:spcPct val="90000"/>
              </a:lnSpc>
              <a:buFontTx/>
              <a:buAutoNum type="arabicParenR"/>
            </a:pPr>
            <a:r>
              <a:rPr lang="en-US" altLang="en-US" sz="2000" dirty="0"/>
              <a:t>Estimate the </a:t>
            </a:r>
            <a:r>
              <a:rPr lang="en-US" altLang="en-US" sz="2000" b="1" dirty="0"/>
              <a:t>size</a:t>
            </a:r>
            <a:r>
              <a:rPr lang="en-US" altLang="en-US" sz="2000" dirty="0"/>
              <a:t> of the product</a:t>
            </a:r>
          </a:p>
          <a:p>
            <a:pPr marL="914400" lvl="1" indent="-457200" eaLnBrk="1" hangingPunct="1">
              <a:lnSpc>
                <a:spcPct val="90000"/>
              </a:lnSpc>
              <a:buFontTx/>
              <a:buAutoNum type="arabicParenR"/>
            </a:pPr>
            <a:r>
              <a:rPr lang="en-US" altLang="en-US" sz="2000" dirty="0"/>
              <a:t>Estimate the </a:t>
            </a:r>
            <a:r>
              <a:rPr lang="en-US" altLang="en-US" sz="2000" b="1" dirty="0"/>
              <a:t>effort</a:t>
            </a:r>
            <a:r>
              <a:rPr lang="en-US" altLang="en-US" sz="2000" dirty="0"/>
              <a:t> (man-months)</a:t>
            </a:r>
          </a:p>
          <a:p>
            <a:pPr marL="914400" lvl="1" indent="-457200" eaLnBrk="1" hangingPunct="1">
              <a:lnSpc>
                <a:spcPct val="90000"/>
              </a:lnSpc>
              <a:buFontTx/>
              <a:buAutoNum type="arabicParenR"/>
            </a:pPr>
            <a:r>
              <a:rPr lang="en-US" altLang="en-US" sz="2000" dirty="0"/>
              <a:t>Estimate the </a:t>
            </a:r>
            <a:r>
              <a:rPr lang="en-US" altLang="en-US" sz="2000" b="1" dirty="0"/>
              <a:t>schedule</a:t>
            </a:r>
          </a:p>
          <a:p>
            <a:pPr marL="914400" lvl="1" indent="-457200" eaLnBrk="1" hangingPunct="1">
              <a:lnSpc>
                <a:spcPct val="90000"/>
              </a:lnSpc>
            </a:pPr>
            <a:r>
              <a:rPr lang="en-US" altLang="en-US" sz="2000" dirty="0"/>
              <a:t>NOTE: Not all of these steps are always explicitly performed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471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4713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4713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34713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34713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34713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347139">
                                            <p:txEl>
                                              <p:pRg st="6" end="6"/>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47139">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347139">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347139">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347139">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499"/>
                                          </p:stCondLst>
                                        </p:cTn>
                                        <p:tgtEl>
                                          <p:spTgt spid="34713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39"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3BC88A8E-C843-4A08-9933-C2C22355597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E5D144D7-A784-450A-9BAA-B88654D687E6}" type="slidenum">
              <a:rPr lang="en-US" altLang="en-US" sz="1200"/>
              <a:pPr eaLnBrk="1" hangingPunct="1"/>
              <a:t>4</a:t>
            </a:fld>
            <a:endParaRPr lang="en-US" altLang="en-US" sz="1200"/>
          </a:p>
        </p:txBody>
      </p:sp>
      <p:sp>
        <p:nvSpPr>
          <p:cNvPr id="40963" name="Rectangle 2">
            <a:extLst>
              <a:ext uri="{FF2B5EF4-FFF2-40B4-BE49-F238E27FC236}">
                <a16:creationId xmlns:a16="http://schemas.microsoft.com/office/drawing/2014/main" id="{A5CFDBC6-BB3F-486C-AE7B-2242830D6129}"/>
              </a:ext>
            </a:extLst>
          </p:cNvPr>
          <p:cNvSpPr>
            <a:spLocks noGrp="1" noChangeArrowheads="1"/>
          </p:cNvSpPr>
          <p:nvPr>
            <p:ph type="title"/>
          </p:nvPr>
        </p:nvSpPr>
        <p:spPr/>
        <p:txBody>
          <a:bodyPr/>
          <a:lstStyle/>
          <a:p>
            <a:pPr eaLnBrk="1" hangingPunct="1"/>
            <a:r>
              <a:rPr lang="en-US" altLang="en-US" sz="4000"/>
              <a:t>Estimations</a:t>
            </a:r>
          </a:p>
        </p:txBody>
      </p:sp>
      <p:sp>
        <p:nvSpPr>
          <p:cNvPr id="441347" name="Rectangle 3">
            <a:extLst>
              <a:ext uri="{FF2B5EF4-FFF2-40B4-BE49-F238E27FC236}">
                <a16:creationId xmlns:a16="http://schemas.microsoft.com/office/drawing/2014/main" id="{66B33800-49E1-46B7-8B53-4A379D89EC5C}"/>
              </a:ext>
            </a:extLst>
          </p:cNvPr>
          <p:cNvSpPr>
            <a:spLocks noGrp="1" noChangeArrowheads="1"/>
          </p:cNvSpPr>
          <p:nvPr>
            <p:ph type="body" idx="1"/>
          </p:nvPr>
        </p:nvSpPr>
        <p:spPr/>
        <p:txBody>
          <a:bodyPr/>
          <a:lstStyle/>
          <a:p>
            <a:pPr eaLnBrk="1" hangingPunct="1"/>
            <a:r>
              <a:rPr lang="en-US" altLang="en-US" sz="2800" dirty="0"/>
              <a:t>Remember, an “exact estimate” is an oxymoron</a:t>
            </a:r>
          </a:p>
          <a:p>
            <a:pPr eaLnBrk="1" hangingPunct="1"/>
            <a:r>
              <a:rPr lang="en-US" altLang="en-US" sz="2800" dirty="0"/>
              <a:t>Estimate how long will it take you to get home from class tonight</a:t>
            </a:r>
          </a:p>
          <a:p>
            <a:pPr lvl="1" eaLnBrk="1" hangingPunct="1"/>
            <a:r>
              <a:rPr lang="en-US" altLang="en-US" sz="2400" dirty="0"/>
              <a:t>On what basis did you do that?</a:t>
            </a:r>
          </a:p>
          <a:p>
            <a:pPr lvl="1" eaLnBrk="1" hangingPunct="1"/>
            <a:r>
              <a:rPr lang="en-US" altLang="en-US" sz="2400" dirty="0"/>
              <a:t>Experience right?</a:t>
            </a:r>
          </a:p>
          <a:p>
            <a:pPr lvl="1" eaLnBrk="1" hangingPunct="1"/>
            <a:r>
              <a:rPr lang="en-US" altLang="en-US" sz="2400" dirty="0"/>
              <a:t>Likely as an “average” probability</a:t>
            </a:r>
          </a:p>
          <a:p>
            <a:pPr lvl="1" eaLnBrk="1" hangingPunct="1"/>
            <a:r>
              <a:rPr lang="en-US" altLang="en-US" sz="2400" dirty="0"/>
              <a:t>For most software projects there is no such ‘average’</a:t>
            </a:r>
          </a:p>
          <a:p>
            <a:pPr eaLnBrk="1" hangingPunct="1"/>
            <a:r>
              <a:rPr lang="en-US" altLang="en-US" sz="2800" dirty="0"/>
              <a:t>Most software estimations are off by 25-100%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13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4134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44134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44134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44134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441347">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413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47"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6DC29247-6DD5-4083-B60A-C9E5DCAAECC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838B8CD9-F950-490F-BE13-C0393929C40F}" type="slidenum">
              <a:rPr lang="en-US" altLang="en-US" sz="1200"/>
              <a:pPr eaLnBrk="1" hangingPunct="1"/>
              <a:t>5</a:t>
            </a:fld>
            <a:endParaRPr lang="en-US" altLang="en-US" sz="1200"/>
          </a:p>
        </p:txBody>
      </p:sp>
      <p:sp>
        <p:nvSpPr>
          <p:cNvPr id="41987" name="Rectangle 2">
            <a:extLst>
              <a:ext uri="{FF2B5EF4-FFF2-40B4-BE49-F238E27FC236}">
                <a16:creationId xmlns:a16="http://schemas.microsoft.com/office/drawing/2014/main" id="{B7AA4AA2-8106-413E-A531-DEC60A9D988B}"/>
              </a:ext>
            </a:extLst>
          </p:cNvPr>
          <p:cNvSpPr>
            <a:spLocks noGrp="1" noChangeArrowheads="1"/>
          </p:cNvSpPr>
          <p:nvPr>
            <p:ph type="title"/>
          </p:nvPr>
        </p:nvSpPr>
        <p:spPr/>
        <p:txBody>
          <a:bodyPr/>
          <a:lstStyle/>
          <a:p>
            <a:pPr eaLnBrk="1" hangingPunct="1"/>
            <a:r>
              <a:rPr lang="en-US" altLang="en-US"/>
              <a:t>Estimation</a:t>
            </a:r>
          </a:p>
        </p:txBody>
      </p:sp>
      <p:sp>
        <p:nvSpPr>
          <p:cNvPr id="41988" name="Rectangle 3">
            <a:extLst>
              <a:ext uri="{FF2B5EF4-FFF2-40B4-BE49-F238E27FC236}">
                <a16:creationId xmlns:a16="http://schemas.microsoft.com/office/drawing/2014/main" id="{61345D94-6B8F-4108-BAD4-CAFD4A61ADDA}"/>
              </a:ext>
            </a:extLst>
          </p:cNvPr>
          <p:cNvSpPr>
            <a:spLocks noGrp="1" noChangeArrowheads="1"/>
          </p:cNvSpPr>
          <p:nvPr>
            <p:ph type="body" idx="1"/>
          </p:nvPr>
        </p:nvSpPr>
        <p:spPr/>
        <p:txBody>
          <a:bodyPr>
            <a:normAutofit/>
          </a:bodyPr>
          <a:lstStyle/>
          <a:p>
            <a:pPr eaLnBrk="1" hangingPunct="1"/>
            <a:r>
              <a:rPr lang="en-US" altLang="en-US" sz="3200" dirty="0"/>
              <a:t>Target vs. Committed Dates</a:t>
            </a:r>
          </a:p>
          <a:p>
            <a:pPr lvl="2" eaLnBrk="1" hangingPunct="1"/>
            <a:r>
              <a:rPr lang="en-US" altLang="en-US" sz="2400" dirty="0"/>
              <a:t>Target: Proposed by business or marketing</a:t>
            </a:r>
          </a:p>
          <a:p>
            <a:pPr lvl="2" eaLnBrk="1" hangingPunct="1"/>
            <a:r>
              <a:rPr lang="en-US" altLang="en-US" sz="2400" dirty="0"/>
              <a:t>Do not commit to this too soon!</a:t>
            </a:r>
          </a:p>
          <a:p>
            <a:pPr lvl="2" eaLnBrk="1" hangingPunct="1"/>
            <a:r>
              <a:rPr lang="en-US" altLang="en-US" sz="2400" dirty="0"/>
              <a:t>Committed: Team agrees to this</a:t>
            </a:r>
          </a:p>
          <a:p>
            <a:pPr lvl="2" eaLnBrk="1" hangingPunct="1"/>
            <a:r>
              <a:rPr lang="en-US" altLang="en-US" sz="2400" dirty="0"/>
              <a:t>After you’ve developed a schedule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825BD22F-127B-4E30-9413-B14B0BE79F10}"/>
              </a:ext>
            </a:extLst>
          </p:cNvPr>
          <p:cNvSpPr>
            <a:spLocks noGrp="1" noChangeArrowheads="1"/>
          </p:cNvSpPr>
          <p:nvPr>
            <p:ph type="title"/>
          </p:nvPr>
        </p:nvSpPr>
        <p:spPr>
          <a:xfrm>
            <a:off x="628650" y="929331"/>
            <a:ext cx="7886700" cy="1325563"/>
          </a:xfrm>
        </p:spPr>
        <p:txBody>
          <a:bodyPr/>
          <a:lstStyle/>
          <a:p>
            <a:r>
              <a:rPr lang="en-US" altLang="en-US" dirty="0"/>
              <a:t>What makes a successful project?</a:t>
            </a:r>
          </a:p>
        </p:txBody>
      </p:sp>
      <p:sp>
        <p:nvSpPr>
          <p:cNvPr id="6" name="Rectangle 3">
            <a:extLst>
              <a:ext uri="{FF2B5EF4-FFF2-40B4-BE49-F238E27FC236}">
                <a16:creationId xmlns:a16="http://schemas.microsoft.com/office/drawing/2014/main" id="{C59CF309-863D-4C96-A9C7-1C8DFBC2CA3A}"/>
              </a:ext>
            </a:extLst>
          </p:cNvPr>
          <p:cNvSpPr txBox="1">
            <a:spLocks noChangeArrowheads="1"/>
          </p:cNvSpPr>
          <p:nvPr/>
        </p:nvSpPr>
        <p:spPr>
          <a:xfrm>
            <a:off x="684213" y="2264418"/>
            <a:ext cx="3810000" cy="34369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0000"/>
              </a:lnSpc>
              <a:buNone/>
            </a:pPr>
            <a:r>
              <a:rPr lang="en-US" altLang="en-US" sz="2600" dirty="0"/>
              <a:t>Delivering:</a:t>
            </a:r>
          </a:p>
          <a:p>
            <a:pPr>
              <a:lnSpc>
                <a:spcPct val="70000"/>
              </a:lnSpc>
            </a:pPr>
            <a:r>
              <a:rPr lang="en-US" altLang="en-US" sz="2600" dirty="0"/>
              <a:t>agreed functionality</a:t>
            </a:r>
          </a:p>
          <a:p>
            <a:pPr>
              <a:lnSpc>
                <a:spcPct val="70000"/>
              </a:lnSpc>
            </a:pPr>
            <a:r>
              <a:rPr lang="en-US" altLang="en-US" sz="2600" dirty="0"/>
              <a:t>on time</a:t>
            </a:r>
          </a:p>
          <a:p>
            <a:pPr>
              <a:lnSpc>
                <a:spcPct val="70000"/>
              </a:lnSpc>
            </a:pPr>
            <a:r>
              <a:rPr lang="en-US" altLang="en-US" sz="2600" dirty="0"/>
              <a:t>at the agreed cost</a:t>
            </a:r>
          </a:p>
          <a:p>
            <a:pPr>
              <a:lnSpc>
                <a:spcPct val="70000"/>
              </a:lnSpc>
            </a:pPr>
            <a:r>
              <a:rPr lang="en-US" altLang="en-US" sz="2600" dirty="0"/>
              <a:t>with the required quality</a:t>
            </a:r>
          </a:p>
          <a:p>
            <a:endParaRPr lang="en-US" altLang="en-US" sz="2000" dirty="0"/>
          </a:p>
        </p:txBody>
      </p:sp>
      <p:sp>
        <p:nvSpPr>
          <p:cNvPr id="7" name="Rectangle 4">
            <a:extLst>
              <a:ext uri="{FF2B5EF4-FFF2-40B4-BE49-F238E27FC236}">
                <a16:creationId xmlns:a16="http://schemas.microsoft.com/office/drawing/2014/main" id="{A8BE7F02-E76A-4309-8F2D-33FC7351F9BD}"/>
              </a:ext>
            </a:extLst>
          </p:cNvPr>
          <p:cNvSpPr txBox="1">
            <a:spLocks noChangeArrowheads="1"/>
          </p:cNvSpPr>
          <p:nvPr/>
        </p:nvSpPr>
        <p:spPr>
          <a:xfrm>
            <a:off x="4464050" y="2346968"/>
            <a:ext cx="3810000" cy="26177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0000"/>
              </a:lnSpc>
              <a:buFont typeface="Arial" panose="020B0604020202020204" pitchFamily="34" charset="0"/>
              <a:buNone/>
            </a:pPr>
            <a:r>
              <a:rPr lang="en-US" altLang="en-US" sz="2600"/>
              <a:t>Stages:</a:t>
            </a:r>
          </a:p>
          <a:p>
            <a:pPr marL="514350" indent="-514350">
              <a:lnSpc>
                <a:spcPct val="70000"/>
              </a:lnSpc>
              <a:buFont typeface="Arial" panose="020B0604020202020204" pitchFamily="34" charset="0"/>
              <a:buAutoNum type="arabicPeriod"/>
            </a:pPr>
            <a:r>
              <a:rPr lang="en-US" altLang="en-US" sz="2600"/>
              <a:t>set targets</a:t>
            </a:r>
          </a:p>
          <a:p>
            <a:pPr marL="514350" indent="-514350">
              <a:lnSpc>
                <a:spcPct val="70000"/>
              </a:lnSpc>
              <a:buFont typeface="Arial" panose="020B0604020202020204" pitchFamily="34" charset="0"/>
              <a:buAutoNum type="arabicPeriod"/>
            </a:pPr>
            <a:r>
              <a:rPr lang="en-US" altLang="en-US" sz="2600"/>
              <a:t>Attempt to achieve targets</a:t>
            </a:r>
          </a:p>
          <a:p>
            <a:pPr>
              <a:lnSpc>
                <a:spcPct val="70000"/>
              </a:lnSpc>
            </a:pPr>
            <a:endParaRPr lang="en-US" altLang="en-US" sz="2600"/>
          </a:p>
          <a:p>
            <a:pPr>
              <a:buFont typeface="Monotype Sorts" pitchFamily="2" charset="2"/>
              <a:buNone/>
            </a:pPr>
            <a:endParaRPr lang="en-US" altLang="en-US" sz="2000" dirty="0"/>
          </a:p>
        </p:txBody>
      </p:sp>
      <p:sp>
        <p:nvSpPr>
          <p:cNvPr id="8" name="Text Box 6">
            <a:extLst>
              <a:ext uri="{FF2B5EF4-FFF2-40B4-BE49-F238E27FC236}">
                <a16:creationId xmlns:a16="http://schemas.microsoft.com/office/drawing/2014/main" id="{390C4509-E624-4D4B-8321-FEC1E9C1D2FF}"/>
              </a:ext>
            </a:extLst>
          </p:cNvPr>
          <p:cNvSpPr txBox="1">
            <a:spLocks noChangeArrowheads="1"/>
          </p:cNvSpPr>
          <p:nvPr/>
        </p:nvSpPr>
        <p:spPr bwMode="auto">
          <a:xfrm>
            <a:off x="874713" y="5264792"/>
            <a:ext cx="7239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a:solidFill>
                  <a:schemeClr val="accent1"/>
                </a:solidFill>
              </a:rPr>
              <a:t>BUT what if the targets are not achievable?</a:t>
            </a:r>
            <a:endParaRPr lang="en-US" altLang="en-US" sz="2400">
              <a:solidFill>
                <a:schemeClr val="accent1"/>
              </a:solidFill>
              <a:latin typeface="Times New Roman" panose="02020603050405020304" pitchFamily="18" charset="0"/>
            </a:endParaRPr>
          </a:p>
        </p:txBody>
      </p:sp>
      <p:sp>
        <p:nvSpPr>
          <p:cNvPr id="2" name="Slide Number Placeholder 1">
            <a:extLst>
              <a:ext uri="{FF2B5EF4-FFF2-40B4-BE49-F238E27FC236}">
                <a16:creationId xmlns:a16="http://schemas.microsoft.com/office/drawing/2014/main" id="{4359013A-B04E-4F5D-92C4-AAAE09E84405}"/>
              </a:ext>
            </a:extLst>
          </p:cNvPr>
          <p:cNvSpPr>
            <a:spLocks noGrp="1"/>
          </p:cNvSpPr>
          <p:nvPr>
            <p:ph type="sldNum" sz="quarter" idx="12"/>
          </p:nvPr>
        </p:nvSpPr>
        <p:spPr/>
        <p:txBody>
          <a:bodyPr/>
          <a:lstStyle/>
          <a:p>
            <a:fld id="{60D6D740-8150-433F-9426-3FCFF681501A}" type="slidenum">
              <a:rPr lang="en-US" smtClean="0"/>
              <a:pPr/>
              <a:t>6</a:t>
            </a:fld>
            <a:endParaRPr lang="en-US" dirty="0"/>
          </a:p>
        </p:txBody>
      </p:sp>
    </p:spTree>
    <p:extLst>
      <p:ext uri="{BB962C8B-B14F-4D97-AF65-F5344CB8AC3E}">
        <p14:creationId xmlns:p14="http://schemas.microsoft.com/office/powerpoint/2010/main" val="1626956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 calcmode="lin" valueType="num">
                                      <p:cBhvr additive="base">
                                        <p:cTn id="19"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 calcmode="lin" valueType="num">
                                      <p:cBhvr additive="base">
                                        <p:cTn id="25"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anim calcmode="lin" valueType="num">
                                      <p:cBhvr additive="base">
                                        <p:cTn id="31" dur="500" fill="hold"/>
                                        <p:tgtEl>
                                          <p:spTgt spid="6">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
                                            <p:txEl>
                                              <p:pRg st="4" end="4"/>
                                            </p:txEl>
                                          </p:spTgt>
                                        </p:tgtEl>
                                        <p:attrNameLst>
                                          <p:attrName>style.visibility</p:attrName>
                                        </p:attrNameLst>
                                      </p:cBhvr>
                                      <p:to>
                                        <p:strVal val="visible"/>
                                      </p:to>
                                    </p:set>
                                    <p:anim calcmode="lin" valueType="num">
                                      <p:cBhvr additive="base">
                                        <p:cTn id="37" dur="500" fill="hold"/>
                                        <p:tgtEl>
                                          <p:spTgt spid="6">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7">
                                            <p:txEl>
                                              <p:pRg st="0" end="0"/>
                                            </p:txEl>
                                          </p:spTgt>
                                        </p:tgtEl>
                                        <p:attrNameLst>
                                          <p:attrName>style.visibility</p:attrName>
                                        </p:attrNameLst>
                                      </p:cBhvr>
                                      <p:to>
                                        <p:strVal val="visible"/>
                                      </p:to>
                                    </p:set>
                                    <p:anim calcmode="lin" valueType="num">
                                      <p:cBhvr additive="base">
                                        <p:cTn id="43"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7">
                                            <p:txEl>
                                              <p:pRg st="1" end="1"/>
                                            </p:txEl>
                                          </p:spTgt>
                                        </p:tgtEl>
                                        <p:attrNameLst>
                                          <p:attrName>style.visibility</p:attrName>
                                        </p:attrNameLst>
                                      </p:cBhvr>
                                      <p:to>
                                        <p:strVal val="visible"/>
                                      </p:to>
                                    </p:set>
                                    <p:anim calcmode="lin" valueType="num">
                                      <p:cBhvr additive="base">
                                        <p:cTn id="49" dur="500" fill="hold"/>
                                        <p:tgtEl>
                                          <p:spTgt spid="7">
                                            <p:txEl>
                                              <p:pRg st="1" end="1"/>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7">
                                            <p:txEl>
                                              <p:pRg st="2" end="2"/>
                                            </p:txEl>
                                          </p:spTgt>
                                        </p:tgtEl>
                                        <p:attrNameLst>
                                          <p:attrName>style.visibility</p:attrName>
                                        </p:attrNameLst>
                                      </p:cBhvr>
                                      <p:to>
                                        <p:strVal val="visible"/>
                                      </p:to>
                                    </p:set>
                                    <p:anim calcmode="lin" valueType="num">
                                      <p:cBhvr additive="base">
                                        <p:cTn id="55" dur="500" fill="hold"/>
                                        <p:tgtEl>
                                          <p:spTgt spid="7">
                                            <p:txEl>
                                              <p:pRg st="2" end="2"/>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anim calcmode="lin" valueType="num">
                                      <p:cBhvr additive="base">
                                        <p:cTn id="61" dur="500" fill="hold"/>
                                        <p:tgtEl>
                                          <p:spTgt spid="8"/>
                                        </p:tgtEl>
                                        <p:attrNameLst>
                                          <p:attrName>ppt_x</p:attrName>
                                        </p:attrNameLst>
                                      </p:cBhvr>
                                      <p:tavLst>
                                        <p:tav tm="0">
                                          <p:val>
                                            <p:strVal val="0-#ppt_w/2"/>
                                          </p:val>
                                        </p:tav>
                                        <p:tav tm="100000">
                                          <p:val>
                                            <p:strVal val="#ppt_x"/>
                                          </p:val>
                                        </p:tav>
                                      </p:tavLst>
                                    </p:anim>
                                    <p:anim calcmode="lin" valueType="num">
                                      <p:cBhvr additive="base">
                                        <p:cTn id="62"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build="p" autoUpdateAnimBg="0"/>
      <p:bldP spid="7" grpId="0" build="p" autoUpdateAnimBg="0"/>
      <p:bldP spid="8"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91222E-73C6-4473-BF28-02D7A2B3A119}"/>
              </a:ext>
            </a:extLst>
          </p:cNvPr>
          <p:cNvSpPr>
            <a:spLocks noGrp="1"/>
          </p:cNvSpPr>
          <p:nvPr>
            <p:ph type="title"/>
          </p:nvPr>
        </p:nvSpPr>
        <p:spPr/>
        <p:txBody>
          <a:bodyPr/>
          <a:lstStyle/>
          <a:p>
            <a:r>
              <a:rPr lang="en-US" dirty="0"/>
              <a:t>Some problems with estimating</a:t>
            </a:r>
          </a:p>
        </p:txBody>
      </p:sp>
      <p:sp>
        <p:nvSpPr>
          <p:cNvPr id="5" name="Content Placeholder 4">
            <a:extLst>
              <a:ext uri="{FF2B5EF4-FFF2-40B4-BE49-F238E27FC236}">
                <a16:creationId xmlns:a16="http://schemas.microsoft.com/office/drawing/2014/main" id="{CB66D48F-46FF-41F1-82B1-3CC137E5D03A}"/>
              </a:ext>
            </a:extLst>
          </p:cNvPr>
          <p:cNvSpPr>
            <a:spLocks noGrp="1"/>
          </p:cNvSpPr>
          <p:nvPr>
            <p:ph idx="1"/>
          </p:nvPr>
        </p:nvSpPr>
        <p:spPr/>
        <p:txBody>
          <a:bodyPr>
            <a:normAutofit fontScale="92500"/>
          </a:bodyPr>
          <a:lstStyle/>
          <a:p>
            <a:r>
              <a:rPr lang="en-GB" dirty="0"/>
              <a:t>Subjective nature of much of estimating</a:t>
            </a:r>
          </a:p>
          <a:p>
            <a:pPr lvl="1"/>
            <a:r>
              <a:rPr lang="en-GB" dirty="0"/>
              <a:t>It may be difficult to produce evidence to support your precise target</a:t>
            </a:r>
          </a:p>
          <a:p>
            <a:r>
              <a:rPr lang="en-GB" dirty="0"/>
              <a:t>Political pressures</a:t>
            </a:r>
          </a:p>
          <a:p>
            <a:pPr lvl="1"/>
            <a:r>
              <a:rPr lang="en-GB" dirty="0"/>
              <a:t>Managers may wish to reduce estimated costs in order to win support for acceptance of a project proposal</a:t>
            </a:r>
          </a:p>
          <a:p>
            <a:r>
              <a:rPr lang="en-GB" dirty="0"/>
              <a:t>Changing technologies</a:t>
            </a:r>
          </a:p>
          <a:p>
            <a:pPr lvl="1"/>
            <a:r>
              <a:rPr lang="en-GB" dirty="0"/>
              <a:t>these bring uncertainties, especially in the early days when there is a ‘learning curve’</a:t>
            </a:r>
          </a:p>
          <a:p>
            <a:r>
              <a:rPr lang="en-GB" dirty="0"/>
              <a:t>Projects differ</a:t>
            </a:r>
          </a:p>
          <a:p>
            <a:pPr lvl="1"/>
            <a:r>
              <a:rPr lang="en-GB" dirty="0"/>
              <a:t>Experience on one project may not be applicable to another</a:t>
            </a:r>
          </a:p>
        </p:txBody>
      </p:sp>
      <p:sp>
        <p:nvSpPr>
          <p:cNvPr id="2" name="Slide Number Placeholder 1">
            <a:extLst>
              <a:ext uri="{FF2B5EF4-FFF2-40B4-BE49-F238E27FC236}">
                <a16:creationId xmlns:a16="http://schemas.microsoft.com/office/drawing/2014/main" id="{F16B5024-0AA0-47DE-94E1-CDB7544ED592}"/>
              </a:ext>
            </a:extLst>
          </p:cNvPr>
          <p:cNvSpPr>
            <a:spLocks noGrp="1"/>
          </p:cNvSpPr>
          <p:nvPr>
            <p:ph type="sldNum" sz="quarter" idx="12"/>
          </p:nvPr>
        </p:nvSpPr>
        <p:spPr/>
        <p:txBody>
          <a:bodyPr/>
          <a:lstStyle/>
          <a:p>
            <a:fld id="{60D6D740-8150-433F-9426-3FCFF681501A}" type="slidenum">
              <a:rPr lang="en-US" smtClean="0"/>
              <a:pPr/>
              <a:t>7</a:t>
            </a:fld>
            <a:endParaRPr lang="en-US" dirty="0"/>
          </a:p>
        </p:txBody>
      </p:sp>
    </p:spTree>
    <p:extLst>
      <p:ext uri="{BB962C8B-B14F-4D97-AF65-F5344CB8AC3E}">
        <p14:creationId xmlns:p14="http://schemas.microsoft.com/office/powerpoint/2010/main" val="1927823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a:extLst>
              <a:ext uri="{FF2B5EF4-FFF2-40B4-BE49-F238E27FC236}">
                <a16:creationId xmlns:a16="http://schemas.microsoft.com/office/drawing/2014/main" id="{2BA47B5E-77EA-4260-B3B5-B55788923475}"/>
              </a:ext>
            </a:extLst>
          </p:cNvPr>
          <p:cNvSpPr>
            <a:spLocks noGrp="1" noChangeArrowheads="1"/>
          </p:cNvSpPr>
          <p:nvPr>
            <p:ph type="title"/>
          </p:nvPr>
        </p:nvSpPr>
        <p:spPr/>
        <p:txBody>
          <a:bodyPr/>
          <a:lstStyle/>
          <a:p>
            <a:r>
              <a:rPr lang="en-GB" altLang="en-US"/>
              <a:t>Basis for successful estimating</a:t>
            </a:r>
          </a:p>
        </p:txBody>
      </p:sp>
      <p:sp>
        <p:nvSpPr>
          <p:cNvPr id="18437" name="Rectangle 3">
            <a:extLst>
              <a:ext uri="{FF2B5EF4-FFF2-40B4-BE49-F238E27FC236}">
                <a16:creationId xmlns:a16="http://schemas.microsoft.com/office/drawing/2014/main" id="{E7DD3F08-8D2D-49B9-ADA5-8C9CF492ADB8}"/>
              </a:ext>
            </a:extLst>
          </p:cNvPr>
          <p:cNvSpPr>
            <a:spLocks noGrp="1" noChangeArrowheads="1"/>
          </p:cNvSpPr>
          <p:nvPr>
            <p:ph type="body" idx="1"/>
          </p:nvPr>
        </p:nvSpPr>
        <p:spPr/>
        <p:txBody>
          <a:bodyPr/>
          <a:lstStyle/>
          <a:p>
            <a:r>
              <a:rPr lang="en-GB" altLang="en-US" dirty="0"/>
              <a:t>Information about past projects</a:t>
            </a:r>
          </a:p>
          <a:p>
            <a:pPr lvl="1"/>
            <a:r>
              <a:rPr lang="en-GB" altLang="en-US" dirty="0"/>
              <a:t>Need to collect performance details about past project: how big were they? How much effort/time did they need?</a:t>
            </a:r>
          </a:p>
          <a:p>
            <a:r>
              <a:rPr lang="en-GB" altLang="en-US" dirty="0"/>
              <a:t>Need to be able to measure the amount of work involved</a:t>
            </a:r>
          </a:p>
          <a:p>
            <a:pPr lvl="1"/>
            <a:r>
              <a:rPr lang="en-GB" altLang="en-US" dirty="0"/>
              <a:t>Traditional size measurement for software is ‘lines of code’ – but this can have problems</a:t>
            </a:r>
          </a:p>
        </p:txBody>
      </p:sp>
      <p:sp>
        <p:nvSpPr>
          <p:cNvPr id="2" name="Slide Number Placeholder 1">
            <a:extLst>
              <a:ext uri="{FF2B5EF4-FFF2-40B4-BE49-F238E27FC236}">
                <a16:creationId xmlns:a16="http://schemas.microsoft.com/office/drawing/2014/main" id="{38165329-BBEC-463E-8ED7-C0D0B01DD3D6}"/>
              </a:ext>
            </a:extLst>
          </p:cNvPr>
          <p:cNvSpPr>
            <a:spLocks noGrp="1"/>
          </p:cNvSpPr>
          <p:nvPr>
            <p:ph type="sldNum" sz="quarter" idx="12"/>
          </p:nvPr>
        </p:nvSpPr>
        <p:spPr/>
        <p:txBody>
          <a:bodyPr/>
          <a:lstStyle/>
          <a:p>
            <a:fld id="{60D6D740-8150-433F-9426-3FCFF681501A}" type="slidenum">
              <a:rPr lang="en-US" smtClean="0"/>
              <a:pPr/>
              <a:t>8</a:t>
            </a:fld>
            <a:endParaRPr lang="en-US" dirty="0"/>
          </a:p>
        </p:txBody>
      </p:sp>
    </p:spTree>
    <p:extLst>
      <p:ext uri="{BB962C8B-B14F-4D97-AF65-F5344CB8AC3E}">
        <p14:creationId xmlns:p14="http://schemas.microsoft.com/office/powerpoint/2010/main" val="8783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3" name="Slide Number Placeholder 4">
            <a:extLst>
              <a:ext uri="{FF2B5EF4-FFF2-40B4-BE49-F238E27FC236}">
                <a16:creationId xmlns:a16="http://schemas.microsoft.com/office/drawing/2014/main" id="{BD309F1A-2CF1-4EB8-983F-62E075789E2F}"/>
              </a:ext>
            </a:extLst>
          </p:cNvPr>
          <p:cNvSpPr>
            <a:spLocks noGrp="1"/>
          </p:cNvSpPr>
          <p:nvPr>
            <p:ph type="sldNum" sz="quarter" idx="11"/>
          </p:nvPr>
        </p:nvSpPr>
        <p:spPr bwMode="auto">
          <a:xfrm>
            <a:off x="6659563" y="6092825"/>
            <a:ext cx="19050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buFont typeface="Arial" panose="020B0604020202020204" pitchFamily="34" charset="0"/>
              <a:buNone/>
              <a:defRPr sz="1400" kern="1200">
                <a:solidFill>
                  <a:srgbClr val="FFFF99"/>
                </a:solidFill>
                <a:latin typeface="Times New Roman" panose="02020603050405020304" pitchFamily="18"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746364EC-1CD4-4DA0-8D94-BC9021917A5B}" type="slidenum">
              <a:rPr lang="en-US" altLang="en-US" smtClean="0"/>
              <a:pPr/>
              <a:t>9</a:t>
            </a:fld>
            <a:endParaRPr lang="en-US" altLang="en-US">
              <a:solidFill>
                <a:srgbClr val="FFFF99"/>
              </a:solidFill>
              <a:latin typeface="Times New Roman" panose="02020603050405020304" pitchFamily="18" charset="0"/>
            </a:endParaRPr>
          </a:p>
        </p:txBody>
      </p:sp>
      <p:sp>
        <p:nvSpPr>
          <p:cNvPr id="20484" name="Rectangle 2">
            <a:extLst>
              <a:ext uri="{FF2B5EF4-FFF2-40B4-BE49-F238E27FC236}">
                <a16:creationId xmlns:a16="http://schemas.microsoft.com/office/drawing/2014/main" id="{D89D908C-A8DC-48BD-AF91-27DCB26030B3}"/>
              </a:ext>
            </a:extLst>
          </p:cNvPr>
          <p:cNvSpPr>
            <a:spLocks noGrp="1" noChangeArrowheads="1"/>
          </p:cNvSpPr>
          <p:nvPr>
            <p:ph type="title"/>
          </p:nvPr>
        </p:nvSpPr>
        <p:spPr/>
        <p:txBody>
          <a:bodyPr>
            <a:normAutofit fontScale="90000"/>
          </a:bodyPr>
          <a:lstStyle/>
          <a:p>
            <a:r>
              <a:rPr lang="en-US" altLang="en-US" dirty="0"/>
              <a:t>A taxonomy of </a:t>
            </a:r>
            <a:r>
              <a:rPr lang="en-US" altLang="en-US" sz="4400" dirty="0"/>
              <a:t>Estimation Methods</a:t>
            </a:r>
            <a:endParaRPr lang="en-US" altLang="en-US" dirty="0"/>
          </a:p>
        </p:txBody>
      </p:sp>
      <p:sp>
        <p:nvSpPr>
          <p:cNvPr id="11267" name="Rectangle 3">
            <a:extLst>
              <a:ext uri="{FF2B5EF4-FFF2-40B4-BE49-F238E27FC236}">
                <a16:creationId xmlns:a16="http://schemas.microsoft.com/office/drawing/2014/main" id="{186151D5-FD89-4E94-B20D-C887B54C8A32}"/>
              </a:ext>
            </a:extLst>
          </p:cNvPr>
          <p:cNvSpPr>
            <a:spLocks noGrp="1" noChangeArrowheads="1"/>
          </p:cNvSpPr>
          <p:nvPr>
            <p:ph type="body" idx="1"/>
          </p:nvPr>
        </p:nvSpPr>
        <p:spPr/>
        <p:txBody>
          <a:bodyPr/>
          <a:lstStyle/>
          <a:p>
            <a:r>
              <a:rPr lang="en-US" altLang="en-US" dirty="0"/>
              <a:t>Top-down</a:t>
            </a:r>
          </a:p>
          <a:p>
            <a:r>
              <a:rPr lang="en-US" altLang="en-US" dirty="0"/>
              <a:t>Bottom-up - activity based, analytical</a:t>
            </a:r>
          </a:p>
          <a:p>
            <a:r>
              <a:rPr lang="en-US" altLang="en-US" dirty="0"/>
              <a:t>Parametric or algorithmic models  e.g. function points (using formulas and equations)</a:t>
            </a:r>
          </a:p>
          <a:p>
            <a:r>
              <a:rPr lang="en-US" altLang="en-US" dirty="0"/>
              <a:t>Expert opinion - just guessing?</a:t>
            </a:r>
          </a:p>
          <a:p>
            <a:r>
              <a:rPr lang="en-US" altLang="en-US" dirty="0"/>
              <a:t>Analogy - case-based, comparative</a:t>
            </a:r>
          </a:p>
          <a:p>
            <a:r>
              <a:rPr lang="en-US" altLang="en-US" dirty="0"/>
              <a:t>Parkinson and ‘price to win’</a:t>
            </a:r>
          </a:p>
        </p:txBody>
      </p:sp>
    </p:spTree>
    <p:extLst>
      <p:ext uri="{BB962C8B-B14F-4D97-AF65-F5344CB8AC3E}">
        <p14:creationId xmlns:p14="http://schemas.microsoft.com/office/powerpoint/2010/main" val="3613427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additive="base">
                                        <p:cTn id="13" dur="500" fill="hold"/>
                                        <p:tgtEl>
                                          <p:spTgt spid="1126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12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 calcmode="lin" valueType="num">
                                      <p:cBhvr additive="base">
                                        <p:cTn id="19" dur="500" fill="hold"/>
                                        <p:tgtEl>
                                          <p:spTgt spid="1126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12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1267">
                                            <p:txEl>
                                              <p:pRg st="3" end="3"/>
                                            </p:txEl>
                                          </p:spTgt>
                                        </p:tgtEl>
                                        <p:attrNameLst>
                                          <p:attrName>style.visibility</p:attrName>
                                        </p:attrNameLst>
                                      </p:cBhvr>
                                      <p:to>
                                        <p:strVal val="visible"/>
                                      </p:to>
                                    </p:set>
                                    <p:anim calcmode="lin" valueType="num">
                                      <p:cBhvr additive="base">
                                        <p:cTn id="25" dur="500" fill="hold"/>
                                        <p:tgtEl>
                                          <p:spTgt spid="1126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12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1267">
                                            <p:txEl>
                                              <p:pRg st="4" end="4"/>
                                            </p:txEl>
                                          </p:spTgt>
                                        </p:tgtEl>
                                        <p:attrNameLst>
                                          <p:attrName>style.visibility</p:attrName>
                                        </p:attrNameLst>
                                      </p:cBhvr>
                                      <p:to>
                                        <p:strVal val="visible"/>
                                      </p:to>
                                    </p:set>
                                    <p:anim calcmode="lin" valueType="num">
                                      <p:cBhvr additive="base">
                                        <p:cTn id="31" dur="500" fill="hold"/>
                                        <p:tgtEl>
                                          <p:spTgt spid="1126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126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1267">
                                            <p:txEl>
                                              <p:pRg st="5" end="5"/>
                                            </p:txEl>
                                          </p:spTgt>
                                        </p:tgtEl>
                                        <p:attrNameLst>
                                          <p:attrName>style.visibility</p:attrName>
                                        </p:attrNameLst>
                                      </p:cBhvr>
                                      <p:to>
                                        <p:strVal val="visible"/>
                                      </p:to>
                                    </p:set>
                                    <p:anim calcmode="lin" valueType="num">
                                      <p:cBhvr additive="base">
                                        <p:cTn id="37" dur="500" fill="hold"/>
                                        <p:tgtEl>
                                          <p:spTgt spid="11267">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126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FB4387D8-C695-42C5-A8F9-9C1F5664E54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C62B5E1E-64F9-42F8-8DDF-37E2AB537657}" type="slidenum">
              <a:rPr lang="en-US" altLang="en-US" sz="1200"/>
              <a:pPr eaLnBrk="1" hangingPunct="1"/>
              <a:t>10</a:t>
            </a:fld>
            <a:endParaRPr lang="en-US" altLang="en-US" sz="1200"/>
          </a:p>
        </p:txBody>
      </p:sp>
      <p:sp>
        <p:nvSpPr>
          <p:cNvPr id="46083" name="Rectangle 2">
            <a:extLst>
              <a:ext uri="{FF2B5EF4-FFF2-40B4-BE49-F238E27FC236}">
                <a16:creationId xmlns:a16="http://schemas.microsoft.com/office/drawing/2014/main" id="{A519AC4F-D1A7-4FD8-9198-4526F08C78A8}"/>
              </a:ext>
            </a:extLst>
          </p:cNvPr>
          <p:cNvSpPr>
            <a:spLocks noGrp="1" noChangeArrowheads="1"/>
          </p:cNvSpPr>
          <p:nvPr>
            <p:ph type="title"/>
          </p:nvPr>
        </p:nvSpPr>
        <p:spPr/>
        <p:txBody>
          <a:bodyPr/>
          <a:lstStyle/>
          <a:p>
            <a:pPr eaLnBrk="1" hangingPunct="1"/>
            <a:r>
              <a:rPr lang="en-US" altLang="en-US" sz="4000"/>
              <a:t>Top-down Estimation</a:t>
            </a:r>
          </a:p>
        </p:txBody>
      </p:sp>
      <p:sp>
        <p:nvSpPr>
          <p:cNvPr id="401411" name="Rectangle 3">
            <a:extLst>
              <a:ext uri="{FF2B5EF4-FFF2-40B4-BE49-F238E27FC236}">
                <a16:creationId xmlns:a16="http://schemas.microsoft.com/office/drawing/2014/main" id="{FC8F251A-59AD-48D6-8310-917606A0DFE8}"/>
              </a:ext>
            </a:extLst>
          </p:cNvPr>
          <p:cNvSpPr>
            <a:spLocks noGrp="1" noChangeArrowheads="1"/>
          </p:cNvSpPr>
          <p:nvPr>
            <p:ph type="body" idx="1"/>
          </p:nvPr>
        </p:nvSpPr>
        <p:spPr/>
        <p:txBody>
          <a:bodyPr/>
          <a:lstStyle/>
          <a:p>
            <a:pPr eaLnBrk="1" hangingPunct="1"/>
            <a:r>
              <a:rPr lang="en-US" altLang="en-US" sz="2800"/>
              <a:t>Based on overall characteristics of project</a:t>
            </a:r>
          </a:p>
          <a:p>
            <a:pPr lvl="1" eaLnBrk="1" hangingPunct="1"/>
            <a:r>
              <a:rPr lang="en-US" altLang="en-US" sz="2400"/>
              <a:t>Some of the others can be “types” of top-down (Analogy, Expert Judgment, and Algorithmic methods)</a:t>
            </a:r>
          </a:p>
          <a:p>
            <a:pPr eaLnBrk="1" hangingPunct="1"/>
            <a:r>
              <a:rPr lang="en-US" altLang="en-US" sz="2800"/>
              <a:t>Advantages</a:t>
            </a:r>
          </a:p>
          <a:p>
            <a:pPr lvl="1" eaLnBrk="1" hangingPunct="1"/>
            <a:r>
              <a:rPr lang="en-US" altLang="en-US" sz="2400"/>
              <a:t>Easy to calculate</a:t>
            </a:r>
          </a:p>
          <a:p>
            <a:pPr lvl="1" eaLnBrk="1" hangingPunct="1"/>
            <a:r>
              <a:rPr lang="en-US" altLang="en-US" sz="2400"/>
              <a:t>Effective early on (like initial cost estimates)</a:t>
            </a:r>
          </a:p>
          <a:p>
            <a:pPr eaLnBrk="1" hangingPunct="1"/>
            <a:r>
              <a:rPr lang="en-US" altLang="en-US" sz="2800"/>
              <a:t>Disadvantages</a:t>
            </a:r>
          </a:p>
          <a:p>
            <a:pPr lvl="1" eaLnBrk="1" hangingPunct="1"/>
            <a:r>
              <a:rPr lang="en-US" altLang="en-US" sz="2400"/>
              <a:t>Some models are questionable or may not fit</a:t>
            </a:r>
          </a:p>
          <a:p>
            <a:pPr lvl="1" eaLnBrk="1" hangingPunct="1"/>
            <a:r>
              <a:rPr lang="en-US" altLang="en-US" sz="2400"/>
              <a:t>Less accurate because it doesn’t look at details</a:t>
            </a:r>
          </a:p>
        </p:txBody>
      </p:sp>
    </p:spTree>
    <p:extLst>
      <p:ext uri="{BB962C8B-B14F-4D97-AF65-F5344CB8AC3E}">
        <p14:creationId xmlns:p14="http://schemas.microsoft.com/office/powerpoint/2010/main" val="3495766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14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401411">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40141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40141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401411">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401411">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401411">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4014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1"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a:extLst>
              <a:ext uri="{FF2B5EF4-FFF2-40B4-BE49-F238E27FC236}">
                <a16:creationId xmlns:a16="http://schemas.microsoft.com/office/drawing/2014/main" id="{A3429097-9C38-4192-A913-29F640C826BD}"/>
              </a:ext>
            </a:extLst>
          </p:cNvPr>
          <p:cNvSpPr>
            <a:spLocks noGrp="1" noChangeArrowheads="1"/>
          </p:cNvSpPr>
          <p:nvPr>
            <p:ph type="title"/>
          </p:nvPr>
        </p:nvSpPr>
        <p:spPr>
          <a:xfrm>
            <a:off x="684213" y="628245"/>
            <a:ext cx="7772400" cy="1143000"/>
          </a:xfrm>
        </p:spPr>
        <p:txBody>
          <a:bodyPr/>
          <a:lstStyle/>
          <a:p>
            <a:r>
              <a:rPr lang="en-US" altLang="en-US" dirty="0"/>
              <a:t>Top-down estimates</a:t>
            </a:r>
          </a:p>
        </p:txBody>
      </p:sp>
      <p:sp>
        <p:nvSpPr>
          <p:cNvPr id="26629" name="Rectangle 4">
            <a:extLst>
              <a:ext uri="{FF2B5EF4-FFF2-40B4-BE49-F238E27FC236}">
                <a16:creationId xmlns:a16="http://schemas.microsoft.com/office/drawing/2014/main" id="{6D569C40-065E-41D6-BC2A-5E57D3E58B4A}"/>
              </a:ext>
            </a:extLst>
          </p:cNvPr>
          <p:cNvSpPr>
            <a:spLocks noGrp="1" noChangeArrowheads="1"/>
          </p:cNvSpPr>
          <p:nvPr>
            <p:ph type="body" sz="half" idx="2"/>
          </p:nvPr>
        </p:nvSpPr>
        <p:spPr>
          <a:xfrm>
            <a:off x="5373688" y="1700213"/>
            <a:ext cx="3082925" cy="4419600"/>
          </a:xfrm>
        </p:spPr>
        <p:txBody>
          <a:bodyPr/>
          <a:lstStyle/>
          <a:p>
            <a:endParaRPr lang="en-US" altLang="en-US" sz="2000"/>
          </a:p>
          <a:p>
            <a:r>
              <a:rPr lang="en-US" altLang="en-US" sz="2000"/>
              <a:t>Produce overall estimate using effort driver(s)</a:t>
            </a:r>
          </a:p>
          <a:p>
            <a:r>
              <a:rPr lang="en-US" altLang="en-US" sz="2000"/>
              <a:t>distribute proportions of overall estimate to components</a:t>
            </a:r>
          </a:p>
        </p:txBody>
      </p:sp>
      <p:sp>
        <p:nvSpPr>
          <p:cNvPr id="26630" name="Rectangle 5">
            <a:extLst>
              <a:ext uri="{FF2B5EF4-FFF2-40B4-BE49-F238E27FC236}">
                <a16:creationId xmlns:a16="http://schemas.microsoft.com/office/drawing/2014/main" id="{DEC6D5B0-9C63-42C4-8F34-562A7AB57080}"/>
              </a:ext>
            </a:extLst>
          </p:cNvPr>
          <p:cNvSpPr>
            <a:spLocks noChangeArrowheads="1"/>
          </p:cNvSpPr>
          <p:nvPr/>
        </p:nvSpPr>
        <p:spPr bwMode="auto">
          <a:xfrm>
            <a:off x="1066800" y="3810000"/>
            <a:ext cx="10668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a:t>design</a:t>
            </a:r>
          </a:p>
        </p:txBody>
      </p:sp>
      <p:sp>
        <p:nvSpPr>
          <p:cNvPr id="26631" name="Rectangle 6">
            <a:extLst>
              <a:ext uri="{FF2B5EF4-FFF2-40B4-BE49-F238E27FC236}">
                <a16:creationId xmlns:a16="http://schemas.microsoft.com/office/drawing/2014/main" id="{54C3418C-B362-4595-BFE8-6FB0A5AE9A3D}"/>
              </a:ext>
            </a:extLst>
          </p:cNvPr>
          <p:cNvSpPr>
            <a:spLocks noChangeArrowheads="1"/>
          </p:cNvSpPr>
          <p:nvPr/>
        </p:nvSpPr>
        <p:spPr bwMode="auto">
          <a:xfrm>
            <a:off x="2286000" y="3810000"/>
            <a:ext cx="10668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a:t>code</a:t>
            </a:r>
            <a:endParaRPr lang="en-US" altLang="en-US" sz="2400">
              <a:latin typeface="Times New Roman" panose="02020603050405020304" pitchFamily="18" charset="0"/>
            </a:endParaRPr>
          </a:p>
        </p:txBody>
      </p:sp>
      <p:sp>
        <p:nvSpPr>
          <p:cNvPr id="26632" name="Rectangle 7">
            <a:extLst>
              <a:ext uri="{FF2B5EF4-FFF2-40B4-BE49-F238E27FC236}">
                <a16:creationId xmlns:a16="http://schemas.microsoft.com/office/drawing/2014/main" id="{AA4C4EB6-D6A7-47F4-9E51-A18683FE5F21}"/>
              </a:ext>
            </a:extLst>
          </p:cNvPr>
          <p:cNvSpPr>
            <a:spLocks noChangeArrowheads="1"/>
          </p:cNvSpPr>
          <p:nvPr/>
        </p:nvSpPr>
        <p:spPr bwMode="auto">
          <a:xfrm>
            <a:off x="2133600" y="2438400"/>
            <a:ext cx="1143000" cy="838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a:t>overall</a:t>
            </a:r>
          </a:p>
          <a:p>
            <a:pPr algn="ctr"/>
            <a:r>
              <a:rPr lang="en-US" altLang="en-US" sz="2400"/>
              <a:t> project</a:t>
            </a:r>
            <a:endParaRPr lang="en-US" altLang="en-US" sz="2400">
              <a:latin typeface="Times New Roman" panose="02020603050405020304" pitchFamily="18" charset="0"/>
            </a:endParaRPr>
          </a:p>
        </p:txBody>
      </p:sp>
      <p:sp>
        <p:nvSpPr>
          <p:cNvPr id="26633" name="Rectangle 8">
            <a:extLst>
              <a:ext uri="{FF2B5EF4-FFF2-40B4-BE49-F238E27FC236}">
                <a16:creationId xmlns:a16="http://schemas.microsoft.com/office/drawing/2014/main" id="{089C1978-1848-4C4E-8D93-A3A1EF4F4F32}"/>
              </a:ext>
            </a:extLst>
          </p:cNvPr>
          <p:cNvSpPr>
            <a:spLocks noChangeArrowheads="1"/>
          </p:cNvSpPr>
          <p:nvPr/>
        </p:nvSpPr>
        <p:spPr bwMode="auto">
          <a:xfrm>
            <a:off x="3581400" y="3810000"/>
            <a:ext cx="10668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a:t>test</a:t>
            </a:r>
            <a:endParaRPr lang="en-US" altLang="en-US" sz="2400">
              <a:latin typeface="Times New Roman" panose="02020603050405020304" pitchFamily="18" charset="0"/>
            </a:endParaRPr>
          </a:p>
        </p:txBody>
      </p:sp>
      <p:sp>
        <p:nvSpPr>
          <p:cNvPr id="26634" name="Line 9">
            <a:extLst>
              <a:ext uri="{FF2B5EF4-FFF2-40B4-BE49-F238E27FC236}">
                <a16:creationId xmlns:a16="http://schemas.microsoft.com/office/drawing/2014/main" id="{F9317E88-6B39-4071-86C8-A3DED63131E7}"/>
              </a:ext>
            </a:extLst>
          </p:cNvPr>
          <p:cNvSpPr>
            <a:spLocks noChangeShapeType="1"/>
          </p:cNvSpPr>
          <p:nvPr/>
        </p:nvSpPr>
        <p:spPr bwMode="auto">
          <a:xfrm>
            <a:off x="2667000" y="3276600"/>
            <a:ext cx="0" cy="38100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5" name="Line 11">
            <a:extLst>
              <a:ext uri="{FF2B5EF4-FFF2-40B4-BE49-F238E27FC236}">
                <a16:creationId xmlns:a16="http://schemas.microsoft.com/office/drawing/2014/main" id="{43AE67B7-4CFA-4C69-87D2-727550E73943}"/>
              </a:ext>
            </a:extLst>
          </p:cNvPr>
          <p:cNvSpPr>
            <a:spLocks noChangeShapeType="1"/>
          </p:cNvSpPr>
          <p:nvPr/>
        </p:nvSpPr>
        <p:spPr bwMode="auto">
          <a:xfrm>
            <a:off x="1676400" y="3657600"/>
            <a:ext cx="2438400"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6" name="Line 12">
            <a:extLst>
              <a:ext uri="{FF2B5EF4-FFF2-40B4-BE49-F238E27FC236}">
                <a16:creationId xmlns:a16="http://schemas.microsoft.com/office/drawing/2014/main" id="{270B2A0D-E733-4E85-994D-8BE95C99A1A8}"/>
              </a:ext>
            </a:extLst>
          </p:cNvPr>
          <p:cNvSpPr>
            <a:spLocks noChangeShapeType="1"/>
          </p:cNvSpPr>
          <p:nvPr/>
        </p:nvSpPr>
        <p:spPr bwMode="auto">
          <a:xfrm>
            <a:off x="1676400" y="3657600"/>
            <a:ext cx="0" cy="15240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7" name="Line 13">
            <a:extLst>
              <a:ext uri="{FF2B5EF4-FFF2-40B4-BE49-F238E27FC236}">
                <a16:creationId xmlns:a16="http://schemas.microsoft.com/office/drawing/2014/main" id="{10AFBA42-C4AD-4130-B370-47D6587049DE}"/>
              </a:ext>
            </a:extLst>
          </p:cNvPr>
          <p:cNvSpPr>
            <a:spLocks noChangeShapeType="1"/>
          </p:cNvSpPr>
          <p:nvPr/>
        </p:nvSpPr>
        <p:spPr bwMode="auto">
          <a:xfrm>
            <a:off x="2743200" y="3657600"/>
            <a:ext cx="0" cy="15240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8" name="Line 15">
            <a:extLst>
              <a:ext uri="{FF2B5EF4-FFF2-40B4-BE49-F238E27FC236}">
                <a16:creationId xmlns:a16="http://schemas.microsoft.com/office/drawing/2014/main" id="{554DEC2D-D7B7-45ED-A076-3A9E864918E7}"/>
              </a:ext>
            </a:extLst>
          </p:cNvPr>
          <p:cNvSpPr>
            <a:spLocks noChangeShapeType="1"/>
          </p:cNvSpPr>
          <p:nvPr/>
        </p:nvSpPr>
        <p:spPr bwMode="auto">
          <a:xfrm>
            <a:off x="4114800" y="3657600"/>
            <a:ext cx="0" cy="15240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9" name="Text Box 16">
            <a:extLst>
              <a:ext uri="{FF2B5EF4-FFF2-40B4-BE49-F238E27FC236}">
                <a16:creationId xmlns:a16="http://schemas.microsoft.com/office/drawing/2014/main" id="{A24EA8B9-E3EC-44F7-BFE4-8CC38D26D91B}"/>
              </a:ext>
            </a:extLst>
          </p:cNvPr>
          <p:cNvSpPr txBox="1">
            <a:spLocks noChangeArrowheads="1"/>
          </p:cNvSpPr>
          <p:nvPr/>
        </p:nvSpPr>
        <p:spPr bwMode="auto">
          <a:xfrm>
            <a:off x="3413125" y="2249488"/>
            <a:ext cx="1422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solidFill>
                  <a:schemeClr val="accent1"/>
                </a:solidFill>
              </a:rPr>
              <a:t>Estimate</a:t>
            </a:r>
          </a:p>
          <a:p>
            <a:r>
              <a:rPr lang="en-US" altLang="en-US" sz="2400">
                <a:solidFill>
                  <a:schemeClr val="accent1"/>
                </a:solidFill>
              </a:rPr>
              <a:t>100 days</a:t>
            </a:r>
          </a:p>
        </p:txBody>
      </p:sp>
      <p:sp>
        <p:nvSpPr>
          <p:cNvPr id="26640" name="Text Box 17">
            <a:extLst>
              <a:ext uri="{FF2B5EF4-FFF2-40B4-BE49-F238E27FC236}">
                <a16:creationId xmlns:a16="http://schemas.microsoft.com/office/drawing/2014/main" id="{65F4608A-B4E2-430A-99FD-36F445B5F928}"/>
              </a:ext>
            </a:extLst>
          </p:cNvPr>
          <p:cNvSpPr txBox="1">
            <a:spLocks noChangeArrowheads="1"/>
          </p:cNvSpPr>
          <p:nvPr/>
        </p:nvSpPr>
        <p:spPr bwMode="auto">
          <a:xfrm>
            <a:off x="1127125" y="4459288"/>
            <a:ext cx="1082675"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chemeClr val="tx2"/>
                </a:solidFill>
              </a:rPr>
              <a:t>30%</a:t>
            </a:r>
          </a:p>
          <a:p>
            <a:r>
              <a:rPr lang="en-US" altLang="en-US">
                <a:solidFill>
                  <a:schemeClr val="tx2"/>
                </a:solidFill>
              </a:rPr>
              <a:t>i.e.</a:t>
            </a:r>
          </a:p>
          <a:p>
            <a:r>
              <a:rPr lang="en-US" altLang="en-US">
                <a:solidFill>
                  <a:schemeClr val="tx2"/>
                </a:solidFill>
              </a:rPr>
              <a:t>30 days</a:t>
            </a:r>
            <a:endParaRPr lang="en-US" altLang="en-US" sz="2400">
              <a:solidFill>
                <a:schemeClr val="tx2"/>
              </a:solidFill>
            </a:endParaRPr>
          </a:p>
        </p:txBody>
      </p:sp>
      <p:sp>
        <p:nvSpPr>
          <p:cNvPr id="26641" name="Text Box 18">
            <a:extLst>
              <a:ext uri="{FF2B5EF4-FFF2-40B4-BE49-F238E27FC236}">
                <a16:creationId xmlns:a16="http://schemas.microsoft.com/office/drawing/2014/main" id="{58720052-033D-4064-B770-3E241CFF9456}"/>
              </a:ext>
            </a:extLst>
          </p:cNvPr>
          <p:cNvSpPr txBox="1">
            <a:spLocks noChangeArrowheads="1"/>
          </p:cNvSpPr>
          <p:nvPr/>
        </p:nvSpPr>
        <p:spPr bwMode="auto">
          <a:xfrm>
            <a:off x="2270125" y="4456113"/>
            <a:ext cx="98425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chemeClr val="tx2"/>
                </a:solidFill>
              </a:rPr>
              <a:t>30%</a:t>
            </a:r>
          </a:p>
          <a:p>
            <a:r>
              <a:rPr lang="en-US" altLang="en-US">
                <a:solidFill>
                  <a:schemeClr val="tx2"/>
                </a:solidFill>
              </a:rPr>
              <a:t>i.e.</a:t>
            </a:r>
          </a:p>
          <a:p>
            <a:r>
              <a:rPr lang="en-US" altLang="en-US">
                <a:solidFill>
                  <a:schemeClr val="tx2"/>
                </a:solidFill>
              </a:rPr>
              <a:t>30 days</a:t>
            </a:r>
          </a:p>
        </p:txBody>
      </p:sp>
      <p:sp>
        <p:nvSpPr>
          <p:cNvPr id="26642" name="Text Box 20">
            <a:extLst>
              <a:ext uri="{FF2B5EF4-FFF2-40B4-BE49-F238E27FC236}">
                <a16:creationId xmlns:a16="http://schemas.microsoft.com/office/drawing/2014/main" id="{246EA60B-D513-4023-B872-A2FAD12B6F11}"/>
              </a:ext>
            </a:extLst>
          </p:cNvPr>
          <p:cNvSpPr txBox="1">
            <a:spLocks noChangeArrowheads="1"/>
          </p:cNvSpPr>
          <p:nvPr/>
        </p:nvSpPr>
        <p:spPr bwMode="auto">
          <a:xfrm>
            <a:off x="3489325" y="4456113"/>
            <a:ext cx="1352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chemeClr val="tx2"/>
                </a:solidFill>
              </a:rPr>
              <a:t>40%</a:t>
            </a:r>
          </a:p>
          <a:p>
            <a:r>
              <a:rPr lang="en-US" altLang="en-US">
                <a:solidFill>
                  <a:schemeClr val="tx2"/>
                </a:solidFill>
              </a:rPr>
              <a:t>i.e. 40 days</a:t>
            </a:r>
            <a:endParaRPr lang="en-US" altLang="en-US" sz="2400">
              <a:solidFill>
                <a:schemeClr val="tx2"/>
              </a:solidFill>
              <a:latin typeface="Times New Roman" panose="02020603050405020304" pitchFamily="18" charset="0"/>
            </a:endParaRPr>
          </a:p>
        </p:txBody>
      </p:sp>
      <p:sp>
        <p:nvSpPr>
          <p:cNvPr id="3" name="Slide Number Placeholder 2">
            <a:extLst>
              <a:ext uri="{FF2B5EF4-FFF2-40B4-BE49-F238E27FC236}">
                <a16:creationId xmlns:a16="http://schemas.microsoft.com/office/drawing/2014/main" id="{3956E60A-5B64-4551-9424-9B4AA7BAA6E3}"/>
              </a:ext>
            </a:extLst>
          </p:cNvPr>
          <p:cNvSpPr>
            <a:spLocks noGrp="1"/>
          </p:cNvSpPr>
          <p:nvPr>
            <p:ph type="sldNum" sz="quarter" idx="11"/>
          </p:nvPr>
        </p:nvSpPr>
        <p:spPr/>
        <p:txBody>
          <a:bodyPr/>
          <a:lstStyle/>
          <a:p>
            <a:fld id="{D0190F27-4242-45B8-857B-95BC3AAEC0AA}" type="slidenum">
              <a:rPr lang="en-US" altLang="en-US" smtClean="0"/>
              <a:pPr/>
              <a:t>11</a:t>
            </a:fld>
            <a:endParaRPr lang="en-US" altLang="en-US"/>
          </a:p>
        </p:txBody>
      </p:sp>
    </p:spTree>
    <p:extLst>
      <p:ext uri="{BB962C8B-B14F-4D97-AF65-F5344CB8AC3E}">
        <p14:creationId xmlns:p14="http://schemas.microsoft.com/office/powerpoint/2010/main" val="2644941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0" name="Rectangle 2">
            <a:extLst>
              <a:ext uri="{FF2B5EF4-FFF2-40B4-BE49-F238E27FC236}">
                <a16:creationId xmlns:a16="http://schemas.microsoft.com/office/drawing/2014/main" id="{89D7DA23-3A39-4089-A243-8BB07BF8D7C4}"/>
              </a:ext>
            </a:extLst>
          </p:cNvPr>
          <p:cNvSpPr>
            <a:spLocks noGrp="1" noChangeArrowheads="1"/>
          </p:cNvSpPr>
          <p:nvPr>
            <p:ph type="title"/>
          </p:nvPr>
        </p:nvSpPr>
        <p:spPr/>
        <p:txBody>
          <a:bodyPr/>
          <a:lstStyle/>
          <a:p>
            <a:r>
              <a:rPr lang="en-US" altLang="en-US"/>
              <a:t>Bottom-up estimating</a:t>
            </a:r>
          </a:p>
        </p:txBody>
      </p:sp>
      <p:sp>
        <p:nvSpPr>
          <p:cNvPr id="14339" name="Rectangle 3">
            <a:extLst>
              <a:ext uri="{FF2B5EF4-FFF2-40B4-BE49-F238E27FC236}">
                <a16:creationId xmlns:a16="http://schemas.microsoft.com/office/drawing/2014/main" id="{C86C2F2D-4293-4C53-A679-AD9C3F09919A}"/>
              </a:ext>
            </a:extLst>
          </p:cNvPr>
          <p:cNvSpPr>
            <a:spLocks noGrp="1" noChangeArrowheads="1"/>
          </p:cNvSpPr>
          <p:nvPr>
            <p:ph type="body" idx="1"/>
          </p:nvPr>
        </p:nvSpPr>
        <p:spPr/>
        <p:txBody>
          <a:bodyPr/>
          <a:lstStyle/>
          <a:p>
            <a:pPr>
              <a:buFont typeface="Monotype Sorts" pitchFamily="2" charset="2"/>
              <a:buNone/>
            </a:pPr>
            <a:r>
              <a:rPr lang="en-US" altLang="en-US" dirty="0"/>
              <a:t>1. Break project into smaller and smaller components</a:t>
            </a:r>
          </a:p>
          <a:p>
            <a:pPr>
              <a:buFont typeface="Monotype Sorts" pitchFamily="2" charset="2"/>
              <a:buNone/>
            </a:pPr>
            <a:r>
              <a:rPr lang="en-US" altLang="en-US" dirty="0"/>
              <a:t>2. Stop when you get to what one person can do in one/two weeks</a:t>
            </a:r>
          </a:p>
          <a:p>
            <a:pPr>
              <a:buFont typeface="Monotype Sorts" pitchFamily="2" charset="2"/>
              <a:buNone/>
            </a:pPr>
            <a:r>
              <a:rPr lang="en-US" altLang="en-US" dirty="0"/>
              <a:t>3. Estimate costs for the lowest level activities</a:t>
            </a:r>
          </a:p>
          <a:p>
            <a:pPr>
              <a:buFont typeface="Monotype Sorts" pitchFamily="2" charset="2"/>
              <a:buNone/>
            </a:pPr>
            <a:r>
              <a:rPr lang="en-US" altLang="en-US" dirty="0"/>
              <a:t>4. At each higher level calculate estimate by adding estimates for lower levels</a:t>
            </a:r>
          </a:p>
          <a:p>
            <a:pPr>
              <a:buFont typeface="Monotype Sorts" pitchFamily="2" charset="2"/>
              <a:buNone/>
            </a:pPr>
            <a:endParaRPr lang="en-US" altLang="en-US" dirty="0"/>
          </a:p>
        </p:txBody>
      </p:sp>
      <p:sp>
        <p:nvSpPr>
          <p:cNvPr id="2" name="Slide Number Placeholder 1">
            <a:extLst>
              <a:ext uri="{FF2B5EF4-FFF2-40B4-BE49-F238E27FC236}">
                <a16:creationId xmlns:a16="http://schemas.microsoft.com/office/drawing/2014/main" id="{7D69480F-E38C-4488-911F-30EE258194B2}"/>
              </a:ext>
            </a:extLst>
          </p:cNvPr>
          <p:cNvSpPr>
            <a:spLocks noGrp="1"/>
          </p:cNvSpPr>
          <p:nvPr>
            <p:ph type="sldNum" sz="quarter" idx="12"/>
          </p:nvPr>
        </p:nvSpPr>
        <p:spPr/>
        <p:txBody>
          <a:bodyPr/>
          <a:lstStyle/>
          <a:p>
            <a:fld id="{60D6D740-8150-433F-9426-3FCFF681501A}" type="slidenum">
              <a:rPr lang="en-US" smtClean="0"/>
              <a:pPr/>
              <a:t>12</a:t>
            </a:fld>
            <a:endParaRPr lang="en-US" dirty="0"/>
          </a:p>
        </p:txBody>
      </p:sp>
    </p:spTree>
    <p:extLst>
      <p:ext uri="{BB962C8B-B14F-4D97-AF65-F5344CB8AC3E}">
        <p14:creationId xmlns:p14="http://schemas.microsoft.com/office/powerpoint/2010/main" val="34823744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 calcmode="lin" valueType="num">
                                      <p:cBhvr additive="base">
                                        <p:cTn id="7" dur="500" fill="hold"/>
                                        <p:tgtEl>
                                          <p:spTgt spid="143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33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39">
                                            <p:txEl>
                                              <p:pRg st="1" end="1"/>
                                            </p:txEl>
                                          </p:spTgt>
                                        </p:tgtEl>
                                        <p:attrNameLst>
                                          <p:attrName>style.visibility</p:attrName>
                                        </p:attrNameLst>
                                      </p:cBhvr>
                                      <p:to>
                                        <p:strVal val="visible"/>
                                      </p:to>
                                    </p:set>
                                    <p:anim calcmode="lin" valueType="num">
                                      <p:cBhvr additive="base">
                                        <p:cTn id="13" dur="500" fill="hold"/>
                                        <p:tgtEl>
                                          <p:spTgt spid="143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339">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339">
                                            <p:txEl>
                                              <p:pRg st="2" end="2"/>
                                            </p:txEl>
                                          </p:spTgt>
                                        </p:tgtEl>
                                        <p:attrNameLst>
                                          <p:attrName>style.visibility</p:attrName>
                                        </p:attrNameLst>
                                      </p:cBhvr>
                                      <p:to>
                                        <p:strVal val="visible"/>
                                      </p:to>
                                    </p:set>
                                    <p:anim calcmode="lin" valueType="num">
                                      <p:cBhvr additive="base">
                                        <p:cTn id="19" dur="500" fill="hold"/>
                                        <p:tgtEl>
                                          <p:spTgt spid="1433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339">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339">
                                            <p:txEl>
                                              <p:pRg st="3" end="3"/>
                                            </p:txEl>
                                          </p:spTgt>
                                        </p:tgtEl>
                                        <p:attrNameLst>
                                          <p:attrName>style.visibility</p:attrName>
                                        </p:attrNameLst>
                                      </p:cBhvr>
                                      <p:to>
                                        <p:strVal val="visible"/>
                                      </p:to>
                                    </p:set>
                                    <p:anim calcmode="lin" valueType="num">
                                      <p:cBhvr additive="base">
                                        <p:cTn id="25" dur="500" fill="hold"/>
                                        <p:tgtEl>
                                          <p:spTgt spid="1433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339">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1A7C37FC-FE1F-482A-91D9-EB66E2073DA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F52704F7-27ED-4C60-A82D-046AD06324E6}" type="slidenum">
              <a:rPr lang="en-US" altLang="en-US" sz="1200"/>
              <a:pPr eaLnBrk="1" hangingPunct="1"/>
              <a:t>13</a:t>
            </a:fld>
            <a:endParaRPr lang="en-US" altLang="en-US" sz="1200"/>
          </a:p>
        </p:txBody>
      </p:sp>
      <p:sp>
        <p:nvSpPr>
          <p:cNvPr id="47107" name="Rectangle 2">
            <a:extLst>
              <a:ext uri="{FF2B5EF4-FFF2-40B4-BE49-F238E27FC236}">
                <a16:creationId xmlns:a16="http://schemas.microsoft.com/office/drawing/2014/main" id="{3C7C60DF-97A2-49E0-B973-11C5E19E7B8D}"/>
              </a:ext>
            </a:extLst>
          </p:cNvPr>
          <p:cNvSpPr>
            <a:spLocks noGrp="1" noChangeArrowheads="1"/>
          </p:cNvSpPr>
          <p:nvPr>
            <p:ph type="title"/>
          </p:nvPr>
        </p:nvSpPr>
        <p:spPr/>
        <p:txBody>
          <a:bodyPr/>
          <a:lstStyle/>
          <a:p>
            <a:pPr eaLnBrk="1" hangingPunct="1"/>
            <a:r>
              <a:rPr lang="en-US" altLang="en-US" sz="4000"/>
              <a:t>Bottom-up Estimation</a:t>
            </a:r>
          </a:p>
        </p:txBody>
      </p:sp>
      <p:sp>
        <p:nvSpPr>
          <p:cNvPr id="407555" name="Rectangle 3">
            <a:extLst>
              <a:ext uri="{FF2B5EF4-FFF2-40B4-BE49-F238E27FC236}">
                <a16:creationId xmlns:a16="http://schemas.microsoft.com/office/drawing/2014/main" id="{B8B2F0B0-457A-45A1-8DF3-9BCAB9E71A84}"/>
              </a:ext>
            </a:extLst>
          </p:cNvPr>
          <p:cNvSpPr>
            <a:spLocks noGrp="1" noChangeArrowheads="1"/>
          </p:cNvSpPr>
          <p:nvPr>
            <p:ph type="body" idx="1"/>
          </p:nvPr>
        </p:nvSpPr>
        <p:spPr/>
        <p:txBody>
          <a:bodyPr/>
          <a:lstStyle/>
          <a:p>
            <a:pPr eaLnBrk="1" hangingPunct="1"/>
            <a:r>
              <a:rPr lang="en-US" altLang="en-US" sz="2800"/>
              <a:t>Create WBS</a:t>
            </a:r>
          </a:p>
          <a:p>
            <a:pPr eaLnBrk="1" hangingPunct="1"/>
            <a:r>
              <a:rPr lang="en-US" altLang="en-US" sz="2800"/>
              <a:t>Add from the bottom-up</a:t>
            </a:r>
          </a:p>
          <a:p>
            <a:pPr eaLnBrk="1" hangingPunct="1"/>
            <a:r>
              <a:rPr lang="en-US" altLang="en-US" sz="2800"/>
              <a:t>Advantages</a:t>
            </a:r>
          </a:p>
          <a:p>
            <a:pPr lvl="1" eaLnBrk="1" hangingPunct="1"/>
            <a:r>
              <a:rPr lang="en-US" altLang="en-US" sz="2400"/>
              <a:t>Works well if activities well understood</a:t>
            </a:r>
          </a:p>
          <a:p>
            <a:pPr eaLnBrk="1" hangingPunct="1"/>
            <a:r>
              <a:rPr lang="en-US" altLang="en-US" sz="2800"/>
              <a:t>Disadvantages</a:t>
            </a:r>
          </a:p>
          <a:p>
            <a:pPr lvl="1" eaLnBrk="1" hangingPunct="1"/>
            <a:r>
              <a:rPr lang="en-US" altLang="en-US" sz="2400"/>
              <a:t>Specific activities not always known</a:t>
            </a:r>
          </a:p>
          <a:p>
            <a:pPr lvl="1" eaLnBrk="1" hangingPunct="1"/>
            <a:r>
              <a:rPr lang="en-US" altLang="en-US" sz="2400"/>
              <a:t>More time consuming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75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755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0755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407555">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40755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407555">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40755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5"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a:extLst>
              <a:ext uri="{FF2B5EF4-FFF2-40B4-BE49-F238E27FC236}">
                <a16:creationId xmlns:a16="http://schemas.microsoft.com/office/drawing/2014/main" id="{E19EC585-6DE6-4483-A28A-51504C43A8E1}"/>
              </a:ext>
            </a:extLst>
          </p:cNvPr>
          <p:cNvSpPr>
            <a:spLocks noGrp="1" noChangeArrowheads="1"/>
          </p:cNvSpPr>
          <p:nvPr>
            <p:ph type="title"/>
          </p:nvPr>
        </p:nvSpPr>
        <p:spPr/>
        <p:txBody>
          <a:bodyPr/>
          <a:lstStyle/>
          <a:p>
            <a:r>
              <a:rPr lang="en-US" altLang="en-US"/>
              <a:t>Bottom-up versus top-down</a:t>
            </a:r>
          </a:p>
        </p:txBody>
      </p:sp>
      <p:sp>
        <p:nvSpPr>
          <p:cNvPr id="22533" name="Rectangle 3">
            <a:extLst>
              <a:ext uri="{FF2B5EF4-FFF2-40B4-BE49-F238E27FC236}">
                <a16:creationId xmlns:a16="http://schemas.microsoft.com/office/drawing/2014/main" id="{C92B3753-B264-4A83-8BB3-93178DC4625A}"/>
              </a:ext>
            </a:extLst>
          </p:cNvPr>
          <p:cNvSpPr>
            <a:spLocks noGrp="1" noChangeArrowheads="1"/>
          </p:cNvSpPr>
          <p:nvPr>
            <p:ph type="body" idx="1"/>
          </p:nvPr>
        </p:nvSpPr>
        <p:spPr/>
        <p:txBody>
          <a:bodyPr>
            <a:normAutofit fontScale="92500" lnSpcReduction="10000"/>
          </a:bodyPr>
          <a:lstStyle/>
          <a:p>
            <a:pPr>
              <a:lnSpc>
                <a:spcPct val="90000"/>
              </a:lnSpc>
            </a:pPr>
            <a:r>
              <a:rPr lang="en-US" altLang="en-US" dirty="0"/>
              <a:t>Bottom-up</a:t>
            </a:r>
          </a:p>
          <a:p>
            <a:pPr lvl="1">
              <a:lnSpc>
                <a:spcPct val="90000"/>
              </a:lnSpc>
            </a:pPr>
            <a:r>
              <a:rPr lang="en-US" altLang="en-US" sz="2800" dirty="0"/>
              <a:t>use when no past project data</a:t>
            </a:r>
          </a:p>
          <a:p>
            <a:pPr lvl="1">
              <a:lnSpc>
                <a:spcPct val="90000"/>
              </a:lnSpc>
            </a:pPr>
            <a:r>
              <a:rPr lang="en-US" altLang="en-US" sz="2800" dirty="0"/>
              <a:t>identify all tasks that have to be done – so quite time-consuming</a:t>
            </a:r>
          </a:p>
          <a:p>
            <a:pPr lvl="1">
              <a:lnSpc>
                <a:spcPct val="90000"/>
              </a:lnSpc>
            </a:pPr>
            <a:r>
              <a:rPr lang="en-US" altLang="en-US" sz="2800" dirty="0"/>
              <a:t>use when you have no data about similar past projects</a:t>
            </a:r>
          </a:p>
          <a:p>
            <a:pPr>
              <a:lnSpc>
                <a:spcPct val="90000"/>
              </a:lnSpc>
            </a:pPr>
            <a:r>
              <a:rPr lang="en-US" altLang="en-US" dirty="0"/>
              <a:t>Top-down</a:t>
            </a:r>
          </a:p>
          <a:p>
            <a:pPr lvl="1">
              <a:lnSpc>
                <a:spcPct val="90000"/>
              </a:lnSpc>
            </a:pPr>
            <a:r>
              <a:rPr lang="en-US" altLang="en-US" sz="2800" dirty="0"/>
              <a:t>produce overall estimate based on project cost drivers</a:t>
            </a:r>
          </a:p>
          <a:p>
            <a:pPr lvl="1">
              <a:lnSpc>
                <a:spcPct val="90000"/>
              </a:lnSpc>
            </a:pPr>
            <a:r>
              <a:rPr lang="en-US" altLang="en-US" sz="2800" dirty="0"/>
              <a:t>based on past project data</a:t>
            </a:r>
          </a:p>
          <a:p>
            <a:pPr lvl="1">
              <a:lnSpc>
                <a:spcPct val="90000"/>
              </a:lnSpc>
            </a:pPr>
            <a:r>
              <a:rPr lang="en-US" altLang="en-US" sz="2800" dirty="0"/>
              <a:t>divide overall estimate between jobs to be done</a:t>
            </a:r>
          </a:p>
        </p:txBody>
      </p:sp>
      <p:sp>
        <p:nvSpPr>
          <p:cNvPr id="2" name="Slide Number Placeholder 1">
            <a:extLst>
              <a:ext uri="{FF2B5EF4-FFF2-40B4-BE49-F238E27FC236}">
                <a16:creationId xmlns:a16="http://schemas.microsoft.com/office/drawing/2014/main" id="{6E2EAA06-91A1-44E2-B542-44F3E5B4B763}"/>
              </a:ext>
            </a:extLst>
          </p:cNvPr>
          <p:cNvSpPr>
            <a:spLocks noGrp="1"/>
          </p:cNvSpPr>
          <p:nvPr>
            <p:ph type="sldNum" sz="quarter" idx="12"/>
          </p:nvPr>
        </p:nvSpPr>
        <p:spPr/>
        <p:txBody>
          <a:bodyPr/>
          <a:lstStyle/>
          <a:p>
            <a:fld id="{60D6D740-8150-433F-9426-3FCFF681501A}" type="slidenum">
              <a:rPr lang="en-US" smtClean="0"/>
              <a:pPr/>
              <a:t>14</a:t>
            </a:fld>
            <a:endParaRPr lang="en-US" dirty="0"/>
          </a:p>
        </p:txBody>
      </p:sp>
    </p:spTree>
    <p:extLst>
      <p:ext uri="{BB962C8B-B14F-4D97-AF65-F5344CB8AC3E}">
        <p14:creationId xmlns:p14="http://schemas.microsoft.com/office/powerpoint/2010/main" val="3925705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a:extLst>
              <a:ext uri="{FF2B5EF4-FFF2-40B4-BE49-F238E27FC236}">
                <a16:creationId xmlns:a16="http://schemas.microsoft.com/office/drawing/2014/main" id="{0B076127-74AA-4B51-8B6C-845977BC7740}"/>
              </a:ext>
            </a:extLst>
          </p:cNvPr>
          <p:cNvSpPr>
            <a:spLocks noGrp="1" noChangeArrowheads="1"/>
          </p:cNvSpPr>
          <p:nvPr>
            <p:ph type="title"/>
          </p:nvPr>
        </p:nvSpPr>
        <p:spPr/>
        <p:txBody>
          <a:bodyPr/>
          <a:lstStyle/>
          <a:p>
            <a:r>
              <a:rPr lang="en-GB" altLang="en-US"/>
              <a:t>Expert judgement</a:t>
            </a:r>
          </a:p>
        </p:txBody>
      </p:sp>
      <p:sp>
        <p:nvSpPr>
          <p:cNvPr id="36869" name="Rectangle 3">
            <a:extLst>
              <a:ext uri="{FF2B5EF4-FFF2-40B4-BE49-F238E27FC236}">
                <a16:creationId xmlns:a16="http://schemas.microsoft.com/office/drawing/2014/main" id="{5B946D50-C7B4-4216-9839-880695453C85}"/>
              </a:ext>
            </a:extLst>
          </p:cNvPr>
          <p:cNvSpPr>
            <a:spLocks noGrp="1" noChangeArrowheads="1"/>
          </p:cNvSpPr>
          <p:nvPr>
            <p:ph type="body" idx="1"/>
          </p:nvPr>
        </p:nvSpPr>
        <p:spPr/>
        <p:txBody>
          <a:bodyPr/>
          <a:lstStyle/>
          <a:p>
            <a:r>
              <a:rPr lang="en-GB" altLang="en-US"/>
              <a:t>Asking someone who is familiar with and knowledgeable about the application area and the technologies to provide an estimate</a:t>
            </a:r>
          </a:p>
          <a:p>
            <a:r>
              <a:rPr lang="en-GB" altLang="en-US"/>
              <a:t>Particularly appropriate where existing code is to be modified</a:t>
            </a:r>
          </a:p>
          <a:p>
            <a:r>
              <a:rPr lang="en-GB" altLang="en-US"/>
              <a:t>Research shows that experts judgement in practice tends to be based on analogy</a:t>
            </a:r>
          </a:p>
        </p:txBody>
      </p:sp>
      <p:sp>
        <p:nvSpPr>
          <p:cNvPr id="2" name="Slide Number Placeholder 1">
            <a:extLst>
              <a:ext uri="{FF2B5EF4-FFF2-40B4-BE49-F238E27FC236}">
                <a16:creationId xmlns:a16="http://schemas.microsoft.com/office/drawing/2014/main" id="{33717CC2-F3A1-4BE8-8211-61291CFD098E}"/>
              </a:ext>
            </a:extLst>
          </p:cNvPr>
          <p:cNvSpPr>
            <a:spLocks noGrp="1"/>
          </p:cNvSpPr>
          <p:nvPr>
            <p:ph type="sldNum" sz="quarter" idx="12"/>
          </p:nvPr>
        </p:nvSpPr>
        <p:spPr/>
        <p:txBody>
          <a:bodyPr/>
          <a:lstStyle/>
          <a:p>
            <a:fld id="{60D6D740-8150-433F-9426-3FCFF681501A}" type="slidenum">
              <a:rPr lang="en-US" smtClean="0"/>
              <a:pPr/>
              <a:t>15</a:t>
            </a:fld>
            <a:endParaRPr lang="en-US" dirty="0"/>
          </a:p>
        </p:txBody>
      </p:sp>
    </p:spTree>
    <p:extLst>
      <p:ext uri="{BB962C8B-B14F-4D97-AF65-F5344CB8AC3E}">
        <p14:creationId xmlns:p14="http://schemas.microsoft.com/office/powerpoint/2010/main" val="3554105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B495384D-FF5D-493D-8DF6-97FD8E16CD0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2064B6F8-FC29-4605-86AA-18823AC756D3}" type="slidenum">
              <a:rPr lang="en-US" altLang="en-US" sz="1200"/>
              <a:pPr eaLnBrk="1" hangingPunct="1"/>
              <a:t>16</a:t>
            </a:fld>
            <a:endParaRPr lang="en-US" altLang="en-US" sz="1200"/>
          </a:p>
        </p:txBody>
      </p:sp>
      <p:sp>
        <p:nvSpPr>
          <p:cNvPr id="49155" name="Rectangle 2">
            <a:extLst>
              <a:ext uri="{FF2B5EF4-FFF2-40B4-BE49-F238E27FC236}">
                <a16:creationId xmlns:a16="http://schemas.microsoft.com/office/drawing/2014/main" id="{4DD619EB-2BA5-4314-A89F-CECF0B33632C}"/>
              </a:ext>
            </a:extLst>
          </p:cNvPr>
          <p:cNvSpPr>
            <a:spLocks noGrp="1" noChangeArrowheads="1"/>
          </p:cNvSpPr>
          <p:nvPr>
            <p:ph type="title"/>
          </p:nvPr>
        </p:nvSpPr>
        <p:spPr/>
        <p:txBody>
          <a:bodyPr/>
          <a:lstStyle/>
          <a:p>
            <a:pPr eaLnBrk="1" hangingPunct="1"/>
            <a:r>
              <a:rPr lang="en-US" altLang="en-US"/>
              <a:t>Estimation by Analogy</a:t>
            </a:r>
          </a:p>
        </p:txBody>
      </p:sp>
      <p:sp>
        <p:nvSpPr>
          <p:cNvPr id="399363" name="Rectangle 3">
            <a:extLst>
              <a:ext uri="{FF2B5EF4-FFF2-40B4-BE49-F238E27FC236}">
                <a16:creationId xmlns:a16="http://schemas.microsoft.com/office/drawing/2014/main" id="{1352DC56-9FB4-4DE6-9467-646E0ADE7E87}"/>
              </a:ext>
            </a:extLst>
          </p:cNvPr>
          <p:cNvSpPr>
            <a:spLocks noGrp="1" noChangeArrowheads="1"/>
          </p:cNvSpPr>
          <p:nvPr>
            <p:ph type="body" idx="1"/>
          </p:nvPr>
        </p:nvSpPr>
        <p:spPr/>
        <p:txBody>
          <a:bodyPr>
            <a:normAutofit lnSpcReduction="10000"/>
          </a:bodyPr>
          <a:lstStyle/>
          <a:p>
            <a:pPr eaLnBrk="1" hangingPunct="1">
              <a:lnSpc>
                <a:spcPct val="90000"/>
              </a:lnSpc>
            </a:pPr>
            <a:r>
              <a:rPr lang="en-US" altLang="en-US" sz="2800"/>
              <a:t>Use past project</a:t>
            </a:r>
          </a:p>
          <a:p>
            <a:pPr lvl="1" eaLnBrk="1" hangingPunct="1">
              <a:lnSpc>
                <a:spcPct val="90000"/>
              </a:lnSpc>
            </a:pPr>
            <a:r>
              <a:rPr lang="en-US" altLang="en-US" sz="2400"/>
              <a:t>Must be sufficiently similar (technology, type, organization)</a:t>
            </a:r>
          </a:p>
          <a:p>
            <a:pPr lvl="1" eaLnBrk="1" hangingPunct="1">
              <a:lnSpc>
                <a:spcPct val="90000"/>
              </a:lnSpc>
            </a:pPr>
            <a:r>
              <a:rPr lang="en-US" altLang="en-US" sz="2400"/>
              <a:t>Find comparable attributes (ex: # of inputs/outputs)</a:t>
            </a:r>
          </a:p>
          <a:p>
            <a:pPr lvl="1" eaLnBrk="1" hangingPunct="1">
              <a:lnSpc>
                <a:spcPct val="90000"/>
              </a:lnSpc>
            </a:pPr>
            <a:r>
              <a:rPr lang="en-US" altLang="en-US" sz="2400"/>
              <a:t>Can create a function</a:t>
            </a:r>
          </a:p>
          <a:p>
            <a:pPr eaLnBrk="1" hangingPunct="1">
              <a:lnSpc>
                <a:spcPct val="90000"/>
              </a:lnSpc>
            </a:pPr>
            <a:r>
              <a:rPr lang="en-US" altLang="en-US" sz="2800"/>
              <a:t>Advantages</a:t>
            </a:r>
          </a:p>
          <a:p>
            <a:pPr lvl="1" eaLnBrk="1" hangingPunct="1">
              <a:lnSpc>
                <a:spcPct val="90000"/>
              </a:lnSpc>
            </a:pPr>
            <a:r>
              <a:rPr lang="en-US" altLang="en-US" sz="2400"/>
              <a:t>Based on actual historical data</a:t>
            </a:r>
          </a:p>
          <a:p>
            <a:pPr eaLnBrk="1" hangingPunct="1">
              <a:lnSpc>
                <a:spcPct val="90000"/>
              </a:lnSpc>
            </a:pPr>
            <a:r>
              <a:rPr lang="en-US" altLang="en-US" sz="2800"/>
              <a:t>Disadvantages</a:t>
            </a:r>
          </a:p>
          <a:p>
            <a:pPr lvl="1" eaLnBrk="1" hangingPunct="1">
              <a:lnSpc>
                <a:spcPct val="90000"/>
              </a:lnSpc>
            </a:pPr>
            <a:r>
              <a:rPr lang="en-US" altLang="en-US" sz="2400"/>
              <a:t>Difficulty ‘matching’ project types</a:t>
            </a:r>
          </a:p>
          <a:p>
            <a:pPr lvl="1" eaLnBrk="1" hangingPunct="1">
              <a:lnSpc>
                <a:spcPct val="90000"/>
              </a:lnSpc>
            </a:pPr>
            <a:r>
              <a:rPr lang="en-US" altLang="en-US" sz="2400"/>
              <a:t>Prior data may have been mis-measured</a:t>
            </a:r>
          </a:p>
          <a:p>
            <a:pPr lvl="1" eaLnBrk="1" hangingPunct="1">
              <a:lnSpc>
                <a:spcPct val="90000"/>
              </a:lnSpc>
            </a:pPr>
            <a:r>
              <a:rPr lang="en-US" altLang="en-US" sz="2400"/>
              <a:t>How to measure differences – no two exactly same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93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9936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9936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99363">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39936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399363">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9936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39936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39936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39936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3"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a:extLst>
              <a:ext uri="{FF2B5EF4-FFF2-40B4-BE49-F238E27FC236}">
                <a16:creationId xmlns:a16="http://schemas.microsoft.com/office/drawing/2014/main" id="{5883C293-FD46-42B6-A3EA-A23CD840475C}"/>
              </a:ext>
            </a:extLst>
          </p:cNvPr>
          <p:cNvSpPr>
            <a:spLocks noGrp="1" noChangeArrowheads="1"/>
          </p:cNvSpPr>
          <p:nvPr>
            <p:ph type="title"/>
          </p:nvPr>
        </p:nvSpPr>
        <p:spPr/>
        <p:txBody>
          <a:bodyPr/>
          <a:lstStyle/>
          <a:p>
            <a:r>
              <a:rPr lang="en-US" altLang="en-US"/>
              <a:t>Estimating by analogy</a:t>
            </a:r>
          </a:p>
        </p:txBody>
      </p:sp>
      <p:sp>
        <p:nvSpPr>
          <p:cNvPr id="38917" name="Rectangle 3">
            <a:extLst>
              <a:ext uri="{FF2B5EF4-FFF2-40B4-BE49-F238E27FC236}">
                <a16:creationId xmlns:a16="http://schemas.microsoft.com/office/drawing/2014/main" id="{E2865D63-3B36-4E63-A250-0BC28BFF761F}"/>
              </a:ext>
            </a:extLst>
          </p:cNvPr>
          <p:cNvSpPr>
            <a:spLocks noChangeArrowheads="1"/>
          </p:cNvSpPr>
          <p:nvPr/>
        </p:nvSpPr>
        <p:spPr bwMode="auto">
          <a:xfrm>
            <a:off x="1447800" y="2209800"/>
            <a:ext cx="3124200" cy="33528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endParaRPr lang="en-GB" altLang="en-US" sz="2400">
              <a:latin typeface="Times New Roman" panose="02020603050405020304" pitchFamily="18" charset="0"/>
            </a:endParaRPr>
          </a:p>
        </p:txBody>
      </p:sp>
      <p:sp>
        <p:nvSpPr>
          <p:cNvPr id="38918" name="Line 4">
            <a:extLst>
              <a:ext uri="{FF2B5EF4-FFF2-40B4-BE49-F238E27FC236}">
                <a16:creationId xmlns:a16="http://schemas.microsoft.com/office/drawing/2014/main" id="{DE89F466-CF07-4539-BFA2-727298BE5688}"/>
              </a:ext>
            </a:extLst>
          </p:cNvPr>
          <p:cNvSpPr>
            <a:spLocks noChangeShapeType="1"/>
          </p:cNvSpPr>
          <p:nvPr/>
        </p:nvSpPr>
        <p:spPr bwMode="auto">
          <a:xfrm>
            <a:off x="1447800" y="2819400"/>
            <a:ext cx="3124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19" name="Line 5">
            <a:extLst>
              <a:ext uri="{FF2B5EF4-FFF2-40B4-BE49-F238E27FC236}">
                <a16:creationId xmlns:a16="http://schemas.microsoft.com/office/drawing/2014/main" id="{D0F37F13-F3B9-4575-9DE3-A786DA7E5F50}"/>
              </a:ext>
            </a:extLst>
          </p:cNvPr>
          <p:cNvSpPr>
            <a:spLocks noChangeShapeType="1"/>
          </p:cNvSpPr>
          <p:nvPr/>
        </p:nvSpPr>
        <p:spPr bwMode="auto">
          <a:xfrm>
            <a:off x="1447800" y="3429000"/>
            <a:ext cx="3124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20" name="Line 6">
            <a:extLst>
              <a:ext uri="{FF2B5EF4-FFF2-40B4-BE49-F238E27FC236}">
                <a16:creationId xmlns:a16="http://schemas.microsoft.com/office/drawing/2014/main" id="{C085D97D-61D1-4742-BD72-7A3552579FE8}"/>
              </a:ext>
            </a:extLst>
          </p:cNvPr>
          <p:cNvSpPr>
            <a:spLocks noChangeShapeType="1"/>
          </p:cNvSpPr>
          <p:nvPr/>
        </p:nvSpPr>
        <p:spPr bwMode="auto">
          <a:xfrm>
            <a:off x="1447800" y="3962400"/>
            <a:ext cx="3124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21" name="Line 7">
            <a:extLst>
              <a:ext uri="{FF2B5EF4-FFF2-40B4-BE49-F238E27FC236}">
                <a16:creationId xmlns:a16="http://schemas.microsoft.com/office/drawing/2014/main" id="{408B585B-BD3F-442F-80A4-A2D607EE55D5}"/>
              </a:ext>
            </a:extLst>
          </p:cNvPr>
          <p:cNvSpPr>
            <a:spLocks noChangeShapeType="1"/>
          </p:cNvSpPr>
          <p:nvPr/>
        </p:nvSpPr>
        <p:spPr bwMode="auto">
          <a:xfrm>
            <a:off x="1447800" y="4495800"/>
            <a:ext cx="3124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22" name="Line 8">
            <a:extLst>
              <a:ext uri="{FF2B5EF4-FFF2-40B4-BE49-F238E27FC236}">
                <a16:creationId xmlns:a16="http://schemas.microsoft.com/office/drawing/2014/main" id="{5B4AD217-FEC1-4443-9BC5-2A49C10C11FE}"/>
              </a:ext>
            </a:extLst>
          </p:cNvPr>
          <p:cNvSpPr>
            <a:spLocks noChangeShapeType="1"/>
          </p:cNvSpPr>
          <p:nvPr/>
        </p:nvSpPr>
        <p:spPr bwMode="auto">
          <a:xfrm>
            <a:off x="1447800" y="5029200"/>
            <a:ext cx="3124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23" name="Line 9">
            <a:extLst>
              <a:ext uri="{FF2B5EF4-FFF2-40B4-BE49-F238E27FC236}">
                <a16:creationId xmlns:a16="http://schemas.microsoft.com/office/drawing/2014/main" id="{7535FF06-C66F-4C0A-B54F-44F9C4C1DC8D}"/>
              </a:ext>
            </a:extLst>
          </p:cNvPr>
          <p:cNvSpPr>
            <a:spLocks noChangeShapeType="1"/>
          </p:cNvSpPr>
          <p:nvPr/>
        </p:nvSpPr>
        <p:spPr bwMode="auto">
          <a:xfrm>
            <a:off x="3505200" y="2209800"/>
            <a:ext cx="0" cy="3352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24" name="Text Box 10">
            <a:extLst>
              <a:ext uri="{FF2B5EF4-FFF2-40B4-BE49-F238E27FC236}">
                <a16:creationId xmlns:a16="http://schemas.microsoft.com/office/drawing/2014/main" id="{208DD471-C69E-44BA-AE1D-69413AEC8052}"/>
              </a:ext>
            </a:extLst>
          </p:cNvPr>
          <p:cNvSpPr txBox="1">
            <a:spLocks noChangeArrowheads="1"/>
          </p:cNvSpPr>
          <p:nvPr/>
        </p:nvSpPr>
        <p:spPr bwMode="auto">
          <a:xfrm>
            <a:off x="1447800" y="1676400"/>
            <a:ext cx="1793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a:t>source cases</a:t>
            </a:r>
          </a:p>
        </p:txBody>
      </p:sp>
      <p:sp>
        <p:nvSpPr>
          <p:cNvPr id="38925" name="Text Box 11">
            <a:extLst>
              <a:ext uri="{FF2B5EF4-FFF2-40B4-BE49-F238E27FC236}">
                <a16:creationId xmlns:a16="http://schemas.microsoft.com/office/drawing/2014/main" id="{4E722053-BF6B-420D-A47E-CB2B232F8021}"/>
              </a:ext>
            </a:extLst>
          </p:cNvPr>
          <p:cNvSpPr txBox="1">
            <a:spLocks noChangeArrowheads="1"/>
          </p:cNvSpPr>
          <p:nvPr/>
        </p:nvSpPr>
        <p:spPr bwMode="auto">
          <a:xfrm>
            <a:off x="1600200" y="3032125"/>
            <a:ext cx="190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a:t>attribute values</a:t>
            </a:r>
          </a:p>
        </p:txBody>
      </p:sp>
      <p:sp>
        <p:nvSpPr>
          <p:cNvPr id="38926" name="Text Box 12">
            <a:extLst>
              <a:ext uri="{FF2B5EF4-FFF2-40B4-BE49-F238E27FC236}">
                <a16:creationId xmlns:a16="http://schemas.microsoft.com/office/drawing/2014/main" id="{0515695F-9CB3-4360-BF5F-4D4BB210D7B6}"/>
              </a:ext>
            </a:extLst>
          </p:cNvPr>
          <p:cNvSpPr txBox="1">
            <a:spLocks noChangeArrowheads="1"/>
          </p:cNvSpPr>
          <p:nvPr/>
        </p:nvSpPr>
        <p:spPr bwMode="auto">
          <a:xfrm>
            <a:off x="3657600" y="2438400"/>
            <a:ext cx="760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a:t>effort</a:t>
            </a:r>
          </a:p>
        </p:txBody>
      </p:sp>
      <p:sp>
        <p:nvSpPr>
          <p:cNvPr id="38927" name="Rectangle 13">
            <a:extLst>
              <a:ext uri="{FF2B5EF4-FFF2-40B4-BE49-F238E27FC236}">
                <a16:creationId xmlns:a16="http://schemas.microsoft.com/office/drawing/2014/main" id="{4788BDA0-A60E-4B04-87BE-6D9783B51143}"/>
              </a:ext>
            </a:extLst>
          </p:cNvPr>
          <p:cNvSpPr>
            <a:spLocks noChangeArrowheads="1"/>
          </p:cNvSpPr>
          <p:nvPr/>
        </p:nvSpPr>
        <p:spPr bwMode="auto">
          <a:xfrm>
            <a:off x="5562600" y="3429000"/>
            <a:ext cx="2819400" cy="5334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ZA" altLang="en-US"/>
          </a:p>
        </p:txBody>
      </p:sp>
      <p:sp>
        <p:nvSpPr>
          <p:cNvPr id="38928" name="Line 14">
            <a:extLst>
              <a:ext uri="{FF2B5EF4-FFF2-40B4-BE49-F238E27FC236}">
                <a16:creationId xmlns:a16="http://schemas.microsoft.com/office/drawing/2014/main" id="{969408CF-2BBC-4DC4-9D62-AAAD81016396}"/>
              </a:ext>
            </a:extLst>
          </p:cNvPr>
          <p:cNvSpPr>
            <a:spLocks noChangeShapeType="1"/>
          </p:cNvSpPr>
          <p:nvPr/>
        </p:nvSpPr>
        <p:spPr bwMode="auto">
          <a:xfrm>
            <a:off x="7391400" y="3429000"/>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29" name="Text Box 15">
            <a:extLst>
              <a:ext uri="{FF2B5EF4-FFF2-40B4-BE49-F238E27FC236}">
                <a16:creationId xmlns:a16="http://schemas.microsoft.com/office/drawing/2014/main" id="{946C146D-EB15-4C35-B983-19F3DA74BD3B}"/>
              </a:ext>
            </a:extLst>
          </p:cNvPr>
          <p:cNvSpPr txBox="1">
            <a:spLocks noChangeArrowheads="1"/>
          </p:cNvSpPr>
          <p:nvPr/>
        </p:nvSpPr>
        <p:spPr bwMode="auto">
          <a:xfrm>
            <a:off x="5562600" y="3429000"/>
            <a:ext cx="190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a:t>attribute values</a:t>
            </a:r>
          </a:p>
        </p:txBody>
      </p:sp>
      <p:sp>
        <p:nvSpPr>
          <p:cNvPr id="38930" name="Text Box 16">
            <a:extLst>
              <a:ext uri="{FF2B5EF4-FFF2-40B4-BE49-F238E27FC236}">
                <a16:creationId xmlns:a16="http://schemas.microsoft.com/office/drawing/2014/main" id="{47C35541-3485-415F-BEC7-9E31B5358806}"/>
              </a:ext>
            </a:extLst>
          </p:cNvPr>
          <p:cNvSpPr txBox="1">
            <a:spLocks noChangeArrowheads="1"/>
          </p:cNvSpPr>
          <p:nvPr/>
        </p:nvSpPr>
        <p:spPr bwMode="auto">
          <a:xfrm>
            <a:off x="7391400" y="3429000"/>
            <a:ext cx="1033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a:t>
            </a:r>
            <a:endParaRPr lang="en-US" altLang="en-US" sz="2400">
              <a:latin typeface="Times New Roman" panose="02020603050405020304" pitchFamily="18" charset="0"/>
            </a:endParaRPr>
          </a:p>
        </p:txBody>
      </p:sp>
      <p:sp>
        <p:nvSpPr>
          <p:cNvPr id="38931" name="Text Box 17">
            <a:extLst>
              <a:ext uri="{FF2B5EF4-FFF2-40B4-BE49-F238E27FC236}">
                <a16:creationId xmlns:a16="http://schemas.microsoft.com/office/drawing/2014/main" id="{10806514-64DF-44B0-8023-C1C259BDFFA3}"/>
              </a:ext>
            </a:extLst>
          </p:cNvPr>
          <p:cNvSpPr txBox="1">
            <a:spLocks noChangeArrowheads="1"/>
          </p:cNvSpPr>
          <p:nvPr/>
        </p:nvSpPr>
        <p:spPr bwMode="auto">
          <a:xfrm>
            <a:off x="5410200" y="3032125"/>
            <a:ext cx="152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a:solidFill>
                  <a:schemeClr val="tx2"/>
                </a:solidFill>
              </a:rPr>
              <a:t>target case</a:t>
            </a:r>
          </a:p>
        </p:txBody>
      </p:sp>
      <p:sp>
        <p:nvSpPr>
          <p:cNvPr id="38932" name="Text Box 18">
            <a:extLst>
              <a:ext uri="{FF2B5EF4-FFF2-40B4-BE49-F238E27FC236}">
                <a16:creationId xmlns:a16="http://schemas.microsoft.com/office/drawing/2014/main" id="{C9D50C8C-3095-4C5A-8166-E3319160BBEA}"/>
              </a:ext>
            </a:extLst>
          </p:cNvPr>
          <p:cNvSpPr txBox="1">
            <a:spLocks noChangeArrowheads="1"/>
          </p:cNvSpPr>
          <p:nvPr/>
        </p:nvSpPr>
        <p:spPr bwMode="auto">
          <a:xfrm>
            <a:off x="1600200" y="2438400"/>
            <a:ext cx="190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a:t>attribute values</a:t>
            </a:r>
          </a:p>
        </p:txBody>
      </p:sp>
      <p:sp>
        <p:nvSpPr>
          <p:cNvPr id="38933" name="Text Box 19">
            <a:extLst>
              <a:ext uri="{FF2B5EF4-FFF2-40B4-BE49-F238E27FC236}">
                <a16:creationId xmlns:a16="http://schemas.microsoft.com/office/drawing/2014/main" id="{1744C5CC-7846-4F9D-83DC-1F2BA0F27D08}"/>
              </a:ext>
            </a:extLst>
          </p:cNvPr>
          <p:cNvSpPr txBox="1">
            <a:spLocks noChangeArrowheads="1"/>
          </p:cNvSpPr>
          <p:nvPr/>
        </p:nvSpPr>
        <p:spPr bwMode="auto">
          <a:xfrm>
            <a:off x="1524000" y="3429000"/>
            <a:ext cx="190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a:t>attribute values</a:t>
            </a:r>
          </a:p>
        </p:txBody>
      </p:sp>
      <p:sp>
        <p:nvSpPr>
          <p:cNvPr id="38934" name="Text Box 20">
            <a:extLst>
              <a:ext uri="{FF2B5EF4-FFF2-40B4-BE49-F238E27FC236}">
                <a16:creationId xmlns:a16="http://schemas.microsoft.com/office/drawing/2014/main" id="{F6B3DC4C-DC6D-4C4F-97DB-FDF957F0FEE0}"/>
              </a:ext>
            </a:extLst>
          </p:cNvPr>
          <p:cNvSpPr txBox="1">
            <a:spLocks noChangeArrowheads="1"/>
          </p:cNvSpPr>
          <p:nvPr/>
        </p:nvSpPr>
        <p:spPr bwMode="auto">
          <a:xfrm>
            <a:off x="1524000" y="4038600"/>
            <a:ext cx="190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a:t>attribute values</a:t>
            </a:r>
          </a:p>
        </p:txBody>
      </p:sp>
      <p:sp>
        <p:nvSpPr>
          <p:cNvPr id="38935" name="Text Box 21">
            <a:extLst>
              <a:ext uri="{FF2B5EF4-FFF2-40B4-BE49-F238E27FC236}">
                <a16:creationId xmlns:a16="http://schemas.microsoft.com/office/drawing/2014/main" id="{8226BA8C-0CB1-4A54-9245-0C0D55A36B62}"/>
              </a:ext>
            </a:extLst>
          </p:cNvPr>
          <p:cNvSpPr txBox="1">
            <a:spLocks noChangeArrowheads="1"/>
          </p:cNvSpPr>
          <p:nvPr/>
        </p:nvSpPr>
        <p:spPr bwMode="auto">
          <a:xfrm>
            <a:off x="1524000" y="4648200"/>
            <a:ext cx="190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a:t>attribute values</a:t>
            </a:r>
          </a:p>
        </p:txBody>
      </p:sp>
      <p:sp>
        <p:nvSpPr>
          <p:cNvPr id="38936" name="Text Box 22">
            <a:extLst>
              <a:ext uri="{FF2B5EF4-FFF2-40B4-BE49-F238E27FC236}">
                <a16:creationId xmlns:a16="http://schemas.microsoft.com/office/drawing/2014/main" id="{687126D2-CC88-404D-B762-1A5B9E563B70}"/>
              </a:ext>
            </a:extLst>
          </p:cNvPr>
          <p:cNvSpPr txBox="1">
            <a:spLocks noChangeArrowheads="1"/>
          </p:cNvSpPr>
          <p:nvPr/>
        </p:nvSpPr>
        <p:spPr bwMode="auto">
          <a:xfrm>
            <a:off x="1600200" y="5105400"/>
            <a:ext cx="190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a:t>attribute values</a:t>
            </a:r>
          </a:p>
        </p:txBody>
      </p:sp>
      <p:sp>
        <p:nvSpPr>
          <p:cNvPr id="38937" name="Text Box 23">
            <a:extLst>
              <a:ext uri="{FF2B5EF4-FFF2-40B4-BE49-F238E27FC236}">
                <a16:creationId xmlns:a16="http://schemas.microsoft.com/office/drawing/2014/main" id="{52B5E343-EF2F-43F2-967F-E8CCBAD0B021}"/>
              </a:ext>
            </a:extLst>
          </p:cNvPr>
          <p:cNvSpPr txBox="1">
            <a:spLocks noChangeArrowheads="1"/>
          </p:cNvSpPr>
          <p:nvPr/>
        </p:nvSpPr>
        <p:spPr bwMode="auto">
          <a:xfrm>
            <a:off x="3657600" y="3032125"/>
            <a:ext cx="760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a:t>effort</a:t>
            </a:r>
          </a:p>
        </p:txBody>
      </p:sp>
      <p:sp>
        <p:nvSpPr>
          <p:cNvPr id="38938" name="Text Box 24">
            <a:extLst>
              <a:ext uri="{FF2B5EF4-FFF2-40B4-BE49-F238E27FC236}">
                <a16:creationId xmlns:a16="http://schemas.microsoft.com/office/drawing/2014/main" id="{C88A21A0-13AC-48C1-8716-ACCE7479CFD4}"/>
              </a:ext>
            </a:extLst>
          </p:cNvPr>
          <p:cNvSpPr txBox="1">
            <a:spLocks noChangeArrowheads="1"/>
          </p:cNvSpPr>
          <p:nvPr/>
        </p:nvSpPr>
        <p:spPr bwMode="auto">
          <a:xfrm>
            <a:off x="3657600" y="3489325"/>
            <a:ext cx="760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a:t>effort</a:t>
            </a:r>
          </a:p>
        </p:txBody>
      </p:sp>
      <p:sp>
        <p:nvSpPr>
          <p:cNvPr id="38939" name="Text Box 25">
            <a:extLst>
              <a:ext uri="{FF2B5EF4-FFF2-40B4-BE49-F238E27FC236}">
                <a16:creationId xmlns:a16="http://schemas.microsoft.com/office/drawing/2014/main" id="{1DA8591D-610F-4122-86F5-CF3D67C3B055}"/>
              </a:ext>
            </a:extLst>
          </p:cNvPr>
          <p:cNvSpPr txBox="1">
            <a:spLocks noChangeArrowheads="1"/>
          </p:cNvSpPr>
          <p:nvPr/>
        </p:nvSpPr>
        <p:spPr bwMode="auto">
          <a:xfrm>
            <a:off x="3581400" y="4038600"/>
            <a:ext cx="760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a:t>effort</a:t>
            </a:r>
          </a:p>
        </p:txBody>
      </p:sp>
      <p:sp>
        <p:nvSpPr>
          <p:cNvPr id="38940" name="Text Box 26">
            <a:extLst>
              <a:ext uri="{FF2B5EF4-FFF2-40B4-BE49-F238E27FC236}">
                <a16:creationId xmlns:a16="http://schemas.microsoft.com/office/drawing/2014/main" id="{EAFC45A0-C6FD-4C3A-9063-16051B62A405}"/>
              </a:ext>
            </a:extLst>
          </p:cNvPr>
          <p:cNvSpPr txBox="1">
            <a:spLocks noChangeArrowheads="1"/>
          </p:cNvSpPr>
          <p:nvPr/>
        </p:nvSpPr>
        <p:spPr bwMode="auto">
          <a:xfrm>
            <a:off x="3582988" y="4587875"/>
            <a:ext cx="7604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a:t>effort</a:t>
            </a:r>
          </a:p>
        </p:txBody>
      </p:sp>
      <p:sp>
        <p:nvSpPr>
          <p:cNvPr id="38941" name="Text Box 27">
            <a:extLst>
              <a:ext uri="{FF2B5EF4-FFF2-40B4-BE49-F238E27FC236}">
                <a16:creationId xmlns:a16="http://schemas.microsoft.com/office/drawing/2014/main" id="{230CEE26-802C-4FBF-AA23-40EB93CFAA2E}"/>
              </a:ext>
            </a:extLst>
          </p:cNvPr>
          <p:cNvSpPr txBox="1">
            <a:spLocks noChangeArrowheads="1"/>
          </p:cNvSpPr>
          <p:nvPr/>
        </p:nvSpPr>
        <p:spPr bwMode="auto">
          <a:xfrm>
            <a:off x="3581400" y="5105400"/>
            <a:ext cx="760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a:t>effort</a:t>
            </a:r>
          </a:p>
        </p:txBody>
      </p:sp>
      <p:sp>
        <p:nvSpPr>
          <p:cNvPr id="38942" name="Line 28">
            <a:extLst>
              <a:ext uri="{FF2B5EF4-FFF2-40B4-BE49-F238E27FC236}">
                <a16:creationId xmlns:a16="http://schemas.microsoft.com/office/drawing/2014/main" id="{A08841DA-7F62-4831-83F1-3C8C756292BE}"/>
              </a:ext>
            </a:extLst>
          </p:cNvPr>
          <p:cNvSpPr>
            <a:spLocks noChangeShapeType="1"/>
          </p:cNvSpPr>
          <p:nvPr/>
        </p:nvSpPr>
        <p:spPr bwMode="auto">
          <a:xfrm rot="-5335983">
            <a:off x="6086475" y="2778125"/>
            <a:ext cx="20638" cy="3049588"/>
          </a:xfrm>
          <a:prstGeom prst="line">
            <a:avLst/>
          </a:prstGeom>
          <a:noFill/>
          <a:ln w="571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43" name="Line 29">
            <a:extLst>
              <a:ext uri="{FF2B5EF4-FFF2-40B4-BE49-F238E27FC236}">
                <a16:creationId xmlns:a16="http://schemas.microsoft.com/office/drawing/2014/main" id="{56C4FF14-4840-40C6-984D-5ECF2D31E009}"/>
              </a:ext>
            </a:extLst>
          </p:cNvPr>
          <p:cNvSpPr>
            <a:spLocks noChangeShapeType="1"/>
          </p:cNvSpPr>
          <p:nvPr/>
        </p:nvSpPr>
        <p:spPr bwMode="auto">
          <a:xfrm flipV="1">
            <a:off x="7600950" y="4033838"/>
            <a:ext cx="431800" cy="287337"/>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44" name="AutoShape 30">
            <a:extLst>
              <a:ext uri="{FF2B5EF4-FFF2-40B4-BE49-F238E27FC236}">
                <a16:creationId xmlns:a16="http://schemas.microsoft.com/office/drawing/2014/main" id="{C35997F2-64EC-408A-997E-759E88B99B32}"/>
              </a:ext>
            </a:extLst>
          </p:cNvPr>
          <p:cNvSpPr>
            <a:spLocks noChangeArrowheads="1"/>
          </p:cNvSpPr>
          <p:nvPr/>
        </p:nvSpPr>
        <p:spPr bwMode="auto">
          <a:xfrm>
            <a:off x="4932363" y="5013325"/>
            <a:ext cx="2895600" cy="1219200"/>
          </a:xfrm>
          <a:prstGeom prst="wedgeRectCallout">
            <a:avLst>
              <a:gd name="adj1" fmla="val -103125"/>
              <a:gd name="adj2" fmla="val -117579"/>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endParaRPr lang="en-GB" altLang="en-US" sz="2400">
              <a:latin typeface="Times New Roman" panose="02020603050405020304" pitchFamily="18" charset="0"/>
            </a:endParaRPr>
          </a:p>
        </p:txBody>
      </p:sp>
      <p:sp>
        <p:nvSpPr>
          <p:cNvPr id="38945" name="Text Box 31">
            <a:extLst>
              <a:ext uri="{FF2B5EF4-FFF2-40B4-BE49-F238E27FC236}">
                <a16:creationId xmlns:a16="http://schemas.microsoft.com/office/drawing/2014/main" id="{93E67F74-DAA3-4EC8-813D-45247F692B77}"/>
              </a:ext>
            </a:extLst>
          </p:cNvPr>
          <p:cNvSpPr txBox="1">
            <a:spLocks noChangeArrowheads="1"/>
          </p:cNvSpPr>
          <p:nvPr/>
        </p:nvSpPr>
        <p:spPr bwMode="auto">
          <a:xfrm>
            <a:off x="5148263" y="5013325"/>
            <a:ext cx="260032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latin typeface="Times New Roman" panose="02020603050405020304" pitchFamily="18" charset="0"/>
              </a:rPr>
              <a:t>Select case </a:t>
            </a:r>
          </a:p>
          <a:p>
            <a:r>
              <a:rPr lang="en-US" altLang="en-US" sz="2400">
                <a:latin typeface="Times New Roman" panose="02020603050405020304" pitchFamily="18" charset="0"/>
              </a:rPr>
              <a:t>with closet attribute</a:t>
            </a:r>
          </a:p>
          <a:p>
            <a:r>
              <a:rPr lang="en-US" altLang="en-US" sz="2400">
                <a:latin typeface="Times New Roman" panose="02020603050405020304" pitchFamily="18" charset="0"/>
              </a:rPr>
              <a:t>values</a:t>
            </a:r>
          </a:p>
        </p:txBody>
      </p:sp>
      <p:sp>
        <p:nvSpPr>
          <p:cNvPr id="38946" name="AutoShape 32">
            <a:extLst>
              <a:ext uri="{FF2B5EF4-FFF2-40B4-BE49-F238E27FC236}">
                <a16:creationId xmlns:a16="http://schemas.microsoft.com/office/drawing/2014/main" id="{C7318025-DB84-4546-87D0-F7EF93A47A8E}"/>
              </a:ext>
            </a:extLst>
          </p:cNvPr>
          <p:cNvSpPr>
            <a:spLocks noChangeArrowheads="1"/>
          </p:cNvSpPr>
          <p:nvPr/>
        </p:nvSpPr>
        <p:spPr bwMode="auto">
          <a:xfrm>
            <a:off x="6172200" y="1447800"/>
            <a:ext cx="2286000" cy="1219200"/>
          </a:xfrm>
          <a:prstGeom prst="wedgeRectCallout">
            <a:avLst>
              <a:gd name="adj1" fmla="val 23264"/>
              <a:gd name="adj2" fmla="val 123306"/>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endParaRPr lang="en-GB" altLang="en-US" sz="2400">
              <a:latin typeface="Times New Roman" panose="02020603050405020304" pitchFamily="18" charset="0"/>
            </a:endParaRPr>
          </a:p>
        </p:txBody>
      </p:sp>
      <p:sp>
        <p:nvSpPr>
          <p:cNvPr id="38947" name="Text Box 33">
            <a:extLst>
              <a:ext uri="{FF2B5EF4-FFF2-40B4-BE49-F238E27FC236}">
                <a16:creationId xmlns:a16="http://schemas.microsoft.com/office/drawing/2014/main" id="{F8C39A09-3771-4DD9-8B74-127C792BE1B7}"/>
              </a:ext>
            </a:extLst>
          </p:cNvPr>
          <p:cNvSpPr txBox="1">
            <a:spLocks noChangeArrowheads="1"/>
          </p:cNvSpPr>
          <p:nvPr/>
        </p:nvSpPr>
        <p:spPr bwMode="auto">
          <a:xfrm>
            <a:off x="6324600" y="1447800"/>
            <a:ext cx="205422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latin typeface="Times New Roman" panose="02020603050405020304" pitchFamily="18" charset="0"/>
              </a:rPr>
              <a:t>Use effort</a:t>
            </a:r>
          </a:p>
          <a:p>
            <a:r>
              <a:rPr lang="en-US" altLang="en-US" sz="2400">
                <a:latin typeface="Times New Roman" panose="02020603050405020304" pitchFamily="18" charset="0"/>
              </a:rPr>
              <a:t>from source as </a:t>
            </a:r>
          </a:p>
          <a:p>
            <a:r>
              <a:rPr lang="en-US" altLang="en-US" sz="2400">
                <a:latin typeface="Times New Roman" panose="02020603050405020304" pitchFamily="18" charset="0"/>
              </a:rPr>
              <a:t>estimate </a:t>
            </a:r>
          </a:p>
        </p:txBody>
      </p:sp>
      <p:sp>
        <p:nvSpPr>
          <p:cNvPr id="3" name="Slide Number Placeholder 2">
            <a:extLst>
              <a:ext uri="{FF2B5EF4-FFF2-40B4-BE49-F238E27FC236}">
                <a16:creationId xmlns:a16="http://schemas.microsoft.com/office/drawing/2014/main" id="{8F930ECB-043F-47F0-A925-F43D43D171C6}"/>
              </a:ext>
            </a:extLst>
          </p:cNvPr>
          <p:cNvSpPr>
            <a:spLocks noGrp="1"/>
          </p:cNvSpPr>
          <p:nvPr>
            <p:ph type="sldNum" sz="quarter" idx="12"/>
          </p:nvPr>
        </p:nvSpPr>
        <p:spPr/>
        <p:txBody>
          <a:bodyPr/>
          <a:lstStyle/>
          <a:p>
            <a:fld id="{CDE4BBE6-ABD8-4AAC-A679-4F37D73C8978}" type="slidenum">
              <a:rPr lang="en-US" smtClean="0"/>
              <a:t>17</a:t>
            </a:fld>
            <a:endParaRPr lang="en-US"/>
          </a:p>
        </p:txBody>
      </p:sp>
    </p:spTree>
    <p:extLst>
      <p:ext uri="{BB962C8B-B14F-4D97-AF65-F5344CB8AC3E}">
        <p14:creationId xmlns:p14="http://schemas.microsoft.com/office/powerpoint/2010/main" val="3201049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4" name="Rectangle 2">
            <a:extLst>
              <a:ext uri="{FF2B5EF4-FFF2-40B4-BE49-F238E27FC236}">
                <a16:creationId xmlns:a16="http://schemas.microsoft.com/office/drawing/2014/main" id="{474BB13E-F71A-4988-A6A3-A54F8D273794}"/>
              </a:ext>
            </a:extLst>
          </p:cNvPr>
          <p:cNvSpPr>
            <a:spLocks noGrp="1" noChangeArrowheads="1"/>
          </p:cNvSpPr>
          <p:nvPr>
            <p:ph type="title"/>
          </p:nvPr>
        </p:nvSpPr>
        <p:spPr/>
        <p:txBody>
          <a:bodyPr/>
          <a:lstStyle/>
          <a:p>
            <a:r>
              <a:rPr lang="en-US" altLang="en-US"/>
              <a:t>Stages: identify</a:t>
            </a:r>
          </a:p>
        </p:txBody>
      </p:sp>
      <p:sp>
        <p:nvSpPr>
          <p:cNvPr id="40965" name="Rectangle 3">
            <a:extLst>
              <a:ext uri="{FF2B5EF4-FFF2-40B4-BE49-F238E27FC236}">
                <a16:creationId xmlns:a16="http://schemas.microsoft.com/office/drawing/2014/main" id="{8A16325D-2D15-469F-B270-5C64F8A01BE5}"/>
              </a:ext>
            </a:extLst>
          </p:cNvPr>
          <p:cNvSpPr>
            <a:spLocks noGrp="1" noChangeArrowheads="1"/>
          </p:cNvSpPr>
          <p:nvPr>
            <p:ph type="body" idx="1"/>
          </p:nvPr>
        </p:nvSpPr>
        <p:spPr/>
        <p:txBody>
          <a:bodyPr/>
          <a:lstStyle/>
          <a:p>
            <a:r>
              <a:rPr lang="en-US" altLang="en-US"/>
              <a:t>Significant features of the current project</a:t>
            </a:r>
          </a:p>
          <a:p>
            <a:r>
              <a:rPr lang="en-US" altLang="en-US"/>
              <a:t>previous project(s) with similar features</a:t>
            </a:r>
          </a:p>
          <a:p>
            <a:r>
              <a:rPr lang="en-US" altLang="en-US"/>
              <a:t>differences between the current and previous projects</a:t>
            </a:r>
          </a:p>
          <a:p>
            <a:r>
              <a:rPr lang="en-US" altLang="en-US"/>
              <a:t>possible reasons for error (risk)</a:t>
            </a:r>
          </a:p>
          <a:p>
            <a:r>
              <a:rPr lang="en-US" altLang="en-US"/>
              <a:t>measures to reduce uncertainty</a:t>
            </a:r>
          </a:p>
          <a:p>
            <a:endParaRPr lang="en-US" altLang="en-US"/>
          </a:p>
        </p:txBody>
      </p:sp>
      <p:sp>
        <p:nvSpPr>
          <p:cNvPr id="2" name="Slide Number Placeholder 1">
            <a:extLst>
              <a:ext uri="{FF2B5EF4-FFF2-40B4-BE49-F238E27FC236}">
                <a16:creationId xmlns:a16="http://schemas.microsoft.com/office/drawing/2014/main" id="{517DD79F-DCFA-4B84-AC4F-4D169236F3F0}"/>
              </a:ext>
            </a:extLst>
          </p:cNvPr>
          <p:cNvSpPr>
            <a:spLocks noGrp="1"/>
          </p:cNvSpPr>
          <p:nvPr>
            <p:ph type="sldNum" sz="quarter" idx="12"/>
          </p:nvPr>
        </p:nvSpPr>
        <p:spPr/>
        <p:txBody>
          <a:bodyPr/>
          <a:lstStyle/>
          <a:p>
            <a:fld id="{60D6D740-8150-433F-9426-3FCFF681501A}" type="slidenum">
              <a:rPr lang="en-US" smtClean="0"/>
              <a:pPr/>
              <a:t>18</a:t>
            </a:fld>
            <a:endParaRPr lang="en-US" dirty="0"/>
          </a:p>
        </p:txBody>
      </p:sp>
    </p:spTree>
    <p:extLst>
      <p:ext uri="{BB962C8B-B14F-4D97-AF65-F5344CB8AC3E}">
        <p14:creationId xmlns:p14="http://schemas.microsoft.com/office/powerpoint/2010/main" val="3959770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Slide Number Placeholder 5">
            <a:extLst>
              <a:ext uri="{FF2B5EF4-FFF2-40B4-BE49-F238E27FC236}">
                <a16:creationId xmlns:a16="http://schemas.microsoft.com/office/drawing/2014/main" id="{4D299DA1-7249-47D0-AA74-F6F53A43F30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15711417-FE0A-4102-A7DD-14DBE93CA817}" type="slidenum">
              <a:rPr lang="en-US" altLang="en-US" sz="1200"/>
              <a:pPr eaLnBrk="1" hangingPunct="1"/>
              <a:t>19</a:t>
            </a:fld>
            <a:endParaRPr lang="en-US" altLang="en-US" sz="1200"/>
          </a:p>
        </p:txBody>
      </p:sp>
      <p:sp>
        <p:nvSpPr>
          <p:cNvPr id="50179" name="Rectangle 2">
            <a:extLst>
              <a:ext uri="{FF2B5EF4-FFF2-40B4-BE49-F238E27FC236}">
                <a16:creationId xmlns:a16="http://schemas.microsoft.com/office/drawing/2014/main" id="{7900FCB3-1751-42D1-936D-C9ADF0775B36}"/>
              </a:ext>
            </a:extLst>
          </p:cNvPr>
          <p:cNvSpPr>
            <a:spLocks noGrp="1" noChangeArrowheads="1"/>
          </p:cNvSpPr>
          <p:nvPr>
            <p:ph type="title"/>
          </p:nvPr>
        </p:nvSpPr>
        <p:spPr/>
        <p:txBody>
          <a:bodyPr/>
          <a:lstStyle/>
          <a:p>
            <a:pPr eaLnBrk="1" hangingPunct="1"/>
            <a:r>
              <a:rPr lang="en-US" altLang="en-US" dirty="0"/>
              <a:t>Priced to Win</a:t>
            </a:r>
          </a:p>
        </p:txBody>
      </p:sp>
      <p:sp>
        <p:nvSpPr>
          <p:cNvPr id="452611" name="Rectangle 3">
            <a:extLst>
              <a:ext uri="{FF2B5EF4-FFF2-40B4-BE49-F238E27FC236}">
                <a16:creationId xmlns:a16="http://schemas.microsoft.com/office/drawing/2014/main" id="{05AB2023-40F6-4DCF-9A11-BCA59AC715E2}"/>
              </a:ext>
            </a:extLst>
          </p:cNvPr>
          <p:cNvSpPr>
            <a:spLocks noGrp="1" noChangeArrowheads="1"/>
          </p:cNvSpPr>
          <p:nvPr>
            <p:ph type="body" idx="1"/>
          </p:nvPr>
        </p:nvSpPr>
        <p:spPr/>
        <p:txBody>
          <a:bodyPr/>
          <a:lstStyle/>
          <a:p>
            <a:pPr eaLnBrk="1" hangingPunct="1"/>
            <a:r>
              <a:rPr lang="en-US" altLang="en-US" dirty="0"/>
              <a:t>Just follow other estimates</a:t>
            </a:r>
          </a:p>
          <a:p>
            <a:pPr eaLnBrk="1" hangingPunct="1"/>
            <a:r>
              <a:rPr lang="en-US" altLang="en-US" dirty="0"/>
              <a:t>Save on doing full estimate</a:t>
            </a:r>
          </a:p>
          <a:p>
            <a:pPr eaLnBrk="1" hangingPunct="1"/>
            <a:r>
              <a:rPr lang="en-US" altLang="en-US" dirty="0"/>
              <a:t>Needs information on other estimates (or prices)</a:t>
            </a:r>
          </a:p>
          <a:p>
            <a:pPr eaLnBrk="1" hangingPunct="1"/>
            <a:r>
              <a:rPr lang="en-US" altLang="en-US" dirty="0"/>
              <a:t>Purchaser must closely watch trade-offs</a:t>
            </a:r>
          </a:p>
          <a:p>
            <a:pPr eaLnBrk="1" hangingPunct="1"/>
            <a:r>
              <a:rPr lang="en-US" altLang="en-US" dirty="0"/>
              <a:t>Priced to lose?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26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526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526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526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526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1"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F1729-BD34-04B5-0C39-AF6CE4E7EF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38D5FA-9E9D-05F6-DAF0-5D829E93F976}"/>
              </a:ext>
            </a:extLst>
          </p:cNvPr>
          <p:cNvSpPr>
            <a:spLocks noGrp="1"/>
          </p:cNvSpPr>
          <p:nvPr>
            <p:ph type="title"/>
          </p:nvPr>
        </p:nvSpPr>
        <p:spPr/>
        <p:txBody>
          <a:bodyPr/>
          <a:lstStyle/>
          <a:p>
            <a:r>
              <a:rPr lang="en-US" dirty="0">
                <a:highlight>
                  <a:srgbClr val="FFFF00"/>
                </a:highlight>
              </a:rPr>
              <a:t>Over</a:t>
            </a:r>
            <a:r>
              <a:rPr lang="en-US" dirty="0"/>
              <a:t> and under-estimating</a:t>
            </a:r>
          </a:p>
        </p:txBody>
      </p:sp>
      <p:sp>
        <p:nvSpPr>
          <p:cNvPr id="4" name="Slide Number Placeholder 3">
            <a:extLst>
              <a:ext uri="{FF2B5EF4-FFF2-40B4-BE49-F238E27FC236}">
                <a16:creationId xmlns:a16="http://schemas.microsoft.com/office/drawing/2014/main" id="{91D333E4-A688-BFA0-B9F9-445FC32EE480}"/>
              </a:ext>
            </a:extLst>
          </p:cNvPr>
          <p:cNvSpPr>
            <a:spLocks noGrp="1"/>
          </p:cNvSpPr>
          <p:nvPr>
            <p:ph type="sldNum" sz="quarter" idx="12"/>
          </p:nvPr>
        </p:nvSpPr>
        <p:spPr/>
        <p:txBody>
          <a:bodyPr/>
          <a:lstStyle/>
          <a:p>
            <a:fld id="{60D6D740-8150-433F-9426-3FCFF681501A}" type="slidenum">
              <a:rPr lang="en-US" smtClean="0"/>
              <a:pPr/>
              <a:t>20</a:t>
            </a:fld>
            <a:endParaRPr lang="en-US" dirty="0"/>
          </a:p>
        </p:txBody>
      </p:sp>
      <p:sp>
        <p:nvSpPr>
          <p:cNvPr id="5" name="Rectangle 3">
            <a:extLst>
              <a:ext uri="{FF2B5EF4-FFF2-40B4-BE49-F238E27FC236}">
                <a16:creationId xmlns:a16="http://schemas.microsoft.com/office/drawing/2014/main" id="{CE095B5A-7901-7066-F76A-A195D715C1D9}"/>
              </a:ext>
            </a:extLst>
          </p:cNvPr>
          <p:cNvSpPr txBox="1">
            <a:spLocks noChangeArrowheads="1"/>
          </p:cNvSpPr>
          <p:nvPr/>
        </p:nvSpPr>
        <p:spPr>
          <a:xfrm>
            <a:off x="628650" y="1990252"/>
            <a:ext cx="3598863" cy="40195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highlight>
                  <a:srgbClr val="FFFF00"/>
                </a:highlight>
              </a:rPr>
              <a:t>Parkinson’s Law</a:t>
            </a:r>
            <a:r>
              <a:rPr lang="en-US" altLang="en-US" dirty="0"/>
              <a:t>: ‘Work expands to fill the time available’</a:t>
            </a:r>
          </a:p>
          <a:p>
            <a:r>
              <a:rPr lang="en-US" altLang="en-US" dirty="0"/>
              <a:t>An over-estimate is likely to cause project to take longer than it would otherwise</a:t>
            </a:r>
          </a:p>
        </p:txBody>
      </p:sp>
      <p:sp>
        <p:nvSpPr>
          <p:cNvPr id="6" name="Rectangle 4">
            <a:extLst>
              <a:ext uri="{FF2B5EF4-FFF2-40B4-BE49-F238E27FC236}">
                <a16:creationId xmlns:a16="http://schemas.microsoft.com/office/drawing/2014/main" id="{836E4739-988C-2C95-4011-DDFE89B9D969}"/>
              </a:ext>
            </a:extLst>
          </p:cNvPr>
          <p:cNvSpPr txBox="1">
            <a:spLocks noChangeArrowheads="1"/>
          </p:cNvSpPr>
          <p:nvPr/>
        </p:nvSpPr>
        <p:spPr>
          <a:xfrm>
            <a:off x="4658518" y="1990252"/>
            <a:ext cx="3598863" cy="401955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highlight>
                  <a:srgbClr val="FFFF00"/>
                </a:highlight>
              </a:rPr>
              <a:t>Weinberg’s Zeroth </a:t>
            </a:r>
            <a:r>
              <a:rPr lang="en-US" altLang="en-US" dirty="0"/>
              <a:t>Law of reliability: ‘</a:t>
            </a:r>
            <a:r>
              <a:rPr lang="en-GB" altLang="en-US" dirty="0"/>
              <a:t>if a system does not have to be reliable, it can meet any other objective</a:t>
            </a:r>
            <a:r>
              <a:rPr lang="en-US" altLang="en-US" dirty="0"/>
              <a:t>’</a:t>
            </a:r>
          </a:p>
          <a:p>
            <a:endParaRPr lang="en-US" altLang="en-US" dirty="0"/>
          </a:p>
        </p:txBody>
      </p:sp>
    </p:spTree>
    <p:extLst>
      <p:ext uri="{BB962C8B-B14F-4D97-AF65-F5344CB8AC3E}">
        <p14:creationId xmlns:p14="http://schemas.microsoft.com/office/powerpoint/2010/main" val="2749265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iterate type="lt">
                                    <p:tmPct val="100000"/>
                                  </p:iterate>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75"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75" fill="hold"/>
                                        <p:tgtEl>
                                          <p:spTgt spid="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LASER.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iterate type="lt">
                                    <p:tmPct val="100000"/>
                                  </p:iterate>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75"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14" dur="75" fill="hold"/>
                                        <p:tgtEl>
                                          <p:spTgt spid="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LASER.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iterate type="lt">
                                    <p:tmPct val="100000"/>
                                  </p:iterate>
                                  <p:childTnLst>
                                    <p:set>
                                      <p:cBhvr>
                                        <p:cTn id="18" dur="1" fill="hold">
                                          <p:stCondLst>
                                            <p:cond delay="0"/>
                                          </p:stCondLst>
                                        </p:cTn>
                                        <p:tgtEl>
                                          <p:spTgt spid="6">
                                            <p:txEl>
                                              <p:pRg st="0" end="0"/>
                                            </p:txEl>
                                          </p:spTgt>
                                        </p:tgtEl>
                                        <p:attrNameLst>
                                          <p:attrName>style.visibility</p:attrName>
                                        </p:attrNameLst>
                                      </p:cBhvr>
                                      <p:to>
                                        <p:strVal val="visible"/>
                                      </p:to>
                                    </p:set>
                                    <p:anim calcmode="lin" valueType="num">
                                      <p:cBhvr additive="base">
                                        <p:cTn id="19" dur="75"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20" dur="75" fill="hold"/>
                                        <p:tgtEl>
                                          <p:spTgt spid="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6"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42D0095-8001-1B58-D608-EA0AC4B28998}"/>
            </a:ext>
          </a:extLst>
        </p:cNvPr>
        <p:cNvGrpSpPr/>
        <p:nvPr/>
      </p:nvGrpSpPr>
      <p:grpSpPr>
        <a:xfrm>
          <a:off x="0" y="0"/>
          <a:ext cx="0" cy="0"/>
          <a:chOff x="0" y="0"/>
          <a:chExt cx="0" cy="0"/>
        </a:xfrm>
      </p:grpSpPr>
      <p:sp>
        <p:nvSpPr>
          <p:cNvPr id="63490" name="Slide Number Placeholder 5">
            <a:extLst>
              <a:ext uri="{FF2B5EF4-FFF2-40B4-BE49-F238E27FC236}">
                <a16:creationId xmlns:a16="http://schemas.microsoft.com/office/drawing/2014/main" id="{F0E5D95D-D800-1C95-DF05-560CA3B382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A1A5F135-4ED7-4038-A641-285E0E23C712}" type="slidenum">
              <a:rPr lang="en-US" altLang="en-US" sz="1200"/>
              <a:pPr eaLnBrk="1" hangingPunct="1"/>
              <a:t>21</a:t>
            </a:fld>
            <a:endParaRPr lang="en-US" altLang="en-US" sz="1200"/>
          </a:p>
        </p:txBody>
      </p:sp>
      <p:sp>
        <p:nvSpPr>
          <p:cNvPr id="63491" name="Rectangle 2">
            <a:extLst>
              <a:ext uri="{FF2B5EF4-FFF2-40B4-BE49-F238E27FC236}">
                <a16:creationId xmlns:a16="http://schemas.microsoft.com/office/drawing/2014/main" id="{5873526E-F194-508A-28BE-55D626197141}"/>
              </a:ext>
            </a:extLst>
          </p:cNvPr>
          <p:cNvSpPr>
            <a:spLocks noGrp="1" noChangeArrowheads="1"/>
          </p:cNvSpPr>
          <p:nvPr>
            <p:ph type="title"/>
          </p:nvPr>
        </p:nvSpPr>
        <p:spPr/>
        <p:txBody>
          <a:bodyPr/>
          <a:lstStyle/>
          <a:p>
            <a:pPr eaLnBrk="1" hangingPunct="1"/>
            <a:r>
              <a:rPr lang="en-US" altLang="en-US" sz="4000"/>
              <a:t>Over and Under Estimation</a:t>
            </a:r>
          </a:p>
        </p:txBody>
      </p:sp>
      <p:sp>
        <p:nvSpPr>
          <p:cNvPr id="443395" name="Rectangle 3">
            <a:extLst>
              <a:ext uri="{FF2B5EF4-FFF2-40B4-BE49-F238E27FC236}">
                <a16:creationId xmlns:a16="http://schemas.microsoft.com/office/drawing/2014/main" id="{EAB9358E-C940-EBC5-C43A-548201D7C5F0}"/>
              </a:ext>
            </a:extLst>
          </p:cNvPr>
          <p:cNvSpPr>
            <a:spLocks noGrp="1" noChangeArrowheads="1"/>
          </p:cNvSpPr>
          <p:nvPr>
            <p:ph type="body" idx="1"/>
          </p:nvPr>
        </p:nvSpPr>
        <p:spPr>
          <a:xfrm>
            <a:off x="628650" y="1690689"/>
            <a:ext cx="7886700" cy="4351338"/>
          </a:xfrm>
        </p:spPr>
        <p:txBody>
          <a:bodyPr>
            <a:noAutofit/>
          </a:bodyPr>
          <a:lstStyle/>
          <a:p>
            <a:pPr eaLnBrk="1" hangingPunct="1">
              <a:lnSpc>
                <a:spcPct val="100000"/>
              </a:lnSpc>
            </a:pPr>
            <a:r>
              <a:rPr lang="en-US" altLang="en-US" dirty="0"/>
              <a:t>Over estimation issues</a:t>
            </a:r>
          </a:p>
          <a:p>
            <a:pPr lvl="1" eaLnBrk="1" hangingPunct="1">
              <a:lnSpc>
                <a:spcPct val="100000"/>
              </a:lnSpc>
            </a:pPr>
            <a:r>
              <a:rPr lang="en-US" altLang="en-US" dirty="0"/>
              <a:t>The project will not be funded</a:t>
            </a:r>
          </a:p>
          <a:p>
            <a:pPr lvl="2" eaLnBrk="1" hangingPunct="1">
              <a:lnSpc>
                <a:spcPct val="100000"/>
              </a:lnSpc>
            </a:pPr>
            <a:r>
              <a:rPr lang="en-US" altLang="en-US" dirty="0"/>
              <a:t>Conservative estimates guaranteeing 100% success may mean funding probability of zero.</a:t>
            </a:r>
          </a:p>
          <a:p>
            <a:pPr lvl="1" eaLnBrk="1" hangingPunct="1">
              <a:lnSpc>
                <a:spcPct val="100000"/>
              </a:lnSpc>
            </a:pPr>
            <a:r>
              <a:rPr lang="en-US" altLang="en-US" dirty="0"/>
              <a:t>Parkinson’s Law: Work expands to take the time allowed</a:t>
            </a:r>
          </a:p>
          <a:p>
            <a:pPr lvl="1" eaLnBrk="1" hangingPunct="1">
              <a:lnSpc>
                <a:spcPct val="100000"/>
              </a:lnSpc>
            </a:pPr>
            <a:r>
              <a:rPr lang="en-US" altLang="en-US" dirty="0"/>
              <a:t>Danger of feature and scope creep</a:t>
            </a:r>
          </a:p>
          <a:p>
            <a:pPr lvl="1" eaLnBrk="1" hangingPunct="1">
              <a:lnSpc>
                <a:spcPct val="100000"/>
              </a:lnSpc>
            </a:pPr>
            <a:r>
              <a:rPr lang="en-US" altLang="en-US" dirty="0"/>
              <a:t>Be aware of “double-padding”: team member + manager</a:t>
            </a:r>
          </a:p>
          <a:p>
            <a:pPr eaLnBrk="1" hangingPunct="1">
              <a:lnSpc>
                <a:spcPct val="100000"/>
              </a:lnSpc>
            </a:pPr>
            <a:r>
              <a:rPr lang="en-US" altLang="en-US" dirty="0"/>
              <a:t>Under estimation issues</a:t>
            </a:r>
          </a:p>
          <a:p>
            <a:pPr lvl="1" eaLnBrk="1" hangingPunct="1">
              <a:lnSpc>
                <a:spcPct val="100000"/>
              </a:lnSpc>
            </a:pPr>
            <a:r>
              <a:rPr lang="en-US" altLang="en-US" dirty="0"/>
              <a:t>Quality issues (short changing key phases like testing)</a:t>
            </a:r>
          </a:p>
          <a:p>
            <a:pPr lvl="1" eaLnBrk="1" hangingPunct="1">
              <a:lnSpc>
                <a:spcPct val="100000"/>
              </a:lnSpc>
            </a:pPr>
            <a:r>
              <a:rPr lang="en-US" altLang="en-US" dirty="0"/>
              <a:t>Inability to meet deadlines</a:t>
            </a:r>
          </a:p>
          <a:p>
            <a:pPr lvl="1" eaLnBrk="1" hangingPunct="1">
              <a:lnSpc>
                <a:spcPct val="100000"/>
              </a:lnSpc>
            </a:pPr>
            <a:r>
              <a:rPr lang="en-US" altLang="en-US" dirty="0"/>
              <a:t>Morale and other team motivation issues</a:t>
            </a:r>
            <a:endParaRPr lang="en-US" altLang="en-US" sz="2800" dirty="0"/>
          </a:p>
        </p:txBody>
      </p:sp>
    </p:spTree>
    <p:extLst>
      <p:ext uri="{BB962C8B-B14F-4D97-AF65-F5344CB8AC3E}">
        <p14:creationId xmlns:p14="http://schemas.microsoft.com/office/powerpoint/2010/main" val="7621704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33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44339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44339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44339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44339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443395">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44339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443395">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443395">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44339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395"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a:extLst>
              <a:ext uri="{FF2B5EF4-FFF2-40B4-BE49-F238E27FC236}">
                <a16:creationId xmlns:a16="http://schemas.microsoft.com/office/drawing/2014/main" id="{52B9DCED-09BE-4D19-BF16-9BCB8AC5B122}"/>
              </a:ext>
            </a:extLst>
          </p:cNvPr>
          <p:cNvSpPr>
            <a:spLocks noGrp="1" noChangeArrowheads="1"/>
          </p:cNvSpPr>
          <p:nvPr>
            <p:ph type="title"/>
          </p:nvPr>
        </p:nvSpPr>
        <p:spPr/>
        <p:txBody>
          <a:bodyPr/>
          <a:lstStyle/>
          <a:p>
            <a:r>
              <a:rPr lang="en-US" altLang="en-US"/>
              <a:t>Algorithmic/Parametric models</a:t>
            </a:r>
          </a:p>
        </p:txBody>
      </p:sp>
      <p:sp>
        <p:nvSpPr>
          <p:cNvPr id="28677" name="Rectangle 3">
            <a:extLst>
              <a:ext uri="{FF2B5EF4-FFF2-40B4-BE49-F238E27FC236}">
                <a16:creationId xmlns:a16="http://schemas.microsoft.com/office/drawing/2014/main" id="{8D946F29-55D4-4604-BDCA-23B9E353E6D4}"/>
              </a:ext>
            </a:extLst>
          </p:cNvPr>
          <p:cNvSpPr>
            <a:spLocks noGrp="1" noChangeArrowheads="1"/>
          </p:cNvSpPr>
          <p:nvPr>
            <p:ph type="body" idx="1"/>
          </p:nvPr>
        </p:nvSpPr>
        <p:spPr>
          <a:xfrm>
            <a:off x="684213" y="1700213"/>
            <a:ext cx="7772400" cy="1881187"/>
          </a:xfrm>
        </p:spPr>
        <p:txBody>
          <a:bodyPr/>
          <a:lstStyle/>
          <a:p>
            <a:r>
              <a:rPr lang="en-US" altLang="en-US"/>
              <a:t>COCOMO (lines of code) and function points examples of these</a:t>
            </a:r>
          </a:p>
          <a:p>
            <a:r>
              <a:rPr lang="en-US" altLang="en-US"/>
              <a:t>Problem with COCOMO etc:</a:t>
            </a:r>
          </a:p>
        </p:txBody>
      </p:sp>
      <p:sp>
        <p:nvSpPr>
          <p:cNvPr id="28678" name="Rectangle 4">
            <a:extLst>
              <a:ext uri="{FF2B5EF4-FFF2-40B4-BE49-F238E27FC236}">
                <a16:creationId xmlns:a16="http://schemas.microsoft.com/office/drawing/2014/main" id="{9F5BB7E9-A80B-4DF7-984E-F7BB556410B4}"/>
              </a:ext>
            </a:extLst>
          </p:cNvPr>
          <p:cNvSpPr>
            <a:spLocks noChangeArrowheads="1"/>
          </p:cNvSpPr>
          <p:nvPr/>
        </p:nvSpPr>
        <p:spPr bwMode="auto">
          <a:xfrm>
            <a:off x="1258888" y="3500438"/>
            <a:ext cx="1676400" cy="762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a:t>guess</a:t>
            </a:r>
          </a:p>
        </p:txBody>
      </p:sp>
      <p:sp>
        <p:nvSpPr>
          <p:cNvPr id="28679" name="Rectangle 5">
            <a:extLst>
              <a:ext uri="{FF2B5EF4-FFF2-40B4-BE49-F238E27FC236}">
                <a16:creationId xmlns:a16="http://schemas.microsoft.com/office/drawing/2014/main" id="{A2A71628-1A37-4566-AB87-D37C7409E610}"/>
              </a:ext>
            </a:extLst>
          </p:cNvPr>
          <p:cNvSpPr>
            <a:spLocks noChangeArrowheads="1"/>
          </p:cNvSpPr>
          <p:nvPr/>
        </p:nvSpPr>
        <p:spPr bwMode="auto">
          <a:xfrm>
            <a:off x="3468688" y="3500438"/>
            <a:ext cx="1905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a:t>algorithm</a:t>
            </a:r>
          </a:p>
        </p:txBody>
      </p:sp>
      <p:sp>
        <p:nvSpPr>
          <p:cNvPr id="28680" name="Rectangle 6">
            <a:extLst>
              <a:ext uri="{FF2B5EF4-FFF2-40B4-BE49-F238E27FC236}">
                <a16:creationId xmlns:a16="http://schemas.microsoft.com/office/drawing/2014/main" id="{E72D1B53-58D9-428C-AFE5-4266D20BF289}"/>
              </a:ext>
            </a:extLst>
          </p:cNvPr>
          <p:cNvSpPr>
            <a:spLocks noChangeArrowheads="1"/>
          </p:cNvSpPr>
          <p:nvPr/>
        </p:nvSpPr>
        <p:spPr bwMode="auto">
          <a:xfrm>
            <a:off x="5907088" y="3500438"/>
            <a:ext cx="1905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a:t>estimate</a:t>
            </a:r>
          </a:p>
        </p:txBody>
      </p:sp>
      <p:sp>
        <p:nvSpPr>
          <p:cNvPr id="28681" name="Line 7">
            <a:extLst>
              <a:ext uri="{FF2B5EF4-FFF2-40B4-BE49-F238E27FC236}">
                <a16:creationId xmlns:a16="http://schemas.microsoft.com/office/drawing/2014/main" id="{697E54A1-F433-409C-A361-6CB11425E3CE}"/>
              </a:ext>
            </a:extLst>
          </p:cNvPr>
          <p:cNvSpPr>
            <a:spLocks noChangeShapeType="1"/>
          </p:cNvSpPr>
          <p:nvPr/>
        </p:nvSpPr>
        <p:spPr bwMode="auto">
          <a:xfrm>
            <a:off x="2935288" y="3881438"/>
            <a:ext cx="533400" cy="0"/>
          </a:xfrm>
          <a:prstGeom prst="line">
            <a:avLst/>
          </a:prstGeom>
          <a:noFill/>
          <a:ln w="190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82" name="Line 8">
            <a:extLst>
              <a:ext uri="{FF2B5EF4-FFF2-40B4-BE49-F238E27FC236}">
                <a16:creationId xmlns:a16="http://schemas.microsoft.com/office/drawing/2014/main" id="{30428AD1-EA48-4EDD-898C-21ADDD09DFE4}"/>
              </a:ext>
            </a:extLst>
          </p:cNvPr>
          <p:cNvSpPr>
            <a:spLocks noChangeShapeType="1"/>
          </p:cNvSpPr>
          <p:nvPr/>
        </p:nvSpPr>
        <p:spPr bwMode="auto">
          <a:xfrm>
            <a:off x="5373688" y="3881438"/>
            <a:ext cx="533400" cy="0"/>
          </a:xfrm>
          <a:prstGeom prst="line">
            <a:avLst/>
          </a:prstGeom>
          <a:noFill/>
          <a:ln w="190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83" name="Text Box 10">
            <a:extLst>
              <a:ext uri="{FF2B5EF4-FFF2-40B4-BE49-F238E27FC236}">
                <a16:creationId xmlns:a16="http://schemas.microsoft.com/office/drawing/2014/main" id="{4F2B3AE2-0E96-453C-9DAA-EB54CC6A5B55}"/>
              </a:ext>
            </a:extLst>
          </p:cNvPr>
          <p:cNvSpPr txBox="1">
            <a:spLocks noChangeArrowheads="1"/>
          </p:cNvSpPr>
          <p:nvPr/>
        </p:nvSpPr>
        <p:spPr bwMode="auto">
          <a:xfrm>
            <a:off x="1355725" y="4500563"/>
            <a:ext cx="39735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3200">
                <a:solidFill>
                  <a:schemeClr val="tx2"/>
                </a:solidFill>
              </a:rPr>
              <a:t>but what is desired is</a:t>
            </a:r>
          </a:p>
        </p:txBody>
      </p:sp>
      <p:sp>
        <p:nvSpPr>
          <p:cNvPr id="28684" name="Rectangle 11">
            <a:extLst>
              <a:ext uri="{FF2B5EF4-FFF2-40B4-BE49-F238E27FC236}">
                <a16:creationId xmlns:a16="http://schemas.microsoft.com/office/drawing/2014/main" id="{3005545B-B64E-4509-9BB1-573E4D23F063}"/>
              </a:ext>
            </a:extLst>
          </p:cNvPr>
          <p:cNvSpPr>
            <a:spLocks noChangeArrowheads="1"/>
          </p:cNvSpPr>
          <p:nvPr/>
        </p:nvSpPr>
        <p:spPr bwMode="auto">
          <a:xfrm>
            <a:off x="1219200" y="5486400"/>
            <a:ext cx="18288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a:t>system</a:t>
            </a:r>
          </a:p>
          <a:p>
            <a:pPr algn="ctr"/>
            <a:r>
              <a:rPr lang="en-US" altLang="en-US" sz="2400"/>
              <a:t>characteristic</a:t>
            </a:r>
          </a:p>
        </p:txBody>
      </p:sp>
      <p:sp>
        <p:nvSpPr>
          <p:cNvPr id="28685" name="Rectangle 12">
            <a:extLst>
              <a:ext uri="{FF2B5EF4-FFF2-40B4-BE49-F238E27FC236}">
                <a16:creationId xmlns:a16="http://schemas.microsoft.com/office/drawing/2014/main" id="{BB34B47E-BDEC-4BB6-88F3-D67CFDF915C9}"/>
              </a:ext>
            </a:extLst>
          </p:cNvPr>
          <p:cNvSpPr>
            <a:spLocks noChangeArrowheads="1"/>
          </p:cNvSpPr>
          <p:nvPr/>
        </p:nvSpPr>
        <p:spPr bwMode="auto">
          <a:xfrm>
            <a:off x="3733800" y="5562600"/>
            <a:ext cx="1905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a:t>algorithm</a:t>
            </a:r>
          </a:p>
        </p:txBody>
      </p:sp>
      <p:sp>
        <p:nvSpPr>
          <p:cNvPr id="28686" name="Rectangle 13">
            <a:extLst>
              <a:ext uri="{FF2B5EF4-FFF2-40B4-BE49-F238E27FC236}">
                <a16:creationId xmlns:a16="http://schemas.microsoft.com/office/drawing/2014/main" id="{2ACE5547-F3E7-4FB2-AF65-040D561C3220}"/>
              </a:ext>
            </a:extLst>
          </p:cNvPr>
          <p:cNvSpPr>
            <a:spLocks noChangeArrowheads="1"/>
          </p:cNvSpPr>
          <p:nvPr/>
        </p:nvSpPr>
        <p:spPr bwMode="auto">
          <a:xfrm>
            <a:off x="6172200" y="5562600"/>
            <a:ext cx="19050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a:t>estimate</a:t>
            </a:r>
          </a:p>
        </p:txBody>
      </p:sp>
      <p:sp>
        <p:nvSpPr>
          <p:cNvPr id="28687" name="Line 14">
            <a:extLst>
              <a:ext uri="{FF2B5EF4-FFF2-40B4-BE49-F238E27FC236}">
                <a16:creationId xmlns:a16="http://schemas.microsoft.com/office/drawing/2014/main" id="{6AF0B1A6-B6DC-4D40-B682-8E8007A55CB7}"/>
              </a:ext>
            </a:extLst>
          </p:cNvPr>
          <p:cNvSpPr>
            <a:spLocks noChangeShapeType="1"/>
          </p:cNvSpPr>
          <p:nvPr/>
        </p:nvSpPr>
        <p:spPr bwMode="auto">
          <a:xfrm>
            <a:off x="3048000" y="5943600"/>
            <a:ext cx="685800" cy="0"/>
          </a:xfrm>
          <a:prstGeom prst="line">
            <a:avLst/>
          </a:prstGeom>
          <a:noFill/>
          <a:ln w="190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88" name="Line 15">
            <a:extLst>
              <a:ext uri="{FF2B5EF4-FFF2-40B4-BE49-F238E27FC236}">
                <a16:creationId xmlns:a16="http://schemas.microsoft.com/office/drawing/2014/main" id="{17A9476B-4047-44FC-9424-94E73AC29719}"/>
              </a:ext>
            </a:extLst>
          </p:cNvPr>
          <p:cNvSpPr>
            <a:spLocks noChangeShapeType="1"/>
          </p:cNvSpPr>
          <p:nvPr/>
        </p:nvSpPr>
        <p:spPr bwMode="auto">
          <a:xfrm>
            <a:off x="5638800" y="5867400"/>
            <a:ext cx="533400" cy="0"/>
          </a:xfrm>
          <a:prstGeom prst="line">
            <a:avLst/>
          </a:prstGeom>
          <a:noFill/>
          <a:ln w="190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Slide Number Placeholder 1">
            <a:extLst>
              <a:ext uri="{FF2B5EF4-FFF2-40B4-BE49-F238E27FC236}">
                <a16:creationId xmlns:a16="http://schemas.microsoft.com/office/drawing/2014/main" id="{4D65CD9C-4B2F-4C42-881D-CF379E8143CB}"/>
              </a:ext>
            </a:extLst>
          </p:cNvPr>
          <p:cNvSpPr>
            <a:spLocks noGrp="1"/>
          </p:cNvSpPr>
          <p:nvPr>
            <p:ph type="sldNum" sz="quarter" idx="12"/>
          </p:nvPr>
        </p:nvSpPr>
        <p:spPr/>
        <p:txBody>
          <a:bodyPr/>
          <a:lstStyle/>
          <a:p>
            <a:fld id="{60D6D740-8150-433F-9426-3FCFF681501A}" type="slidenum">
              <a:rPr lang="en-US" smtClean="0"/>
              <a:pPr/>
              <a:t>22</a:t>
            </a:fld>
            <a:endParaRPr lang="en-US" dirty="0"/>
          </a:p>
        </p:txBody>
      </p:sp>
    </p:spTree>
    <p:extLst>
      <p:ext uri="{BB962C8B-B14F-4D97-AF65-F5344CB8AC3E}">
        <p14:creationId xmlns:p14="http://schemas.microsoft.com/office/powerpoint/2010/main" val="1409149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a:extLst>
              <a:ext uri="{FF2B5EF4-FFF2-40B4-BE49-F238E27FC236}">
                <a16:creationId xmlns:a16="http://schemas.microsoft.com/office/drawing/2014/main" id="{114E41D0-68DC-4819-B104-9178E8928F20}"/>
              </a:ext>
            </a:extLst>
          </p:cNvPr>
          <p:cNvSpPr>
            <a:spLocks noGrp="1" noChangeArrowheads="1"/>
          </p:cNvSpPr>
          <p:nvPr>
            <p:ph type="title"/>
          </p:nvPr>
        </p:nvSpPr>
        <p:spPr/>
        <p:txBody>
          <a:bodyPr>
            <a:normAutofit fontScale="90000"/>
          </a:bodyPr>
          <a:lstStyle/>
          <a:p>
            <a:r>
              <a:rPr lang="en-US" altLang="en-US"/>
              <a:t>Parametric models - the need for historical data</a:t>
            </a:r>
          </a:p>
        </p:txBody>
      </p:sp>
      <p:sp>
        <p:nvSpPr>
          <p:cNvPr id="30725" name="Rectangle 3">
            <a:extLst>
              <a:ext uri="{FF2B5EF4-FFF2-40B4-BE49-F238E27FC236}">
                <a16:creationId xmlns:a16="http://schemas.microsoft.com/office/drawing/2014/main" id="{4CDFC0EA-D982-4954-A69E-DB8D3B8ADEB0}"/>
              </a:ext>
            </a:extLst>
          </p:cNvPr>
          <p:cNvSpPr>
            <a:spLocks noGrp="1" noChangeArrowheads="1"/>
          </p:cNvSpPr>
          <p:nvPr>
            <p:ph type="body" idx="1"/>
          </p:nvPr>
        </p:nvSpPr>
        <p:spPr>
          <a:xfrm>
            <a:off x="628650" y="2049361"/>
            <a:ext cx="7886700" cy="4351338"/>
          </a:xfrm>
        </p:spPr>
        <p:txBody>
          <a:bodyPr/>
          <a:lstStyle/>
          <a:p>
            <a:r>
              <a:rPr lang="en-US" altLang="en-US" dirty="0"/>
              <a:t>simplistic model for an estimate </a:t>
            </a:r>
          </a:p>
          <a:p>
            <a:pPr>
              <a:buClr>
                <a:schemeClr val="tx1"/>
              </a:buClr>
              <a:buFont typeface="Monotype Sorts" pitchFamily="2" charset="2"/>
              <a:buNone/>
            </a:pPr>
            <a:r>
              <a:rPr lang="en-US" altLang="en-US" dirty="0"/>
              <a:t>	estimated effort = (system size) / productivity</a:t>
            </a:r>
          </a:p>
          <a:p>
            <a:r>
              <a:rPr lang="en-US" altLang="en-US" dirty="0"/>
              <a:t>e.g.</a:t>
            </a:r>
          </a:p>
          <a:p>
            <a:pPr lvl="1">
              <a:buClr>
                <a:schemeClr val="tx1"/>
              </a:buClr>
              <a:buFont typeface="Monotype Sorts" pitchFamily="2" charset="2"/>
              <a:buNone/>
            </a:pPr>
            <a:r>
              <a:rPr lang="en-US" altLang="en-US" dirty="0"/>
              <a:t>system size = lines of code</a:t>
            </a:r>
          </a:p>
          <a:p>
            <a:pPr lvl="1">
              <a:buClr>
                <a:schemeClr val="tx1"/>
              </a:buClr>
              <a:buFont typeface="Monotype Sorts" pitchFamily="2" charset="2"/>
              <a:buNone/>
            </a:pPr>
            <a:r>
              <a:rPr lang="en-US" altLang="en-US" dirty="0"/>
              <a:t>productivity = lines of code per day</a:t>
            </a:r>
          </a:p>
          <a:p>
            <a:r>
              <a:rPr lang="en-US" altLang="en-US" dirty="0"/>
              <a:t>productivity = (system size) / effort</a:t>
            </a:r>
          </a:p>
          <a:p>
            <a:pPr lvl="1"/>
            <a:r>
              <a:rPr lang="en-US" altLang="en-US" dirty="0"/>
              <a:t>based on past projects </a:t>
            </a:r>
          </a:p>
          <a:p>
            <a:pPr>
              <a:buClr>
                <a:schemeClr val="tx1"/>
              </a:buClr>
              <a:buFont typeface="Monotype Sorts" pitchFamily="2" charset="2"/>
              <a:buNone/>
            </a:pPr>
            <a:endParaRPr lang="en-US" altLang="en-US" dirty="0"/>
          </a:p>
        </p:txBody>
      </p:sp>
      <p:sp>
        <p:nvSpPr>
          <p:cNvPr id="2" name="Slide Number Placeholder 1">
            <a:extLst>
              <a:ext uri="{FF2B5EF4-FFF2-40B4-BE49-F238E27FC236}">
                <a16:creationId xmlns:a16="http://schemas.microsoft.com/office/drawing/2014/main" id="{5571143C-BFAC-4C83-A0A2-04083E703B26}"/>
              </a:ext>
            </a:extLst>
          </p:cNvPr>
          <p:cNvSpPr>
            <a:spLocks noGrp="1"/>
          </p:cNvSpPr>
          <p:nvPr>
            <p:ph type="sldNum" sz="quarter" idx="12"/>
          </p:nvPr>
        </p:nvSpPr>
        <p:spPr/>
        <p:txBody>
          <a:bodyPr/>
          <a:lstStyle/>
          <a:p>
            <a:fld id="{60D6D740-8150-433F-9426-3FCFF681501A}" type="slidenum">
              <a:rPr lang="en-US" smtClean="0"/>
              <a:pPr/>
              <a:t>23</a:t>
            </a:fld>
            <a:endParaRPr lang="en-US" dirty="0"/>
          </a:p>
        </p:txBody>
      </p:sp>
    </p:spTree>
    <p:extLst>
      <p:ext uri="{BB962C8B-B14F-4D97-AF65-F5344CB8AC3E}">
        <p14:creationId xmlns:p14="http://schemas.microsoft.com/office/powerpoint/2010/main" val="3504541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006D5-C0C0-9954-98F5-D435F4AF2C8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D2BFA21-8D4F-6607-C96D-E579531C05EB}"/>
              </a:ext>
            </a:extLst>
          </p:cNvPr>
          <p:cNvPicPr>
            <a:picLocks noChangeAspect="1"/>
          </p:cNvPicPr>
          <p:nvPr/>
        </p:nvPicPr>
        <p:blipFill rotWithShape="1">
          <a:blip r:embed="rId3"/>
          <a:srcRect b="58393"/>
          <a:stretch/>
        </p:blipFill>
        <p:spPr>
          <a:xfrm>
            <a:off x="447262" y="1909823"/>
            <a:ext cx="8309112" cy="2097417"/>
          </a:xfrm>
          <a:prstGeom prst="rect">
            <a:avLst/>
          </a:prstGeom>
        </p:spPr>
      </p:pic>
      <p:sp>
        <p:nvSpPr>
          <p:cNvPr id="2" name="Slide Number Placeholder 1">
            <a:extLst>
              <a:ext uri="{FF2B5EF4-FFF2-40B4-BE49-F238E27FC236}">
                <a16:creationId xmlns:a16="http://schemas.microsoft.com/office/drawing/2014/main" id="{8C6A3241-A930-1861-2268-B45EF610F7C3}"/>
              </a:ext>
            </a:extLst>
          </p:cNvPr>
          <p:cNvSpPr>
            <a:spLocks noGrp="1"/>
          </p:cNvSpPr>
          <p:nvPr>
            <p:ph type="sldNum" sz="quarter" idx="12"/>
          </p:nvPr>
        </p:nvSpPr>
        <p:spPr/>
        <p:txBody>
          <a:bodyPr/>
          <a:lstStyle/>
          <a:p>
            <a:fld id="{60D6D740-8150-433F-9426-3FCFF681501A}" type="slidenum">
              <a:rPr lang="en-US" smtClean="0"/>
              <a:pPr/>
              <a:t>24</a:t>
            </a:fld>
            <a:endParaRPr lang="en-US" dirty="0"/>
          </a:p>
        </p:txBody>
      </p:sp>
    </p:spTree>
    <p:extLst>
      <p:ext uri="{BB962C8B-B14F-4D97-AF65-F5344CB8AC3E}">
        <p14:creationId xmlns:p14="http://schemas.microsoft.com/office/powerpoint/2010/main" val="3176088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83E22-7AD8-9843-8ED3-6AA3174B073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3FB5F1-E505-640D-696C-2A31AFDCA4D5}"/>
              </a:ext>
            </a:extLst>
          </p:cNvPr>
          <p:cNvSpPr>
            <a:spLocks noGrp="1"/>
          </p:cNvSpPr>
          <p:nvPr>
            <p:ph type="sldNum" sz="quarter" idx="12"/>
          </p:nvPr>
        </p:nvSpPr>
        <p:spPr/>
        <p:txBody>
          <a:bodyPr/>
          <a:lstStyle/>
          <a:p>
            <a:fld id="{60D6D740-8150-433F-9426-3FCFF681501A}" type="slidenum">
              <a:rPr lang="en-US" smtClean="0"/>
              <a:pPr/>
              <a:t>25</a:t>
            </a:fld>
            <a:endParaRPr lang="en-US" dirty="0"/>
          </a:p>
        </p:txBody>
      </p:sp>
      <p:pic>
        <p:nvPicPr>
          <p:cNvPr id="5" name="Picture 4">
            <a:extLst>
              <a:ext uri="{FF2B5EF4-FFF2-40B4-BE49-F238E27FC236}">
                <a16:creationId xmlns:a16="http://schemas.microsoft.com/office/drawing/2014/main" id="{472DCFD1-65AD-A4DF-E1D6-BE3604E98DB5}"/>
              </a:ext>
            </a:extLst>
          </p:cNvPr>
          <p:cNvPicPr>
            <a:picLocks noChangeAspect="1"/>
          </p:cNvPicPr>
          <p:nvPr/>
        </p:nvPicPr>
        <p:blipFill>
          <a:blip r:embed="rId3"/>
          <a:stretch>
            <a:fillRect/>
          </a:stretch>
        </p:blipFill>
        <p:spPr>
          <a:xfrm>
            <a:off x="795284" y="546068"/>
            <a:ext cx="7553431" cy="6311932"/>
          </a:xfrm>
          <a:prstGeom prst="rect">
            <a:avLst/>
          </a:prstGeom>
        </p:spPr>
      </p:pic>
    </p:spTree>
    <p:extLst>
      <p:ext uri="{BB962C8B-B14F-4D97-AF65-F5344CB8AC3E}">
        <p14:creationId xmlns:p14="http://schemas.microsoft.com/office/powerpoint/2010/main" val="2198877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AE6E2-AF8C-42D4-C32B-2E688DE8434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724FB21-FF50-07F1-9631-3456CB275883}"/>
              </a:ext>
            </a:extLst>
          </p:cNvPr>
          <p:cNvPicPr>
            <a:picLocks noChangeAspect="1"/>
          </p:cNvPicPr>
          <p:nvPr/>
        </p:nvPicPr>
        <p:blipFill>
          <a:blip r:embed="rId3"/>
          <a:stretch>
            <a:fillRect/>
          </a:stretch>
        </p:blipFill>
        <p:spPr>
          <a:xfrm>
            <a:off x="628650" y="468853"/>
            <a:ext cx="7812392" cy="6070060"/>
          </a:xfrm>
          <a:prstGeom prst="rect">
            <a:avLst/>
          </a:prstGeom>
        </p:spPr>
      </p:pic>
      <p:sp>
        <p:nvSpPr>
          <p:cNvPr id="2" name="Slide Number Placeholder 1">
            <a:extLst>
              <a:ext uri="{FF2B5EF4-FFF2-40B4-BE49-F238E27FC236}">
                <a16:creationId xmlns:a16="http://schemas.microsoft.com/office/drawing/2014/main" id="{BF1D8374-C1F5-DE39-F059-B918504A43B8}"/>
              </a:ext>
            </a:extLst>
          </p:cNvPr>
          <p:cNvSpPr>
            <a:spLocks noGrp="1"/>
          </p:cNvSpPr>
          <p:nvPr>
            <p:ph type="sldNum" sz="quarter" idx="12"/>
          </p:nvPr>
        </p:nvSpPr>
        <p:spPr/>
        <p:txBody>
          <a:bodyPr/>
          <a:lstStyle/>
          <a:p>
            <a:fld id="{60D6D740-8150-433F-9426-3FCFF681501A}" type="slidenum">
              <a:rPr lang="en-US" smtClean="0"/>
              <a:pPr/>
              <a:t>26</a:t>
            </a:fld>
            <a:endParaRPr lang="en-US" dirty="0"/>
          </a:p>
        </p:txBody>
      </p:sp>
    </p:spTree>
    <p:extLst>
      <p:ext uri="{BB962C8B-B14F-4D97-AF65-F5344CB8AC3E}">
        <p14:creationId xmlns:p14="http://schemas.microsoft.com/office/powerpoint/2010/main" val="25302594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311C8-47EB-EB41-AD31-C3FAB0654A4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AD914FD-2CB7-2E63-3D9F-D474BACD8103}"/>
              </a:ext>
            </a:extLst>
          </p:cNvPr>
          <p:cNvPicPr>
            <a:picLocks noChangeAspect="1"/>
          </p:cNvPicPr>
          <p:nvPr/>
        </p:nvPicPr>
        <p:blipFill>
          <a:blip r:embed="rId3"/>
          <a:stretch>
            <a:fillRect/>
          </a:stretch>
        </p:blipFill>
        <p:spPr>
          <a:xfrm>
            <a:off x="0" y="1032637"/>
            <a:ext cx="9144000" cy="2510663"/>
          </a:xfrm>
          <a:prstGeom prst="rect">
            <a:avLst/>
          </a:prstGeom>
        </p:spPr>
      </p:pic>
      <p:sp>
        <p:nvSpPr>
          <p:cNvPr id="2" name="Slide Number Placeholder 1">
            <a:extLst>
              <a:ext uri="{FF2B5EF4-FFF2-40B4-BE49-F238E27FC236}">
                <a16:creationId xmlns:a16="http://schemas.microsoft.com/office/drawing/2014/main" id="{5A148F2B-B1A2-3A4D-C1F9-1BAE421CA1FB}"/>
              </a:ext>
            </a:extLst>
          </p:cNvPr>
          <p:cNvSpPr>
            <a:spLocks noGrp="1"/>
          </p:cNvSpPr>
          <p:nvPr>
            <p:ph type="sldNum" sz="quarter" idx="12"/>
          </p:nvPr>
        </p:nvSpPr>
        <p:spPr/>
        <p:txBody>
          <a:bodyPr/>
          <a:lstStyle/>
          <a:p>
            <a:fld id="{60D6D740-8150-433F-9426-3FCFF681501A}" type="slidenum">
              <a:rPr lang="en-US" smtClean="0"/>
              <a:pPr/>
              <a:t>27</a:t>
            </a:fld>
            <a:endParaRPr lang="en-US" dirty="0"/>
          </a:p>
        </p:txBody>
      </p:sp>
      <p:sp>
        <p:nvSpPr>
          <p:cNvPr id="5" name="TextBox 4">
            <a:extLst>
              <a:ext uri="{FF2B5EF4-FFF2-40B4-BE49-F238E27FC236}">
                <a16:creationId xmlns:a16="http://schemas.microsoft.com/office/drawing/2014/main" id="{191870F2-93B3-1F2B-93FB-8DA99A1071B9}"/>
              </a:ext>
            </a:extLst>
          </p:cNvPr>
          <p:cNvSpPr txBox="1"/>
          <p:nvPr/>
        </p:nvSpPr>
        <p:spPr>
          <a:xfrm>
            <a:off x="-42863" y="4656943"/>
            <a:ext cx="9143999" cy="954107"/>
          </a:xfrm>
          <a:prstGeom prst="rect">
            <a:avLst/>
          </a:prstGeom>
          <a:noFill/>
        </p:spPr>
        <p:txBody>
          <a:bodyPr wrap="square">
            <a:spAutoFit/>
          </a:bodyPr>
          <a:lstStyle/>
          <a:p>
            <a:pPr algn="ctr"/>
            <a:r>
              <a:rPr lang="en-US" sz="2800" b="1" i="0" dirty="0">
                <a:solidFill>
                  <a:srgbClr val="1F1F1F"/>
                </a:solidFill>
                <a:effectLst/>
                <a:highlight>
                  <a:srgbClr val="FFFF00"/>
                </a:highlight>
                <a:latin typeface="Google Sans"/>
              </a:rPr>
              <a:t>This highlights the importance of accurate SLOC estimation for better project effort forecasting.</a:t>
            </a:r>
            <a:endParaRPr lang="en-US" sz="2800" b="1" dirty="0">
              <a:highlight>
                <a:srgbClr val="FFFF00"/>
              </a:highlight>
            </a:endParaRPr>
          </a:p>
        </p:txBody>
      </p:sp>
    </p:spTree>
    <p:extLst>
      <p:ext uri="{BB962C8B-B14F-4D97-AF65-F5344CB8AC3E}">
        <p14:creationId xmlns:p14="http://schemas.microsoft.com/office/powerpoint/2010/main" val="9150992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051">
            <a:extLst>
              <a:ext uri="{FF2B5EF4-FFF2-40B4-BE49-F238E27FC236}">
                <a16:creationId xmlns:a16="http://schemas.microsoft.com/office/drawing/2014/main" id="{12F234E3-910F-427C-B89A-CCFCA8CEC527}"/>
              </a:ext>
            </a:extLst>
          </p:cNvPr>
          <p:cNvSpPr>
            <a:spLocks noChangeArrowheads="1"/>
          </p:cNvSpPr>
          <p:nvPr/>
        </p:nvSpPr>
        <p:spPr bwMode="auto">
          <a:xfrm>
            <a:off x="742950" y="1374399"/>
            <a:ext cx="7772400"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defTabSz="762000">
              <a:spcBef>
                <a:spcPct val="20000"/>
              </a:spcBef>
              <a:buClr>
                <a:schemeClr val="accent2"/>
              </a:buClr>
              <a:buSzPct val="60000"/>
              <a:buFont typeface="Monotype Sorts" pitchFamily="2" charset="2"/>
              <a:buBlip>
                <a:blip r:embed="rId3"/>
              </a:buBlip>
              <a:defRPr sz="2400">
                <a:solidFill>
                  <a:srgbClr val="FFFFB3"/>
                </a:solidFill>
                <a:latin typeface="Arial" panose="020B0604020202020204" pitchFamily="34" charset="0"/>
              </a:defRPr>
            </a:lvl1pPr>
            <a:lvl2pPr marL="742950" indent="-285750" defTabSz="762000">
              <a:spcBef>
                <a:spcPct val="20000"/>
              </a:spcBef>
              <a:buClr>
                <a:schemeClr val="accent2"/>
              </a:buClr>
              <a:buSzPct val="60000"/>
              <a:buFont typeface="Monotype Sorts" pitchFamily="2" charset="2"/>
              <a:buBlip>
                <a:blip r:embed="rId4"/>
              </a:buBlip>
              <a:defRPr sz="2400">
                <a:solidFill>
                  <a:srgbClr val="FFFFB3"/>
                </a:solidFill>
                <a:latin typeface="Arial" panose="020B0604020202020204" pitchFamily="34" charset="0"/>
              </a:defRPr>
            </a:lvl2pPr>
            <a:lvl3pPr marL="1143000" indent="-228600" defTabSz="762000">
              <a:spcBef>
                <a:spcPct val="20000"/>
              </a:spcBef>
              <a:buSzPct val="100000"/>
              <a:buChar char="•"/>
              <a:defRPr sz="2400">
                <a:solidFill>
                  <a:srgbClr val="FFFFB3"/>
                </a:solidFill>
                <a:latin typeface="Arial" panose="020B0604020202020204" pitchFamily="34" charset="0"/>
              </a:defRPr>
            </a:lvl3pPr>
            <a:lvl4pPr marL="1562100" indent="-228600" defTabSz="762000">
              <a:spcBef>
                <a:spcPct val="20000"/>
              </a:spcBef>
              <a:buSzPct val="100000"/>
              <a:buFont typeface="Times" panose="02020603050405020304" pitchFamily="18" charset="0"/>
              <a:buChar char="•"/>
              <a:defRPr sz="2000">
                <a:solidFill>
                  <a:srgbClr val="000000"/>
                </a:solidFill>
                <a:latin typeface="Arial" panose="020B0604020202020204" pitchFamily="34" charset="0"/>
              </a:defRPr>
            </a:lvl4pPr>
            <a:lvl5pPr marL="1981200" indent="-228600" defTabSz="762000">
              <a:spcBef>
                <a:spcPct val="20000"/>
              </a:spcBef>
              <a:buSzPct val="100000"/>
              <a:buChar char="•"/>
              <a:defRPr sz="2000">
                <a:solidFill>
                  <a:srgbClr val="000000"/>
                </a:solidFill>
                <a:latin typeface="Arial" panose="020B0604020202020204" pitchFamily="34" charset="0"/>
              </a:defRPr>
            </a:lvl5pPr>
            <a:lvl6pPr marL="2438400" indent="-228600" defTabSz="762000" eaLnBrk="0" fontAlgn="base" hangingPunct="0">
              <a:spcBef>
                <a:spcPct val="20000"/>
              </a:spcBef>
              <a:spcAft>
                <a:spcPct val="0"/>
              </a:spcAft>
              <a:buSzPct val="100000"/>
              <a:buChar char="•"/>
              <a:defRPr sz="2000">
                <a:solidFill>
                  <a:srgbClr val="000000"/>
                </a:solidFill>
                <a:latin typeface="Arial" panose="020B0604020202020204" pitchFamily="34" charset="0"/>
              </a:defRPr>
            </a:lvl6pPr>
            <a:lvl7pPr marL="2895600" indent="-228600" defTabSz="762000" eaLnBrk="0" fontAlgn="base" hangingPunct="0">
              <a:spcBef>
                <a:spcPct val="20000"/>
              </a:spcBef>
              <a:spcAft>
                <a:spcPct val="0"/>
              </a:spcAft>
              <a:buSzPct val="100000"/>
              <a:buChar char="•"/>
              <a:defRPr sz="2000">
                <a:solidFill>
                  <a:srgbClr val="000000"/>
                </a:solidFill>
                <a:latin typeface="Arial" panose="020B0604020202020204" pitchFamily="34" charset="0"/>
              </a:defRPr>
            </a:lvl7pPr>
            <a:lvl8pPr marL="3352800" indent="-228600" defTabSz="762000" eaLnBrk="0" fontAlgn="base" hangingPunct="0">
              <a:spcBef>
                <a:spcPct val="20000"/>
              </a:spcBef>
              <a:spcAft>
                <a:spcPct val="0"/>
              </a:spcAft>
              <a:buSzPct val="100000"/>
              <a:buChar char="•"/>
              <a:defRPr sz="2000">
                <a:solidFill>
                  <a:srgbClr val="000000"/>
                </a:solidFill>
                <a:latin typeface="Arial" panose="020B0604020202020204" pitchFamily="34" charset="0"/>
              </a:defRPr>
            </a:lvl8pPr>
            <a:lvl9pPr marL="3810000" indent="-228600" defTabSz="762000" eaLnBrk="0" fontAlgn="base" hangingPunct="0">
              <a:spcBef>
                <a:spcPct val="20000"/>
              </a:spcBef>
              <a:spcAft>
                <a:spcPct val="0"/>
              </a:spcAft>
              <a:buSzPct val="100000"/>
              <a:buChar char="•"/>
              <a:defRPr sz="2000">
                <a:solidFill>
                  <a:srgbClr val="000000"/>
                </a:solidFill>
                <a:latin typeface="Arial" panose="020B0604020202020204" pitchFamily="34" charset="0"/>
              </a:defRPr>
            </a:lvl9pPr>
          </a:lstStyle>
          <a:p>
            <a:r>
              <a:rPr lang="en-US" altLang="en-US" dirty="0">
                <a:solidFill>
                  <a:schemeClr val="tx1"/>
                </a:solidFill>
              </a:rPr>
              <a:t>Some models focus on task or system size e.g. Function Points</a:t>
            </a:r>
          </a:p>
          <a:p>
            <a:r>
              <a:rPr lang="en-US" altLang="en-US" dirty="0">
                <a:solidFill>
                  <a:schemeClr val="tx1"/>
                </a:solidFill>
              </a:rPr>
              <a:t>FPs originally used to estimate Lines of Code, rather than effort</a:t>
            </a:r>
          </a:p>
        </p:txBody>
      </p:sp>
      <p:sp>
        <p:nvSpPr>
          <p:cNvPr id="32774" name="Rectangle 2052">
            <a:extLst>
              <a:ext uri="{FF2B5EF4-FFF2-40B4-BE49-F238E27FC236}">
                <a16:creationId xmlns:a16="http://schemas.microsoft.com/office/drawing/2014/main" id="{BF7408FA-41D2-481D-B41F-A1BFE3FA5BC1}"/>
              </a:ext>
            </a:extLst>
          </p:cNvPr>
          <p:cNvSpPr>
            <a:spLocks noChangeArrowheads="1"/>
          </p:cNvSpPr>
          <p:nvPr/>
        </p:nvSpPr>
        <p:spPr bwMode="auto">
          <a:xfrm>
            <a:off x="3492500" y="4168742"/>
            <a:ext cx="2057400" cy="1143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r>
              <a:rPr lang="en-US" altLang="en-US" sz="2400"/>
              <a:t>model</a:t>
            </a:r>
          </a:p>
        </p:txBody>
      </p:sp>
      <p:sp>
        <p:nvSpPr>
          <p:cNvPr id="32775" name="Text Box 2053">
            <a:extLst>
              <a:ext uri="{FF2B5EF4-FFF2-40B4-BE49-F238E27FC236}">
                <a16:creationId xmlns:a16="http://schemas.microsoft.com/office/drawing/2014/main" id="{7DAF4A0D-A0C7-4AFC-AE2E-AFF9B946BBB3}"/>
              </a:ext>
            </a:extLst>
          </p:cNvPr>
          <p:cNvSpPr txBox="1">
            <a:spLocks noChangeArrowheads="1"/>
          </p:cNvSpPr>
          <p:nvPr/>
        </p:nvSpPr>
        <p:spPr bwMode="auto">
          <a:xfrm>
            <a:off x="1331913" y="3289267"/>
            <a:ext cx="216058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a:solidFill>
                  <a:schemeClr val="tx2"/>
                </a:solidFill>
              </a:rPr>
              <a:t>Number </a:t>
            </a:r>
          </a:p>
          <a:p>
            <a:pPr algn="ctr"/>
            <a:r>
              <a:rPr lang="en-US" altLang="en-US" sz="2400">
                <a:solidFill>
                  <a:schemeClr val="tx2"/>
                </a:solidFill>
              </a:rPr>
              <a:t>of file types</a:t>
            </a:r>
          </a:p>
        </p:txBody>
      </p:sp>
      <p:sp>
        <p:nvSpPr>
          <p:cNvPr id="32776" name="Text Box 2054">
            <a:extLst>
              <a:ext uri="{FF2B5EF4-FFF2-40B4-BE49-F238E27FC236}">
                <a16:creationId xmlns:a16="http://schemas.microsoft.com/office/drawing/2014/main" id="{9CC69109-4D5A-4659-940D-52CDEF0A75A0}"/>
              </a:ext>
            </a:extLst>
          </p:cNvPr>
          <p:cNvSpPr txBox="1">
            <a:spLocks noChangeArrowheads="1"/>
          </p:cNvSpPr>
          <p:nvPr/>
        </p:nvSpPr>
        <p:spPr bwMode="auto">
          <a:xfrm>
            <a:off x="901700" y="5692742"/>
            <a:ext cx="40147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a:solidFill>
                  <a:schemeClr val="tx2"/>
                </a:solidFill>
              </a:rPr>
              <a:t>Numbers of input </a:t>
            </a:r>
          </a:p>
          <a:p>
            <a:pPr algn="ctr"/>
            <a:r>
              <a:rPr lang="en-US" altLang="en-US" sz="2400">
                <a:solidFill>
                  <a:schemeClr val="tx2"/>
                </a:solidFill>
              </a:rPr>
              <a:t>and output transaction types</a:t>
            </a:r>
          </a:p>
        </p:txBody>
      </p:sp>
      <p:sp>
        <p:nvSpPr>
          <p:cNvPr id="32777" name="AutoShape 2055">
            <a:extLst>
              <a:ext uri="{FF2B5EF4-FFF2-40B4-BE49-F238E27FC236}">
                <a16:creationId xmlns:a16="http://schemas.microsoft.com/office/drawing/2014/main" id="{57A0C13A-5693-41BF-A0A5-6EBCCBDC0A76}"/>
              </a:ext>
            </a:extLst>
          </p:cNvPr>
          <p:cNvSpPr>
            <a:spLocks noChangeArrowheads="1"/>
          </p:cNvSpPr>
          <p:nvPr/>
        </p:nvSpPr>
        <p:spPr bwMode="auto">
          <a:xfrm>
            <a:off x="1968500" y="4854542"/>
            <a:ext cx="1143000" cy="609600"/>
          </a:xfrm>
          <a:custGeom>
            <a:avLst/>
            <a:gdLst>
              <a:gd name="T0" fmla="*/ 800418 w 21600"/>
              <a:gd name="T1" fmla="*/ 0 h 21600"/>
              <a:gd name="T2" fmla="*/ 800418 w 21600"/>
              <a:gd name="T3" fmla="*/ 343126 h 21600"/>
              <a:gd name="T4" fmla="*/ 171291 w 21600"/>
              <a:gd name="T5" fmla="*/ 609600 h 21600"/>
              <a:gd name="T6" fmla="*/ 1143000 w 21600"/>
              <a:gd name="T7" fmla="*/ 171563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8" name="AutoShape 2056">
            <a:extLst>
              <a:ext uri="{FF2B5EF4-FFF2-40B4-BE49-F238E27FC236}">
                <a16:creationId xmlns:a16="http://schemas.microsoft.com/office/drawing/2014/main" id="{390EF1DF-76C6-45C5-9065-B7F3307A8525}"/>
              </a:ext>
            </a:extLst>
          </p:cNvPr>
          <p:cNvSpPr>
            <a:spLocks noChangeArrowheads="1"/>
          </p:cNvSpPr>
          <p:nvPr/>
        </p:nvSpPr>
        <p:spPr bwMode="auto">
          <a:xfrm flipV="1">
            <a:off x="2044700" y="4092542"/>
            <a:ext cx="966788" cy="762000"/>
          </a:xfrm>
          <a:custGeom>
            <a:avLst/>
            <a:gdLst>
              <a:gd name="T0" fmla="*/ 677020 w 21600"/>
              <a:gd name="T1" fmla="*/ 0 h 21600"/>
              <a:gd name="T2" fmla="*/ 677020 w 21600"/>
              <a:gd name="T3" fmla="*/ 428907 h 21600"/>
              <a:gd name="T4" fmla="*/ 144884 w 21600"/>
              <a:gd name="T5" fmla="*/ 762000 h 21600"/>
              <a:gd name="T6" fmla="*/ 966788 w 21600"/>
              <a:gd name="T7" fmla="*/ 214454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9" name="AutoShape 2057">
            <a:extLst>
              <a:ext uri="{FF2B5EF4-FFF2-40B4-BE49-F238E27FC236}">
                <a16:creationId xmlns:a16="http://schemas.microsoft.com/office/drawing/2014/main" id="{B36344AE-5FFC-4D4B-8749-B144F3758AA0}"/>
              </a:ext>
            </a:extLst>
          </p:cNvPr>
          <p:cNvSpPr>
            <a:spLocks noChangeArrowheads="1"/>
          </p:cNvSpPr>
          <p:nvPr/>
        </p:nvSpPr>
        <p:spPr bwMode="auto">
          <a:xfrm>
            <a:off x="5854700" y="4473542"/>
            <a:ext cx="976313" cy="485775"/>
          </a:xfrm>
          <a:prstGeom prst="rightArrow">
            <a:avLst>
              <a:gd name="adj1" fmla="val 50000"/>
              <a:gd name="adj2" fmla="val 502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ZA" altLang="en-US"/>
          </a:p>
        </p:txBody>
      </p:sp>
      <p:sp>
        <p:nvSpPr>
          <p:cNvPr id="32780" name="Text Box 2058">
            <a:extLst>
              <a:ext uri="{FF2B5EF4-FFF2-40B4-BE49-F238E27FC236}">
                <a16:creationId xmlns:a16="http://schemas.microsoft.com/office/drawing/2014/main" id="{6095934E-29F6-494A-9B9F-416AC7AE9920}"/>
              </a:ext>
            </a:extLst>
          </p:cNvPr>
          <p:cNvSpPr txBox="1">
            <a:spLocks noChangeArrowheads="1"/>
          </p:cNvSpPr>
          <p:nvPr/>
        </p:nvSpPr>
        <p:spPr bwMode="auto">
          <a:xfrm>
            <a:off x="6921500" y="4321142"/>
            <a:ext cx="12176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a:t>‘</a:t>
            </a:r>
            <a:r>
              <a:rPr lang="en-US" altLang="en-US" sz="2400">
                <a:solidFill>
                  <a:schemeClr val="tx2"/>
                </a:solidFill>
              </a:rPr>
              <a:t>system</a:t>
            </a:r>
          </a:p>
          <a:p>
            <a:pPr algn="ctr"/>
            <a:r>
              <a:rPr lang="en-US" altLang="en-US" sz="2400">
                <a:solidFill>
                  <a:schemeClr val="tx2"/>
                </a:solidFill>
              </a:rPr>
              <a:t>size’</a:t>
            </a:r>
          </a:p>
        </p:txBody>
      </p:sp>
      <p:sp>
        <p:nvSpPr>
          <p:cNvPr id="11" name="Rectangle 2">
            <a:extLst>
              <a:ext uri="{FF2B5EF4-FFF2-40B4-BE49-F238E27FC236}">
                <a16:creationId xmlns:a16="http://schemas.microsoft.com/office/drawing/2014/main" id="{CF1E0324-12DA-489C-823B-DB188B92CC30}"/>
              </a:ext>
            </a:extLst>
          </p:cNvPr>
          <p:cNvSpPr txBox="1">
            <a:spLocks noChangeArrowheads="1"/>
          </p:cNvSpPr>
          <p:nvPr/>
        </p:nvSpPr>
        <p:spPr>
          <a:xfrm>
            <a:off x="628650" y="666702"/>
            <a:ext cx="7886700" cy="7351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a:t>Parametric models</a:t>
            </a:r>
            <a:endParaRPr lang="en-US" altLang="en-US" dirty="0"/>
          </a:p>
        </p:txBody>
      </p:sp>
      <p:sp>
        <p:nvSpPr>
          <p:cNvPr id="3" name="Slide Number Placeholder 2">
            <a:extLst>
              <a:ext uri="{FF2B5EF4-FFF2-40B4-BE49-F238E27FC236}">
                <a16:creationId xmlns:a16="http://schemas.microsoft.com/office/drawing/2014/main" id="{104CD3E8-819C-4502-91C6-271AAED3725A}"/>
              </a:ext>
            </a:extLst>
          </p:cNvPr>
          <p:cNvSpPr>
            <a:spLocks noGrp="1"/>
          </p:cNvSpPr>
          <p:nvPr>
            <p:ph type="sldNum" sz="quarter" idx="12"/>
          </p:nvPr>
        </p:nvSpPr>
        <p:spPr/>
        <p:txBody>
          <a:bodyPr/>
          <a:lstStyle/>
          <a:p>
            <a:fld id="{CDE4BBE6-ABD8-4AAC-A679-4F37D73C8978}" type="slidenum">
              <a:rPr lang="en-US" smtClean="0"/>
              <a:t>28</a:t>
            </a:fld>
            <a:endParaRPr lang="en-US"/>
          </a:p>
        </p:txBody>
      </p:sp>
    </p:spTree>
    <p:extLst>
      <p:ext uri="{BB962C8B-B14F-4D97-AF65-F5344CB8AC3E}">
        <p14:creationId xmlns:p14="http://schemas.microsoft.com/office/powerpoint/2010/main" val="1601065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a:extLst>
              <a:ext uri="{FF2B5EF4-FFF2-40B4-BE49-F238E27FC236}">
                <a16:creationId xmlns:a16="http://schemas.microsoft.com/office/drawing/2014/main" id="{23B4FB82-1974-470E-B1BC-DB2DBFCF644A}"/>
              </a:ext>
            </a:extLst>
          </p:cNvPr>
          <p:cNvSpPr>
            <a:spLocks noGrp="1" noChangeArrowheads="1"/>
          </p:cNvSpPr>
          <p:nvPr>
            <p:ph type="title"/>
          </p:nvPr>
        </p:nvSpPr>
        <p:spPr/>
        <p:txBody>
          <a:bodyPr/>
          <a:lstStyle/>
          <a:p>
            <a:r>
              <a:rPr lang="en-US" altLang="en-US" dirty="0"/>
              <a:t>Parametric models</a:t>
            </a:r>
          </a:p>
        </p:txBody>
      </p:sp>
      <p:sp>
        <p:nvSpPr>
          <p:cNvPr id="34821" name="Rectangle 3">
            <a:extLst>
              <a:ext uri="{FF2B5EF4-FFF2-40B4-BE49-F238E27FC236}">
                <a16:creationId xmlns:a16="http://schemas.microsoft.com/office/drawing/2014/main" id="{AF7BB8D3-21C4-4CD5-A7BD-61E0BF196038}"/>
              </a:ext>
            </a:extLst>
          </p:cNvPr>
          <p:cNvSpPr>
            <a:spLocks noGrp="1" noChangeArrowheads="1"/>
          </p:cNvSpPr>
          <p:nvPr>
            <p:ph type="body" idx="1"/>
          </p:nvPr>
        </p:nvSpPr>
        <p:spPr>
          <a:xfrm>
            <a:off x="468313" y="1754798"/>
            <a:ext cx="8229600" cy="2011362"/>
          </a:xfrm>
        </p:spPr>
        <p:txBody>
          <a:bodyPr/>
          <a:lstStyle/>
          <a:p>
            <a:r>
              <a:rPr lang="en-US" altLang="en-US" dirty="0"/>
              <a:t>Other models focus on productivity: e.g. </a:t>
            </a:r>
            <a:r>
              <a:rPr lang="en-US" altLang="en-US" dirty="0" err="1"/>
              <a:t>COCOMO</a:t>
            </a:r>
            <a:endParaRPr lang="en-US" altLang="en-US" dirty="0"/>
          </a:p>
          <a:p>
            <a:r>
              <a:rPr lang="en-US" altLang="en-US" dirty="0"/>
              <a:t>Lines of code (or FPs </a:t>
            </a:r>
            <a:r>
              <a:rPr lang="en-US" altLang="en-US" dirty="0" err="1"/>
              <a:t>etc</a:t>
            </a:r>
            <a:r>
              <a:rPr lang="en-US" altLang="en-US" dirty="0"/>
              <a:t>) an input</a:t>
            </a:r>
          </a:p>
        </p:txBody>
      </p:sp>
      <p:sp>
        <p:nvSpPr>
          <p:cNvPr id="34822" name="Rectangle 4">
            <a:extLst>
              <a:ext uri="{FF2B5EF4-FFF2-40B4-BE49-F238E27FC236}">
                <a16:creationId xmlns:a16="http://schemas.microsoft.com/office/drawing/2014/main" id="{E2C82CB1-D090-46B0-8B3B-83BED9AF0ADE}"/>
              </a:ext>
            </a:extLst>
          </p:cNvPr>
          <p:cNvSpPr>
            <a:spLocks noChangeArrowheads="1"/>
          </p:cNvSpPr>
          <p:nvPr/>
        </p:nvSpPr>
        <p:spPr bwMode="auto">
          <a:xfrm>
            <a:off x="3348038" y="4059848"/>
            <a:ext cx="1905000" cy="8382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ZA" altLang="en-US"/>
          </a:p>
        </p:txBody>
      </p:sp>
      <p:sp>
        <p:nvSpPr>
          <p:cNvPr id="34823" name="AutoShape 5">
            <a:extLst>
              <a:ext uri="{FF2B5EF4-FFF2-40B4-BE49-F238E27FC236}">
                <a16:creationId xmlns:a16="http://schemas.microsoft.com/office/drawing/2014/main" id="{FB2FED5D-EDCF-4506-AF70-FC7AE5DBD4BC}"/>
              </a:ext>
            </a:extLst>
          </p:cNvPr>
          <p:cNvSpPr>
            <a:spLocks noChangeArrowheads="1"/>
          </p:cNvSpPr>
          <p:nvPr/>
        </p:nvSpPr>
        <p:spPr bwMode="auto">
          <a:xfrm>
            <a:off x="2124075" y="4131285"/>
            <a:ext cx="976313" cy="485775"/>
          </a:xfrm>
          <a:prstGeom prst="rightArrow">
            <a:avLst>
              <a:gd name="adj1" fmla="val 50000"/>
              <a:gd name="adj2" fmla="val 502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ZA" altLang="en-US"/>
          </a:p>
        </p:txBody>
      </p:sp>
      <p:sp>
        <p:nvSpPr>
          <p:cNvPr id="34824" name="Text Box 6">
            <a:extLst>
              <a:ext uri="{FF2B5EF4-FFF2-40B4-BE49-F238E27FC236}">
                <a16:creationId xmlns:a16="http://schemas.microsoft.com/office/drawing/2014/main" id="{B8098A8A-EF2E-442D-892D-BB6BE560322F}"/>
              </a:ext>
            </a:extLst>
          </p:cNvPr>
          <p:cNvSpPr txBox="1">
            <a:spLocks noChangeArrowheads="1"/>
          </p:cNvSpPr>
          <p:nvPr/>
        </p:nvSpPr>
        <p:spPr bwMode="auto">
          <a:xfrm>
            <a:off x="1062038" y="3526448"/>
            <a:ext cx="12001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a:solidFill>
                  <a:schemeClr val="tx2"/>
                </a:solidFill>
              </a:rPr>
              <a:t>System</a:t>
            </a:r>
          </a:p>
          <a:p>
            <a:pPr algn="ctr"/>
            <a:r>
              <a:rPr lang="en-US" altLang="en-US" sz="2400">
                <a:solidFill>
                  <a:schemeClr val="tx2"/>
                </a:solidFill>
              </a:rPr>
              <a:t>size</a:t>
            </a:r>
          </a:p>
        </p:txBody>
      </p:sp>
      <p:sp>
        <p:nvSpPr>
          <p:cNvPr id="34825" name="AutoShape 7">
            <a:extLst>
              <a:ext uri="{FF2B5EF4-FFF2-40B4-BE49-F238E27FC236}">
                <a16:creationId xmlns:a16="http://schemas.microsoft.com/office/drawing/2014/main" id="{BE8DBE07-1FAD-4C31-ABA4-23C51000152F}"/>
              </a:ext>
            </a:extLst>
          </p:cNvPr>
          <p:cNvSpPr>
            <a:spLocks noChangeArrowheads="1"/>
          </p:cNvSpPr>
          <p:nvPr/>
        </p:nvSpPr>
        <p:spPr bwMode="auto">
          <a:xfrm>
            <a:off x="3500438" y="5202848"/>
            <a:ext cx="485775" cy="976312"/>
          </a:xfrm>
          <a:prstGeom prst="upArrow">
            <a:avLst>
              <a:gd name="adj1" fmla="val 50000"/>
              <a:gd name="adj2" fmla="val 502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ZA" altLang="en-US"/>
          </a:p>
        </p:txBody>
      </p:sp>
      <p:sp>
        <p:nvSpPr>
          <p:cNvPr id="34826" name="AutoShape 8">
            <a:extLst>
              <a:ext uri="{FF2B5EF4-FFF2-40B4-BE49-F238E27FC236}">
                <a16:creationId xmlns:a16="http://schemas.microsoft.com/office/drawing/2014/main" id="{D9A56E8B-0E6A-40B6-B177-FA5798AC33C5}"/>
              </a:ext>
            </a:extLst>
          </p:cNvPr>
          <p:cNvSpPr>
            <a:spLocks noChangeArrowheads="1"/>
          </p:cNvSpPr>
          <p:nvPr/>
        </p:nvSpPr>
        <p:spPr bwMode="auto">
          <a:xfrm>
            <a:off x="4157663" y="5202848"/>
            <a:ext cx="485775" cy="976312"/>
          </a:xfrm>
          <a:prstGeom prst="upArrow">
            <a:avLst>
              <a:gd name="adj1" fmla="val 50000"/>
              <a:gd name="adj2" fmla="val 502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ZA" altLang="en-US"/>
          </a:p>
        </p:txBody>
      </p:sp>
      <p:sp>
        <p:nvSpPr>
          <p:cNvPr id="34827" name="AutoShape 9">
            <a:extLst>
              <a:ext uri="{FF2B5EF4-FFF2-40B4-BE49-F238E27FC236}">
                <a16:creationId xmlns:a16="http://schemas.microsoft.com/office/drawing/2014/main" id="{38744210-183A-40C0-8DEC-821587F51718}"/>
              </a:ext>
            </a:extLst>
          </p:cNvPr>
          <p:cNvSpPr>
            <a:spLocks noChangeArrowheads="1"/>
          </p:cNvSpPr>
          <p:nvPr/>
        </p:nvSpPr>
        <p:spPr bwMode="auto">
          <a:xfrm>
            <a:off x="4814888" y="5202848"/>
            <a:ext cx="485775" cy="976312"/>
          </a:xfrm>
          <a:prstGeom prst="upArrow">
            <a:avLst>
              <a:gd name="adj1" fmla="val 50000"/>
              <a:gd name="adj2" fmla="val 502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ZA" altLang="en-US"/>
          </a:p>
        </p:txBody>
      </p:sp>
      <p:sp>
        <p:nvSpPr>
          <p:cNvPr id="34828" name="Text Box 10">
            <a:extLst>
              <a:ext uri="{FF2B5EF4-FFF2-40B4-BE49-F238E27FC236}">
                <a16:creationId xmlns:a16="http://schemas.microsoft.com/office/drawing/2014/main" id="{CE7E5875-00C8-4C0E-8056-B8F42643BAF4}"/>
              </a:ext>
            </a:extLst>
          </p:cNvPr>
          <p:cNvSpPr txBox="1">
            <a:spLocks noChangeArrowheads="1"/>
          </p:cNvSpPr>
          <p:nvPr/>
        </p:nvSpPr>
        <p:spPr bwMode="auto">
          <a:xfrm>
            <a:off x="5405438" y="5279048"/>
            <a:ext cx="176053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a:solidFill>
                  <a:schemeClr val="tx2"/>
                </a:solidFill>
              </a:rPr>
              <a:t>Productivity</a:t>
            </a:r>
          </a:p>
          <a:p>
            <a:pPr algn="ctr"/>
            <a:r>
              <a:rPr lang="en-US" altLang="en-US" sz="2400"/>
              <a:t> </a:t>
            </a:r>
            <a:r>
              <a:rPr lang="en-US" altLang="en-US" sz="2400">
                <a:solidFill>
                  <a:schemeClr val="tx2"/>
                </a:solidFill>
              </a:rPr>
              <a:t>factors</a:t>
            </a:r>
          </a:p>
        </p:txBody>
      </p:sp>
      <p:sp>
        <p:nvSpPr>
          <p:cNvPr id="34829" name="AutoShape 11">
            <a:extLst>
              <a:ext uri="{FF2B5EF4-FFF2-40B4-BE49-F238E27FC236}">
                <a16:creationId xmlns:a16="http://schemas.microsoft.com/office/drawing/2014/main" id="{7555BF47-898F-4CDB-B446-64D1B345CF6D}"/>
              </a:ext>
            </a:extLst>
          </p:cNvPr>
          <p:cNvSpPr>
            <a:spLocks noChangeArrowheads="1"/>
          </p:cNvSpPr>
          <p:nvPr/>
        </p:nvSpPr>
        <p:spPr bwMode="auto">
          <a:xfrm>
            <a:off x="5710238" y="4136048"/>
            <a:ext cx="976312" cy="485775"/>
          </a:xfrm>
          <a:prstGeom prst="rightArrow">
            <a:avLst>
              <a:gd name="adj1" fmla="val 50000"/>
              <a:gd name="adj2" fmla="val 502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ZA" altLang="en-US"/>
          </a:p>
        </p:txBody>
      </p:sp>
      <p:sp>
        <p:nvSpPr>
          <p:cNvPr id="34830" name="Text Box 12">
            <a:extLst>
              <a:ext uri="{FF2B5EF4-FFF2-40B4-BE49-F238E27FC236}">
                <a16:creationId xmlns:a16="http://schemas.microsoft.com/office/drawing/2014/main" id="{122C1F15-9733-4C14-A77D-24C8461E8C78}"/>
              </a:ext>
            </a:extLst>
          </p:cNvPr>
          <p:cNvSpPr txBox="1">
            <a:spLocks noChangeArrowheads="1"/>
          </p:cNvSpPr>
          <p:nvPr/>
        </p:nvSpPr>
        <p:spPr bwMode="auto">
          <a:xfrm>
            <a:off x="5476875" y="3678848"/>
            <a:ext cx="2317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a:solidFill>
                  <a:schemeClr val="tx2"/>
                </a:solidFill>
              </a:rPr>
              <a:t>Estimated effort</a:t>
            </a:r>
          </a:p>
        </p:txBody>
      </p:sp>
      <p:sp>
        <p:nvSpPr>
          <p:cNvPr id="2" name="Slide Number Placeholder 1">
            <a:extLst>
              <a:ext uri="{FF2B5EF4-FFF2-40B4-BE49-F238E27FC236}">
                <a16:creationId xmlns:a16="http://schemas.microsoft.com/office/drawing/2014/main" id="{292C376B-0EEC-43F3-9C05-602A592311B9}"/>
              </a:ext>
            </a:extLst>
          </p:cNvPr>
          <p:cNvSpPr>
            <a:spLocks noGrp="1"/>
          </p:cNvSpPr>
          <p:nvPr>
            <p:ph type="sldNum" sz="quarter" idx="12"/>
          </p:nvPr>
        </p:nvSpPr>
        <p:spPr/>
        <p:txBody>
          <a:bodyPr/>
          <a:lstStyle/>
          <a:p>
            <a:fld id="{60D6D740-8150-433F-9426-3FCFF681501A}" type="slidenum">
              <a:rPr lang="en-US" smtClean="0"/>
              <a:pPr/>
              <a:t>29</a:t>
            </a:fld>
            <a:endParaRPr lang="en-US" dirty="0"/>
          </a:p>
        </p:txBody>
      </p:sp>
    </p:spTree>
    <p:extLst>
      <p:ext uri="{BB962C8B-B14F-4D97-AF65-F5344CB8AC3E}">
        <p14:creationId xmlns:p14="http://schemas.microsoft.com/office/powerpoint/2010/main" val="11516112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Slide Number Placeholder 5">
            <a:extLst>
              <a:ext uri="{FF2B5EF4-FFF2-40B4-BE49-F238E27FC236}">
                <a16:creationId xmlns:a16="http://schemas.microsoft.com/office/drawing/2014/main" id="{291B636E-B55C-40CF-AA6C-686FC4AA9D4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4BA00FC7-5C51-4B63-8FD2-F9862F16C2A4}" type="slidenum">
              <a:rPr lang="en-US" altLang="en-US" sz="1200"/>
              <a:pPr eaLnBrk="1" hangingPunct="1"/>
              <a:t>30</a:t>
            </a:fld>
            <a:endParaRPr lang="en-US" altLang="en-US" sz="1200"/>
          </a:p>
        </p:txBody>
      </p:sp>
      <p:sp>
        <p:nvSpPr>
          <p:cNvPr id="51203" name="Rectangle 2">
            <a:extLst>
              <a:ext uri="{FF2B5EF4-FFF2-40B4-BE49-F238E27FC236}">
                <a16:creationId xmlns:a16="http://schemas.microsoft.com/office/drawing/2014/main" id="{0ADBC18A-7009-40D6-BF31-F9863F9BCCD1}"/>
              </a:ext>
            </a:extLst>
          </p:cNvPr>
          <p:cNvSpPr>
            <a:spLocks noGrp="1" noChangeArrowheads="1"/>
          </p:cNvSpPr>
          <p:nvPr>
            <p:ph type="title"/>
          </p:nvPr>
        </p:nvSpPr>
        <p:spPr/>
        <p:txBody>
          <a:bodyPr/>
          <a:lstStyle/>
          <a:p>
            <a:pPr eaLnBrk="1" hangingPunct="1"/>
            <a:r>
              <a:rPr lang="en-US" altLang="en-US" sz="4000" dirty="0"/>
              <a:t>Algorithmic/Parametric Measures</a:t>
            </a:r>
          </a:p>
        </p:txBody>
      </p:sp>
      <p:sp>
        <p:nvSpPr>
          <p:cNvPr id="364547" name="Rectangle 3">
            <a:extLst>
              <a:ext uri="{FF2B5EF4-FFF2-40B4-BE49-F238E27FC236}">
                <a16:creationId xmlns:a16="http://schemas.microsoft.com/office/drawing/2014/main" id="{5E56342F-1CFA-4415-BE44-CA84DC56CD66}"/>
              </a:ext>
            </a:extLst>
          </p:cNvPr>
          <p:cNvSpPr>
            <a:spLocks noGrp="1" noChangeArrowheads="1"/>
          </p:cNvSpPr>
          <p:nvPr>
            <p:ph type="body" idx="1"/>
          </p:nvPr>
        </p:nvSpPr>
        <p:spPr/>
        <p:txBody>
          <a:bodyPr>
            <a:normAutofit lnSpcReduction="10000"/>
          </a:bodyPr>
          <a:lstStyle/>
          <a:p>
            <a:pPr eaLnBrk="1" hangingPunct="1">
              <a:lnSpc>
                <a:spcPct val="90000"/>
              </a:lnSpc>
            </a:pPr>
            <a:r>
              <a:rPr lang="en-US" altLang="en-US" sz="2800"/>
              <a:t>Lines of Code (LOC)</a:t>
            </a:r>
          </a:p>
          <a:p>
            <a:pPr eaLnBrk="1" hangingPunct="1">
              <a:lnSpc>
                <a:spcPct val="90000"/>
              </a:lnSpc>
            </a:pPr>
            <a:r>
              <a:rPr lang="en-US" altLang="en-US" sz="2800"/>
              <a:t>Function points</a:t>
            </a:r>
          </a:p>
          <a:p>
            <a:pPr eaLnBrk="1" hangingPunct="1">
              <a:lnSpc>
                <a:spcPct val="90000"/>
              </a:lnSpc>
            </a:pPr>
            <a:r>
              <a:rPr lang="en-US" altLang="en-US" sz="2800"/>
              <a:t>Feature points or object points</a:t>
            </a:r>
          </a:p>
          <a:p>
            <a:pPr eaLnBrk="1" hangingPunct="1">
              <a:lnSpc>
                <a:spcPct val="90000"/>
              </a:lnSpc>
            </a:pPr>
            <a:r>
              <a:rPr lang="en-US" altLang="en-US" sz="2800"/>
              <a:t>Other possible</a:t>
            </a:r>
          </a:p>
          <a:p>
            <a:pPr lvl="1" eaLnBrk="1" hangingPunct="1">
              <a:lnSpc>
                <a:spcPct val="90000"/>
              </a:lnSpc>
            </a:pPr>
            <a:r>
              <a:rPr lang="en-US" altLang="en-US" sz="2400"/>
              <a:t>Number of bubbles on a DFD</a:t>
            </a:r>
          </a:p>
          <a:p>
            <a:pPr lvl="1" eaLnBrk="1" hangingPunct="1">
              <a:lnSpc>
                <a:spcPct val="90000"/>
              </a:lnSpc>
            </a:pPr>
            <a:r>
              <a:rPr lang="en-US" altLang="en-US" sz="2400"/>
              <a:t>Number of of ERD entities</a:t>
            </a:r>
          </a:p>
          <a:p>
            <a:pPr lvl="1" eaLnBrk="1" hangingPunct="1">
              <a:lnSpc>
                <a:spcPct val="90000"/>
              </a:lnSpc>
            </a:pPr>
            <a:r>
              <a:rPr lang="en-US" altLang="en-US" sz="2400"/>
              <a:t>Number of processes on a structure chart</a:t>
            </a:r>
          </a:p>
          <a:p>
            <a:pPr eaLnBrk="1" hangingPunct="1">
              <a:lnSpc>
                <a:spcPct val="90000"/>
              </a:lnSpc>
            </a:pPr>
            <a:r>
              <a:rPr lang="en-US" altLang="en-US" sz="2800"/>
              <a:t>LOC and function points most common</a:t>
            </a:r>
          </a:p>
          <a:p>
            <a:pPr lvl="1" eaLnBrk="1" hangingPunct="1">
              <a:lnSpc>
                <a:spcPct val="90000"/>
              </a:lnSpc>
            </a:pPr>
            <a:r>
              <a:rPr lang="en-US" altLang="en-US" sz="2400"/>
              <a:t>(of the algorithmic approaches)</a:t>
            </a:r>
          </a:p>
          <a:p>
            <a:pPr eaLnBrk="1" hangingPunct="1">
              <a:lnSpc>
                <a:spcPct val="90000"/>
              </a:lnSpc>
            </a:pPr>
            <a:r>
              <a:rPr lang="en-US" altLang="en-US" sz="2800"/>
              <a:t>Majority of projects use none of the above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45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645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6454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64547">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364547">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364547">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364547">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364547">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364547">
                                            <p:txEl>
                                              <p:pRg st="8" end="8"/>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36454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47"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Slide Number Placeholder 5">
            <a:extLst>
              <a:ext uri="{FF2B5EF4-FFF2-40B4-BE49-F238E27FC236}">
                <a16:creationId xmlns:a16="http://schemas.microsoft.com/office/drawing/2014/main" id="{1C6A6C98-5B3D-4DFC-9029-05E19395207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A5A5AE2F-101B-40D1-9256-E40182674873}" type="slidenum">
              <a:rPr lang="en-US" altLang="en-US" sz="1200"/>
              <a:pPr eaLnBrk="1" hangingPunct="1"/>
              <a:t>31</a:t>
            </a:fld>
            <a:endParaRPr lang="en-US" altLang="en-US" sz="1200"/>
          </a:p>
        </p:txBody>
      </p:sp>
      <p:sp>
        <p:nvSpPr>
          <p:cNvPr id="52227" name="Rectangle 2">
            <a:extLst>
              <a:ext uri="{FF2B5EF4-FFF2-40B4-BE49-F238E27FC236}">
                <a16:creationId xmlns:a16="http://schemas.microsoft.com/office/drawing/2014/main" id="{575B16EB-707B-4119-8372-DF97BA5FDD31}"/>
              </a:ext>
            </a:extLst>
          </p:cNvPr>
          <p:cNvSpPr>
            <a:spLocks noGrp="1" noChangeArrowheads="1"/>
          </p:cNvSpPr>
          <p:nvPr>
            <p:ph type="title"/>
          </p:nvPr>
        </p:nvSpPr>
        <p:spPr/>
        <p:txBody>
          <a:bodyPr/>
          <a:lstStyle/>
          <a:p>
            <a:pPr eaLnBrk="1" hangingPunct="1"/>
            <a:r>
              <a:rPr lang="en-US" altLang="en-US" sz="4000"/>
              <a:t>Code-based Estimates</a:t>
            </a:r>
          </a:p>
        </p:txBody>
      </p:sp>
      <p:sp>
        <p:nvSpPr>
          <p:cNvPr id="366595" name="Rectangle 3">
            <a:extLst>
              <a:ext uri="{FF2B5EF4-FFF2-40B4-BE49-F238E27FC236}">
                <a16:creationId xmlns:a16="http://schemas.microsoft.com/office/drawing/2014/main" id="{154DC7B3-4A36-41E5-AF3C-48BB3E72754E}"/>
              </a:ext>
            </a:extLst>
          </p:cNvPr>
          <p:cNvSpPr>
            <a:spLocks noGrp="1" noChangeArrowheads="1"/>
          </p:cNvSpPr>
          <p:nvPr>
            <p:ph type="body" idx="1"/>
          </p:nvPr>
        </p:nvSpPr>
        <p:spPr/>
        <p:txBody>
          <a:bodyPr>
            <a:noAutofit/>
          </a:bodyPr>
          <a:lstStyle/>
          <a:p>
            <a:pPr eaLnBrk="1" hangingPunct="1"/>
            <a:r>
              <a:rPr lang="en-US" altLang="en-US" dirty="0"/>
              <a:t>LOC Advantages</a:t>
            </a:r>
          </a:p>
          <a:p>
            <a:pPr lvl="1" eaLnBrk="1" hangingPunct="1"/>
            <a:r>
              <a:rPr lang="en-US" altLang="en-US" dirty="0"/>
              <a:t>Commonly understood metric</a:t>
            </a:r>
          </a:p>
          <a:p>
            <a:pPr lvl="1" eaLnBrk="1" hangingPunct="1"/>
            <a:r>
              <a:rPr lang="en-US" altLang="en-US" dirty="0"/>
              <a:t>Permits specific comparison</a:t>
            </a:r>
          </a:p>
          <a:p>
            <a:pPr lvl="1" eaLnBrk="1" hangingPunct="1"/>
            <a:r>
              <a:rPr lang="en-US" altLang="en-US" dirty="0"/>
              <a:t>Actuals easily measured</a:t>
            </a:r>
          </a:p>
          <a:p>
            <a:pPr eaLnBrk="1" hangingPunct="1"/>
            <a:r>
              <a:rPr lang="en-US" altLang="en-US" dirty="0"/>
              <a:t>LOC Disadvantages</a:t>
            </a:r>
          </a:p>
          <a:p>
            <a:pPr lvl="1" eaLnBrk="1" hangingPunct="1"/>
            <a:r>
              <a:rPr lang="en-US" altLang="en-US" dirty="0"/>
              <a:t>Difficult to estimate early in cycle</a:t>
            </a:r>
          </a:p>
          <a:p>
            <a:pPr lvl="1" eaLnBrk="1" hangingPunct="1"/>
            <a:r>
              <a:rPr lang="en-US" altLang="en-US" dirty="0"/>
              <a:t>Counts vary by language</a:t>
            </a:r>
          </a:p>
          <a:p>
            <a:pPr lvl="1" eaLnBrk="1" hangingPunct="1"/>
            <a:r>
              <a:rPr lang="en-US" altLang="en-US" dirty="0"/>
              <a:t>Many costs not considered (ex: requirements)</a:t>
            </a:r>
          </a:p>
          <a:p>
            <a:pPr lvl="1" eaLnBrk="1" hangingPunct="1"/>
            <a:r>
              <a:rPr lang="en-US" altLang="en-US" dirty="0"/>
              <a:t>Programmers may be rewarded based on this</a:t>
            </a:r>
          </a:p>
          <a:p>
            <a:pPr lvl="2" eaLnBrk="1" hangingPunct="1"/>
            <a:r>
              <a:rPr lang="en-US" altLang="en-US" dirty="0"/>
              <a:t>Can use: # defects/# LOC</a:t>
            </a:r>
          </a:p>
          <a:p>
            <a:pPr lvl="1" eaLnBrk="1" hangingPunct="1"/>
            <a:r>
              <a:rPr lang="en-US" altLang="en-US" dirty="0"/>
              <a:t>Code generators produce excess code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65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6659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6659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66595">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36659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36659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36659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366595">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366595">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366595">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36659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5"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Slide Number Placeholder 5">
            <a:extLst>
              <a:ext uri="{FF2B5EF4-FFF2-40B4-BE49-F238E27FC236}">
                <a16:creationId xmlns:a16="http://schemas.microsoft.com/office/drawing/2014/main" id="{F25ABD85-9FDF-4413-9DD9-56877EEFD2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6807775B-580F-4204-AAF2-B4DF68DD4179}" type="slidenum">
              <a:rPr lang="en-US" altLang="en-US" sz="1200"/>
              <a:pPr eaLnBrk="1" hangingPunct="1"/>
              <a:t>32</a:t>
            </a:fld>
            <a:endParaRPr lang="en-US" altLang="en-US" sz="1200"/>
          </a:p>
        </p:txBody>
      </p:sp>
      <p:sp>
        <p:nvSpPr>
          <p:cNvPr id="53251" name="Rectangle 2">
            <a:extLst>
              <a:ext uri="{FF2B5EF4-FFF2-40B4-BE49-F238E27FC236}">
                <a16:creationId xmlns:a16="http://schemas.microsoft.com/office/drawing/2014/main" id="{64553437-D09C-47AC-A822-CC7B05C691EE}"/>
              </a:ext>
            </a:extLst>
          </p:cNvPr>
          <p:cNvSpPr>
            <a:spLocks noGrp="1" noChangeArrowheads="1"/>
          </p:cNvSpPr>
          <p:nvPr>
            <p:ph type="title"/>
          </p:nvPr>
        </p:nvSpPr>
        <p:spPr/>
        <p:txBody>
          <a:bodyPr/>
          <a:lstStyle/>
          <a:p>
            <a:pPr eaLnBrk="1" hangingPunct="1"/>
            <a:r>
              <a:rPr lang="en-US" altLang="en-US" sz="4000"/>
              <a:t>LOC Estimate Issues</a:t>
            </a:r>
          </a:p>
        </p:txBody>
      </p:sp>
      <p:sp>
        <p:nvSpPr>
          <p:cNvPr id="368643" name="Rectangle 3">
            <a:extLst>
              <a:ext uri="{FF2B5EF4-FFF2-40B4-BE49-F238E27FC236}">
                <a16:creationId xmlns:a16="http://schemas.microsoft.com/office/drawing/2014/main" id="{15BAAB41-A5DD-41D2-9948-DE720E85197F}"/>
              </a:ext>
            </a:extLst>
          </p:cNvPr>
          <p:cNvSpPr>
            <a:spLocks noGrp="1" noChangeArrowheads="1"/>
          </p:cNvSpPr>
          <p:nvPr>
            <p:ph type="body" idx="1"/>
          </p:nvPr>
        </p:nvSpPr>
        <p:spPr/>
        <p:txBody>
          <a:bodyPr/>
          <a:lstStyle/>
          <a:p>
            <a:pPr eaLnBrk="1" hangingPunct="1"/>
            <a:r>
              <a:rPr lang="en-US" altLang="en-US" sz="2800"/>
              <a:t>How do you know how many in advance?</a:t>
            </a:r>
          </a:p>
          <a:p>
            <a:pPr eaLnBrk="1" hangingPunct="1"/>
            <a:r>
              <a:rPr lang="en-US" altLang="en-US" sz="2800"/>
              <a:t>What about different languages?</a:t>
            </a:r>
          </a:p>
          <a:p>
            <a:pPr eaLnBrk="1" hangingPunct="1"/>
            <a:r>
              <a:rPr lang="en-US" altLang="en-US" sz="2800"/>
              <a:t>What about programmer style?</a:t>
            </a:r>
          </a:p>
          <a:p>
            <a:pPr eaLnBrk="1" hangingPunct="1"/>
            <a:r>
              <a:rPr lang="en-US" altLang="en-US" sz="2800"/>
              <a:t>Stat: avg. programmer productivity: 3,000 LOC/yr</a:t>
            </a:r>
          </a:p>
          <a:p>
            <a:pPr eaLnBrk="1" hangingPunct="1"/>
            <a:r>
              <a:rPr lang="en-US" altLang="en-US" sz="2800"/>
              <a:t>Most algorithmic approaches are more effective after requirements (or have to be after)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86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686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686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6864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686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3"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Slide Number Placeholder 5">
            <a:extLst>
              <a:ext uri="{FF2B5EF4-FFF2-40B4-BE49-F238E27FC236}">
                <a16:creationId xmlns:a16="http://schemas.microsoft.com/office/drawing/2014/main" id="{A09B0526-3793-4DB9-BC99-27119C0C02E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903BF187-45FC-4CAE-B6BF-553A23603560}" type="slidenum">
              <a:rPr lang="en-US" altLang="en-US" sz="1200"/>
              <a:pPr eaLnBrk="1" hangingPunct="1"/>
              <a:t>33</a:t>
            </a:fld>
            <a:endParaRPr lang="en-US" altLang="en-US" sz="1200"/>
          </a:p>
        </p:txBody>
      </p:sp>
      <p:sp>
        <p:nvSpPr>
          <p:cNvPr id="54275" name="Rectangle 2">
            <a:extLst>
              <a:ext uri="{FF2B5EF4-FFF2-40B4-BE49-F238E27FC236}">
                <a16:creationId xmlns:a16="http://schemas.microsoft.com/office/drawing/2014/main" id="{DE5116FB-775C-4AA0-8B59-ADC5DFDD1BFE}"/>
              </a:ext>
            </a:extLst>
          </p:cNvPr>
          <p:cNvSpPr>
            <a:spLocks noGrp="1" noChangeArrowheads="1"/>
          </p:cNvSpPr>
          <p:nvPr>
            <p:ph type="title"/>
          </p:nvPr>
        </p:nvSpPr>
        <p:spPr/>
        <p:txBody>
          <a:bodyPr/>
          <a:lstStyle/>
          <a:p>
            <a:pPr eaLnBrk="1" hangingPunct="1"/>
            <a:r>
              <a:rPr lang="en-US" altLang="en-US" sz="4000"/>
              <a:t>Function Points</a:t>
            </a:r>
          </a:p>
        </p:txBody>
      </p:sp>
      <p:sp>
        <p:nvSpPr>
          <p:cNvPr id="371715" name="Rectangle 3">
            <a:extLst>
              <a:ext uri="{FF2B5EF4-FFF2-40B4-BE49-F238E27FC236}">
                <a16:creationId xmlns:a16="http://schemas.microsoft.com/office/drawing/2014/main" id="{A5E754EB-D69F-4C63-AA0B-0BA0E1EC77E6}"/>
              </a:ext>
            </a:extLst>
          </p:cNvPr>
          <p:cNvSpPr>
            <a:spLocks noGrp="1" noChangeArrowheads="1"/>
          </p:cNvSpPr>
          <p:nvPr>
            <p:ph type="body" idx="1"/>
          </p:nvPr>
        </p:nvSpPr>
        <p:spPr/>
        <p:txBody>
          <a:bodyPr/>
          <a:lstStyle/>
          <a:p>
            <a:pPr eaLnBrk="1" hangingPunct="1"/>
            <a:r>
              <a:rPr lang="en-US" altLang="en-US" sz="2800" dirty="0"/>
              <a:t>Software size measured by number &amp; complexity of functions it performs</a:t>
            </a:r>
          </a:p>
          <a:p>
            <a:pPr eaLnBrk="1" hangingPunct="1"/>
            <a:r>
              <a:rPr lang="en-US" altLang="en-US" sz="2800" dirty="0"/>
              <a:t>More methodical than LOC counts</a:t>
            </a:r>
          </a:p>
          <a:p>
            <a:pPr eaLnBrk="1" hangingPunct="1"/>
            <a:r>
              <a:rPr lang="en-US" altLang="en-US" sz="2800" dirty="0"/>
              <a:t>House analogy</a:t>
            </a:r>
          </a:p>
          <a:p>
            <a:pPr lvl="1" eaLnBrk="1" hangingPunct="1"/>
            <a:r>
              <a:rPr lang="en-US" altLang="en-US" sz="2400" dirty="0"/>
              <a:t>House’s Square Feet ~= Software LOC</a:t>
            </a:r>
          </a:p>
          <a:p>
            <a:pPr lvl="1" eaLnBrk="1" hangingPunct="1"/>
            <a:r>
              <a:rPr lang="en-US" altLang="en-US" sz="2400" dirty="0"/>
              <a:t># Bedrooms &amp; Baths ~= Function points</a:t>
            </a:r>
          </a:p>
          <a:p>
            <a:pPr lvl="1" eaLnBrk="1" hangingPunct="1"/>
            <a:r>
              <a:rPr lang="en-US" altLang="en-US" sz="2400" dirty="0"/>
              <a:t>Former is size only, latter is size &amp; function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717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717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7171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37171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37171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3717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5"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Slide Number Placeholder 5">
            <a:extLst>
              <a:ext uri="{FF2B5EF4-FFF2-40B4-BE49-F238E27FC236}">
                <a16:creationId xmlns:a16="http://schemas.microsoft.com/office/drawing/2014/main" id="{2FE01BE2-4988-4786-89DD-6F86E133863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1DAC405E-160A-40EB-B649-6AC3C2699035}" type="slidenum">
              <a:rPr lang="en-US" altLang="en-US" sz="1200"/>
              <a:pPr eaLnBrk="1" hangingPunct="1"/>
              <a:t>34</a:t>
            </a:fld>
            <a:endParaRPr lang="en-US" altLang="en-US" sz="1200"/>
          </a:p>
        </p:txBody>
      </p:sp>
      <p:sp>
        <p:nvSpPr>
          <p:cNvPr id="55299" name="Rectangle 2">
            <a:extLst>
              <a:ext uri="{FF2B5EF4-FFF2-40B4-BE49-F238E27FC236}">
                <a16:creationId xmlns:a16="http://schemas.microsoft.com/office/drawing/2014/main" id="{89A3C412-ED8F-4CD2-9DAD-3D66A088DC64}"/>
              </a:ext>
            </a:extLst>
          </p:cNvPr>
          <p:cNvSpPr>
            <a:spLocks noGrp="1" noChangeArrowheads="1"/>
          </p:cNvSpPr>
          <p:nvPr>
            <p:ph type="title"/>
          </p:nvPr>
        </p:nvSpPr>
        <p:spPr/>
        <p:txBody>
          <a:bodyPr/>
          <a:lstStyle/>
          <a:p>
            <a:pPr eaLnBrk="1" hangingPunct="1"/>
            <a:r>
              <a:rPr lang="en-US" altLang="en-US" sz="4000"/>
              <a:t>Function Point Process</a:t>
            </a:r>
          </a:p>
        </p:txBody>
      </p:sp>
      <p:sp>
        <p:nvSpPr>
          <p:cNvPr id="373763" name="Rectangle 3">
            <a:extLst>
              <a:ext uri="{FF2B5EF4-FFF2-40B4-BE49-F238E27FC236}">
                <a16:creationId xmlns:a16="http://schemas.microsoft.com/office/drawing/2014/main" id="{3907DD61-BB23-4350-BABE-3137CC656F07}"/>
              </a:ext>
            </a:extLst>
          </p:cNvPr>
          <p:cNvSpPr>
            <a:spLocks noGrp="1" noChangeArrowheads="1"/>
          </p:cNvSpPr>
          <p:nvPr>
            <p:ph type="body" idx="1"/>
          </p:nvPr>
        </p:nvSpPr>
        <p:spPr/>
        <p:txBody>
          <a:bodyPr/>
          <a:lstStyle/>
          <a:p>
            <a:pPr marL="0" indent="0" eaLnBrk="1" hangingPunct="1">
              <a:buNone/>
            </a:pPr>
            <a:r>
              <a:rPr lang="en-US" altLang="en-US" sz="2400" dirty="0"/>
              <a:t>1. Count # of biz functions per category</a:t>
            </a:r>
          </a:p>
          <a:p>
            <a:pPr lvl="1" eaLnBrk="1" hangingPunct="1"/>
            <a:r>
              <a:rPr lang="en-US" altLang="en-US" sz="2000" dirty="0"/>
              <a:t>Categories: outputs, inputs, </a:t>
            </a:r>
            <a:r>
              <a:rPr lang="en-US" altLang="en-US" sz="2000" dirty="0" err="1"/>
              <a:t>db</a:t>
            </a:r>
            <a:r>
              <a:rPr lang="en-US" altLang="en-US" sz="2000" dirty="0"/>
              <a:t> inquiries, files or data structures, and interfaces</a:t>
            </a:r>
          </a:p>
          <a:p>
            <a:pPr marL="0" indent="0" eaLnBrk="1" hangingPunct="1">
              <a:buNone/>
            </a:pPr>
            <a:r>
              <a:rPr lang="en-US" altLang="en-US" sz="2400" dirty="0"/>
              <a:t>2. Establish Complexity Factor for each and apply</a:t>
            </a:r>
          </a:p>
          <a:p>
            <a:pPr lvl="1" eaLnBrk="1" hangingPunct="1"/>
            <a:r>
              <a:rPr lang="en-US" altLang="en-US" sz="2000" dirty="0"/>
              <a:t>Simple, Average, Complex</a:t>
            </a:r>
          </a:p>
          <a:p>
            <a:pPr lvl="1" eaLnBrk="1" hangingPunct="1"/>
            <a:r>
              <a:rPr lang="en-US" altLang="en-US" sz="2000" dirty="0"/>
              <a:t>Set a weighting multiplier for each (0-&gt;15)</a:t>
            </a:r>
          </a:p>
          <a:p>
            <a:pPr lvl="1" eaLnBrk="1" hangingPunct="1"/>
            <a:r>
              <a:rPr lang="en-US" altLang="en-US" sz="2000" dirty="0"/>
              <a:t>This results in the “unadjusted function-point total”</a:t>
            </a:r>
          </a:p>
          <a:p>
            <a:pPr marL="0" indent="0" eaLnBrk="1" hangingPunct="1">
              <a:buNone/>
            </a:pPr>
            <a:r>
              <a:rPr lang="en-US" altLang="en-US" sz="2400" dirty="0"/>
              <a:t>3. Compute an “influence multiplier” and apply</a:t>
            </a:r>
          </a:p>
          <a:p>
            <a:pPr lvl="1" eaLnBrk="1" hangingPunct="1"/>
            <a:r>
              <a:rPr lang="en-US" altLang="en-US" sz="2000" dirty="0"/>
              <a:t>It ranges from 0.65 to 1.35; is based on 14 factors</a:t>
            </a:r>
          </a:p>
          <a:p>
            <a:pPr marL="0" indent="0" eaLnBrk="1" hangingPunct="1">
              <a:buNone/>
            </a:pPr>
            <a:r>
              <a:rPr lang="en-US" altLang="en-US" sz="2400" dirty="0"/>
              <a:t>4. Results in “function point total” </a:t>
            </a:r>
          </a:p>
          <a:p>
            <a:pPr lvl="1" eaLnBrk="1" hangingPunct="1"/>
            <a:r>
              <a:rPr lang="en-US" altLang="en-US" sz="2000" dirty="0"/>
              <a:t>This can be used in comparative estimates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737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7376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37376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37376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37376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373763">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7376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373763">
                                            <p:txEl>
                                              <p:pRg st="7" end="7"/>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37376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37376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3"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Slide Number Placeholder 5">
            <a:extLst>
              <a:ext uri="{FF2B5EF4-FFF2-40B4-BE49-F238E27FC236}">
                <a16:creationId xmlns:a16="http://schemas.microsoft.com/office/drawing/2014/main" id="{4D26D034-C95C-44C8-90B0-5A2E0FA9216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3730212F-9256-4D91-B95C-E9D3C7307D5B}" type="slidenum">
              <a:rPr lang="en-US" altLang="en-US" sz="1200"/>
              <a:pPr eaLnBrk="1" hangingPunct="1"/>
              <a:t>35</a:t>
            </a:fld>
            <a:endParaRPr lang="en-US" altLang="en-US" sz="1200"/>
          </a:p>
        </p:txBody>
      </p:sp>
      <p:sp>
        <p:nvSpPr>
          <p:cNvPr id="57347" name="Rectangle 2">
            <a:extLst>
              <a:ext uri="{FF2B5EF4-FFF2-40B4-BE49-F238E27FC236}">
                <a16:creationId xmlns:a16="http://schemas.microsoft.com/office/drawing/2014/main" id="{827FA9C3-E242-4B17-98B6-B1166D2FC3ED}"/>
              </a:ext>
            </a:extLst>
          </p:cNvPr>
          <p:cNvSpPr>
            <a:spLocks noGrp="1" noChangeArrowheads="1"/>
          </p:cNvSpPr>
          <p:nvPr>
            <p:ph type="title"/>
          </p:nvPr>
        </p:nvSpPr>
        <p:spPr/>
        <p:txBody>
          <a:bodyPr/>
          <a:lstStyle/>
          <a:p>
            <a:pPr eaLnBrk="1" hangingPunct="1"/>
            <a:r>
              <a:rPr lang="en-US" altLang="en-US" sz="4000" dirty="0"/>
              <a:t>Parametric Method Issues</a:t>
            </a:r>
          </a:p>
        </p:txBody>
      </p:sp>
      <p:sp>
        <p:nvSpPr>
          <p:cNvPr id="412675" name="Rectangle 3">
            <a:extLst>
              <a:ext uri="{FF2B5EF4-FFF2-40B4-BE49-F238E27FC236}">
                <a16:creationId xmlns:a16="http://schemas.microsoft.com/office/drawing/2014/main" id="{A4F6C56A-0E5F-4969-8ADC-39D80B4ABFFC}"/>
              </a:ext>
            </a:extLst>
          </p:cNvPr>
          <p:cNvSpPr>
            <a:spLocks noGrp="1" noChangeArrowheads="1"/>
          </p:cNvSpPr>
          <p:nvPr>
            <p:ph type="body" idx="1"/>
          </p:nvPr>
        </p:nvSpPr>
        <p:spPr/>
        <p:txBody>
          <a:bodyPr>
            <a:normAutofit lnSpcReduction="10000"/>
          </a:bodyPr>
          <a:lstStyle/>
          <a:p>
            <a:pPr eaLnBrk="1" hangingPunct="1">
              <a:lnSpc>
                <a:spcPct val="90000"/>
              </a:lnSpc>
            </a:pPr>
            <a:r>
              <a:rPr lang="en-US" altLang="en-US" sz="2800" dirty="0"/>
              <a:t>Remember: most projects you’ll run into don’t use these</a:t>
            </a:r>
          </a:p>
          <a:p>
            <a:pPr eaLnBrk="1" hangingPunct="1">
              <a:lnSpc>
                <a:spcPct val="90000"/>
              </a:lnSpc>
            </a:pPr>
            <a:r>
              <a:rPr lang="en-US" altLang="en-US" sz="2800" dirty="0"/>
              <a:t>Which is ‘normal’, so don’t be surprised</a:t>
            </a:r>
          </a:p>
          <a:p>
            <a:pPr lvl="1" eaLnBrk="1" hangingPunct="1">
              <a:lnSpc>
                <a:spcPct val="90000"/>
              </a:lnSpc>
            </a:pPr>
            <a:r>
              <a:rPr lang="en-US" altLang="en-US" sz="2400" dirty="0"/>
              <a:t>Or come-in to new job and say “Hey, let’s use </a:t>
            </a:r>
            <a:r>
              <a:rPr lang="en-US" altLang="en-US" sz="2400" dirty="0" err="1"/>
              <a:t>COCOMO</a:t>
            </a:r>
            <a:r>
              <a:rPr lang="en-US" altLang="en-US" sz="2400" dirty="0"/>
              <a:t>”</a:t>
            </a:r>
          </a:p>
          <a:p>
            <a:pPr eaLnBrk="1" hangingPunct="1">
              <a:lnSpc>
                <a:spcPct val="90000"/>
              </a:lnSpc>
            </a:pPr>
            <a:r>
              <a:rPr lang="en-US" altLang="en-US" sz="2800" dirty="0"/>
              <a:t>These are more effective on large projects </a:t>
            </a:r>
          </a:p>
          <a:p>
            <a:pPr lvl="1" eaLnBrk="1" hangingPunct="1">
              <a:lnSpc>
                <a:spcPct val="90000"/>
              </a:lnSpc>
            </a:pPr>
            <a:r>
              <a:rPr lang="en-US" altLang="en-US" sz="2400" dirty="0"/>
              <a:t>Where a past historical base exists</a:t>
            </a:r>
          </a:p>
          <a:p>
            <a:pPr eaLnBrk="1" hangingPunct="1">
              <a:lnSpc>
                <a:spcPct val="90000"/>
              </a:lnSpc>
            </a:pPr>
            <a:r>
              <a:rPr lang="en-US" altLang="en-US" sz="2800" dirty="0"/>
              <a:t>Primary issue for most projects are</a:t>
            </a:r>
          </a:p>
          <a:p>
            <a:pPr lvl="1" eaLnBrk="1" hangingPunct="1">
              <a:lnSpc>
                <a:spcPct val="90000"/>
              </a:lnSpc>
            </a:pPr>
            <a:r>
              <a:rPr lang="en-US" altLang="en-US" sz="2400" dirty="0"/>
              <a:t>Lack of similar projects</a:t>
            </a:r>
          </a:p>
          <a:p>
            <a:pPr lvl="2" eaLnBrk="1" hangingPunct="1">
              <a:lnSpc>
                <a:spcPct val="90000"/>
              </a:lnSpc>
            </a:pPr>
            <a:r>
              <a:rPr lang="en-US" altLang="en-US" sz="2000" dirty="0"/>
              <a:t>Thus lack of comparable data</a:t>
            </a:r>
          </a:p>
          <a:p>
            <a:pPr eaLnBrk="1" hangingPunct="1">
              <a:lnSpc>
                <a:spcPct val="90000"/>
              </a:lnSpc>
            </a:pPr>
            <a:r>
              <a:rPr lang="en-US" altLang="en-US" sz="2800" dirty="0"/>
              <a:t>Catch: how to get started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126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1267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412675">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41267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41267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12675">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412675">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412675">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126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5"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Slide Number Placeholder 5">
            <a:extLst>
              <a:ext uri="{FF2B5EF4-FFF2-40B4-BE49-F238E27FC236}">
                <a16:creationId xmlns:a16="http://schemas.microsoft.com/office/drawing/2014/main" id="{202FD181-956F-436F-B8DD-A17B0E3CFD6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C4AB5EC8-76E3-4BB2-BB26-D2668D2BE6B3}" type="slidenum">
              <a:rPr lang="en-US" altLang="en-US" sz="1200"/>
              <a:pPr eaLnBrk="1" hangingPunct="1"/>
              <a:t>36</a:t>
            </a:fld>
            <a:endParaRPr lang="en-US" altLang="en-US" sz="1200"/>
          </a:p>
        </p:txBody>
      </p:sp>
      <p:sp>
        <p:nvSpPr>
          <p:cNvPr id="58371" name="Rectangle 2">
            <a:extLst>
              <a:ext uri="{FF2B5EF4-FFF2-40B4-BE49-F238E27FC236}">
                <a16:creationId xmlns:a16="http://schemas.microsoft.com/office/drawing/2014/main" id="{682AF4B8-A64A-43B2-ABB1-6060B2E030EB}"/>
              </a:ext>
            </a:extLst>
          </p:cNvPr>
          <p:cNvSpPr>
            <a:spLocks noGrp="1" noChangeArrowheads="1"/>
          </p:cNvSpPr>
          <p:nvPr>
            <p:ph type="title"/>
          </p:nvPr>
        </p:nvSpPr>
        <p:spPr/>
        <p:txBody>
          <a:bodyPr/>
          <a:lstStyle/>
          <a:p>
            <a:pPr eaLnBrk="1" hangingPunct="1"/>
            <a:r>
              <a:rPr lang="en-US" altLang="en-US" sz="4000"/>
              <a:t>Code Reuse &amp; Estimation</a:t>
            </a:r>
          </a:p>
        </p:txBody>
      </p:sp>
      <p:sp>
        <p:nvSpPr>
          <p:cNvPr id="447491" name="Rectangle 3">
            <a:extLst>
              <a:ext uri="{FF2B5EF4-FFF2-40B4-BE49-F238E27FC236}">
                <a16:creationId xmlns:a16="http://schemas.microsoft.com/office/drawing/2014/main" id="{699D1E09-77D7-4F7E-A298-FCAEB06A08B6}"/>
              </a:ext>
            </a:extLst>
          </p:cNvPr>
          <p:cNvSpPr>
            <a:spLocks noGrp="1" noChangeArrowheads="1"/>
          </p:cNvSpPr>
          <p:nvPr>
            <p:ph type="body" idx="1"/>
          </p:nvPr>
        </p:nvSpPr>
        <p:spPr/>
        <p:txBody>
          <a:bodyPr/>
          <a:lstStyle/>
          <a:p>
            <a:pPr eaLnBrk="1" hangingPunct="1"/>
            <a:r>
              <a:rPr lang="en-US" altLang="en-US" sz="2800"/>
              <a:t>Does not come for free</a:t>
            </a:r>
          </a:p>
          <a:p>
            <a:pPr eaLnBrk="1" hangingPunct="1"/>
            <a:r>
              <a:rPr lang="en-US" altLang="en-US" sz="2800"/>
              <a:t>Code types: New, Modified, Reused</a:t>
            </a:r>
          </a:p>
          <a:p>
            <a:pPr eaLnBrk="1" hangingPunct="1"/>
            <a:r>
              <a:rPr lang="en-US" altLang="en-US" sz="2800"/>
              <a:t>If code is more than 50% modified, it’s “new”</a:t>
            </a:r>
          </a:p>
          <a:p>
            <a:pPr eaLnBrk="1" hangingPunct="1"/>
            <a:r>
              <a:rPr lang="en-US" altLang="en-US" sz="2800"/>
              <a:t>Reuse factors have wide range</a:t>
            </a:r>
          </a:p>
          <a:p>
            <a:pPr lvl="1" eaLnBrk="1" hangingPunct="1"/>
            <a:r>
              <a:rPr lang="en-US" altLang="en-US" sz="2400"/>
              <a:t>Reused code takes 30% effort of new</a:t>
            </a:r>
          </a:p>
          <a:p>
            <a:pPr lvl="1" eaLnBrk="1" hangingPunct="1"/>
            <a:r>
              <a:rPr lang="en-US" altLang="en-US" sz="2400"/>
              <a:t>Modified is 60% of new</a:t>
            </a:r>
          </a:p>
          <a:p>
            <a:pPr eaLnBrk="1" hangingPunct="1"/>
            <a:r>
              <a:rPr lang="en-US" altLang="en-US" sz="2800"/>
              <a:t>Integration effort with reused code almost as expensive as with new code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74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4749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4749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47491">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447491">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447491">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474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491"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Slide Number Placeholder 5">
            <a:extLst>
              <a:ext uri="{FF2B5EF4-FFF2-40B4-BE49-F238E27FC236}">
                <a16:creationId xmlns:a16="http://schemas.microsoft.com/office/drawing/2014/main" id="{7DBC831A-FF65-4660-858D-5EF2C112407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C43C834C-181E-49AF-AB33-85BDEAC2C08C}" type="slidenum">
              <a:rPr lang="en-US" altLang="en-US" sz="1200"/>
              <a:pPr eaLnBrk="1" hangingPunct="1"/>
              <a:t>37</a:t>
            </a:fld>
            <a:endParaRPr lang="en-US" altLang="en-US" sz="1200"/>
          </a:p>
        </p:txBody>
      </p:sp>
      <p:sp>
        <p:nvSpPr>
          <p:cNvPr id="59395" name="Rectangle 2">
            <a:extLst>
              <a:ext uri="{FF2B5EF4-FFF2-40B4-BE49-F238E27FC236}">
                <a16:creationId xmlns:a16="http://schemas.microsoft.com/office/drawing/2014/main" id="{461DC443-6167-42B9-89B4-9233612EAF97}"/>
              </a:ext>
            </a:extLst>
          </p:cNvPr>
          <p:cNvSpPr>
            <a:spLocks noGrp="1" noChangeArrowheads="1"/>
          </p:cNvSpPr>
          <p:nvPr>
            <p:ph type="title"/>
          </p:nvPr>
        </p:nvSpPr>
        <p:spPr/>
        <p:txBody>
          <a:bodyPr/>
          <a:lstStyle/>
          <a:p>
            <a:pPr eaLnBrk="1" hangingPunct="1"/>
            <a:r>
              <a:rPr lang="en-US" altLang="en-US" sz="4000"/>
              <a:t>Effort Estimation</a:t>
            </a:r>
          </a:p>
        </p:txBody>
      </p:sp>
      <p:sp>
        <p:nvSpPr>
          <p:cNvPr id="388099" name="Rectangle 3">
            <a:extLst>
              <a:ext uri="{FF2B5EF4-FFF2-40B4-BE49-F238E27FC236}">
                <a16:creationId xmlns:a16="http://schemas.microsoft.com/office/drawing/2014/main" id="{CA0E03C0-62A4-471E-978D-5D6F85FB2ECB}"/>
              </a:ext>
            </a:extLst>
          </p:cNvPr>
          <p:cNvSpPr>
            <a:spLocks noGrp="1" noChangeArrowheads="1"/>
          </p:cNvSpPr>
          <p:nvPr>
            <p:ph type="body" idx="1"/>
          </p:nvPr>
        </p:nvSpPr>
        <p:spPr/>
        <p:txBody>
          <a:bodyPr/>
          <a:lstStyle/>
          <a:p>
            <a:pPr eaLnBrk="1" hangingPunct="1"/>
            <a:r>
              <a:rPr lang="en-US" altLang="en-US" sz="2800"/>
              <a:t>Now that you know the “size”, determine the “effort” needed to build it</a:t>
            </a:r>
          </a:p>
          <a:p>
            <a:pPr eaLnBrk="1" hangingPunct="1"/>
            <a:r>
              <a:rPr lang="en-US" altLang="en-US" sz="2800"/>
              <a:t>Various models: empirical, mathematical, subjective</a:t>
            </a:r>
          </a:p>
          <a:p>
            <a:pPr eaLnBrk="1" hangingPunct="1"/>
            <a:r>
              <a:rPr lang="en-US" altLang="en-US" sz="2800"/>
              <a:t>Expressed in units of duration</a:t>
            </a:r>
          </a:p>
          <a:p>
            <a:pPr lvl="1" eaLnBrk="1" hangingPunct="1"/>
            <a:r>
              <a:rPr lang="en-US" altLang="en-US" sz="2400"/>
              <a:t>Man-months (or ‘staff-months’ now)</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80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880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8809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3880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9"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Slide Number Placeholder 5">
            <a:extLst>
              <a:ext uri="{FF2B5EF4-FFF2-40B4-BE49-F238E27FC236}">
                <a16:creationId xmlns:a16="http://schemas.microsoft.com/office/drawing/2014/main" id="{38D32A1B-946E-4AA3-B00B-6862A3627CA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B095F153-E3F2-49D1-BDE8-D815A9F84F9B}" type="slidenum">
              <a:rPr lang="en-US" altLang="en-US" sz="1200"/>
              <a:pPr eaLnBrk="1" hangingPunct="1"/>
              <a:t>38</a:t>
            </a:fld>
            <a:endParaRPr lang="en-US" altLang="en-US" sz="1200"/>
          </a:p>
        </p:txBody>
      </p:sp>
      <p:sp>
        <p:nvSpPr>
          <p:cNvPr id="60419" name="Rectangle 2">
            <a:extLst>
              <a:ext uri="{FF2B5EF4-FFF2-40B4-BE49-F238E27FC236}">
                <a16:creationId xmlns:a16="http://schemas.microsoft.com/office/drawing/2014/main" id="{9127CD6D-375E-43CE-A2AB-18871631D6AB}"/>
              </a:ext>
            </a:extLst>
          </p:cNvPr>
          <p:cNvSpPr>
            <a:spLocks noGrp="1" noChangeArrowheads="1"/>
          </p:cNvSpPr>
          <p:nvPr>
            <p:ph type="title"/>
          </p:nvPr>
        </p:nvSpPr>
        <p:spPr/>
        <p:txBody>
          <a:bodyPr/>
          <a:lstStyle/>
          <a:p>
            <a:pPr eaLnBrk="1" hangingPunct="1"/>
            <a:r>
              <a:rPr lang="en-US" altLang="en-US" sz="4000"/>
              <a:t>Effort Estimation</a:t>
            </a:r>
          </a:p>
        </p:txBody>
      </p:sp>
      <p:sp>
        <p:nvSpPr>
          <p:cNvPr id="484355" name="Rectangle 3">
            <a:extLst>
              <a:ext uri="{FF2B5EF4-FFF2-40B4-BE49-F238E27FC236}">
                <a16:creationId xmlns:a16="http://schemas.microsoft.com/office/drawing/2014/main" id="{F7BE1BFD-910C-4685-AAF3-F569D68596E7}"/>
              </a:ext>
            </a:extLst>
          </p:cNvPr>
          <p:cNvSpPr>
            <a:spLocks noGrp="1" noChangeArrowheads="1"/>
          </p:cNvSpPr>
          <p:nvPr>
            <p:ph type="body" idx="1"/>
          </p:nvPr>
        </p:nvSpPr>
        <p:spPr/>
        <p:txBody>
          <a:bodyPr/>
          <a:lstStyle/>
          <a:p>
            <a:pPr algn="just" eaLnBrk="1" hangingPunct="1">
              <a:lnSpc>
                <a:spcPct val="100000"/>
              </a:lnSpc>
            </a:pPr>
            <a:r>
              <a:rPr lang="en-US" altLang="en-US" sz="2400" dirty="0"/>
              <a:t>McConnell shows schedule tables for conversion of size to effort</a:t>
            </a:r>
          </a:p>
          <a:p>
            <a:pPr algn="just" eaLnBrk="1" hangingPunct="1">
              <a:lnSpc>
                <a:spcPct val="100000"/>
              </a:lnSpc>
            </a:pPr>
            <a:r>
              <a:rPr lang="en-US" altLang="en-US" sz="2400" dirty="0"/>
              <a:t>As with parametric size estimation, these techniques perform better with historical data</a:t>
            </a:r>
          </a:p>
          <a:p>
            <a:pPr algn="just" eaLnBrk="1" hangingPunct="1">
              <a:lnSpc>
                <a:spcPct val="100000"/>
              </a:lnSpc>
            </a:pPr>
            <a:r>
              <a:rPr lang="en-US" altLang="en-US" sz="2400" dirty="0"/>
              <a:t>Again, not seen in ‘average’ projects</a:t>
            </a:r>
          </a:p>
          <a:p>
            <a:pPr algn="just" eaLnBrk="1" hangingPunct="1">
              <a:lnSpc>
                <a:spcPct val="100000"/>
              </a:lnSpc>
            </a:pPr>
            <a:r>
              <a:rPr lang="en-US" altLang="en-US" sz="2400" dirty="0"/>
              <a:t>Often the size and effort estimation steps are combined (not that this is recommended, but is what often is done)</a:t>
            </a:r>
          </a:p>
          <a:p>
            <a:pPr algn="just" eaLnBrk="1" hangingPunct="1">
              <a:lnSpc>
                <a:spcPct val="100000"/>
              </a:lnSpc>
            </a:pPr>
            <a:r>
              <a:rPr lang="en-US" altLang="en-US" sz="2400" dirty="0"/>
              <a:t>“Commitment-Based” Scheduling is what is often done</a:t>
            </a:r>
          </a:p>
          <a:p>
            <a:pPr lvl="1" algn="just" eaLnBrk="1" hangingPunct="1">
              <a:lnSpc>
                <a:spcPct val="100000"/>
              </a:lnSpc>
            </a:pPr>
            <a:r>
              <a:rPr lang="en-US" altLang="en-US" sz="2000" dirty="0"/>
              <a:t>Ask developer to ‘commit’ to an estimate (his or her own)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843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8435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8435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8435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8435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48435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55"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Slide Number Placeholder 5">
            <a:extLst>
              <a:ext uri="{FF2B5EF4-FFF2-40B4-BE49-F238E27FC236}">
                <a16:creationId xmlns:a16="http://schemas.microsoft.com/office/drawing/2014/main" id="{BC7D4295-F366-4BF5-8B63-C443AB87F42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4F4E44E0-52D3-4327-9355-9FA0E950F710}" type="slidenum">
              <a:rPr lang="en-US" altLang="en-US" sz="1200"/>
              <a:pPr eaLnBrk="1" hangingPunct="1"/>
              <a:t>39</a:t>
            </a:fld>
            <a:endParaRPr lang="en-US" altLang="en-US" sz="1200"/>
          </a:p>
        </p:txBody>
      </p:sp>
      <p:sp>
        <p:nvSpPr>
          <p:cNvPr id="61443" name="Rectangle 2">
            <a:extLst>
              <a:ext uri="{FF2B5EF4-FFF2-40B4-BE49-F238E27FC236}">
                <a16:creationId xmlns:a16="http://schemas.microsoft.com/office/drawing/2014/main" id="{CB4D6E44-59D2-42DD-B8DD-ACE007722144}"/>
              </a:ext>
            </a:extLst>
          </p:cNvPr>
          <p:cNvSpPr>
            <a:spLocks noGrp="1" noChangeArrowheads="1"/>
          </p:cNvSpPr>
          <p:nvPr>
            <p:ph type="title"/>
          </p:nvPr>
        </p:nvSpPr>
        <p:spPr/>
        <p:txBody>
          <a:bodyPr/>
          <a:lstStyle/>
          <a:p>
            <a:pPr eaLnBrk="1" hangingPunct="1"/>
            <a:r>
              <a:rPr lang="en-US" altLang="en-US" sz="4000"/>
              <a:t>COCOMO</a:t>
            </a:r>
          </a:p>
        </p:txBody>
      </p:sp>
      <p:sp>
        <p:nvSpPr>
          <p:cNvPr id="448515" name="Rectangle 3">
            <a:extLst>
              <a:ext uri="{FF2B5EF4-FFF2-40B4-BE49-F238E27FC236}">
                <a16:creationId xmlns:a16="http://schemas.microsoft.com/office/drawing/2014/main" id="{451D8392-AA3A-4BB6-918B-76C7091273F6}"/>
              </a:ext>
            </a:extLst>
          </p:cNvPr>
          <p:cNvSpPr>
            <a:spLocks noGrp="1" noChangeArrowheads="1"/>
          </p:cNvSpPr>
          <p:nvPr>
            <p:ph type="body" idx="1"/>
          </p:nvPr>
        </p:nvSpPr>
        <p:spPr/>
        <p:txBody>
          <a:bodyPr>
            <a:normAutofit lnSpcReduction="10000"/>
          </a:bodyPr>
          <a:lstStyle/>
          <a:p>
            <a:pPr eaLnBrk="1" hangingPunct="1">
              <a:lnSpc>
                <a:spcPct val="90000"/>
              </a:lnSpc>
            </a:pPr>
            <a:r>
              <a:rPr lang="en-US" altLang="en-US" sz="2800"/>
              <a:t>COnstructive COst MOdel </a:t>
            </a:r>
          </a:p>
          <a:p>
            <a:pPr eaLnBrk="1" hangingPunct="1">
              <a:lnSpc>
                <a:spcPct val="90000"/>
              </a:lnSpc>
            </a:pPr>
            <a:r>
              <a:rPr lang="en-US" altLang="en-US" sz="2800"/>
              <a:t>Allows for the type of application, size, and “Cost Drivers”</a:t>
            </a:r>
          </a:p>
          <a:p>
            <a:pPr eaLnBrk="1" hangingPunct="1">
              <a:lnSpc>
                <a:spcPct val="90000"/>
              </a:lnSpc>
            </a:pPr>
            <a:r>
              <a:rPr lang="en-US" altLang="en-US" sz="2800"/>
              <a:t>Outputs in Person Months</a:t>
            </a:r>
          </a:p>
          <a:p>
            <a:pPr eaLnBrk="1" hangingPunct="1">
              <a:lnSpc>
                <a:spcPct val="90000"/>
              </a:lnSpc>
            </a:pPr>
            <a:r>
              <a:rPr lang="en-US" altLang="en-US" sz="2800"/>
              <a:t>Cost drivers using High/Med/Low &amp; include</a:t>
            </a:r>
          </a:p>
          <a:p>
            <a:pPr lvl="1" eaLnBrk="1" hangingPunct="1">
              <a:lnSpc>
                <a:spcPct val="90000"/>
              </a:lnSpc>
            </a:pPr>
            <a:r>
              <a:rPr lang="en-US" altLang="en-US" sz="2400"/>
              <a:t>Motivation</a:t>
            </a:r>
          </a:p>
          <a:p>
            <a:pPr lvl="1" eaLnBrk="1" hangingPunct="1">
              <a:lnSpc>
                <a:spcPct val="90000"/>
              </a:lnSpc>
            </a:pPr>
            <a:r>
              <a:rPr lang="en-US" altLang="en-US" sz="2400"/>
              <a:t>Ability of team</a:t>
            </a:r>
          </a:p>
          <a:p>
            <a:pPr lvl="1" eaLnBrk="1" hangingPunct="1">
              <a:lnSpc>
                <a:spcPct val="90000"/>
              </a:lnSpc>
            </a:pPr>
            <a:r>
              <a:rPr lang="en-US" altLang="en-US" sz="2400"/>
              <a:t>Application experience</a:t>
            </a:r>
          </a:p>
          <a:p>
            <a:pPr eaLnBrk="1" hangingPunct="1">
              <a:lnSpc>
                <a:spcPct val="90000"/>
              </a:lnSpc>
            </a:pPr>
            <a:r>
              <a:rPr lang="en-US" altLang="en-US" sz="2800"/>
              <a:t>Biggest weakness?</a:t>
            </a:r>
          </a:p>
          <a:p>
            <a:pPr lvl="1" eaLnBrk="1" hangingPunct="1">
              <a:lnSpc>
                <a:spcPct val="90000"/>
              </a:lnSpc>
            </a:pPr>
            <a:r>
              <a:rPr lang="en-US" altLang="en-US" sz="2400"/>
              <a:t>Requires input of a product size estimate in LOC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85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485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4851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4851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44851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448515">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448515">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448515">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4485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15"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Slide Number Placeholder 5">
            <a:extLst>
              <a:ext uri="{FF2B5EF4-FFF2-40B4-BE49-F238E27FC236}">
                <a16:creationId xmlns:a16="http://schemas.microsoft.com/office/drawing/2014/main" id="{D8400FFC-FEFA-4D3B-9B7F-A20272E238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D951D0A0-EF30-43D7-8769-73DB7BD67B9B}" type="slidenum">
              <a:rPr lang="en-US" altLang="en-US" sz="1200"/>
              <a:pPr eaLnBrk="1" hangingPunct="1"/>
              <a:t>40</a:t>
            </a:fld>
            <a:endParaRPr lang="en-US" altLang="en-US" sz="1200"/>
          </a:p>
        </p:txBody>
      </p:sp>
      <p:sp>
        <p:nvSpPr>
          <p:cNvPr id="64515" name="Rectangle 2">
            <a:extLst>
              <a:ext uri="{FF2B5EF4-FFF2-40B4-BE49-F238E27FC236}">
                <a16:creationId xmlns:a16="http://schemas.microsoft.com/office/drawing/2014/main" id="{B87180FE-1DF9-4FCE-A312-006A8C6CE2DF}"/>
              </a:ext>
            </a:extLst>
          </p:cNvPr>
          <p:cNvSpPr>
            <a:spLocks noGrp="1" noChangeArrowheads="1"/>
          </p:cNvSpPr>
          <p:nvPr>
            <p:ph type="title"/>
          </p:nvPr>
        </p:nvSpPr>
        <p:spPr/>
        <p:txBody>
          <a:bodyPr/>
          <a:lstStyle/>
          <a:p>
            <a:pPr eaLnBrk="1" hangingPunct="1"/>
            <a:r>
              <a:rPr lang="en-US" altLang="en-US" sz="4000"/>
              <a:t>Estimation Guidelines</a:t>
            </a:r>
          </a:p>
        </p:txBody>
      </p:sp>
      <p:sp>
        <p:nvSpPr>
          <p:cNvPr id="444419" name="Rectangle 3">
            <a:extLst>
              <a:ext uri="{FF2B5EF4-FFF2-40B4-BE49-F238E27FC236}">
                <a16:creationId xmlns:a16="http://schemas.microsoft.com/office/drawing/2014/main" id="{FA8433B4-8A36-4EB0-8E6A-F4EDF4C686D9}"/>
              </a:ext>
            </a:extLst>
          </p:cNvPr>
          <p:cNvSpPr>
            <a:spLocks noGrp="1" noChangeArrowheads="1"/>
          </p:cNvSpPr>
          <p:nvPr>
            <p:ph type="body" idx="1"/>
          </p:nvPr>
        </p:nvSpPr>
        <p:spPr/>
        <p:txBody>
          <a:bodyPr/>
          <a:lstStyle/>
          <a:p>
            <a:pPr eaLnBrk="1" hangingPunct="1"/>
            <a:r>
              <a:rPr lang="en-US" altLang="en-US" sz="2800"/>
              <a:t>Estimate iteratively!</a:t>
            </a:r>
          </a:p>
          <a:p>
            <a:pPr lvl="1" eaLnBrk="1" hangingPunct="1"/>
            <a:r>
              <a:rPr lang="en-US" altLang="en-US" sz="2400"/>
              <a:t>Process of gradual refinement</a:t>
            </a:r>
          </a:p>
          <a:p>
            <a:pPr lvl="1" eaLnBrk="1" hangingPunct="1"/>
            <a:r>
              <a:rPr lang="en-US" altLang="en-US" sz="2400"/>
              <a:t>Make your best estimates at each planning stage</a:t>
            </a:r>
          </a:p>
          <a:p>
            <a:pPr lvl="1" eaLnBrk="1" hangingPunct="1"/>
            <a:r>
              <a:rPr lang="en-US" altLang="en-US" sz="2400"/>
              <a:t>Refine estimates and adjust plans iteratively</a:t>
            </a:r>
          </a:p>
          <a:p>
            <a:pPr lvl="1" eaLnBrk="1" hangingPunct="1"/>
            <a:r>
              <a:rPr lang="en-US" altLang="en-US" sz="2400"/>
              <a:t>Plans and decisions can be refined in response</a:t>
            </a:r>
          </a:p>
          <a:p>
            <a:pPr lvl="1" eaLnBrk="1" hangingPunct="1"/>
            <a:r>
              <a:rPr lang="en-US" altLang="en-US" sz="2400"/>
              <a:t>Balance: too many revisions vs. too few</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44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44441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44441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44441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44441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4444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Slide Number Placeholder 5">
            <a:extLst>
              <a:ext uri="{FF2B5EF4-FFF2-40B4-BE49-F238E27FC236}">
                <a16:creationId xmlns:a16="http://schemas.microsoft.com/office/drawing/2014/main" id="{856F7A95-AF22-498B-9350-3C70F665D6E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98194A2A-89E4-4EE6-8E62-A6ADA7BFF9A6}" type="slidenum">
              <a:rPr lang="en-US" altLang="en-US" sz="1200"/>
              <a:pPr eaLnBrk="1" hangingPunct="1"/>
              <a:t>41</a:t>
            </a:fld>
            <a:endParaRPr lang="en-US" altLang="en-US" sz="1200"/>
          </a:p>
        </p:txBody>
      </p:sp>
      <p:sp>
        <p:nvSpPr>
          <p:cNvPr id="65539" name="Rectangle 2">
            <a:extLst>
              <a:ext uri="{FF2B5EF4-FFF2-40B4-BE49-F238E27FC236}">
                <a16:creationId xmlns:a16="http://schemas.microsoft.com/office/drawing/2014/main" id="{22EBD239-1206-457D-9C80-DE3A42AF7846}"/>
              </a:ext>
            </a:extLst>
          </p:cNvPr>
          <p:cNvSpPr>
            <a:spLocks noGrp="1" noChangeArrowheads="1"/>
          </p:cNvSpPr>
          <p:nvPr>
            <p:ph type="title"/>
          </p:nvPr>
        </p:nvSpPr>
        <p:spPr/>
        <p:txBody>
          <a:bodyPr/>
          <a:lstStyle/>
          <a:p>
            <a:pPr eaLnBrk="1" hangingPunct="1"/>
            <a:r>
              <a:rPr lang="en-US" altLang="en-US" sz="4000"/>
              <a:t>Know Your Deadlines</a:t>
            </a:r>
          </a:p>
        </p:txBody>
      </p:sp>
      <p:sp>
        <p:nvSpPr>
          <p:cNvPr id="446467" name="Rectangle 3">
            <a:extLst>
              <a:ext uri="{FF2B5EF4-FFF2-40B4-BE49-F238E27FC236}">
                <a16:creationId xmlns:a16="http://schemas.microsoft.com/office/drawing/2014/main" id="{B0968B26-ABD8-4F3F-A3F8-C5B47D24E015}"/>
              </a:ext>
            </a:extLst>
          </p:cNvPr>
          <p:cNvSpPr>
            <a:spLocks noGrp="1" noChangeArrowheads="1"/>
          </p:cNvSpPr>
          <p:nvPr>
            <p:ph type="body" idx="1"/>
          </p:nvPr>
        </p:nvSpPr>
        <p:spPr/>
        <p:txBody>
          <a:bodyPr/>
          <a:lstStyle/>
          <a:p>
            <a:pPr eaLnBrk="1" hangingPunct="1"/>
            <a:r>
              <a:rPr lang="en-US" altLang="en-US" sz="2800" dirty="0"/>
              <a:t>Are they ‘Real Deadlines’?</a:t>
            </a:r>
          </a:p>
          <a:p>
            <a:pPr lvl="1" eaLnBrk="1" hangingPunct="1"/>
            <a:r>
              <a:rPr lang="en-US" altLang="en-US" sz="2400" dirty="0"/>
              <a:t>Tied to an external event</a:t>
            </a:r>
          </a:p>
          <a:p>
            <a:pPr lvl="1" eaLnBrk="1" hangingPunct="1"/>
            <a:r>
              <a:rPr lang="en-US" altLang="en-US" sz="2400" dirty="0"/>
              <a:t>Have to be met for project to be a success</a:t>
            </a:r>
          </a:p>
          <a:p>
            <a:pPr lvl="1" eaLnBrk="1" hangingPunct="1"/>
            <a:r>
              <a:rPr lang="en-US" altLang="en-US" sz="2400" dirty="0"/>
              <a:t>Ex: end of financial year, contractual deadline</a:t>
            </a:r>
          </a:p>
          <a:p>
            <a:pPr eaLnBrk="1" hangingPunct="1"/>
            <a:r>
              <a:rPr lang="en-US" altLang="en-US" sz="2800" dirty="0"/>
              <a:t>Or ‘Artificial Deadlines’?</a:t>
            </a:r>
          </a:p>
          <a:p>
            <a:pPr lvl="1" eaLnBrk="1" hangingPunct="1"/>
            <a:r>
              <a:rPr lang="en-US" altLang="en-US" sz="2400" dirty="0"/>
              <a:t>Set by arbitrary authority</a:t>
            </a:r>
          </a:p>
          <a:p>
            <a:pPr lvl="1" eaLnBrk="1" hangingPunct="1"/>
            <a:r>
              <a:rPr lang="en-US" altLang="en-US" sz="2400" dirty="0"/>
              <a:t>May have some flexibility (if pushed)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64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44646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4464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446467">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44646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44646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4464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7"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Slide Number Placeholder 5">
            <a:extLst>
              <a:ext uri="{FF2B5EF4-FFF2-40B4-BE49-F238E27FC236}">
                <a16:creationId xmlns:a16="http://schemas.microsoft.com/office/drawing/2014/main" id="{71B9963A-A41C-40BE-A471-84142FFB90F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Times New Roman" panose="02020603050405020304" pitchFamily="18" charset="0"/>
              </a:defRPr>
            </a:lvl1pPr>
            <a:lvl2pPr marL="742950" indent="-285750" eaLnBrk="0" hangingPunct="0">
              <a:defRPr sz="3200">
                <a:solidFill>
                  <a:schemeClr val="tx1"/>
                </a:solidFill>
                <a:latin typeface="Times New Roman" panose="02020603050405020304" pitchFamily="18" charset="0"/>
              </a:defRPr>
            </a:lvl2pPr>
            <a:lvl3pPr marL="1143000" indent="-228600" eaLnBrk="0" hangingPunct="0">
              <a:defRPr sz="3200">
                <a:solidFill>
                  <a:schemeClr val="tx1"/>
                </a:solidFill>
                <a:latin typeface="Times New Roman" panose="02020603050405020304" pitchFamily="18" charset="0"/>
              </a:defRPr>
            </a:lvl3pPr>
            <a:lvl4pPr marL="1600200" indent="-228600" eaLnBrk="0" hangingPunct="0">
              <a:defRPr sz="3200">
                <a:solidFill>
                  <a:schemeClr val="tx1"/>
                </a:solidFill>
                <a:latin typeface="Times New Roman" panose="02020603050405020304" pitchFamily="18" charset="0"/>
              </a:defRPr>
            </a:lvl4pPr>
            <a:lvl5pPr marL="2057400" indent="-228600" eaLnBrk="0" hangingPunct="0">
              <a:defRPr sz="3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3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3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3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3200">
                <a:solidFill>
                  <a:schemeClr val="tx1"/>
                </a:solidFill>
                <a:latin typeface="Times New Roman" panose="02020603050405020304" pitchFamily="18" charset="0"/>
              </a:defRPr>
            </a:lvl9pPr>
          </a:lstStyle>
          <a:p>
            <a:pPr eaLnBrk="1" hangingPunct="1"/>
            <a:fld id="{9F65B1F8-D066-48E0-8448-010B20BC9CD3}" type="slidenum">
              <a:rPr lang="en-US" altLang="en-US" sz="1200"/>
              <a:pPr eaLnBrk="1" hangingPunct="1"/>
              <a:t>42</a:t>
            </a:fld>
            <a:endParaRPr lang="en-US" altLang="en-US" sz="1200"/>
          </a:p>
        </p:txBody>
      </p:sp>
      <p:sp>
        <p:nvSpPr>
          <p:cNvPr id="68611" name="Rectangle 2">
            <a:extLst>
              <a:ext uri="{FF2B5EF4-FFF2-40B4-BE49-F238E27FC236}">
                <a16:creationId xmlns:a16="http://schemas.microsoft.com/office/drawing/2014/main" id="{B21EB04C-3FA2-402F-B264-6DE7CB57DBA7}"/>
              </a:ext>
            </a:extLst>
          </p:cNvPr>
          <p:cNvSpPr>
            <a:spLocks noGrp="1" noChangeArrowheads="1"/>
          </p:cNvSpPr>
          <p:nvPr>
            <p:ph type="title"/>
          </p:nvPr>
        </p:nvSpPr>
        <p:spPr/>
        <p:txBody>
          <a:bodyPr/>
          <a:lstStyle/>
          <a:p>
            <a:pPr eaLnBrk="1" hangingPunct="1"/>
            <a:r>
              <a:rPr lang="en-US" altLang="en-US"/>
              <a:t>Other Estimation Notes</a:t>
            </a:r>
          </a:p>
        </p:txBody>
      </p:sp>
      <p:sp>
        <p:nvSpPr>
          <p:cNvPr id="440323" name="Rectangle 3">
            <a:extLst>
              <a:ext uri="{FF2B5EF4-FFF2-40B4-BE49-F238E27FC236}">
                <a16:creationId xmlns:a16="http://schemas.microsoft.com/office/drawing/2014/main" id="{C309FE41-E267-4D19-B935-6321A37F4178}"/>
              </a:ext>
            </a:extLst>
          </p:cNvPr>
          <p:cNvSpPr>
            <a:spLocks noGrp="1" noChangeArrowheads="1"/>
          </p:cNvSpPr>
          <p:nvPr>
            <p:ph type="body" idx="1"/>
          </p:nvPr>
        </p:nvSpPr>
        <p:spPr/>
        <p:txBody>
          <a:bodyPr/>
          <a:lstStyle/>
          <a:p>
            <a:pPr eaLnBrk="1" hangingPunct="1"/>
            <a:r>
              <a:rPr lang="en-US" altLang="en-US"/>
              <a:t>Remember: “manage expectations”</a:t>
            </a:r>
          </a:p>
          <a:p>
            <a:pPr eaLnBrk="1" hangingPunct="1"/>
            <a:r>
              <a:rPr lang="en-US" altLang="en-US"/>
              <a:t>Parkinson’s Law</a:t>
            </a:r>
          </a:p>
          <a:p>
            <a:pPr lvl="1" eaLnBrk="1" hangingPunct="1"/>
            <a:r>
              <a:rPr lang="en-US" altLang="en-US"/>
              <a:t>“Work expands to fill the time available”</a:t>
            </a:r>
          </a:p>
          <a:p>
            <a:pPr eaLnBrk="1" hangingPunct="1"/>
            <a:r>
              <a:rPr lang="en-US" altLang="en-US"/>
              <a:t>The Student Syndrome</a:t>
            </a:r>
          </a:p>
          <a:p>
            <a:pPr lvl="1" eaLnBrk="1" hangingPunct="1"/>
            <a:r>
              <a:rPr lang="en-US" altLang="en-US"/>
              <a:t>Procrastination until the last minute (cram)</a:t>
            </a:r>
          </a:p>
          <a:p>
            <a:pPr lvl="1"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03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4032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440323">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44032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4403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3"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5" name="Rectangle 2051">
            <a:extLst>
              <a:ext uri="{FF2B5EF4-FFF2-40B4-BE49-F238E27FC236}">
                <a16:creationId xmlns:a16="http://schemas.microsoft.com/office/drawing/2014/main" id="{07A47A08-E544-40CD-AE18-2B92FC85C335}"/>
              </a:ext>
            </a:extLst>
          </p:cNvPr>
          <p:cNvSpPr>
            <a:spLocks noGrp="1" noChangeArrowheads="1"/>
          </p:cNvSpPr>
          <p:nvPr>
            <p:ph type="body" idx="1"/>
          </p:nvPr>
        </p:nvSpPr>
        <p:spPr>
          <a:xfrm>
            <a:off x="838200" y="2083002"/>
            <a:ext cx="7772400" cy="4114800"/>
          </a:xfrm>
        </p:spPr>
        <p:txBody>
          <a:bodyPr/>
          <a:lstStyle/>
          <a:p>
            <a:pPr>
              <a:buFont typeface="Monotype Sorts" pitchFamily="2" charset="2"/>
              <a:buNone/>
            </a:pPr>
            <a:r>
              <a:rPr lang="en-US" altLang="en-US" dirty="0"/>
              <a:t>Ask the following questions about an estimate</a:t>
            </a:r>
          </a:p>
          <a:p>
            <a:r>
              <a:rPr lang="en-US" altLang="en-US" dirty="0"/>
              <a:t>What are the task size drivers?</a:t>
            </a:r>
          </a:p>
          <a:p>
            <a:r>
              <a:rPr lang="en-US" altLang="en-US" dirty="0"/>
              <a:t>What productivity rates have been used?</a:t>
            </a:r>
          </a:p>
          <a:p>
            <a:r>
              <a:rPr lang="en-US" altLang="en-US" dirty="0"/>
              <a:t>Is there an example of a previous project of about the same size?</a:t>
            </a:r>
          </a:p>
          <a:p>
            <a:r>
              <a:rPr lang="en-US" altLang="en-US" dirty="0"/>
              <a:t>Are there examples of where the productivity rates used have actually been found?</a:t>
            </a:r>
          </a:p>
        </p:txBody>
      </p:sp>
      <p:sp>
        <p:nvSpPr>
          <p:cNvPr id="3" name="Title 2">
            <a:extLst>
              <a:ext uri="{FF2B5EF4-FFF2-40B4-BE49-F238E27FC236}">
                <a16:creationId xmlns:a16="http://schemas.microsoft.com/office/drawing/2014/main" id="{61D5D285-F112-4B4F-B4C0-AC49EDEE0C60}"/>
              </a:ext>
            </a:extLst>
          </p:cNvPr>
          <p:cNvSpPr>
            <a:spLocks noGrp="1"/>
          </p:cNvSpPr>
          <p:nvPr>
            <p:ph type="title"/>
          </p:nvPr>
        </p:nvSpPr>
        <p:spPr/>
        <p:txBody>
          <a:bodyPr>
            <a:normAutofit fontScale="90000"/>
          </a:bodyPr>
          <a:lstStyle/>
          <a:p>
            <a:r>
              <a:rPr lang="en-GB" dirty="0"/>
              <a:t>Some conclusions: how to review estimates</a:t>
            </a:r>
            <a:endParaRPr lang="en-US" dirty="0"/>
          </a:p>
        </p:txBody>
      </p:sp>
      <p:sp>
        <p:nvSpPr>
          <p:cNvPr id="2" name="Slide Number Placeholder 1">
            <a:extLst>
              <a:ext uri="{FF2B5EF4-FFF2-40B4-BE49-F238E27FC236}">
                <a16:creationId xmlns:a16="http://schemas.microsoft.com/office/drawing/2014/main" id="{5AC844CB-9F88-4BF7-B1B5-AC08B15FC690}"/>
              </a:ext>
            </a:extLst>
          </p:cNvPr>
          <p:cNvSpPr>
            <a:spLocks noGrp="1"/>
          </p:cNvSpPr>
          <p:nvPr>
            <p:ph type="sldNum" sz="quarter" idx="12"/>
          </p:nvPr>
        </p:nvSpPr>
        <p:spPr/>
        <p:txBody>
          <a:bodyPr/>
          <a:lstStyle/>
          <a:p>
            <a:fld id="{60D6D740-8150-433F-9426-3FCFF681501A}" type="slidenum">
              <a:rPr lang="en-US" smtClean="0"/>
              <a:pPr/>
              <a:t>43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 calcmode="lin" valueType="num">
                                      <p:cBhvr additive="base">
                                        <p:cTn id="7" dur="500" fill="hold"/>
                                        <p:tgtEl>
                                          <p:spTgt spid="4403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40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4035">
                                            <p:txEl>
                                              <p:pRg st="1" end="1"/>
                                            </p:txEl>
                                          </p:spTgt>
                                        </p:tgtEl>
                                        <p:attrNameLst>
                                          <p:attrName>style.visibility</p:attrName>
                                        </p:attrNameLst>
                                      </p:cBhvr>
                                      <p:to>
                                        <p:strVal val="visible"/>
                                      </p:to>
                                    </p:set>
                                    <p:anim calcmode="lin" valueType="num">
                                      <p:cBhvr additive="base">
                                        <p:cTn id="13" dur="500" fill="hold"/>
                                        <p:tgtEl>
                                          <p:spTgt spid="4403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40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4035">
                                            <p:txEl>
                                              <p:pRg st="2" end="2"/>
                                            </p:txEl>
                                          </p:spTgt>
                                        </p:tgtEl>
                                        <p:attrNameLst>
                                          <p:attrName>style.visibility</p:attrName>
                                        </p:attrNameLst>
                                      </p:cBhvr>
                                      <p:to>
                                        <p:strVal val="visible"/>
                                      </p:to>
                                    </p:set>
                                    <p:anim calcmode="lin" valueType="num">
                                      <p:cBhvr additive="base">
                                        <p:cTn id="19" dur="500" fill="hold"/>
                                        <p:tgtEl>
                                          <p:spTgt spid="4403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40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4035">
                                            <p:txEl>
                                              <p:pRg st="3" end="3"/>
                                            </p:txEl>
                                          </p:spTgt>
                                        </p:tgtEl>
                                        <p:attrNameLst>
                                          <p:attrName>style.visibility</p:attrName>
                                        </p:attrNameLst>
                                      </p:cBhvr>
                                      <p:to>
                                        <p:strVal val="visible"/>
                                      </p:to>
                                    </p:set>
                                    <p:anim calcmode="lin" valueType="num">
                                      <p:cBhvr additive="base">
                                        <p:cTn id="25" dur="500" fill="hold"/>
                                        <p:tgtEl>
                                          <p:spTgt spid="4403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40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44035">
                                            <p:txEl>
                                              <p:pRg st="4" end="4"/>
                                            </p:txEl>
                                          </p:spTgt>
                                        </p:tgtEl>
                                        <p:attrNameLst>
                                          <p:attrName>style.visibility</p:attrName>
                                        </p:attrNameLst>
                                      </p:cBhvr>
                                      <p:to>
                                        <p:strVal val="visible"/>
                                      </p:to>
                                    </p:set>
                                    <p:anim calcmode="lin" valueType="num">
                                      <p:cBhvr additive="base">
                                        <p:cTn id="31" dur="500" fill="hold"/>
                                        <p:tgtEl>
                                          <p:spTgt spid="4403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4403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autoUpdateAnimBg="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4415</TotalTime>
  <Words>3135</Words>
  <Application>Microsoft Office PowerPoint</Application>
  <PresentationFormat>On-screen Show (4:3)</PresentationFormat>
  <Paragraphs>440</Paragraphs>
  <Slides>43</Slides>
  <Notes>21</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arial</vt:lpstr>
      <vt:lpstr>arial</vt:lpstr>
      <vt:lpstr>Calibri</vt:lpstr>
      <vt:lpstr>Calibri Light</vt:lpstr>
      <vt:lpstr>Google Sans</vt:lpstr>
      <vt:lpstr>Monotype Sorts</vt:lpstr>
      <vt:lpstr>Söhne</vt:lpstr>
      <vt:lpstr>Times New Roman</vt:lpstr>
      <vt:lpstr>Office Theme</vt:lpstr>
      <vt:lpstr>FUNDAMENTALS OF SOFTWARE PROJECT MANAGEMENT    Estimation </vt:lpstr>
      <vt:lpstr>Objectives</vt:lpstr>
      <vt:lpstr>Estimations</vt:lpstr>
      <vt:lpstr>Estimations</vt:lpstr>
      <vt:lpstr>Estimation</vt:lpstr>
      <vt:lpstr>What makes a successful project?</vt:lpstr>
      <vt:lpstr>Some problems with estimating</vt:lpstr>
      <vt:lpstr>Basis for successful estimating</vt:lpstr>
      <vt:lpstr>A taxonomy of Estimation Methods</vt:lpstr>
      <vt:lpstr>Top-down Estimation</vt:lpstr>
      <vt:lpstr>Top-down estimates</vt:lpstr>
      <vt:lpstr>Bottom-up estimating</vt:lpstr>
      <vt:lpstr>Bottom-up Estimation</vt:lpstr>
      <vt:lpstr>Bottom-up versus top-down</vt:lpstr>
      <vt:lpstr>Expert judgement</vt:lpstr>
      <vt:lpstr>Estimation by Analogy</vt:lpstr>
      <vt:lpstr>Estimating by analogy</vt:lpstr>
      <vt:lpstr>Stages: identify</vt:lpstr>
      <vt:lpstr>Priced to Win</vt:lpstr>
      <vt:lpstr>Over and under-estimating</vt:lpstr>
      <vt:lpstr>Over and Under Estimation</vt:lpstr>
      <vt:lpstr>Algorithmic/Parametric models</vt:lpstr>
      <vt:lpstr>Parametric models - the need for historical data</vt:lpstr>
      <vt:lpstr>PowerPoint Presentation</vt:lpstr>
      <vt:lpstr>PowerPoint Presentation</vt:lpstr>
      <vt:lpstr>PowerPoint Presentation</vt:lpstr>
      <vt:lpstr>PowerPoint Presentation</vt:lpstr>
      <vt:lpstr>PowerPoint Presentation</vt:lpstr>
      <vt:lpstr>Parametric models</vt:lpstr>
      <vt:lpstr>Algorithmic/Parametric Measures</vt:lpstr>
      <vt:lpstr>Code-based Estimates</vt:lpstr>
      <vt:lpstr>LOC Estimate Issues</vt:lpstr>
      <vt:lpstr>Function Points</vt:lpstr>
      <vt:lpstr>Function Point Process</vt:lpstr>
      <vt:lpstr>Parametric Method Issues</vt:lpstr>
      <vt:lpstr>Code Reuse &amp; Estimation</vt:lpstr>
      <vt:lpstr>Effort Estimation</vt:lpstr>
      <vt:lpstr>Effort Estimation</vt:lpstr>
      <vt:lpstr>COCOMO</vt:lpstr>
      <vt:lpstr>Estimation Guidelines</vt:lpstr>
      <vt:lpstr>Know Your Deadlines</vt:lpstr>
      <vt:lpstr>Other Estimation Notes</vt:lpstr>
      <vt:lpstr>Some conclusions: how to review estimates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Design and Analysis</dc:title>
  <dc:creator>Muhammad Mr.. Bilal</dc:creator>
  <cp:lastModifiedBy>Ms.Tehreem Aslam</cp:lastModifiedBy>
  <cp:revision>432</cp:revision>
  <dcterms:created xsi:type="dcterms:W3CDTF">2021-08-26T07:43:58Z</dcterms:created>
  <dcterms:modified xsi:type="dcterms:W3CDTF">2024-10-07T10:01:40Z</dcterms:modified>
</cp:coreProperties>
</file>