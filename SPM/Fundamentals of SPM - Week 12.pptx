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handoutMasterIdLst>
    <p:handoutMasterId r:id="rId31"/>
  </p:handoutMasterIdLst>
  <p:sldIdLst>
    <p:sldId id="295" r:id="rId2"/>
    <p:sldId id="257" r:id="rId3"/>
    <p:sldId id="258" r:id="rId4"/>
    <p:sldId id="296" r:id="rId5"/>
    <p:sldId id="259" r:id="rId6"/>
    <p:sldId id="297" r:id="rId7"/>
    <p:sldId id="280" r:id="rId8"/>
    <p:sldId id="298" r:id="rId9"/>
    <p:sldId id="284" r:id="rId10"/>
    <p:sldId id="299" r:id="rId11"/>
    <p:sldId id="281" r:id="rId12"/>
    <p:sldId id="282" r:id="rId13"/>
    <p:sldId id="283" r:id="rId14"/>
    <p:sldId id="262" r:id="rId15"/>
    <p:sldId id="264" r:id="rId16"/>
    <p:sldId id="265" r:id="rId17"/>
    <p:sldId id="266" r:id="rId18"/>
    <p:sldId id="267" r:id="rId19"/>
    <p:sldId id="285" r:id="rId20"/>
    <p:sldId id="286" r:id="rId21"/>
    <p:sldId id="287" r:id="rId22"/>
    <p:sldId id="288" r:id="rId23"/>
    <p:sldId id="289" r:id="rId24"/>
    <p:sldId id="290" r:id="rId25"/>
    <p:sldId id="291" r:id="rId26"/>
    <p:sldId id="300" r:id="rId27"/>
    <p:sldId id="293" r:id="rId28"/>
    <p:sldId id="292"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51" autoAdjust="0"/>
    <p:restoredTop sz="93557" autoAdjust="0"/>
  </p:normalViewPr>
  <p:slideViewPr>
    <p:cSldViewPr snapToGrid="0">
      <p:cViewPr varScale="1">
        <p:scale>
          <a:sx n="60" d="100"/>
          <a:sy n="60" d="100"/>
        </p:scale>
        <p:origin x="1296" y="48"/>
      </p:cViewPr>
      <p:guideLst/>
    </p:cSldViewPr>
  </p:slideViewPr>
  <p:notesTextViewPr>
    <p:cViewPr>
      <p:scale>
        <a:sx n="1" d="1"/>
        <a:sy n="1" d="1"/>
      </p:scale>
      <p:origin x="0" y="0"/>
    </p:cViewPr>
  </p:notesTextViewPr>
  <p:notesViewPr>
    <p:cSldViewPr snapToGrid="0">
      <p:cViewPr varScale="1">
        <p:scale>
          <a:sx n="88" d="100"/>
          <a:sy n="88" d="100"/>
        </p:scale>
        <p:origin x="3822"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4EE401-9990-4847-9393-B587C049108F}" type="datetimeFigureOut">
              <a:rPr lang="en-US" smtClean="0"/>
              <a:t>11/6/2024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06A5EC-6475-4ACA-82A7-7E5503099B49}" type="slidenum">
              <a:rPr lang="en-US" smtClean="0"/>
              <a:t>‹#›</a:t>
            </a:fld>
            <a:endParaRPr lang="en-US"/>
          </a:p>
        </p:txBody>
      </p:sp>
    </p:spTree>
    <p:extLst>
      <p:ext uri="{BB962C8B-B14F-4D97-AF65-F5344CB8AC3E}">
        <p14:creationId xmlns:p14="http://schemas.microsoft.com/office/powerpoint/2010/main" val="29960421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336036-6769-40BF-B513-474833C74DCA}" type="datetimeFigureOut">
              <a:rPr lang="en-US" smtClean="0"/>
              <a:t>11/6/2024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8C5D26-D9CE-49B4-8A24-9C5C7281350F}" type="slidenum">
              <a:rPr lang="en-US" smtClean="0"/>
              <a:t>‹#›</a:t>
            </a:fld>
            <a:endParaRPr lang="en-US"/>
          </a:p>
        </p:txBody>
      </p:sp>
    </p:spTree>
    <p:extLst>
      <p:ext uri="{BB962C8B-B14F-4D97-AF65-F5344CB8AC3E}">
        <p14:creationId xmlns:p14="http://schemas.microsoft.com/office/powerpoint/2010/main" val="1071080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F68C5D26-D9CE-49B4-8A24-9C5C7281350F}" type="slidenum">
              <a:rPr lang="en-US" smtClean="0"/>
              <a:t>1</a:t>
            </a:fld>
            <a:endParaRPr lang="en-US"/>
          </a:p>
        </p:txBody>
      </p:sp>
    </p:spTree>
    <p:extLst>
      <p:ext uri="{BB962C8B-B14F-4D97-AF65-F5344CB8AC3E}">
        <p14:creationId xmlns:p14="http://schemas.microsoft.com/office/powerpoint/2010/main" val="15321745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A6EBA59-7507-44F7-B176-03C73DFF5F44}"/>
              </a:ext>
            </a:extLst>
          </p:cNvPr>
          <p:cNvSpPr>
            <a:spLocks noGrp="1" noChangeArrowheads="1"/>
          </p:cNvSpPr>
          <p:nvPr>
            <p:ph type="sldNum" sz="quarter" idx="5"/>
          </p:nvPr>
        </p:nvSpPr>
        <p:spPr>
          <a:ln/>
        </p:spPr>
        <p:txBody>
          <a:bodyPr/>
          <a:lstStyle/>
          <a:p>
            <a:fld id="{AF39CA8A-DCF9-42EF-AC8D-74C28D7AB44D}" type="slidenum">
              <a:rPr lang="en-GB" altLang="en-US"/>
              <a:pPr/>
              <a:t>3</a:t>
            </a:fld>
            <a:endParaRPr lang="en-GB" altLang="en-US"/>
          </a:p>
        </p:txBody>
      </p:sp>
      <p:sp>
        <p:nvSpPr>
          <p:cNvPr id="7170" name="Rectangle 2">
            <a:extLst>
              <a:ext uri="{FF2B5EF4-FFF2-40B4-BE49-F238E27FC236}">
                <a16:creationId xmlns:a16="http://schemas.microsoft.com/office/drawing/2014/main" id="{3C2283E6-3130-41B0-BBF0-51914CA0D5E0}"/>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8A12CD50-8892-4397-BAF1-F1258E8EB1D2}"/>
              </a:ext>
            </a:extLst>
          </p:cNvPr>
          <p:cNvSpPr>
            <a:spLocks noGrp="1" noChangeArrowheads="1"/>
          </p:cNvSpPr>
          <p:nvPr>
            <p:ph type="body" idx="1"/>
          </p:nvPr>
        </p:nvSpPr>
        <p:spPr/>
        <p:txBody>
          <a:bodyPr/>
          <a:lstStyle/>
          <a:p>
            <a:r>
              <a:rPr lang="en-GB" altLang="en-US" dirty="0"/>
              <a:t>Much of the work of Taylor was in factories and mines, working with manual workers. The ‘instruction in best methods’ involved breaking down a manual task into its component activities, identifying the best way of carrying out those activities and then teaching the workers to copy the approved method. This can be seen as treating the workers as little better than automatons – but it is also the way the sporting coaches often work!</a:t>
            </a:r>
          </a:p>
          <a:p>
            <a:r>
              <a:rPr lang="en-GB" altLang="en-US" dirty="0"/>
              <a:t>The individual workers were encouraged to maximize output by paying them piece-rates e.g. by the units processed.</a:t>
            </a:r>
          </a:p>
          <a:p>
            <a:r>
              <a:rPr lang="en-GB" altLang="en-US" dirty="0"/>
              <a:t>One difficulty with this is that workers learn that increasing output can in fact lead to the piece-rate being adjusted in a downward direction. Maximizing output can also be physically and mentally exhausting. Groups of workers therefore tend to converge on an agreed output rate which does not require a constant 100% effort.</a:t>
            </a:r>
          </a:p>
          <a:p>
            <a:endParaRPr lang="en-GB"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D0D0D"/>
                </a:solidFill>
                <a:effectLst/>
                <a:highlight>
                  <a:srgbClr val="FFFFFF"/>
                </a:highlight>
                <a:latin typeface="Söhne"/>
              </a:rPr>
              <a:t>Frederick Taylor, known as the "father of scientific management," focused on picking the right people for jobs, teaching them the best ways to work, and rewarding them based on how much they produced. But a problem arose with "group norms," which are the informal rules that develop among workers. Sometimes, Taylor's methods clashed with these group norms, causing tension and resistance among workers who felt their way of working was threatened.</a:t>
            </a:r>
            <a:endParaRPr lang="en-US" dirty="0"/>
          </a:p>
        </p:txBody>
      </p:sp>
      <p:sp>
        <p:nvSpPr>
          <p:cNvPr id="4" name="Slide Number Placeholder 3"/>
          <p:cNvSpPr>
            <a:spLocks noGrp="1"/>
          </p:cNvSpPr>
          <p:nvPr>
            <p:ph type="sldNum" sz="quarter" idx="5"/>
          </p:nvPr>
        </p:nvSpPr>
        <p:spPr/>
        <p:txBody>
          <a:bodyPr/>
          <a:lstStyle/>
          <a:p>
            <a:fld id="{F68C5D26-D9CE-49B4-8A24-9C5C7281350F}" type="slidenum">
              <a:rPr lang="en-US" smtClean="0"/>
              <a:t>4</a:t>
            </a:fld>
            <a:endParaRPr lang="en-US"/>
          </a:p>
        </p:txBody>
      </p:sp>
    </p:spTree>
    <p:extLst>
      <p:ext uri="{BB962C8B-B14F-4D97-AF65-F5344CB8AC3E}">
        <p14:creationId xmlns:p14="http://schemas.microsoft.com/office/powerpoint/2010/main" val="6472309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21BAB4D-1236-45EE-B579-8926589C5251}"/>
              </a:ext>
            </a:extLst>
          </p:cNvPr>
          <p:cNvSpPr>
            <a:spLocks noGrp="1" noChangeArrowheads="1"/>
          </p:cNvSpPr>
          <p:nvPr>
            <p:ph type="sldNum" sz="quarter" idx="5"/>
          </p:nvPr>
        </p:nvSpPr>
        <p:spPr>
          <a:ln/>
        </p:spPr>
        <p:txBody>
          <a:bodyPr/>
          <a:lstStyle/>
          <a:p>
            <a:fld id="{13DC0D72-7874-4939-B4C3-6D35EB4AAEFE}" type="slidenum">
              <a:rPr lang="en-GB" altLang="en-US"/>
              <a:pPr/>
              <a:t>5</a:t>
            </a:fld>
            <a:endParaRPr lang="en-GB" altLang="en-US"/>
          </a:p>
        </p:txBody>
      </p:sp>
      <p:sp>
        <p:nvSpPr>
          <p:cNvPr id="9218" name="Rectangle 2">
            <a:extLst>
              <a:ext uri="{FF2B5EF4-FFF2-40B4-BE49-F238E27FC236}">
                <a16:creationId xmlns:a16="http://schemas.microsoft.com/office/drawing/2014/main" id="{04C82B64-AAF8-4A12-91C5-0C17302DE373}"/>
              </a:ext>
            </a:extLst>
          </p:cNvPr>
          <p:cNvSpPr>
            <a:spLocks noGrp="1" noRot="1" noChangeAspect="1" noChangeArrowheads="1" noTextEdit="1"/>
          </p:cNvSpPr>
          <p:nvPr>
            <p:ph type="sldImg"/>
          </p:nvPr>
        </p:nvSpPr>
        <p:spPr>
          <a:ln/>
        </p:spPr>
      </p:sp>
      <p:sp>
        <p:nvSpPr>
          <p:cNvPr id="9219" name="Rectangle 3">
            <a:extLst>
              <a:ext uri="{FF2B5EF4-FFF2-40B4-BE49-F238E27FC236}">
                <a16:creationId xmlns:a16="http://schemas.microsoft.com/office/drawing/2014/main" id="{14622DD4-498A-439C-907C-8E875E33A8B8}"/>
              </a:ext>
            </a:extLst>
          </p:cNvPr>
          <p:cNvSpPr>
            <a:spLocks noGrp="1" noChangeArrowheads="1"/>
          </p:cNvSpPr>
          <p:nvPr>
            <p:ph type="body" idx="1"/>
          </p:nvPr>
        </p:nvSpPr>
        <p:spPr/>
        <p:txBody>
          <a:bodyPr/>
          <a:lstStyle/>
          <a:p>
            <a:r>
              <a:rPr lang="en-GB" altLang="en-US" dirty="0"/>
              <a:t>The Hawthorne experiments investigated the effect of various factors such as improved lightning on productivity. It was found that the productivity of the control group (whose working conditions such as lighting were not changed) increased – the fact that someone singled them out for observation improved their motivation.</a:t>
            </a:r>
          </a:p>
          <a:p>
            <a:r>
              <a:rPr lang="en-GB" altLang="en-US" dirty="0"/>
              <a:t>Donald McGregor Theory X and Theory Y management approaches.</a:t>
            </a:r>
          </a:p>
          <a:p>
            <a:r>
              <a:rPr lang="en-GB" altLang="en-US" dirty="0"/>
              <a:t>See Section 11.3 Page 257-8.</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E910A81-7621-49D9-B170-679A68E4F0DF}"/>
              </a:ext>
            </a:extLst>
          </p:cNvPr>
          <p:cNvSpPr>
            <a:spLocks noGrp="1" noChangeArrowheads="1"/>
          </p:cNvSpPr>
          <p:nvPr>
            <p:ph type="sldNum" sz="quarter" idx="5"/>
          </p:nvPr>
        </p:nvSpPr>
        <p:spPr>
          <a:ln/>
        </p:spPr>
        <p:txBody>
          <a:bodyPr/>
          <a:lstStyle/>
          <a:p>
            <a:fld id="{6AAC6377-BEA5-414E-9E53-018174249F55}" type="slidenum">
              <a:rPr lang="en-GB" altLang="en-US"/>
              <a:pPr/>
              <a:t>9</a:t>
            </a:fld>
            <a:endParaRPr lang="en-GB" altLang="en-US"/>
          </a:p>
        </p:txBody>
      </p:sp>
      <p:sp>
        <p:nvSpPr>
          <p:cNvPr id="55298" name="Rectangle 2">
            <a:extLst>
              <a:ext uri="{FF2B5EF4-FFF2-40B4-BE49-F238E27FC236}">
                <a16:creationId xmlns:a16="http://schemas.microsoft.com/office/drawing/2014/main" id="{E5167C02-41BF-439F-B7F6-8AD79B069AC5}"/>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5ACAB2CA-7FE3-4C8B-BEC2-80134FC2373C}"/>
              </a:ext>
            </a:extLst>
          </p:cNvPr>
          <p:cNvSpPr>
            <a:spLocks noGrp="1" noChangeArrowheads="1"/>
          </p:cNvSpPr>
          <p:nvPr>
            <p:ph type="body" idx="1"/>
          </p:nvPr>
        </p:nvSpPr>
        <p:spPr/>
        <p:txBody>
          <a:bodyPr/>
          <a:lstStyle/>
          <a:p>
            <a:r>
              <a:rPr lang="en-GB" altLang="en-US" dirty="0"/>
              <a:t>There is some evidence that there is a very wide variation in software development skills – going back many years.</a:t>
            </a:r>
          </a:p>
          <a:p>
            <a:r>
              <a:rPr lang="en-GB" altLang="en-US" dirty="0"/>
              <a:t>Some research found that computer people had fewer social needs than other professionals. Later research has not found any significant difference – this may be because the ‘ICT profession’ has become broader in scope.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3BCE320-F507-4060-9536-04E07754E1A8}"/>
              </a:ext>
            </a:extLst>
          </p:cNvPr>
          <p:cNvSpPr>
            <a:spLocks noGrp="1" noChangeArrowheads="1"/>
          </p:cNvSpPr>
          <p:nvPr>
            <p:ph type="sldNum" sz="quarter" idx="5"/>
          </p:nvPr>
        </p:nvSpPr>
        <p:spPr>
          <a:ln/>
        </p:spPr>
        <p:txBody>
          <a:bodyPr/>
          <a:lstStyle/>
          <a:p>
            <a:fld id="{7FC00EF5-B233-437C-B409-1F7F65832B70}" type="slidenum">
              <a:rPr lang="en-GB" altLang="en-US"/>
              <a:pPr/>
              <a:t>13</a:t>
            </a:fld>
            <a:endParaRPr lang="en-GB" altLang="en-US"/>
          </a:p>
        </p:txBody>
      </p:sp>
      <p:sp>
        <p:nvSpPr>
          <p:cNvPr id="53250" name="Rectangle 2">
            <a:extLst>
              <a:ext uri="{FF2B5EF4-FFF2-40B4-BE49-F238E27FC236}">
                <a16:creationId xmlns:a16="http://schemas.microsoft.com/office/drawing/2014/main" id="{22F7E28D-7CF6-4F31-AE07-D2E3DBB867F2}"/>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94377C27-A007-431B-9259-E5BDB0E273A9}"/>
              </a:ext>
            </a:extLst>
          </p:cNvPr>
          <p:cNvSpPr>
            <a:spLocks noGrp="1" noChangeArrowheads="1"/>
          </p:cNvSpPr>
          <p:nvPr>
            <p:ph type="body" idx="1"/>
          </p:nvPr>
        </p:nvSpPr>
        <p:spPr/>
        <p:txBody>
          <a:bodyPr/>
          <a:lstStyle/>
          <a:p>
            <a:r>
              <a:rPr lang="en-GB" altLang="en-US"/>
              <a:t>Section 11.5 Page 261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0C5CD0D-DBB7-41B9-AD5C-D77B9A658553}"/>
              </a:ext>
            </a:extLst>
          </p:cNvPr>
          <p:cNvSpPr>
            <a:spLocks noGrp="1" noChangeArrowheads="1"/>
          </p:cNvSpPr>
          <p:nvPr>
            <p:ph type="sldNum" sz="quarter" idx="5"/>
          </p:nvPr>
        </p:nvSpPr>
        <p:spPr>
          <a:ln/>
        </p:spPr>
        <p:txBody>
          <a:bodyPr/>
          <a:lstStyle/>
          <a:p>
            <a:fld id="{1D88D696-CEB8-4D38-80B5-589937924098}" type="slidenum">
              <a:rPr lang="en-GB" altLang="en-US"/>
              <a:pPr/>
              <a:t>14</a:t>
            </a:fld>
            <a:endParaRPr lang="en-GB" altLang="en-US"/>
          </a:p>
        </p:txBody>
      </p:sp>
      <p:sp>
        <p:nvSpPr>
          <p:cNvPr id="15362" name="Rectangle 2">
            <a:extLst>
              <a:ext uri="{FF2B5EF4-FFF2-40B4-BE49-F238E27FC236}">
                <a16:creationId xmlns:a16="http://schemas.microsoft.com/office/drawing/2014/main" id="{5182DC93-D00B-4707-9CE2-342B31591EEC}"/>
              </a:ext>
            </a:extLst>
          </p:cNvPr>
          <p:cNvSpPr>
            <a:spLocks noGrp="1" noRot="1" noChangeAspect="1" noChangeArrowheads="1" noTextEdit="1"/>
          </p:cNvSpPr>
          <p:nvPr>
            <p:ph type="sldImg"/>
          </p:nvPr>
        </p:nvSpPr>
        <p:spPr>
          <a:ln/>
        </p:spPr>
      </p:sp>
      <p:sp>
        <p:nvSpPr>
          <p:cNvPr id="15363" name="Rectangle 3">
            <a:extLst>
              <a:ext uri="{FF2B5EF4-FFF2-40B4-BE49-F238E27FC236}">
                <a16:creationId xmlns:a16="http://schemas.microsoft.com/office/drawing/2014/main" id="{69430A31-DFF8-43F5-8ED7-84ACA37BEAEE}"/>
              </a:ext>
            </a:extLst>
          </p:cNvPr>
          <p:cNvSpPr>
            <a:spLocks noGrp="1" noChangeArrowheads="1"/>
          </p:cNvSpPr>
          <p:nvPr>
            <p:ph type="body" idx="1"/>
          </p:nvPr>
        </p:nvSpPr>
        <p:spPr/>
        <p:txBody>
          <a:bodyPr/>
          <a:lstStyle/>
          <a:p>
            <a:r>
              <a:rPr lang="en-GB" altLang="en-US"/>
              <a:t>Maslow’s model implies that people will be motivated by different things at different times. Also that people always feel dissatisfied, but the focus of the dissatisfaction changes over time.</a:t>
            </a:r>
          </a:p>
          <a:p>
            <a:r>
              <a:rPr lang="en-GB" altLang="en-US"/>
              <a:t>This and other aspects of motivation are discussed in Section 11.6 of the text</a:t>
            </a:r>
          </a:p>
          <a:p>
            <a:r>
              <a:rPr lang="en-GB" altLang="en-US"/>
              <a:t>Exercises 11.2 and 11.3 are designed to get students to think a little about the implications of the Taylor and Maslow models of motivation.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C0ECD3-8BF3-4D9C-9866-EDCC90293C70}"/>
              </a:ext>
            </a:extLst>
          </p:cNvPr>
          <p:cNvSpPr>
            <a:spLocks noGrp="1" noChangeArrowheads="1"/>
          </p:cNvSpPr>
          <p:nvPr>
            <p:ph type="sldNum" sz="quarter" idx="5"/>
          </p:nvPr>
        </p:nvSpPr>
        <p:spPr>
          <a:ln/>
        </p:spPr>
        <p:txBody>
          <a:bodyPr/>
          <a:lstStyle/>
          <a:p>
            <a:fld id="{82852CE3-E96F-4743-98CB-8A19FC4B6CC0}" type="slidenum">
              <a:rPr lang="en-GB" altLang="en-US"/>
              <a:pPr/>
              <a:t>15</a:t>
            </a:fld>
            <a:endParaRPr lang="en-GB" altLang="en-US"/>
          </a:p>
        </p:txBody>
      </p:sp>
      <p:sp>
        <p:nvSpPr>
          <p:cNvPr id="18434" name="Rectangle 2">
            <a:extLst>
              <a:ext uri="{FF2B5EF4-FFF2-40B4-BE49-F238E27FC236}">
                <a16:creationId xmlns:a16="http://schemas.microsoft.com/office/drawing/2014/main" id="{41D4846E-7A01-462C-82F2-3AB66B10AEE2}"/>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DCF614C9-A441-4EC8-88C1-BFCD3640572F}"/>
              </a:ext>
            </a:extLst>
          </p:cNvPr>
          <p:cNvSpPr>
            <a:spLocks noGrp="1" noChangeArrowheads="1"/>
          </p:cNvSpPr>
          <p:nvPr>
            <p:ph type="body" idx="1"/>
          </p:nvPr>
        </p:nvSpPr>
        <p:spPr/>
        <p:txBody>
          <a:bodyPr/>
          <a:lstStyle/>
          <a:p>
            <a:r>
              <a:rPr lang="en-GB" altLang="en-US"/>
              <a:t>Exercise 11.4 illustrates the approach that Herzberg and associates used to gather data about motivational factors.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8B08259-2531-47D6-986E-76C60DD4190A}"/>
              </a:ext>
            </a:extLst>
          </p:cNvPr>
          <p:cNvSpPr>
            <a:spLocks noGrp="1" noChangeArrowheads="1"/>
          </p:cNvSpPr>
          <p:nvPr>
            <p:ph type="sldNum" sz="quarter" idx="5"/>
          </p:nvPr>
        </p:nvSpPr>
        <p:spPr>
          <a:ln/>
        </p:spPr>
        <p:txBody>
          <a:bodyPr/>
          <a:lstStyle/>
          <a:p>
            <a:fld id="{8B2C34E0-ADEF-4F27-9506-DA87582BAA36}" type="slidenum">
              <a:rPr lang="en-GB" altLang="en-US"/>
              <a:pPr/>
              <a:t>16</a:t>
            </a:fld>
            <a:endParaRPr lang="en-GB" altLang="en-US"/>
          </a:p>
        </p:txBody>
      </p:sp>
      <p:sp>
        <p:nvSpPr>
          <p:cNvPr id="20482" name="Rectangle 2">
            <a:extLst>
              <a:ext uri="{FF2B5EF4-FFF2-40B4-BE49-F238E27FC236}">
                <a16:creationId xmlns:a16="http://schemas.microsoft.com/office/drawing/2014/main" id="{DD99624A-B320-4E61-BFC6-F316F9D76799}"/>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C11DFDB6-174E-4F5D-8D7B-9FD056E330BF}"/>
              </a:ext>
            </a:extLst>
          </p:cNvPr>
          <p:cNvSpPr>
            <a:spLocks noGrp="1" noChangeArrowheads="1"/>
          </p:cNvSpPr>
          <p:nvPr>
            <p:ph type="body" idx="1"/>
          </p:nvPr>
        </p:nvSpPr>
        <p:spPr/>
        <p:txBody>
          <a:bodyPr/>
          <a:lstStyle/>
          <a:p>
            <a:r>
              <a:rPr lang="en-GB" altLang="en-US" dirty="0"/>
              <a:t>Note: if any of the factors has a zero value, then motivation will be zero.</a:t>
            </a:r>
          </a:p>
          <a:p>
            <a:r>
              <a:rPr lang="en-GB" altLang="en-US" dirty="0"/>
              <a:t>Example from the text book: expectancy – trying to use a compiler to compile software code; the code has a bug which causes a compilation error regardless of what you do. In this case motivation will collapse.</a:t>
            </a:r>
          </a:p>
          <a:p>
            <a:r>
              <a:rPr lang="en-GB" altLang="en-US" dirty="0"/>
              <a:t>Instrumentality – you are working on removing a fault from a software tool used by a client; you find that the client has given up using the tool and has acquired a different one to do the job. Low perceived value of reward: a reward that everyone gets is less highly regarded than one which only outstanding people get. Getting a first is more valuable if only 5% of students get a first compared to where 90% get a first!</a:t>
            </a:r>
          </a:p>
          <a:p>
            <a:endParaRPr lang="en-GB"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8507074-211F-4271-80AD-5AAF39D7E629}"/>
              </a:ext>
            </a:extLst>
          </p:cNvPr>
          <p:cNvSpPr>
            <a:spLocks noGrp="1" noChangeArrowheads="1"/>
          </p:cNvSpPr>
          <p:nvPr>
            <p:ph type="sldNum" sz="quarter" idx="5"/>
          </p:nvPr>
        </p:nvSpPr>
        <p:spPr>
          <a:ln/>
        </p:spPr>
        <p:txBody>
          <a:bodyPr/>
          <a:lstStyle/>
          <a:p>
            <a:fld id="{AF84AF11-BB86-48B3-80B5-4D19A1AA072B}" type="slidenum">
              <a:rPr lang="en-GB" altLang="en-US"/>
              <a:pPr/>
              <a:t>17</a:t>
            </a:fld>
            <a:endParaRPr lang="en-GB" altLang="en-US"/>
          </a:p>
        </p:txBody>
      </p:sp>
      <p:sp>
        <p:nvSpPr>
          <p:cNvPr id="22530" name="Rectangle 2">
            <a:extLst>
              <a:ext uri="{FF2B5EF4-FFF2-40B4-BE49-F238E27FC236}">
                <a16:creationId xmlns:a16="http://schemas.microsoft.com/office/drawing/2014/main" id="{69CE86FE-3EB3-4A45-B20C-43843181CB40}"/>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5A962F75-B142-4005-A1B6-2330B9E69AF1}"/>
              </a:ext>
            </a:extLst>
          </p:cNvPr>
          <p:cNvSpPr>
            <a:spLocks noGrp="1" noChangeArrowheads="1"/>
          </p:cNvSpPr>
          <p:nvPr>
            <p:ph type="body" idx="1"/>
          </p:nvPr>
        </p:nvSpPr>
        <p:spPr/>
        <p:txBody>
          <a:bodyPr/>
          <a:lstStyle/>
          <a:p>
            <a:r>
              <a:rPr lang="en-GB" altLang="en-US" dirty="0"/>
              <a:t>Skill variety – number of different skills the job holder has the opportunity to exercise</a:t>
            </a:r>
          </a:p>
          <a:p>
            <a:r>
              <a:rPr lang="en-GB" altLang="en-US" dirty="0"/>
              <a:t>Task identity – the degree to which your work and its results are associated with you</a:t>
            </a:r>
          </a:p>
          <a:p>
            <a:r>
              <a:rPr lang="en-GB" altLang="en-US" dirty="0"/>
              <a:t>Task significance – the degree to which your job has an influence on others</a:t>
            </a:r>
          </a:p>
          <a:p>
            <a:r>
              <a:rPr lang="en-GB" altLang="en-US" dirty="0"/>
              <a:t>Two other factors contributed to satisfaction:</a:t>
            </a:r>
          </a:p>
          <a:p>
            <a:r>
              <a:rPr lang="en-GB" altLang="en-US" dirty="0"/>
              <a:t>Autonomy – the freedom that you have about the way that you do the job;</a:t>
            </a:r>
          </a:p>
          <a:p>
            <a:r>
              <a:rPr lang="en-GB" altLang="en-US" dirty="0"/>
              <a:t>Feedback – the information you get back about the results of your work.</a:t>
            </a:r>
          </a:p>
          <a:p>
            <a:r>
              <a:rPr lang="en-GB" altLang="en-US" dirty="0"/>
              <a:t>Software developers will tend to be associated with their code – task identity; analyst programmers will have a to use a wider range of skills than lower level programmers – more skill variety. If you have direct contact with the end-users of your software you are likely to be more aware of the results of your work – task significance, and more likely to get feedback on it. </a:t>
            </a:r>
          </a:p>
          <a:p>
            <a:endParaRPr lang="en-GB"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17D4A3E-B58F-4195-ACAC-EF9063947D9E}"/>
              </a:ext>
            </a:extLst>
          </p:cNvPr>
          <p:cNvSpPr>
            <a:spLocks noGrp="1" noChangeArrowheads="1"/>
          </p:cNvSpPr>
          <p:nvPr>
            <p:ph type="sldNum" sz="quarter" idx="5"/>
          </p:nvPr>
        </p:nvSpPr>
        <p:spPr>
          <a:ln/>
        </p:spPr>
        <p:txBody>
          <a:bodyPr/>
          <a:lstStyle/>
          <a:p>
            <a:fld id="{F97FDEB9-1C2A-4A80-B066-9D28F9E81E29}" type="slidenum">
              <a:rPr lang="en-GB" altLang="en-US"/>
              <a:pPr/>
              <a:t>18</a:t>
            </a:fld>
            <a:endParaRPr lang="en-GB" altLang="en-US"/>
          </a:p>
        </p:txBody>
      </p:sp>
      <p:sp>
        <p:nvSpPr>
          <p:cNvPr id="24578" name="Rectangle 2">
            <a:extLst>
              <a:ext uri="{FF2B5EF4-FFF2-40B4-BE49-F238E27FC236}">
                <a16:creationId xmlns:a16="http://schemas.microsoft.com/office/drawing/2014/main" id="{EA2A7599-068C-4C30-AB66-F46B0AC52F00}"/>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2489739E-4EB1-43BD-AE2B-3179D6E55055}"/>
              </a:ext>
            </a:extLst>
          </p:cNvPr>
          <p:cNvSpPr>
            <a:spLocks noGrp="1" noChangeArrowheads="1"/>
          </p:cNvSpPr>
          <p:nvPr>
            <p:ph type="body" idx="1"/>
          </p:nvPr>
        </p:nvSpPr>
        <p:spPr/>
        <p:txBody>
          <a:bodyPr/>
          <a:lstStyle/>
          <a:p>
            <a:r>
              <a:rPr lang="en-GB" altLang="en-US" dirty="0"/>
              <a:t>Job enlargement – widening the range of tasks carried out by a worker</a:t>
            </a:r>
          </a:p>
          <a:p>
            <a:r>
              <a:rPr lang="en-GB" altLang="en-US" dirty="0"/>
              <a:t>Job enrichment – delegating some management roles to the worker </a:t>
            </a:r>
            <a:r>
              <a:rPr lang="en-GB" altLang="en-US" dirty="0" err="1"/>
              <a:t>e.g</a:t>
            </a:r>
            <a:r>
              <a:rPr lang="en-GB" altLang="en-US" dirty="0"/>
              <a:t> for re-ordering raw materials.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38610AA-D169-49EA-80EE-B63BA53484BF}"/>
              </a:ext>
            </a:extLst>
          </p:cNvPr>
          <p:cNvSpPr>
            <a:spLocks noGrp="1" noChangeArrowheads="1"/>
          </p:cNvSpPr>
          <p:nvPr>
            <p:ph type="sldNum" sz="quarter" idx="5"/>
          </p:nvPr>
        </p:nvSpPr>
        <p:spPr>
          <a:ln/>
        </p:spPr>
        <p:txBody>
          <a:bodyPr/>
          <a:lstStyle/>
          <a:p>
            <a:fld id="{3B8AA4BD-155E-4FE0-BACF-26DA6EA16A6B}" type="slidenum">
              <a:rPr lang="en-GB" altLang="en-US"/>
              <a:pPr/>
              <a:t>25</a:t>
            </a:fld>
            <a:endParaRPr lang="en-GB" altLang="en-US"/>
          </a:p>
        </p:txBody>
      </p:sp>
      <p:sp>
        <p:nvSpPr>
          <p:cNvPr id="63490" name="Rectangle 2">
            <a:extLst>
              <a:ext uri="{FF2B5EF4-FFF2-40B4-BE49-F238E27FC236}">
                <a16:creationId xmlns:a16="http://schemas.microsoft.com/office/drawing/2014/main" id="{4F529808-4002-4367-9491-1A003B560D2B}"/>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A46281D2-8BF3-4EDC-9D4E-D881D714C5B1}"/>
              </a:ext>
            </a:extLst>
          </p:cNvPr>
          <p:cNvSpPr>
            <a:spLocks noGrp="1" noChangeArrowheads="1"/>
          </p:cNvSpPr>
          <p:nvPr>
            <p:ph type="body" idx="1"/>
          </p:nvPr>
        </p:nvSpPr>
        <p:spPr/>
        <p:txBody>
          <a:bodyPr/>
          <a:lstStyle/>
          <a:p>
            <a:r>
              <a:rPr lang="en-GB" altLang="en-US"/>
              <a:t>Two key documents here are:</a:t>
            </a:r>
          </a:p>
          <a:p>
            <a:r>
              <a:rPr lang="en-GB" altLang="en-US"/>
              <a:t>Milton Friedman (1970) ‘The social responsibility of business is to increase profits’  The New York Times Magazine 13 September. Available at &lt;http://www.umich.edu/~the core/Friedman.doc&gt;</a:t>
            </a:r>
          </a:p>
          <a:p>
            <a:r>
              <a:rPr lang="en-GB" altLang="en-US"/>
              <a:t>Alfred Carr (1968) ‘Is business bluffing ethical?’ Harvard Business Review 46(11) 143-53.</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6B40C6A-6579-4318-8CB4-44792BF9037A}"/>
              </a:ext>
            </a:extLst>
          </p:cNvPr>
          <p:cNvSpPr>
            <a:spLocks noGrp="1" noChangeArrowheads="1"/>
          </p:cNvSpPr>
          <p:nvPr>
            <p:ph type="sldNum" sz="quarter" idx="5"/>
          </p:nvPr>
        </p:nvSpPr>
        <p:spPr>
          <a:ln/>
        </p:spPr>
        <p:txBody>
          <a:bodyPr/>
          <a:lstStyle/>
          <a:p>
            <a:fld id="{0C9562DE-4273-4615-BB93-E05FA811BEA8}" type="slidenum">
              <a:rPr lang="en-GB" altLang="en-US"/>
              <a:pPr/>
              <a:t>28</a:t>
            </a:fld>
            <a:endParaRPr lang="en-GB" altLang="en-US"/>
          </a:p>
        </p:txBody>
      </p:sp>
      <p:sp>
        <p:nvSpPr>
          <p:cNvPr id="65538" name="Rectangle 2">
            <a:extLst>
              <a:ext uri="{FF2B5EF4-FFF2-40B4-BE49-F238E27FC236}">
                <a16:creationId xmlns:a16="http://schemas.microsoft.com/office/drawing/2014/main" id="{5815AD9B-B41D-4008-9735-939424240E9D}"/>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7D2FC9A5-0041-46AB-A398-71F5D5C4C804}"/>
              </a:ext>
            </a:extLst>
          </p:cNvPr>
          <p:cNvSpPr>
            <a:spLocks noGrp="1" noChangeArrowheads="1"/>
          </p:cNvSpPr>
          <p:nvPr>
            <p:ph type="body" idx="1"/>
          </p:nvPr>
        </p:nvSpPr>
        <p:spPr/>
        <p:txBody>
          <a:bodyPr/>
          <a:lstStyle/>
          <a:p>
            <a:r>
              <a:rPr lang="en-GB" altLang="en-US"/>
              <a:t>Giving this exercise to students can be an interesting (and sometimes scary) experience. The argument against stockholder theory is that the work of an organization is not purely that of money-making. Banks, for example, have a social and economic role facilitating day to day commerce and business. If the owners of the banks decided to opt out of this role the community at large (through the government) would have to step in to ensure that that role is still carried out. Freidman’s arguments unwittingly support a greater role for state ownership of important organizations.</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74142" y="741406"/>
            <a:ext cx="8979242" cy="5784098"/>
          </a:xfrm>
          <a:prstGeom prst="rect">
            <a:avLst/>
          </a:prstGeom>
          <a:blipFill dpi="0" rotWithShape="1">
            <a:blip r:embed="rId2">
              <a:alphaModFix amt="30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3" name="Subtitle 2"/>
          <p:cNvSpPr>
            <a:spLocks noGrp="1"/>
          </p:cNvSpPr>
          <p:nvPr>
            <p:ph type="subTitle" idx="1" hasCustomPrompt="1"/>
          </p:nvPr>
        </p:nvSpPr>
        <p:spPr>
          <a:xfrm>
            <a:off x="1143000" y="3095886"/>
            <a:ext cx="6858000" cy="2161914"/>
          </a:xfrm>
        </p:spPr>
        <p:txBody>
          <a:bodyPr>
            <a:normAutofit/>
          </a:bodyPr>
          <a:lstStyle>
            <a:lvl1pPr marL="0" indent="0" algn="ctr">
              <a:buNone/>
              <a:defRPr sz="4400" b="1"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Introduction and Course Organization</a:t>
            </a:r>
          </a:p>
        </p:txBody>
      </p:sp>
      <p:sp>
        <p:nvSpPr>
          <p:cNvPr id="8" name="TextBox 7"/>
          <p:cNvSpPr txBox="1"/>
          <p:nvPr userDrawn="1"/>
        </p:nvSpPr>
        <p:spPr>
          <a:xfrm>
            <a:off x="1143000" y="5230684"/>
            <a:ext cx="6858000" cy="707886"/>
          </a:xfrm>
          <a:prstGeom prst="rect">
            <a:avLst/>
          </a:prstGeom>
          <a:noFill/>
        </p:spPr>
        <p:txBody>
          <a:bodyPr wrap="square" rtlCol="0">
            <a:spAutoFit/>
          </a:bodyPr>
          <a:lstStyle/>
          <a:p>
            <a:pPr algn="ctr"/>
            <a:r>
              <a:rPr lang="en-US" sz="2000" b="1" dirty="0"/>
              <a:t>Fall 2021</a:t>
            </a:r>
          </a:p>
          <a:p>
            <a:pPr algn="ctr"/>
            <a:r>
              <a:rPr lang="en-US" sz="2000" b="1" dirty="0"/>
              <a:t>Dr. Muhammad Bilal</a:t>
            </a:r>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sp>
        <p:nvSpPr>
          <p:cNvPr id="11" name="TextBox 10"/>
          <p:cNvSpPr txBox="1"/>
          <p:nvPr userDrawn="1"/>
        </p:nvSpPr>
        <p:spPr>
          <a:xfrm>
            <a:off x="1143000" y="1210962"/>
            <a:ext cx="6858000" cy="1569660"/>
          </a:xfrm>
          <a:prstGeom prst="rect">
            <a:avLst/>
          </a:prstGeom>
          <a:noFill/>
        </p:spPr>
        <p:txBody>
          <a:bodyPr wrap="square" rtlCol="0">
            <a:spAutoFit/>
          </a:bodyPr>
          <a:lstStyle/>
          <a:p>
            <a:pPr algn="ctr"/>
            <a:r>
              <a:rPr lang="en-US" sz="3200" b="1" dirty="0">
                <a:latin typeface="+mj-lt"/>
              </a:rPr>
              <a:t>FUNDAMENTALS OF</a:t>
            </a:r>
          </a:p>
          <a:p>
            <a:pPr algn="ctr"/>
            <a:r>
              <a:rPr lang="en-US" sz="3200" b="1" dirty="0">
                <a:latin typeface="+mj-lt"/>
              </a:rPr>
              <a:t>SOFTWARE PROJECT MANAGEMENT</a:t>
            </a:r>
          </a:p>
          <a:p>
            <a:pPr algn="ctr"/>
            <a:r>
              <a:rPr lang="en-US" sz="3200" b="1" dirty="0">
                <a:latin typeface="+mj-lt"/>
              </a:rPr>
              <a:t>CS</a:t>
            </a:r>
            <a:r>
              <a:rPr lang="en-US" sz="3200" b="1" baseline="0" dirty="0">
                <a:latin typeface="+mj-lt"/>
              </a:rPr>
              <a:t> 4044</a:t>
            </a:r>
            <a:endParaRPr lang="en-US" sz="3200" b="1" dirty="0">
              <a:latin typeface="+mj-lt"/>
            </a:endParaRPr>
          </a:p>
        </p:txBody>
      </p:sp>
      <p:pic>
        <p:nvPicPr>
          <p:cNvPr id="2" name="Picture 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
        <p:nvSpPr>
          <p:cNvPr id="4" name="TextBox 3"/>
          <p:cNvSpPr txBox="1"/>
          <p:nvPr userDrawn="1"/>
        </p:nvSpPr>
        <p:spPr>
          <a:xfrm>
            <a:off x="74142" y="6525504"/>
            <a:ext cx="8979242" cy="246221"/>
          </a:xfrm>
          <a:prstGeom prst="rect">
            <a:avLst/>
          </a:prstGeom>
          <a:solidFill>
            <a:schemeClr val="accent1"/>
          </a:solidFill>
        </p:spPr>
        <p:txBody>
          <a:bodyPr wrap="square" rtlCol="0">
            <a:spAutoFit/>
          </a:bodyPr>
          <a:lstStyle/>
          <a:p>
            <a:pPr algn="ctr"/>
            <a:r>
              <a:rPr lang="en-US" sz="1000" b="1" dirty="0"/>
              <a:t>Department</a:t>
            </a:r>
            <a:r>
              <a:rPr lang="en-US" sz="1000" b="1" baseline="0" dirty="0"/>
              <a:t> of Computer Science, National University of Computer and Emerging Sciences, Chiniot-Faisalabad Campus | +92-111-128-128</a:t>
            </a:r>
            <a:endParaRPr lang="en-US" sz="1000" b="1" dirty="0"/>
          </a:p>
        </p:txBody>
      </p:sp>
    </p:spTree>
    <p:extLst>
      <p:ext uri="{BB962C8B-B14F-4D97-AF65-F5344CB8AC3E}">
        <p14:creationId xmlns:p14="http://schemas.microsoft.com/office/powerpoint/2010/main" val="595482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955589"/>
            <a:ext cx="7886700" cy="735100"/>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60D6D740-8150-433F-9426-3FCFF681501A}" type="slidenum">
              <a:rPr lang="en-US" smtClean="0"/>
              <a:pPr/>
              <a:t>‹#›</a:t>
            </a:fld>
            <a:endParaRPr lang="en-US"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8" name="Picture 7">
            <a:extLst>
              <a:ext uri="{FF2B5EF4-FFF2-40B4-BE49-F238E27FC236}">
                <a16:creationId xmlns:a16="http://schemas.microsoft.com/office/drawing/2014/main" id="{FFEF0590-DF68-4B3D-B21B-60AED912C1C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3457627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Management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pic>
        <p:nvPicPr>
          <p:cNvPr id="7" name="Picture 6">
            <a:extLst>
              <a:ext uri="{FF2B5EF4-FFF2-40B4-BE49-F238E27FC236}">
                <a16:creationId xmlns:a16="http://schemas.microsoft.com/office/drawing/2014/main" id="{7DACE867-13EC-4909-A9E0-B3141437809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8" name="Picture 7">
            <a:extLst>
              <a:ext uri="{FF2B5EF4-FFF2-40B4-BE49-F238E27FC236}">
                <a16:creationId xmlns:a16="http://schemas.microsoft.com/office/drawing/2014/main" id="{71AE3E1F-8B4C-485C-8107-AE466D9BE89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3361434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Management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pic>
        <p:nvPicPr>
          <p:cNvPr id="8" name="Picture 7">
            <a:extLst>
              <a:ext uri="{FF2B5EF4-FFF2-40B4-BE49-F238E27FC236}">
                <a16:creationId xmlns:a16="http://schemas.microsoft.com/office/drawing/2014/main" id="{35739596-DB6A-479B-8DE6-3124830B90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9" name="Picture 8">
            <a:extLst>
              <a:ext uri="{FF2B5EF4-FFF2-40B4-BE49-F238E27FC236}">
                <a16:creationId xmlns:a16="http://schemas.microsoft.com/office/drawing/2014/main" id="{526F4A6A-7CA1-4B96-BCB5-CCFEB6117CA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1862355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CS4044 - Fundamentals of Software Project Management</a:t>
            </a:r>
          </a:p>
        </p:txBody>
      </p:sp>
      <p:sp>
        <p:nvSpPr>
          <p:cNvPr id="9" name="Slide Number Placeholder 8"/>
          <p:cNvSpPr>
            <a:spLocks noGrp="1"/>
          </p:cNvSpPr>
          <p:nvPr>
            <p:ph type="sldNum" sz="quarter" idx="12"/>
          </p:nvPr>
        </p:nvSpPr>
        <p:spPr/>
        <p:txBody>
          <a:bodyPr/>
          <a:lstStyle/>
          <a:p>
            <a:fld id="{CDE4BBE6-ABD8-4AAC-A679-4F37D73C8978}" type="slidenum">
              <a:rPr lang="en-US" smtClean="0"/>
              <a:t>‹#›</a:t>
            </a:fld>
            <a:endParaRPr lang="en-US"/>
          </a:p>
        </p:txBody>
      </p:sp>
      <p:pic>
        <p:nvPicPr>
          <p:cNvPr id="10" name="Picture 9">
            <a:extLst>
              <a:ext uri="{FF2B5EF4-FFF2-40B4-BE49-F238E27FC236}">
                <a16:creationId xmlns:a16="http://schemas.microsoft.com/office/drawing/2014/main" id="{855DB69B-9D59-45DE-84A6-3AC28FF417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11" name="Picture 10">
            <a:extLst>
              <a:ext uri="{FF2B5EF4-FFF2-40B4-BE49-F238E27FC236}">
                <a16:creationId xmlns:a16="http://schemas.microsoft.com/office/drawing/2014/main" id="{3AA2DBB1-D6BD-4E22-BFED-C2F8CB977E4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497198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CS4044 - Fundamentals of Software Project Management</a:t>
            </a:r>
          </a:p>
        </p:txBody>
      </p:sp>
      <p:sp>
        <p:nvSpPr>
          <p:cNvPr id="5" name="Slide Number Placeholder 4"/>
          <p:cNvSpPr>
            <a:spLocks noGrp="1"/>
          </p:cNvSpPr>
          <p:nvPr>
            <p:ph type="sldNum" sz="quarter" idx="12"/>
          </p:nvPr>
        </p:nvSpPr>
        <p:spPr/>
        <p:txBody>
          <a:bodyPr/>
          <a:lstStyle/>
          <a:p>
            <a:fld id="{CDE4BBE6-ABD8-4AAC-A679-4F37D73C8978}" type="slidenum">
              <a:rPr lang="en-US" smtClean="0"/>
              <a:t>‹#›</a:t>
            </a:fld>
            <a:endParaRPr lang="en-US"/>
          </a:p>
        </p:txBody>
      </p:sp>
      <p:pic>
        <p:nvPicPr>
          <p:cNvPr id="6" name="Picture 5">
            <a:extLst>
              <a:ext uri="{FF2B5EF4-FFF2-40B4-BE49-F238E27FC236}">
                <a16:creationId xmlns:a16="http://schemas.microsoft.com/office/drawing/2014/main" id="{E45CAFDA-18DD-4110-B59C-B2070B80D9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7" name="Picture 6">
            <a:extLst>
              <a:ext uri="{FF2B5EF4-FFF2-40B4-BE49-F238E27FC236}">
                <a16:creationId xmlns:a16="http://schemas.microsoft.com/office/drawing/2014/main" id="{06337EED-E22C-4587-9ADE-427466086DD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1834859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CS4044 - Fundamentals of Software Project Management</a:t>
            </a:r>
          </a:p>
        </p:txBody>
      </p:sp>
      <p:sp>
        <p:nvSpPr>
          <p:cNvPr id="4" name="Slide Number Placeholder 3"/>
          <p:cNvSpPr>
            <a:spLocks noGrp="1"/>
          </p:cNvSpPr>
          <p:nvPr>
            <p:ph type="sldNum" sz="quarter" idx="12"/>
          </p:nvPr>
        </p:nvSpPr>
        <p:spPr/>
        <p:txBody>
          <a:bodyPr/>
          <a:lstStyle/>
          <a:p>
            <a:fld id="{CDE4BBE6-ABD8-4AAC-A679-4F37D73C8978}" type="slidenum">
              <a:rPr lang="en-US" smtClean="0"/>
              <a:t>‹#›</a:t>
            </a:fld>
            <a:endParaRPr lang="en-US"/>
          </a:p>
        </p:txBody>
      </p:sp>
      <p:pic>
        <p:nvPicPr>
          <p:cNvPr id="5" name="Picture 4">
            <a:extLst>
              <a:ext uri="{FF2B5EF4-FFF2-40B4-BE49-F238E27FC236}">
                <a16:creationId xmlns:a16="http://schemas.microsoft.com/office/drawing/2014/main" id="{6849AC34-1F80-446B-B9DC-6BABBE085B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142" y="65056"/>
            <a:ext cx="2323070" cy="580768"/>
          </a:xfrm>
          <a:prstGeom prst="rect">
            <a:avLst/>
          </a:prstGeom>
        </p:spPr>
      </p:pic>
      <p:pic>
        <p:nvPicPr>
          <p:cNvPr id="6" name="Picture 5">
            <a:extLst>
              <a:ext uri="{FF2B5EF4-FFF2-40B4-BE49-F238E27FC236}">
                <a16:creationId xmlns:a16="http://schemas.microsoft.com/office/drawing/2014/main" id="{70E6FA64-842E-4C27-B70C-2ECC2BCBB08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631" y="60636"/>
            <a:ext cx="2340753" cy="585188"/>
          </a:xfrm>
          <a:prstGeom prst="rect">
            <a:avLst/>
          </a:prstGeom>
        </p:spPr>
      </p:pic>
    </p:spTree>
    <p:extLst>
      <p:ext uri="{BB962C8B-B14F-4D97-AF65-F5344CB8AC3E}">
        <p14:creationId xmlns:p14="http://schemas.microsoft.com/office/powerpoint/2010/main" val="142265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Management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4123485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CS4044 - Fundamentals of Software Project Management</a:t>
            </a:r>
          </a:p>
        </p:txBody>
      </p:sp>
      <p:sp>
        <p:nvSpPr>
          <p:cNvPr id="7" name="Slide Number Placeholder 6"/>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318878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Management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2432544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CS4044 - Fundamentals of Software Project Management</a:t>
            </a:r>
          </a:p>
        </p:txBody>
      </p:sp>
      <p:sp>
        <p:nvSpPr>
          <p:cNvPr id="6" name="Slide Number Placeholder 5"/>
          <p:cNvSpPr>
            <a:spLocks noGrp="1"/>
          </p:cNvSpPr>
          <p:nvPr>
            <p:ph type="sldNum" sz="quarter" idx="12"/>
          </p:nvPr>
        </p:nvSpPr>
        <p:spPr/>
        <p:txBody>
          <a:bodyPr/>
          <a:lstStyle/>
          <a:p>
            <a:fld id="{CDE4BBE6-ABD8-4AAC-A679-4F37D73C8978}" type="slidenum">
              <a:rPr lang="en-US" smtClean="0"/>
              <a:t>‹#›</a:t>
            </a:fld>
            <a:endParaRPr lang="en-US"/>
          </a:p>
        </p:txBody>
      </p:sp>
    </p:spTree>
    <p:extLst>
      <p:ext uri="{BB962C8B-B14F-4D97-AF65-F5344CB8AC3E}">
        <p14:creationId xmlns:p14="http://schemas.microsoft.com/office/powerpoint/2010/main" val="10151254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246B6-8BC7-4900-B802-5715C0C6BBC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PK"/>
          </a:p>
        </p:txBody>
      </p:sp>
      <p:sp>
        <p:nvSpPr>
          <p:cNvPr id="3" name="Subtitle 2">
            <a:extLst>
              <a:ext uri="{FF2B5EF4-FFF2-40B4-BE49-F238E27FC236}">
                <a16:creationId xmlns:a16="http://schemas.microsoft.com/office/drawing/2014/main" id="{3AC32D74-7B8E-4451-BB7F-AF8F1E2824C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E5FFE4D8-0167-4298-8186-82E2E6DEDC7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7D6E9BA-A492-436C-A5E2-DF8625E46CF2}"/>
              </a:ext>
            </a:extLst>
          </p:cNvPr>
          <p:cNvSpPr>
            <a:spLocks noGrp="1"/>
          </p:cNvSpPr>
          <p:nvPr>
            <p:ph type="ftr" sz="quarter" idx="11"/>
          </p:nvPr>
        </p:nvSpPr>
        <p:spPr/>
        <p:txBody>
          <a:bodyPr/>
          <a:lstStyle/>
          <a:p>
            <a:r>
              <a:rPr lang="en-US"/>
              <a:t>CS4044 - Fundamentals of Software Project Management</a:t>
            </a:r>
          </a:p>
        </p:txBody>
      </p:sp>
      <p:sp>
        <p:nvSpPr>
          <p:cNvPr id="6" name="Slide Number Placeholder 5">
            <a:extLst>
              <a:ext uri="{FF2B5EF4-FFF2-40B4-BE49-F238E27FC236}">
                <a16:creationId xmlns:a16="http://schemas.microsoft.com/office/drawing/2014/main" id="{ABA0F9C7-899B-4CCA-B1C7-56EC0A531AC6}"/>
              </a:ext>
            </a:extLst>
          </p:cNvPr>
          <p:cNvSpPr>
            <a:spLocks noGrp="1"/>
          </p:cNvSpPr>
          <p:nvPr>
            <p:ph type="sldNum" sz="quarter" idx="12"/>
          </p:nvPr>
        </p:nvSpPr>
        <p:spPr/>
        <p:txBody>
          <a:bodyPr/>
          <a:lstStyle/>
          <a:p>
            <a:fld id="{0797418D-B8E7-4A7C-BF6E-454B79F4EB24}" type="slidenum">
              <a:rPr lang="en-US" smtClean="0"/>
              <a:t>‹#›</a:t>
            </a:fld>
            <a:endParaRPr lang="en-US"/>
          </a:p>
        </p:txBody>
      </p:sp>
    </p:spTree>
    <p:extLst>
      <p:ext uri="{BB962C8B-B14F-4D97-AF65-F5344CB8AC3E}">
        <p14:creationId xmlns:p14="http://schemas.microsoft.com/office/powerpoint/2010/main" val="1471965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CS4044 - Fundamentals of Software Project Management</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E4BBE6-ABD8-4AAC-A679-4F37D73C8978}" type="slidenum">
              <a:rPr lang="en-US" smtClean="0"/>
              <a:t>‹#›</a:t>
            </a:fld>
            <a:endParaRPr lang="en-US"/>
          </a:p>
        </p:txBody>
      </p:sp>
    </p:spTree>
    <p:extLst>
      <p:ext uri="{BB962C8B-B14F-4D97-AF65-F5344CB8AC3E}">
        <p14:creationId xmlns:p14="http://schemas.microsoft.com/office/powerpoint/2010/main" val="26239750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805541" y="1382486"/>
            <a:ext cx="7892143" cy="3805700"/>
          </a:xfrm>
        </p:spPr>
        <p:txBody>
          <a:bodyPr anchor="ctr">
            <a:normAutofit/>
          </a:bodyPr>
          <a:lstStyle/>
          <a:p>
            <a:r>
              <a:rPr lang="en-IN" sz="3600" dirty="0">
                <a:latin typeface="+mn-lt"/>
                <a:cs typeface="Arial" panose="020B0604020202020204" pitchFamily="34" charset="0"/>
              </a:rPr>
              <a:t>FUNDAMENTALS OF SOFTWARE PROJECT MANAGEMENT</a:t>
            </a:r>
            <a:br>
              <a:rPr lang="en-IN" sz="3500" dirty="0">
                <a:latin typeface="+mn-lt"/>
                <a:cs typeface="Arial" panose="020B0604020202020204" pitchFamily="34" charset="0"/>
              </a:rPr>
            </a:br>
            <a:br>
              <a:rPr lang="en-IN" sz="3500" dirty="0">
                <a:latin typeface="+mn-lt"/>
                <a:cs typeface="Arial" panose="020B0604020202020204" pitchFamily="34" charset="0"/>
              </a:rPr>
            </a:br>
            <a:r>
              <a:rPr lang="en-GB" altLang="en-US" sz="3500" dirty="0"/>
              <a:t>Managing People in Software Environments</a:t>
            </a:r>
            <a:br>
              <a:rPr lang="en-GB" altLang="en-US" sz="3500" dirty="0"/>
            </a:br>
            <a:endParaRPr lang="en-US" sz="3500" dirty="0">
              <a:latin typeface="+mn-lt"/>
              <a:cs typeface="Arial" panose="020B0604020202020204" pitchFamily="34" charset="0"/>
            </a:endParaRPr>
          </a:p>
        </p:txBody>
      </p:sp>
      <p:sp>
        <p:nvSpPr>
          <p:cNvPr id="3" name="Subtitle 2"/>
          <p:cNvSpPr>
            <a:spLocks noGrp="1"/>
          </p:cNvSpPr>
          <p:nvPr>
            <p:ph type="subTitle" idx="1"/>
          </p:nvPr>
        </p:nvSpPr>
        <p:spPr>
          <a:xfrm>
            <a:off x="1475184" y="5645150"/>
            <a:ext cx="6193632" cy="631825"/>
          </a:xfrm>
        </p:spPr>
        <p:txBody>
          <a:bodyPr anchor="ctr">
            <a:normAutofit/>
          </a:bodyPr>
          <a:lstStyle/>
          <a:p>
            <a:r>
              <a:rPr lang="en-IN" sz="2400" dirty="0"/>
              <a:t>Week - 12</a:t>
            </a:r>
            <a:endParaRPr lang="en-US" sz="2400" dirty="0"/>
          </a:p>
          <a:p>
            <a:endParaRPr lang="en-US" sz="2400" dirty="0"/>
          </a:p>
        </p:txBody>
      </p:sp>
      <p:sp>
        <p:nvSpPr>
          <p:cNvPr id="6" name="Slide Number Placeholder 5"/>
          <p:cNvSpPr>
            <a:spLocks noGrp="1"/>
          </p:cNvSpPr>
          <p:nvPr>
            <p:ph type="sldNum" sz="quarter" idx="12"/>
          </p:nvPr>
        </p:nvSpPr>
        <p:spPr>
          <a:xfrm>
            <a:off x="7866764" y="6356350"/>
            <a:ext cx="951613" cy="365125"/>
          </a:xfrm>
        </p:spPr>
        <p:txBody>
          <a:bodyPr>
            <a:normAutofit/>
          </a:bodyPr>
          <a:lstStyle/>
          <a:p>
            <a:pPr>
              <a:spcAft>
                <a:spcPts val="600"/>
              </a:spcAft>
            </a:pPr>
            <a:fld id="{9966D855-C268-4653-AB02-0C37BDE9B0E4}" type="slidenum">
              <a:rPr lang="en-US">
                <a:solidFill>
                  <a:schemeClr val="tx1">
                    <a:lumMod val="50000"/>
                    <a:lumOff val="50000"/>
                  </a:schemeClr>
                </a:solidFill>
              </a:rPr>
              <a:pPr>
                <a:spcAft>
                  <a:spcPts val="600"/>
                </a:spcAft>
              </a:pPr>
              <a:t>1</a:t>
            </a:fld>
            <a:endParaRPr lang="en-US">
              <a:solidFill>
                <a:schemeClr val="tx1">
                  <a:lumMod val="50000"/>
                  <a:lumOff val="50000"/>
                </a:schemeClr>
              </a:solidFill>
            </a:endParaRPr>
          </a:p>
        </p:txBody>
      </p:sp>
    </p:spTree>
    <p:extLst>
      <p:ext uri="{BB962C8B-B14F-4D97-AF65-F5344CB8AC3E}">
        <p14:creationId xmlns:p14="http://schemas.microsoft.com/office/powerpoint/2010/main" val="926742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grpId="0" nodeType="withEffect">
                                  <p:stCondLst>
                                    <p:cond delay="500"/>
                                  </p:stCondLst>
                                  <p:iterate type="wd">
                                    <p:tmPct val="15000"/>
                                  </p:iterate>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427A62A1-F474-45CB-9210-966F822ED563}"/>
              </a:ext>
            </a:extLst>
          </p:cNvPr>
          <p:cNvSpPr>
            <a:spLocks noGrp="1" noChangeArrowheads="1"/>
          </p:cNvSpPr>
          <p:nvPr>
            <p:ph type="title"/>
          </p:nvPr>
        </p:nvSpPr>
        <p:spPr/>
        <p:txBody>
          <a:bodyPr/>
          <a:lstStyle/>
          <a:p>
            <a:r>
              <a:rPr lang="en-GB" altLang="en-US"/>
              <a:t>Main topics</a:t>
            </a:r>
          </a:p>
        </p:txBody>
      </p:sp>
      <p:sp>
        <p:nvSpPr>
          <p:cNvPr id="5123" name="Rectangle 3">
            <a:extLst>
              <a:ext uri="{FF2B5EF4-FFF2-40B4-BE49-F238E27FC236}">
                <a16:creationId xmlns:a16="http://schemas.microsoft.com/office/drawing/2014/main" id="{5641D132-78D2-408B-9913-63096D6D085E}"/>
              </a:ext>
            </a:extLst>
          </p:cNvPr>
          <p:cNvSpPr>
            <a:spLocks noGrp="1" noChangeArrowheads="1"/>
          </p:cNvSpPr>
          <p:nvPr>
            <p:ph type="body" idx="1"/>
          </p:nvPr>
        </p:nvSpPr>
        <p:spPr/>
        <p:txBody>
          <a:bodyPr/>
          <a:lstStyle/>
          <a:p>
            <a:r>
              <a:rPr lang="en-GB" altLang="en-US"/>
              <a:t>What is organizational behaviour?</a:t>
            </a:r>
          </a:p>
          <a:p>
            <a:r>
              <a:rPr lang="en-GB" altLang="en-US"/>
              <a:t>Staff selection and induction</a:t>
            </a:r>
          </a:p>
          <a:p>
            <a:r>
              <a:rPr lang="en-GB" altLang="en-US"/>
              <a:t>Models of motivation – focus on the individual</a:t>
            </a:r>
          </a:p>
          <a:p>
            <a:r>
              <a:rPr lang="en-GB" altLang="en-US"/>
              <a:t>The dark side of motivation - stress</a:t>
            </a:r>
          </a:p>
          <a:p>
            <a:r>
              <a:rPr lang="en-GB" altLang="en-US"/>
              <a:t>The broader issues of health and safety</a:t>
            </a:r>
          </a:p>
          <a:p>
            <a:r>
              <a:rPr lang="en-GB" altLang="en-US"/>
              <a:t>Some ethical and professional concerns</a:t>
            </a:r>
          </a:p>
        </p:txBody>
      </p:sp>
      <p:sp>
        <p:nvSpPr>
          <p:cNvPr id="2" name="Slide Number Placeholder 1">
            <a:extLst>
              <a:ext uri="{FF2B5EF4-FFF2-40B4-BE49-F238E27FC236}">
                <a16:creationId xmlns:a16="http://schemas.microsoft.com/office/drawing/2014/main" id="{C6FFF974-2E3C-15A0-D6DD-7F1162537E70}"/>
              </a:ext>
            </a:extLst>
          </p:cNvPr>
          <p:cNvSpPr>
            <a:spLocks noGrp="1"/>
          </p:cNvSpPr>
          <p:nvPr>
            <p:ph type="sldNum" sz="quarter" idx="12"/>
          </p:nvPr>
        </p:nvSpPr>
        <p:spPr/>
        <p:txBody>
          <a:bodyPr/>
          <a:lstStyle/>
          <a:p>
            <a:fld id="{60D6D740-8150-433F-9426-3FCFF681501A}"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FA81F3E-CEB3-4072-83AE-E69E075A2220}"/>
              </a:ext>
            </a:extLst>
          </p:cNvPr>
          <p:cNvSpPr>
            <a:spLocks noGrp="1" noChangeArrowheads="1"/>
          </p:cNvSpPr>
          <p:nvPr>
            <p:ph type="title"/>
          </p:nvPr>
        </p:nvSpPr>
        <p:spPr/>
        <p:txBody>
          <a:bodyPr/>
          <a:lstStyle/>
          <a:p>
            <a:r>
              <a:rPr lang="en-GB" altLang="en-US" dirty="0"/>
              <a:t>Before organizational behaviour</a:t>
            </a:r>
          </a:p>
        </p:txBody>
      </p:sp>
      <p:sp>
        <p:nvSpPr>
          <p:cNvPr id="6147" name="Rectangle 3">
            <a:extLst>
              <a:ext uri="{FF2B5EF4-FFF2-40B4-BE49-F238E27FC236}">
                <a16:creationId xmlns:a16="http://schemas.microsoft.com/office/drawing/2014/main" id="{3A77C2D3-CFC7-4635-A5FD-3276F867AB03}"/>
              </a:ext>
            </a:extLst>
          </p:cNvPr>
          <p:cNvSpPr>
            <a:spLocks noGrp="1" noChangeArrowheads="1"/>
          </p:cNvSpPr>
          <p:nvPr>
            <p:ph type="body" idx="1"/>
          </p:nvPr>
        </p:nvSpPr>
        <p:spPr/>
        <p:txBody>
          <a:bodyPr/>
          <a:lstStyle/>
          <a:p>
            <a:r>
              <a:rPr lang="en-GB" altLang="en-US" dirty="0"/>
              <a:t>Frederick Taylor (1856-1915) ‘the father of scientific management’</a:t>
            </a:r>
          </a:p>
          <a:p>
            <a:r>
              <a:rPr lang="en-GB" altLang="en-US" dirty="0"/>
              <a:t>Focus:</a:t>
            </a:r>
          </a:p>
          <a:p>
            <a:pPr lvl="1"/>
            <a:r>
              <a:rPr lang="en-GB" altLang="en-US" dirty="0"/>
              <a:t>To select the best people for the job;</a:t>
            </a:r>
          </a:p>
          <a:p>
            <a:pPr lvl="1"/>
            <a:r>
              <a:rPr lang="en-GB" altLang="en-US" dirty="0"/>
              <a:t>To instruct them in the best methods;</a:t>
            </a:r>
          </a:p>
          <a:p>
            <a:pPr lvl="1"/>
            <a:r>
              <a:rPr lang="en-GB" altLang="en-US" dirty="0"/>
              <a:t>To give financial incentives in the form of piece work</a:t>
            </a:r>
          </a:p>
          <a:p>
            <a:r>
              <a:rPr lang="en-GB" altLang="en-US" dirty="0"/>
              <a:t>One problem: ‘group norms’</a:t>
            </a:r>
          </a:p>
          <a:p>
            <a:endParaRPr lang="en-GB" altLang="en-US" dirty="0"/>
          </a:p>
        </p:txBody>
      </p:sp>
      <p:sp>
        <p:nvSpPr>
          <p:cNvPr id="2" name="Slide Number Placeholder 1">
            <a:extLst>
              <a:ext uri="{FF2B5EF4-FFF2-40B4-BE49-F238E27FC236}">
                <a16:creationId xmlns:a16="http://schemas.microsoft.com/office/drawing/2014/main" id="{55C9B291-D374-4D9D-1DDA-5EBCBB1EE68C}"/>
              </a:ext>
            </a:extLst>
          </p:cNvPr>
          <p:cNvSpPr>
            <a:spLocks noGrp="1"/>
          </p:cNvSpPr>
          <p:nvPr>
            <p:ph type="sldNum" sz="quarter" idx="12"/>
          </p:nvPr>
        </p:nvSpPr>
        <p:spPr/>
        <p:txBody>
          <a:bodyPr/>
          <a:lstStyle/>
          <a:p>
            <a:fld id="{60D6D740-8150-433F-9426-3FCFF681501A}"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74E07-07B5-A1F3-6AEA-44C8574A947C}"/>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0544CE3E-06B8-54FE-0EF8-E65294C0E667}"/>
              </a:ext>
            </a:extLst>
          </p:cNvPr>
          <p:cNvSpPr>
            <a:spLocks noGrp="1"/>
          </p:cNvSpPr>
          <p:nvPr>
            <p:ph type="sldNum" sz="quarter" idx="12"/>
          </p:nvPr>
        </p:nvSpPr>
        <p:spPr/>
        <p:txBody>
          <a:bodyPr/>
          <a:lstStyle/>
          <a:p>
            <a:fld id="{60D6D740-8150-433F-9426-3FCFF681501A}" type="slidenum">
              <a:rPr lang="en-US" smtClean="0"/>
              <a:pPr/>
              <a:t>4</a:t>
            </a:fld>
            <a:endParaRPr lang="en-US" dirty="0"/>
          </a:p>
        </p:txBody>
      </p:sp>
      <p:pic>
        <p:nvPicPr>
          <p:cNvPr id="6" name="Picture 5">
            <a:extLst>
              <a:ext uri="{FF2B5EF4-FFF2-40B4-BE49-F238E27FC236}">
                <a16:creationId xmlns:a16="http://schemas.microsoft.com/office/drawing/2014/main" id="{730FC738-91A9-B1EB-1904-DF232806D2D6}"/>
              </a:ext>
            </a:extLst>
          </p:cNvPr>
          <p:cNvPicPr>
            <a:picLocks noChangeAspect="1"/>
          </p:cNvPicPr>
          <p:nvPr/>
        </p:nvPicPr>
        <p:blipFill>
          <a:blip r:embed="rId3"/>
          <a:stretch>
            <a:fillRect/>
          </a:stretch>
        </p:blipFill>
        <p:spPr>
          <a:xfrm>
            <a:off x="139740" y="955589"/>
            <a:ext cx="9004260" cy="5104436"/>
          </a:xfrm>
          <a:prstGeom prst="rect">
            <a:avLst/>
          </a:prstGeom>
        </p:spPr>
      </p:pic>
    </p:spTree>
    <p:extLst>
      <p:ext uri="{BB962C8B-B14F-4D97-AF65-F5344CB8AC3E}">
        <p14:creationId xmlns:p14="http://schemas.microsoft.com/office/powerpoint/2010/main" val="2755474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B69F16E-4842-466D-929B-AB97FEB0147C}"/>
              </a:ext>
            </a:extLst>
          </p:cNvPr>
          <p:cNvSpPr>
            <a:spLocks noGrp="1" noChangeArrowheads="1"/>
          </p:cNvSpPr>
          <p:nvPr>
            <p:ph type="title"/>
          </p:nvPr>
        </p:nvSpPr>
        <p:spPr/>
        <p:txBody>
          <a:bodyPr/>
          <a:lstStyle/>
          <a:p>
            <a:r>
              <a:rPr lang="en-GB" altLang="en-US" dirty="0"/>
              <a:t>Hawthorne effect</a:t>
            </a:r>
          </a:p>
        </p:txBody>
      </p:sp>
      <p:sp>
        <p:nvSpPr>
          <p:cNvPr id="8195" name="Rectangle 3">
            <a:extLst>
              <a:ext uri="{FF2B5EF4-FFF2-40B4-BE49-F238E27FC236}">
                <a16:creationId xmlns:a16="http://schemas.microsoft.com/office/drawing/2014/main" id="{8719D4E8-76CF-47CC-8D80-91EDADA63457}"/>
              </a:ext>
            </a:extLst>
          </p:cNvPr>
          <p:cNvSpPr>
            <a:spLocks noGrp="1" noChangeArrowheads="1"/>
          </p:cNvSpPr>
          <p:nvPr>
            <p:ph type="body" idx="1"/>
          </p:nvPr>
        </p:nvSpPr>
        <p:spPr/>
        <p:txBody>
          <a:bodyPr/>
          <a:lstStyle/>
          <a:p>
            <a:r>
              <a:rPr lang="en-GB" altLang="en-US" dirty="0"/>
              <a:t>1920’s – series of experiments at the Hawthorne Plant of Western Electric, Chicago</a:t>
            </a:r>
          </a:p>
          <a:p>
            <a:r>
              <a:rPr lang="en-GB" altLang="en-US" dirty="0"/>
              <a:t>Found that simply showing an interest in a group increased productivity</a:t>
            </a:r>
          </a:p>
          <a:p>
            <a:r>
              <a:rPr lang="en-GB" altLang="en-US" dirty="0"/>
              <a:t>Theory X: there is a need for coercion, direction, and control of people at work</a:t>
            </a:r>
          </a:p>
          <a:p>
            <a:r>
              <a:rPr lang="en-GB" altLang="en-US" dirty="0"/>
              <a:t>Theory Y: work is as natural as rest or play</a:t>
            </a:r>
          </a:p>
        </p:txBody>
      </p:sp>
      <p:sp>
        <p:nvSpPr>
          <p:cNvPr id="2" name="Slide Number Placeholder 1">
            <a:extLst>
              <a:ext uri="{FF2B5EF4-FFF2-40B4-BE49-F238E27FC236}">
                <a16:creationId xmlns:a16="http://schemas.microsoft.com/office/drawing/2014/main" id="{C5577E1B-FE90-F4AC-155D-6BB3F90122AA}"/>
              </a:ext>
            </a:extLst>
          </p:cNvPr>
          <p:cNvSpPr>
            <a:spLocks noGrp="1"/>
          </p:cNvSpPr>
          <p:nvPr>
            <p:ph type="sldNum" sz="quarter" idx="12"/>
          </p:nvPr>
        </p:nvSpPr>
        <p:spPr/>
        <p:txBody>
          <a:bodyPr/>
          <a:lstStyle/>
          <a:p>
            <a:fld id="{60D6D740-8150-433F-9426-3FCFF681501A}"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6C06C9B6-F788-A0B4-C11F-F95B839D2BB5}"/>
              </a:ext>
            </a:extLst>
          </p:cNvPr>
          <p:cNvPicPr>
            <a:picLocks noGrp="1" noChangeAspect="1"/>
          </p:cNvPicPr>
          <p:nvPr>
            <p:ph idx="1"/>
          </p:nvPr>
        </p:nvPicPr>
        <p:blipFill>
          <a:blip r:embed="rId2"/>
          <a:stretch>
            <a:fillRect/>
          </a:stretch>
        </p:blipFill>
        <p:spPr>
          <a:xfrm>
            <a:off x="93980" y="2191892"/>
            <a:ext cx="8930349" cy="2277237"/>
          </a:xfrm>
          <a:prstGeom prst="rect">
            <a:avLst/>
          </a:prstGeom>
        </p:spPr>
      </p:pic>
      <p:sp>
        <p:nvSpPr>
          <p:cNvPr id="4" name="Slide Number Placeholder 3">
            <a:extLst>
              <a:ext uri="{FF2B5EF4-FFF2-40B4-BE49-F238E27FC236}">
                <a16:creationId xmlns:a16="http://schemas.microsoft.com/office/drawing/2014/main" id="{BB69328E-9169-D4C1-D11A-7D13F41136D8}"/>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chemeClr val="tx1">
                    <a:tint val="75000"/>
                  </a:schemeClr>
                </a:solidFill>
              </a:rPr>
              <a:pPr defTabSz="914400">
                <a:spcAft>
                  <a:spcPts val="600"/>
                </a:spcAft>
              </a:pPr>
              <a:t>6</a:t>
            </a:fld>
            <a:endParaRPr lang="en-US">
              <a:solidFill>
                <a:schemeClr val="tx1">
                  <a:tint val="75000"/>
                </a:schemeClr>
              </a:solidFill>
            </a:endParaRPr>
          </a:p>
        </p:txBody>
      </p:sp>
    </p:spTree>
    <p:extLst>
      <p:ext uri="{BB962C8B-B14F-4D97-AF65-F5344CB8AC3E}">
        <p14:creationId xmlns:p14="http://schemas.microsoft.com/office/powerpoint/2010/main" val="3209567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4C3739F9-CA8A-4D4C-BECA-6C77A3A07992}"/>
              </a:ext>
            </a:extLst>
          </p:cNvPr>
          <p:cNvSpPr>
            <a:spLocks noGrp="1" noChangeArrowheads="1"/>
          </p:cNvSpPr>
          <p:nvPr>
            <p:ph type="title"/>
          </p:nvPr>
        </p:nvSpPr>
        <p:spPr/>
        <p:txBody>
          <a:bodyPr/>
          <a:lstStyle/>
          <a:p>
            <a:r>
              <a:rPr lang="en-GB" altLang="en-US" dirty="0"/>
              <a:t>Selecting the best people</a:t>
            </a:r>
          </a:p>
        </p:txBody>
      </p:sp>
      <p:sp>
        <p:nvSpPr>
          <p:cNvPr id="49155" name="Rectangle 3">
            <a:extLst>
              <a:ext uri="{FF2B5EF4-FFF2-40B4-BE49-F238E27FC236}">
                <a16:creationId xmlns:a16="http://schemas.microsoft.com/office/drawing/2014/main" id="{72E1325C-B26C-4400-9EE9-9CB9537D3600}"/>
              </a:ext>
            </a:extLst>
          </p:cNvPr>
          <p:cNvSpPr>
            <a:spLocks noGrp="1" noChangeArrowheads="1"/>
          </p:cNvSpPr>
          <p:nvPr>
            <p:ph type="body" idx="1"/>
          </p:nvPr>
        </p:nvSpPr>
        <p:spPr/>
        <p:txBody>
          <a:bodyPr/>
          <a:lstStyle/>
          <a:p>
            <a:pPr>
              <a:lnSpc>
                <a:spcPct val="90000"/>
              </a:lnSpc>
            </a:pPr>
            <a:r>
              <a:rPr lang="en-GB" altLang="en-US" dirty="0"/>
              <a:t>Belbin distinguishes between </a:t>
            </a:r>
            <a:r>
              <a:rPr lang="en-GB" altLang="en-US" b="1" dirty="0"/>
              <a:t>eligible </a:t>
            </a:r>
            <a:r>
              <a:rPr lang="en-GB" altLang="en-US" dirty="0"/>
              <a:t>(having the right qualifications) and </a:t>
            </a:r>
            <a:r>
              <a:rPr lang="en-GB" altLang="en-US" b="1" dirty="0"/>
              <a:t>suitable</a:t>
            </a:r>
            <a:r>
              <a:rPr lang="en-GB" altLang="en-US" dirty="0"/>
              <a:t> candidates (can do the job).</a:t>
            </a:r>
          </a:p>
          <a:p>
            <a:pPr>
              <a:lnSpc>
                <a:spcPct val="90000"/>
              </a:lnSpc>
            </a:pPr>
            <a:r>
              <a:rPr lang="en-GB" altLang="en-US" dirty="0"/>
              <a:t>The danger is employ someone who is eligible but not suitable</a:t>
            </a:r>
          </a:p>
          <a:p>
            <a:pPr>
              <a:lnSpc>
                <a:spcPct val="90000"/>
              </a:lnSpc>
            </a:pPr>
            <a:r>
              <a:rPr lang="en-GB" altLang="en-US" dirty="0"/>
              <a:t>The best situation is to employ someone who is suitable but not eligible! For example, these are likely to be cheaper and to stay in the job. </a:t>
            </a:r>
            <a:endParaRPr lang="en-GB" altLang="en-US" b="1" dirty="0"/>
          </a:p>
        </p:txBody>
      </p:sp>
      <p:sp>
        <p:nvSpPr>
          <p:cNvPr id="2" name="Slide Number Placeholder 1">
            <a:extLst>
              <a:ext uri="{FF2B5EF4-FFF2-40B4-BE49-F238E27FC236}">
                <a16:creationId xmlns:a16="http://schemas.microsoft.com/office/drawing/2014/main" id="{E512BA0E-769A-D469-93D1-164134039CDC}"/>
              </a:ext>
            </a:extLst>
          </p:cNvPr>
          <p:cNvSpPr>
            <a:spLocks noGrp="1"/>
          </p:cNvSpPr>
          <p:nvPr>
            <p:ph type="sldNum" sz="quarter" idx="12"/>
          </p:nvPr>
        </p:nvSpPr>
        <p:spPr/>
        <p:txBody>
          <a:bodyPr/>
          <a:lstStyle/>
          <a:p>
            <a:fld id="{60D6D740-8150-433F-9426-3FCFF681501A}" type="slidenum">
              <a:rPr lang="en-US" smtClean="0"/>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7EC194C-B2E0-4E34-0557-B316EDCCFA58}"/>
              </a:ext>
            </a:extLst>
          </p:cNvPr>
          <p:cNvPicPr>
            <a:picLocks noGrp="1" noChangeAspect="1"/>
          </p:cNvPicPr>
          <p:nvPr>
            <p:ph idx="1"/>
          </p:nvPr>
        </p:nvPicPr>
        <p:blipFill>
          <a:blip r:embed="rId2"/>
          <a:stretch>
            <a:fillRect/>
          </a:stretch>
        </p:blipFill>
        <p:spPr>
          <a:xfrm>
            <a:off x="98194" y="1269582"/>
            <a:ext cx="8947611" cy="3981685"/>
          </a:xfrm>
          <a:prstGeom prst="rect">
            <a:avLst/>
          </a:prstGeom>
        </p:spPr>
      </p:pic>
      <p:sp>
        <p:nvSpPr>
          <p:cNvPr id="4" name="Slide Number Placeholder 3">
            <a:extLst>
              <a:ext uri="{FF2B5EF4-FFF2-40B4-BE49-F238E27FC236}">
                <a16:creationId xmlns:a16="http://schemas.microsoft.com/office/drawing/2014/main" id="{A204D123-8393-0918-09B4-B92BC8A4F6F4}"/>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chemeClr val="tx1">
                    <a:tint val="75000"/>
                  </a:schemeClr>
                </a:solidFill>
              </a:rPr>
              <a:pPr defTabSz="914400">
                <a:spcAft>
                  <a:spcPts val="600"/>
                </a:spcAft>
              </a:pPr>
              <a:t>8</a:t>
            </a:fld>
            <a:endParaRPr lang="en-US">
              <a:solidFill>
                <a:schemeClr val="tx1">
                  <a:tint val="75000"/>
                </a:schemeClr>
              </a:solidFill>
            </a:endParaRPr>
          </a:p>
        </p:txBody>
      </p:sp>
    </p:spTree>
    <p:extLst>
      <p:ext uri="{BB962C8B-B14F-4D97-AF65-F5344CB8AC3E}">
        <p14:creationId xmlns:p14="http://schemas.microsoft.com/office/powerpoint/2010/main" val="3637104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a:extLst>
              <a:ext uri="{FF2B5EF4-FFF2-40B4-BE49-F238E27FC236}">
                <a16:creationId xmlns:a16="http://schemas.microsoft.com/office/drawing/2014/main" id="{D2C4956A-966E-4543-86B1-4C81FC423D40}"/>
              </a:ext>
            </a:extLst>
          </p:cNvPr>
          <p:cNvSpPr>
            <a:spLocks noGrp="1" noChangeArrowheads="1"/>
          </p:cNvSpPr>
          <p:nvPr>
            <p:ph type="body" idx="1"/>
          </p:nvPr>
        </p:nvSpPr>
        <p:spPr>
          <a:xfrm>
            <a:off x="628650" y="2028825"/>
            <a:ext cx="7886700" cy="4351338"/>
          </a:xfrm>
        </p:spPr>
        <p:txBody>
          <a:bodyPr/>
          <a:lstStyle/>
          <a:p>
            <a:pPr>
              <a:lnSpc>
                <a:spcPct val="90000"/>
              </a:lnSpc>
            </a:pPr>
            <a:r>
              <a:rPr lang="en-GB" altLang="en-US" dirty="0"/>
              <a:t>1968 study – difference of 1:25 in time taken by different programmers to code program</a:t>
            </a:r>
          </a:p>
          <a:p>
            <a:pPr>
              <a:lnSpc>
                <a:spcPct val="90000"/>
              </a:lnSpc>
            </a:pPr>
            <a:r>
              <a:rPr lang="en-GB" altLang="en-US" dirty="0"/>
              <a:t>Other research found experience better than maths skills as a guide to software skills</a:t>
            </a:r>
          </a:p>
          <a:p>
            <a:pPr>
              <a:lnSpc>
                <a:spcPct val="90000"/>
              </a:lnSpc>
            </a:pPr>
            <a:r>
              <a:rPr lang="en-GB" altLang="en-US" dirty="0"/>
              <a:t>Some research suggested software developers less sociable than other workers</a:t>
            </a:r>
          </a:p>
          <a:p>
            <a:pPr>
              <a:lnSpc>
                <a:spcPct val="90000"/>
              </a:lnSpc>
            </a:pPr>
            <a:r>
              <a:rPr lang="en-GB" altLang="en-US" dirty="0"/>
              <a:t>Later surveys have found no significant social differences between IT workers and others – this could be result of broader role of IT in organizations</a:t>
            </a:r>
          </a:p>
        </p:txBody>
      </p:sp>
      <p:sp>
        <p:nvSpPr>
          <p:cNvPr id="3" name="Title 2">
            <a:extLst>
              <a:ext uri="{FF2B5EF4-FFF2-40B4-BE49-F238E27FC236}">
                <a16:creationId xmlns:a16="http://schemas.microsoft.com/office/drawing/2014/main" id="{911A3028-1556-48EE-8E5C-9C8E523D85A1}"/>
              </a:ext>
            </a:extLst>
          </p:cNvPr>
          <p:cNvSpPr>
            <a:spLocks noGrp="1"/>
          </p:cNvSpPr>
          <p:nvPr>
            <p:ph type="title"/>
          </p:nvPr>
        </p:nvSpPr>
        <p:spPr/>
        <p:txBody>
          <a:bodyPr>
            <a:normAutofit fontScale="90000"/>
          </a:bodyPr>
          <a:lstStyle/>
          <a:p>
            <a:r>
              <a:rPr lang="en-GB" dirty="0"/>
              <a:t>Do good software developers have innate characteristics?</a:t>
            </a:r>
            <a:endParaRPr lang="en-US" dirty="0"/>
          </a:p>
        </p:txBody>
      </p:sp>
      <p:sp>
        <p:nvSpPr>
          <p:cNvPr id="2" name="Slide Number Placeholder 1">
            <a:extLst>
              <a:ext uri="{FF2B5EF4-FFF2-40B4-BE49-F238E27FC236}">
                <a16:creationId xmlns:a16="http://schemas.microsoft.com/office/drawing/2014/main" id="{786CDF30-C5F7-C33E-21AE-906B046981D6}"/>
              </a:ext>
            </a:extLst>
          </p:cNvPr>
          <p:cNvSpPr>
            <a:spLocks noGrp="1"/>
          </p:cNvSpPr>
          <p:nvPr>
            <p:ph type="sldNum" sz="quarter" idx="12"/>
          </p:nvPr>
        </p:nvSpPr>
        <p:spPr/>
        <p:txBody>
          <a:bodyPr/>
          <a:lstStyle/>
          <a:p>
            <a:fld id="{60D6D740-8150-433F-9426-3FCFF681501A}" type="slidenum">
              <a:rPr lang="en-US" smtClean="0"/>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descr="A close up of a text&#10;&#10;Description automatically generated">
            <a:extLst>
              <a:ext uri="{FF2B5EF4-FFF2-40B4-BE49-F238E27FC236}">
                <a16:creationId xmlns:a16="http://schemas.microsoft.com/office/drawing/2014/main" id="{902AC0E9-86C3-E17E-2AFA-CF998BA0D823}"/>
              </a:ext>
            </a:extLst>
          </p:cNvPr>
          <p:cNvPicPr>
            <a:picLocks noGrp="1" noChangeAspect="1"/>
          </p:cNvPicPr>
          <p:nvPr>
            <p:ph idx="1"/>
          </p:nvPr>
        </p:nvPicPr>
        <p:blipFill>
          <a:blip r:embed="rId2"/>
          <a:stretch>
            <a:fillRect/>
          </a:stretch>
        </p:blipFill>
        <p:spPr>
          <a:xfrm>
            <a:off x="482600" y="2324862"/>
            <a:ext cx="8178799" cy="2208274"/>
          </a:xfrm>
          <a:prstGeom prst="rect">
            <a:avLst/>
          </a:prstGeom>
        </p:spPr>
      </p:pic>
      <p:sp>
        <p:nvSpPr>
          <p:cNvPr id="4" name="Slide Number Placeholder 3">
            <a:extLst>
              <a:ext uri="{FF2B5EF4-FFF2-40B4-BE49-F238E27FC236}">
                <a16:creationId xmlns:a16="http://schemas.microsoft.com/office/drawing/2014/main" id="{8203101C-717E-BB39-D5AA-01E713B24B5F}"/>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chemeClr val="tx1">
                    <a:tint val="75000"/>
                  </a:schemeClr>
                </a:solidFill>
              </a:rPr>
              <a:pPr defTabSz="914400">
                <a:spcAft>
                  <a:spcPts val="600"/>
                </a:spcAft>
              </a:pPr>
              <a:t>10</a:t>
            </a:fld>
            <a:endParaRPr lang="en-US">
              <a:solidFill>
                <a:schemeClr val="tx1">
                  <a:tint val="75000"/>
                </a:schemeClr>
              </a:solidFill>
            </a:endParaRPr>
          </a:p>
        </p:txBody>
      </p:sp>
    </p:spTree>
    <p:extLst>
      <p:ext uri="{BB962C8B-B14F-4D97-AF65-F5344CB8AC3E}">
        <p14:creationId xmlns:p14="http://schemas.microsoft.com/office/powerpoint/2010/main" val="978072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2BBDC2C0-796D-4BC5-96E8-1F4DB996B37C}"/>
              </a:ext>
            </a:extLst>
          </p:cNvPr>
          <p:cNvSpPr>
            <a:spLocks noGrp="1" noChangeArrowheads="1"/>
          </p:cNvSpPr>
          <p:nvPr>
            <p:ph type="title"/>
          </p:nvPr>
        </p:nvSpPr>
        <p:spPr/>
        <p:txBody>
          <a:bodyPr/>
          <a:lstStyle/>
          <a:p>
            <a:r>
              <a:rPr lang="en-GB" altLang="en-US" dirty="0"/>
              <a:t>A selection process</a:t>
            </a:r>
          </a:p>
        </p:txBody>
      </p:sp>
      <p:sp>
        <p:nvSpPr>
          <p:cNvPr id="50179" name="Rectangle 3">
            <a:extLst>
              <a:ext uri="{FF2B5EF4-FFF2-40B4-BE49-F238E27FC236}">
                <a16:creationId xmlns:a16="http://schemas.microsoft.com/office/drawing/2014/main" id="{41C6492D-62A3-443F-AADF-8BB38FA99BFD}"/>
              </a:ext>
            </a:extLst>
          </p:cNvPr>
          <p:cNvSpPr>
            <a:spLocks noGrp="1" noChangeArrowheads="1"/>
          </p:cNvSpPr>
          <p:nvPr>
            <p:ph type="body" idx="1"/>
          </p:nvPr>
        </p:nvSpPr>
        <p:spPr/>
        <p:txBody>
          <a:bodyPr/>
          <a:lstStyle/>
          <a:p>
            <a:pPr marL="609600" indent="-609600">
              <a:buFontTx/>
              <a:buAutoNum type="arabicPeriod"/>
            </a:pPr>
            <a:r>
              <a:rPr lang="en-GB" altLang="en-US" b="1" dirty="0"/>
              <a:t>Create a job specification</a:t>
            </a:r>
            <a:r>
              <a:rPr lang="en-GB" altLang="en-US" dirty="0"/>
              <a:t>.</a:t>
            </a:r>
          </a:p>
          <a:p>
            <a:pPr marL="990600" lvl="1" indent="-533400">
              <a:buFontTx/>
              <a:buNone/>
            </a:pPr>
            <a:r>
              <a:rPr lang="en-GB" altLang="en-US" dirty="0"/>
              <a:t>Content includes types of task to be carried out.</a:t>
            </a:r>
          </a:p>
          <a:p>
            <a:pPr marL="609600" indent="-609600">
              <a:buFontTx/>
              <a:buAutoNum type="arabicPeriod"/>
            </a:pPr>
            <a:r>
              <a:rPr lang="en-GB" altLang="en-US" b="1" dirty="0"/>
              <a:t>Create a job holder profile</a:t>
            </a:r>
          </a:p>
          <a:p>
            <a:pPr marL="990600" lvl="1" indent="-533400">
              <a:buFontTx/>
              <a:buNone/>
            </a:pPr>
            <a:r>
              <a:rPr lang="en-GB" altLang="en-US" dirty="0"/>
              <a:t>Describes the characteristics of the person who could do the job</a:t>
            </a:r>
          </a:p>
          <a:p>
            <a:pPr marL="609600" indent="-609600">
              <a:buFontTx/>
              <a:buAutoNum type="arabicPeriod"/>
            </a:pPr>
            <a:r>
              <a:rPr lang="en-GB" altLang="en-US" b="1" dirty="0"/>
              <a:t>Obtain applicants</a:t>
            </a:r>
          </a:p>
          <a:p>
            <a:pPr marL="990600" lvl="1" indent="-533400">
              <a:buFont typeface="Monotype Sorts" pitchFamily="1" charset="2"/>
              <a:buNone/>
            </a:pPr>
            <a:r>
              <a:rPr lang="en-GB" altLang="en-US" dirty="0"/>
              <a:t>Identify the media that potential job holders are likely to consult. Elicit CVs</a:t>
            </a:r>
          </a:p>
        </p:txBody>
      </p:sp>
      <p:sp>
        <p:nvSpPr>
          <p:cNvPr id="2" name="Slide Number Placeholder 1">
            <a:extLst>
              <a:ext uri="{FF2B5EF4-FFF2-40B4-BE49-F238E27FC236}">
                <a16:creationId xmlns:a16="http://schemas.microsoft.com/office/drawing/2014/main" id="{C1E115C2-C9DE-E1E5-E44F-77E706BCD3C7}"/>
              </a:ext>
            </a:extLst>
          </p:cNvPr>
          <p:cNvSpPr>
            <a:spLocks noGrp="1"/>
          </p:cNvSpPr>
          <p:nvPr>
            <p:ph type="sldNum" sz="quarter" idx="12"/>
          </p:nvPr>
        </p:nvSpPr>
        <p:spPr/>
        <p:txBody>
          <a:bodyPr/>
          <a:lstStyle/>
          <a:p>
            <a:fld id="{60D6D740-8150-433F-9426-3FCFF681501A}" type="slidenum">
              <a:rPr lang="en-US" smtClean="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A8A41990-FEA5-435A-93B7-8C335FA27041}"/>
              </a:ext>
            </a:extLst>
          </p:cNvPr>
          <p:cNvSpPr>
            <a:spLocks noGrp="1" noChangeArrowheads="1"/>
          </p:cNvSpPr>
          <p:nvPr>
            <p:ph type="title"/>
          </p:nvPr>
        </p:nvSpPr>
        <p:spPr/>
        <p:txBody>
          <a:bodyPr/>
          <a:lstStyle/>
          <a:p>
            <a:r>
              <a:rPr lang="en-GB" altLang="en-US"/>
              <a:t>A selection process - continued</a:t>
            </a:r>
          </a:p>
        </p:txBody>
      </p:sp>
      <p:sp>
        <p:nvSpPr>
          <p:cNvPr id="51203" name="Rectangle 3">
            <a:extLst>
              <a:ext uri="{FF2B5EF4-FFF2-40B4-BE49-F238E27FC236}">
                <a16:creationId xmlns:a16="http://schemas.microsoft.com/office/drawing/2014/main" id="{2F4FE36C-31EF-43E1-BBCF-9A505BBBEA9E}"/>
              </a:ext>
            </a:extLst>
          </p:cNvPr>
          <p:cNvSpPr>
            <a:spLocks noGrp="1" noChangeArrowheads="1"/>
          </p:cNvSpPr>
          <p:nvPr>
            <p:ph type="body" idx="1"/>
          </p:nvPr>
        </p:nvSpPr>
        <p:spPr/>
        <p:txBody>
          <a:bodyPr>
            <a:normAutofit/>
          </a:bodyPr>
          <a:lstStyle/>
          <a:p>
            <a:pPr marL="609600" indent="-609600">
              <a:buClr>
                <a:schemeClr val="tx1"/>
              </a:buClr>
              <a:buFontTx/>
              <a:buAutoNum type="arabicPeriod" startAt="4"/>
            </a:pPr>
            <a:r>
              <a:rPr lang="en-GB" altLang="en-US" sz="2400" b="1" dirty="0"/>
              <a:t>Select potential candidates from CVs.</a:t>
            </a:r>
            <a:br>
              <a:rPr lang="en-GB" altLang="en-US" sz="2400" b="1" dirty="0"/>
            </a:br>
            <a:r>
              <a:rPr lang="en-GB" altLang="en-US" dirty="0"/>
              <a:t>Do not waste everybody’s time interviewing people whose CV clearly indicates are unsuitable.</a:t>
            </a:r>
          </a:p>
          <a:p>
            <a:pPr marL="609600" indent="-609600">
              <a:buClr>
                <a:schemeClr val="tx1"/>
              </a:buClr>
              <a:buFontTx/>
              <a:buAutoNum type="arabicPeriod" startAt="4"/>
            </a:pPr>
            <a:r>
              <a:rPr lang="en-GB" altLang="en-US" sz="2400" b="1" dirty="0"/>
              <a:t>Further selection, including interview</a:t>
            </a:r>
            <a:br>
              <a:rPr lang="en-GB" altLang="en-US" sz="2400" b="1" dirty="0"/>
            </a:br>
            <a:r>
              <a:rPr lang="en-GB" altLang="en-US" dirty="0"/>
              <a:t>Selection processes could include aptitude tests, examination of work portfolios. Make sure selection processes map to the job holder profile</a:t>
            </a:r>
          </a:p>
          <a:p>
            <a:pPr marL="609600" indent="-609600">
              <a:buClr>
                <a:schemeClr val="tx1"/>
              </a:buClr>
              <a:buFontTx/>
              <a:buAutoNum type="arabicPeriod" startAt="4"/>
            </a:pPr>
            <a:r>
              <a:rPr lang="en-GB" altLang="en-US" sz="2400" b="1" dirty="0"/>
              <a:t>Other procedures</a:t>
            </a:r>
            <a:r>
              <a:rPr lang="en-GB" altLang="en-US" sz="2400" dirty="0"/>
              <a:t>.</a:t>
            </a:r>
            <a:br>
              <a:rPr lang="en-GB" altLang="en-US" sz="2400" dirty="0"/>
            </a:br>
            <a:r>
              <a:rPr lang="en-GB" altLang="en-US" dirty="0"/>
              <a:t>e.g. taking up references, medicals etc</a:t>
            </a:r>
          </a:p>
          <a:p>
            <a:pPr marL="609600" indent="-609600">
              <a:buClr>
                <a:schemeClr val="tx1"/>
              </a:buClr>
              <a:buFontTx/>
              <a:buAutoNum type="arabicPeriod" startAt="4"/>
            </a:pPr>
            <a:endParaRPr lang="en-GB" altLang="en-US" sz="2400" dirty="0"/>
          </a:p>
        </p:txBody>
      </p:sp>
      <p:sp>
        <p:nvSpPr>
          <p:cNvPr id="2" name="Slide Number Placeholder 1">
            <a:extLst>
              <a:ext uri="{FF2B5EF4-FFF2-40B4-BE49-F238E27FC236}">
                <a16:creationId xmlns:a16="http://schemas.microsoft.com/office/drawing/2014/main" id="{EEBDFA2F-2623-2568-3B62-84925F891629}"/>
              </a:ext>
            </a:extLst>
          </p:cNvPr>
          <p:cNvSpPr>
            <a:spLocks noGrp="1"/>
          </p:cNvSpPr>
          <p:nvPr>
            <p:ph type="sldNum" sz="quarter" idx="12"/>
          </p:nvPr>
        </p:nvSpPr>
        <p:spPr/>
        <p:txBody>
          <a:bodyPr/>
          <a:lstStyle/>
          <a:p>
            <a:fld id="{60D6D740-8150-433F-9426-3FCFF681501A}" type="slidenum">
              <a:rPr lang="en-US" smtClean="0"/>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A0655DB4-D4B1-41CF-A1F1-CA712F817DF1}"/>
              </a:ext>
            </a:extLst>
          </p:cNvPr>
          <p:cNvSpPr>
            <a:spLocks noGrp="1" noChangeArrowheads="1"/>
          </p:cNvSpPr>
          <p:nvPr>
            <p:ph type="title"/>
          </p:nvPr>
        </p:nvSpPr>
        <p:spPr/>
        <p:txBody>
          <a:bodyPr/>
          <a:lstStyle/>
          <a:p>
            <a:r>
              <a:rPr lang="en-GB" altLang="en-US" dirty="0"/>
              <a:t>Instruction in the best methods</a:t>
            </a:r>
          </a:p>
        </p:txBody>
      </p:sp>
      <p:sp>
        <p:nvSpPr>
          <p:cNvPr id="52227" name="Rectangle 3">
            <a:extLst>
              <a:ext uri="{FF2B5EF4-FFF2-40B4-BE49-F238E27FC236}">
                <a16:creationId xmlns:a16="http://schemas.microsoft.com/office/drawing/2014/main" id="{938791D1-BDBE-48D4-AF6D-EADA84E49B2B}"/>
              </a:ext>
            </a:extLst>
          </p:cNvPr>
          <p:cNvSpPr>
            <a:spLocks noGrp="1" noChangeArrowheads="1"/>
          </p:cNvSpPr>
          <p:nvPr>
            <p:ph type="body" idx="1"/>
          </p:nvPr>
        </p:nvSpPr>
        <p:spPr/>
        <p:txBody>
          <a:bodyPr>
            <a:normAutofit/>
          </a:bodyPr>
          <a:lstStyle/>
          <a:p>
            <a:r>
              <a:rPr lang="en-GB" altLang="en-US" dirty="0"/>
              <a:t>The induction of new staff should be carefully planned – worst case where new recruit is simply ignored and not given any tasks</a:t>
            </a:r>
          </a:p>
          <a:p>
            <a:r>
              <a:rPr lang="en-GB" altLang="en-US" dirty="0"/>
              <a:t>Good induction leads to new recruit becoming productive more quickly</a:t>
            </a:r>
          </a:p>
          <a:p>
            <a:r>
              <a:rPr lang="en-GB" altLang="en-US" dirty="0"/>
              <a:t>Need to review staff progress frequently and provide feedback</a:t>
            </a:r>
          </a:p>
          <a:p>
            <a:r>
              <a:rPr lang="en-GB" altLang="en-US" dirty="0"/>
              <a:t>Need to identify training that could enhance staff effectiveness.</a:t>
            </a:r>
          </a:p>
          <a:p>
            <a:endParaRPr lang="en-GB" altLang="en-US" dirty="0"/>
          </a:p>
        </p:txBody>
      </p:sp>
      <p:sp>
        <p:nvSpPr>
          <p:cNvPr id="2" name="Slide Number Placeholder 1">
            <a:extLst>
              <a:ext uri="{FF2B5EF4-FFF2-40B4-BE49-F238E27FC236}">
                <a16:creationId xmlns:a16="http://schemas.microsoft.com/office/drawing/2014/main" id="{B149C791-9AEC-6A29-FABC-53EF6863567E}"/>
              </a:ext>
            </a:extLst>
          </p:cNvPr>
          <p:cNvSpPr>
            <a:spLocks noGrp="1"/>
          </p:cNvSpPr>
          <p:nvPr>
            <p:ph type="sldNum" sz="quarter" idx="12"/>
          </p:nvPr>
        </p:nvSpPr>
        <p:spPr/>
        <p:txBody>
          <a:bodyPr/>
          <a:lstStyle/>
          <a:p>
            <a:fld id="{60D6D740-8150-433F-9426-3FCFF681501A}" type="slidenum">
              <a:rPr lang="en-US" smtClean="0"/>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1E3E4F7F-0115-4E11-9623-E2A3F7DFE902}"/>
              </a:ext>
            </a:extLst>
          </p:cNvPr>
          <p:cNvSpPr>
            <a:spLocks noGrp="1" noChangeArrowheads="1"/>
          </p:cNvSpPr>
          <p:nvPr>
            <p:ph type="title"/>
          </p:nvPr>
        </p:nvSpPr>
        <p:spPr/>
        <p:txBody>
          <a:bodyPr/>
          <a:lstStyle/>
          <a:p>
            <a:r>
              <a:rPr lang="en-GB" altLang="en-US" dirty="0"/>
              <a:t>Motivation</a:t>
            </a:r>
          </a:p>
        </p:txBody>
      </p:sp>
      <p:sp>
        <p:nvSpPr>
          <p:cNvPr id="14339" name="Rectangle 3">
            <a:extLst>
              <a:ext uri="{FF2B5EF4-FFF2-40B4-BE49-F238E27FC236}">
                <a16:creationId xmlns:a16="http://schemas.microsoft.com/office/drawing/2014/main" id="{6DFFD595-FF18-415B-B071-5F54F6A0C8CE}"/>
              </a:ext>
            </a:extLst>
          </p:cNvPr>
          <p:cNvSpPr>
            <a:spLocks noGrp="1" noChangeArrowheads="1"/>
          </p:cNvSpPr>
          <p:nvPr>
            <p:ph type="body" idx="1"/>
          </p:nvPr>
        </p:nvSpPr>
        <p:spPr/>
        <p:txBody>
          <a:bodyPr/>
          <a:lstStyle/>
          <a:p>
            <a:pPr>
              <a:lnSpc>
                <a:spcPct val="90000"/>
              </a:lnSpc>
            </a:pPr>
            <a:r>
              <a:rPr lang="en-GB" altLang="en-US" dirty="0"/>
              <a:t>Motivation and application can often make up for shortfalls in innate skills</a:t>
            </a:r>
          </a:p>
          <a:p>
            <a:pPr>
              <a:lnSpc>
                <a:spcPct val="90000"/>
              </a:lnSpc>
            </a:pPr>
            <a:r>
              <a:rPr lang="en-GB" altLang="en-US" dirty="0"/>
              <a:t>Taylor’s approach  - financial incentives</a:t>
            </a:r>
          </a:p>
          <a:p>
            <a:pPr>
              <a:lnSpc>
                <a:spcPct val="90000"/>
              </a:lnSpc>
            </a:pPr>
            <a:r>
              <a:rPr lang="en-GB" altLang="en-US" dirty="0"/>
              <a:t>Abraham Maslow (1908-1970)</a:t>
            </a:r>
          </a:p>
          <a:p>
            <a:pPr lvl="1">
              <a:lnSpc>
                <a:spcPct val="90000"/>
              </a:lnSpc>
            </a:pPr>
            <a:r>
              <a:rPr lang="en-GB" altLang="en-US" dirty="0"/>
              <a:t>motivations vary from individual to individual</a:t>
            </a:r>
          </a:p>
          <a:p>
            <a:pPr lvl="1">
              <a:lnSpc>
                <a:spcPct val="90000"/>
              </a:lnSpc>
            </a:pPr>
            <a:r>
              <a:rPr lang="en-GB" altLang="en-US" dirty="0"/>
              <a:t>hierarchy of needs – as lower ones fulfilled, higher ones emerge</a:t>
            </a:r>
          </a:p>
          <a:p>
            <a:pPr lvl="1">
              <a:lnSpc>
                <a:spcPct val="90000"/>
              </a:lnSpc>
            </a:pPr>
            <a:r>
              <a:rPr lang="en-GB" altLang="en-US" dirty="0"/>
              <a:t>Lowest level – food, shelter</a:t>
            </a:r>
          </a:p>
          <a:p>
            <a:pPr lvl="1">
              <a:lnSpc>
                <a:spcPct val="90000"/>
              </a:lnSpc>
            </a:pPr>
            <a:r>
              <a:rPr lang="en-GB" altLang="en-US" dirty="0"/>
              <a:t>Highest level – self-actualization</a:t>
            </a:r>
          </a:p>
          <a:p>
            <a:pPr lvl="1">
              <a:lnSpc>
                <a:spcPct val="90000"/>
              </a:lnSpc>
            </a:pPr>
            <a:endParaRPr lang="en-GB" altLang="en-US" dirty="0"/>
          </a:p>
          <a:p>
            <a:pPr lvl="1">
              <a:lnSpc>
                <a:spcPct val="90000"/>
              </a:lnSpc>
            </a:pPr>
            <a:endParaRPr lang="en-GB" altLang="en-US" dirty="0"/>
          </a:p>
        </p:txBody>
      </p:sp>
      <p:sp>
        <p:nvSpPr>
          <p:cNvPr id="2" name="Slide Number Placeholder 1">
            <a:extLst>
              <a:ext uri="{FF2B5EF4-FFF2-40B4-BE49-F238E27FC236}">
                <a16:creationId xmlns:a16="http://schemas.microsoft.com/office/drawing/2014/main" id="{3E3F27B9-57FA-79EE-C336-80148489095C}"/>
              </a:ext>
            </a:extLst>
          </p:cNvPr>
          <p:cNvSpPr>
            <a:spLocks noGrp="1"/>
          </p:cNvSpPr>
          <p:nvPr>
            <p:ph type="sldNum" sz="quarter" idx="12"/>
          </p:nvPr>
        </p:nvSpPr>
        <p:spPr/>
        <p:txBody>
          <a:bodyPr/>
          <a:lstStyle/>
          <a:p>
            <a:fld id="{60D6D740-8150-433F-9426-3FCFF681501A}" type="slidenum">
              <a:rPr lang="en-US" smtClean="0"/>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9A2FEAED-87D0-45F8-B054-0AA0CE854A9C}"/>
              </a:ext>
            </a:extLst>
          </p:cNvPr>
          <p:cNvSpPr>
            <a:spLocks noGrp="1" noChangeArrowheads="1"/>
          </p:cNvSpPr>
          <p:nvPr>
            <p:ph type="title"/>
          </p:nvPr>
        </p:nvSpPr>
        <p:spPr/>
        <p:txBody>
          <a:bodyPr/>
          <a:lstStyle/>
          <a:p>
            <a:r>
              <a:rPr lang="en-GB" altLang="en-US" dirty="0"/>
              <a:t>Herzberg</a:t>
            </a:r>
          </a:p>
        </p:txBody>
      </p:sp>
      <p:sp>
        <p:nvSpPr>
          <p:cNvPr id="17411" name="Rectangle 3">
            <a:extLst>
              <a:ext uri="{FF2B5EF4-FFF2-40B4-BE49-F238E27FC236}">
                <a16:creationId xmlns:a16="http://schemas.microsoft.com/office/drawing/2014/main" id="{D441BF8E-F338-4A97-A8C2-489D9C9F5572}"/>
              </a:ext>
            </a:extLst>
          </p:cNvPr>
          <p:cNvSpPr>
            <a:spLocks noGrp="1" noChangeArrowheads="1"/>
          </p:cNvSpPr>
          <p:nvPr>
            <p:ph type="body" idx="1"/>
          </p:nvPr>
        </p:nvSpPr>
        <p:spPr/>
        <p:txBody>
          <a:bodyPr/>
          <a:lstStyle/>
          <a:p>
            <a:pPr marL="609600" indent="-609600">
              <a:buFont typeface="Monotype Sorts" pitchFamily="1" charset="2"/>
              <a:buNone/>
            </a:pPr>
            <a:r>
              <a:rPr lang="en-GB" altLang="en-US" dirty="0"/>
              <a:t>Herzberg suggested two sets of factors affected job satisfaction</a:t>
            </a:r>
          </a:p>
          <a:p>
            <a:pPr marL="609600" indent="-609600">
              <a:buFontTx/>
              <a:buAutoNum type="arabicPeriod"/>
            </a:pPr>
            <a:r>
              <a:rPr lang="en-GB" altLang="en-US" i="1" dirty="0"/>
              <a:t>Hygiene</a:t>
            </a:r>
            <a:r>
              <a:rPr lang="en-GB" altLang="en-US" dirty="0"/>
              <a:t> or </a:t>
            </a:r>
            <a:r>
              <a:rPr lang="en-GB" altLang="en-US" i="1" dirty="0"/>
              <a:t>maintenance factors – </a:t>
            </a:r>
            <a:r>
              <a:rPr lang="en-GB" altLang="en-US" dirty="0"/>
              <a:t>make you dissatisfied if they are not right e.g. pay, working conditions</a:t>
            </a:r>
          </a:p>
          <a:p>
            <a:pPr marL="609600" indent="-609600">
              <a:buFontTx/>
              <a:buAutoNum type="arabicPeriod"/>
            </a:pPr>
            <a:r>
              <a:rPr lang="en-GB" altLang="en-US" i="1" dirty="0"/>
              <a:t>Motivators – </a:t>
            </a:r>
            <a:r>
              <a:rPr lang="en-GB" altLang="en-US" dirty="0"/>
              <a:t>make you feel the job is worthwhile e.g. a sense of achievement </a:t>
            </a:r>
          </a:p>
        </p:txBody>
      </p:sp>
      <p:sp>
        <p:nvSpPr>
          <p:cNvPr id="2" name="Slide Number Placeholder 1">
            <a:extLst>
              <a:ext uri="{FF2B5EF4-FFF2-40B4-BE49-F238E27FC236}">
                <a16:creationId xmlns:a16="http://schemas.microsoft.com/office/drawing/2014/main" id="{E49DEBFE-7B36-8DA6-3FF9-4CA802764063}"/>
              </a:ext>
            </a:extLst>
          </p:cNvPr>
          <p:cNvSpPr>
            <a:spLocks noGrp="1"/>
          </p:cNvSpPr>
          <p:nvPr>
            <p:ph type="sldNum" sz="quarter" idx="12"/>
          </p:nvPr>
        </p:nvSpPr>
        <p:spPr/>
        <p:txBody>
          <a:bodyPr/>
          <a:lstStyle/>
          <a:p>
            <a:fld id="{60D6D740-8150-433F-9426-3FCFF681501A}" type="slidenum">
              <a:rPr lang="en-US" smtClean="0"/>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90B3DFA-3F18-4198-BA64-9E25F6716B25}"/>
              </a:ext>
            </a:extLst>
          </p:cNvPr>
          <p:cNvSpPr>
            <a:spLocks noGrp="1" noChangeArrowheads="1"/>
          </p:cNvSpPr>
          <p:nvPr>
            <p:ph type="title"/>
          </p:nvPr>
        </p:nvSpPr>
        <p:spPr/>
        <p:txBody>
          <a:bodyPr/>
          <a:lstStyle/>
          <a:p>
            <a:r>
              <a:rPr lang="en-GB" altLang="en-US" dirty="0"/>
              <a:t>Vroom</a:t>
            </a:r>
          </a:p>
        </p:txBody>
      </p:sp>
      <p:sp>
        <p:nvSpPr>
          <p:cNvPr id="19459" name="Rectangle 3">
            <a:extLst>
              <a:ext uri="{FF2B5EF4-FFF2-40B4-BE49-F238E27FC236}">
                <a16:creationId xmlns:a16="http://schemas.microsoft.com/office/drawing/2014/main" id="{88DBDAD5-C12A-42AC-BE53-0843C48F01BD}"/>
              </a:ext>
            </a:extLst>
          </p:cNvPr>
          <p:cNvSpPr>
            <a:spLocks noGrp="1" noChangeArrowheads="1"/>
          </p:cNvSpPr>
          <p:nvPr>
            <p:ph type="body" idx="1"/>
          </p:nvPr>
        </p:nvSpPr>
        <p:spPr/>
        <p:txBody>
          <a:bodyPr/>
          <a:lstStyle/>
          <a:p>
            <a:pPr marL="609600" indent="-609600">
              <a:buFont typeface="Monotype Sorts" pitchFamily="1" charset="2"/>
              <a:buNone/>
            </a:pPr>
            <a:r>
              <a:rPr lang="en-GB" altLang="en-US" dirty="0"/>
              <a:t>Vroom and colleagues identified three influences on motivation</a:t>
            </a:r>
          </a:p>
          <a:p>
            <a:pPr marL="609600" indent="-609600">
              <a:buFontTx/>
              <a:buAutoNum type="arabicPeriod"/>
            </a:pPr>
            <a:r>
              <a:rPr lang="en-GB" altLang="en-US" i="1" dirty="0"/>
              <a:t>Expectancy</a:t>
            </a:r>
            <a:r>
              <a:rPr lang="en-GB" altLang="en-US" dirty="0"/>
              <a:t> – the belief that working harder leads to better performance</a:t>
            </a:r>
          </a:p>
          <a:p>
            <a:pPr marL="609600" indent="-609600">
              <a:buFontTx/>
              <a:buAutoNum type="arabicPeriod"/>
            </a:pPr>
            <a:r>
              <a:rPr lang="en-GB" altLang="en-US" i="1" dirty="0"/>
              <a:t>Instrumentality</a:t>
            </a:r>
            <a:r>
              <a:rPr lang="en-GB" altLang="en-US" dirty="0"/>
              <a:t> – the belief that better performance will be rewarded</a:t>
            </a:r>
          </a:p>
          <a:p>
            <a:pPr marL="609600" indent="-609600">
              <a:buFontTx/>
              <a:buAutoNum type="arabicPeriod"/>
            </a:pPr>
            <a:r>
              <a:rPr lang="en-GB" altLang="en-US" i="1" dirty="0"/>
              <a:t>Perceived value</a:t>
            </a:r>
            <a:r>
              <a:rPr lang="en-GB" altLang="en-US" dirty="0"/>
              <a:t> of the reward</a:t>
            </a:r>
          </a:p>
          <a:p>
            <a:pPr marL="609600" indent="-609600">
              <a:buFontTx/>
              <a:buAutoNum type="arabicPeriod"/>
            </a:pPr>
            <a:endParaRPr lang="en-GB" altLang="en-US" dirty="0"/>
          </a:p>
        </p:txBody>
      </p:sp>
      <p:sp>
        <p:nvSpPr>
          <p:cNvPr id="2" name="Slide Number Placeholder 1">
            <a:extLst>
              <a:ext uri="{FF2B5EF4-FFF2-40B4-BE49-F238E27FC236}">
                <a16:creationId xmlns:a16="http://schemas.microsoft.com/office/drawing/2014/main" id="{4931EBDF-F804-72A5-6C57-B33A9112D16F}"/>
              </a:ext>
            </a:extLst>
          </p:cNvPr>
          <p:cNvSpPr>
            <a:spLocks noGrp="1"/>
          </p:cNvSpPr>
          <p:nvPr>
            <p:ph type="sldNum" sz="quarter" idx="12"/>
          </p:nvPr>
        </p:nvSpPr>
        <p:spPr/>
        <p:txBody>
          <a:bodyPr/>
          <a:lstStyle/>
          <a:p>
            <a:fld id="{60D6D740-8150-433F-9426-3FCFF681501A}"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a:extLst>
              <a:ext uri="{FF2B5EF4-FFF2-40B4-BE49-F238E27FC236}">
                <a16:creationId xmlns:a16="http://schemas.microsoft.com/office/drawing/2014/main" id="{D6762CBC-2ECA-4B92-8FCF-4C46CEA92CD0}"/>
              </a:ext>
            </a:extLst>
          </p:cNvPr>
          <p:cNvSpPr>
            <a:spLocks noGrp="1" noChangeArrowheads="1"/>
          </p:cNvSpPr>
          <p:nvPr>
            <p:ph type="body" idx="1"/>
          </p:nvPr>
        </p:nvSpPr>
        <p:spPr/>
        <p:txBody>
          <a:bodyPr/>
          <a:lstStyle/>
          <a:p>
            <a:pPr>
              <a:lnSpc>
                <a:spcPct val="90000"/>
              </a:lnSpc>
              <a:buFont typeface="Monotype Sorts" pitchFamily="1" charset="2"/>
              <a:buNone/>
            </a:pPr>
            <a:r>
              <a:rPr lang="en-GB" altLang="en-US" dirty="0"/>
              <a:t>Identified the following characteristics of a job which make it more ‘meaningful’</a:t>
            </a:r>
          </a:p>
          <a:p>
            <a:pPr>
              <a:lnSpc>
                <a:spcPct val="90000"/>
              </a:lnSpc>
            </a:pPr>
            <a:r>
              <a:rPr lang="en-GB" altLang="en-US" dirty="0"/>
              <a:t>Skill variety</a:t>
            </a:r>
          </a:p>
          <a:p>
            <a:pPr>
              <a:lnSpc>
                <a:spcPct val="90000"/>
              </a:lnSpc>
            </a:pPr>
            <a:r>
              <a:rPr lang="en-GB" altLang="en-US" dirty="0"/>
              <a:t>Task identity</a:t>
            </a:r>
          </a:p>
          <a:p>
            <a:pPr>
              <a:lnSpc>
                <a:spcPct val="90000"/>
              </a:lnSpc>
            </a:pPr>
            <a:r>
              <a:rPr lang="en-GB" altLang="en-US" dirty="0"/>
              <a:t>Task significance</a:t>
            </a:r>
          </a:p>
          <a:p>
            <a:pPr>
              <a:lnSpc>
                <a:spcPct val="90000"/>
              </a:lnSpc>
              <a:buFont typeface="Monotype Sorts" pitchFamily="1" charset="2"/>
              <a:buNone/>
            </a:pPr>
            <a:r>
              <a:rPr lang="en-GB" altLang="en-US" dirty="0"/>
              <a:t>Two other factors contributed to satisfaction:</a:t>
            </a:r>
          </a:p>
          <a:p>
            <a:pPr>
              <a:lnSpc>
                <a:spcPct val="90000"/>
              </a:lnSpc>
            </a:pPr>
            <a:r>
              <a:rPr lang="en-GB" altLang="en-US" dirty="0"/>
              <a:t>Autonomy</a:t>
            </a:r>
          </a:p>
          <a:p>
            <a:pPr>
              <a:lnSpc>
                <a:spcPct val="90000"/>
              </a:lnSpc>
            </a:pPr>
            <a:r>
              <a:rPr lang="en-GB" altLang="en-US" dirty="0"/>
              <a:t>Feedback</a:t>
            </a:r>
          </a:p>
        </p:txBody>
      </p:sp>
      <p:sp>
        <p:nvSpPr>
          <p:cNvPr id="3" name="Title 2">
            <a:extLst>
              <a:ext uri="{FF2B5EF4-FFF2-40B4-BE49-F238E27FC236}">
                <a16:creationId xmlns:a16="http://schemas.microsoft.com/office/drawing/2014/main" id="{6A44BA3D-4985-472A-8CDD-3C8E01D74AF8}"/>
              </a:ext>
            </a:extLst>
          </p:cNvPr>
          <p:cNvSpPr>
            <a:spLocks noGrp="1"/>
          </p:cNvSpPr>
          <p:nvPr>
            <p:ph type="title"/>
          </p:nvPr>
        </p:nvSpPr>
        <p:spPr/>
        <p:txBody>
          <a:bodyPr>
            <a:normAutofit fontScale="90000"/>
          </a:bodyPr>
          <a:lstStyle/>
          <a:p>
            <a:r>
              <a:rPr lang="en-US" dirty="0"/>
              <a:t>Oldham-Hackman job characteristics</a:t>
            </a:r>
          </a:p>
        </p:txBody>
      </p:sp>
      <p:sp>
        <p:nvSpPr>
          <p:cNvPr id="2" name="Slide Number Placeholder 1">
            <a:extLst>
              <a:ext uri="{FF2B5EF4-FFF2-40B4-BE49-F238E27FC236}">
                <a16:creationId xmlns:a16="http://schemas.microsoft.com/office/drawing/2014/main" id="{57AAD0E4-2147-83FB-4E5F-D24501D4E170}"/>
              </a:ext>
            </a:extLst>
          </p:cNvPr>
          <p:cNvSpPr>
            <a:spLocks noGrp="1"/>
          </p:cNvSpPr>
          <p:nvPr>
            <p:ph type="sldNum" sz="quarter" idx="12"/>
          </p:nvPr>
        </p:nvSpPr>
        <p:spPr/>
        <p:txBody>
          <a:bodyPr/>
          <a:lstStyle/>
          <a:p>
            <a:fld id="{60D6D740-8150-433F-9426-3FCFF681501A}"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id="{7FB02BF9-CBC6-4146-97F5-D5B1212BD117}"/>
              </a:ext>
            </a:extLst>
          </p:cNvPr>
          <p:cNvSpPr>
            <a:spLocks noGrp="1" noChangeArrowheads="1"/>
          </p:cNvSpPr>
          <p:nvPr>
            <p:ph type="body" idx="1"/>
          </p:nvPr>
        </p:nvSpPr>
        <p:spPr/>
        <p:txBody>
          <a:bodyPr>
            <a:normAutofit/>
          </a:bodyPr>
          <a:lstStyle/>
          <a:p>
            <a:r>
              <a:rPr lang="en-GB" altLang="en-US" sz="3200" dirty="0"/>
              <a:t>Set specific goals</a:t>
            </a:r>
          </a:p>
          <a:p>
            <a:r>
              <a:rPr lang="en-GB" altLang="en-US" sz="3200" dirty="0"/>
              <a:t>Provide feedback on the progress towards meeting those goals</a:t>
            </a:r>
          </a:p>
          <a:p>
            <a:r>
              <a:rPr lang="en-GB" altLang="en-US" sz="3200" dirty="0"/>
              <a:t>Consider job redesign </a:t>
            </a:r>
          </a:p>
          <a:p>
            <a:pPr lvl="1"/>
            <a:r>
              <a:rPr lang="en-GB" altLang="en-US" sz="2800" dirty="0"/>
              <a:t>Job enlargement</a:t>
            </a:r>
          </a:p>
          <a:p>
            <a:pPr lvl="1"/>
            <a:r>
              <a:rPr lang="en-GB" altLang="en-US" sz="2800" dirty="0"/>
              <a:t>Job enrichment</a:t>
            </a:r>
          </a:p>
          <a:p>
            <a:pPr lvl="1"/>
            <a:endParaRPr lang="en-GB" altLang="en-US" sz="2800" dirty="0"/>
          </a:p>
        </p:txBody>
      </p:sp>
      <p:sp>
        <p:nvSpPr>
          <p:cNvPr id="3" name="Title 2">
            <a:extLst>
              <a:ext uri="{FF2B5EF4-FFF2-40B4-BE49-F238E27FC236}">
                <a16:creationId xmlns:a16="http://schemas.microsoft.com/office/drawing/2014/main" id="{26FB6CB2-B67F-4B53-8912-368BEBD36F81}"/>
              </a:ext>
            </a:extLst>
          </p:cNvPr>
          <p:cNvSpPr>
            <a:spLocks noGrp="1"/>
          </p:cNvSpPr>
          <p:nvPr>
            <p:ph type="title"/>
          </p:nvPr>
        </p:nvSpPr>
        <p:spPr/>
        <p:txBody>
          <a:bodyPr>
            <a:normAutofit fontScale="90000"/>
          </a:bodyPr>
          <a:lstStyle/>
          <a:p>
            <a:r>
              <a:rPr lang="en-GB" dirty="0"/>
              <a:t>Methods to improve job satisfaction</a:t>
            </a:r>
            <a:endParaRPr lang="en-US" dirty="0"/>
          </a:p>
        </p:txBody>
      </p:sp>
      <p:sp>
        <p:nvSpPr>
          <p:cNvPr id="2" name="Slide Number Placeholder 1">
            <a:extLst>
              <a:ext uri="{FF2B5EF4-FFF2-40B4-BE49-F238E27FC236}">
                <a16:creationId xmlns:a16="http://schemas.microsoft.com/office/drawing/2014/main" id="{36AB13E1-B5B4-9EE0-E049-030096FF0589}"/>
              </a:ext>
            </a:extLst>
          </p:cNvPr>
          <p:cNvSpPr>
            <a:spLocks noGrp="1"/>
          </p:cNvSpPr>
          <p:nvPr>
            <p:ph type="sldNum" sz="quarter" idx="12"/>
          </p:nvPr>
        </p:nvSpPr>
        <p:spPr/>
        <p:txBody>
          <a:bodyPr/>
          <a:lstStyle/>
          <a:p>
            <a:fld id="{60D6D740-8150-433F-9426-3FCFF681501A}" type="slidenum">
              <a:rPr lang="en-US" smtClean="0"/>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D43EA4F6-ACE1-4CA0-849D-2E04E5383817}"/>
              </a:ext>
            </a:extLst>
          </p:cNvPr>
          <p:cNvSpPr>
            <a:spLocks noGrp="1" noChangeArrowheads="1"/>
          </p:cNvSpPr>
          <p:nvPr>
            <p:ph type="title"/>
          </p:nvPr>
        </p:nvSpPr>
        <p:spPr/>
        <p:txBody>
          <a:bodyPr/>
          <a:lstStyle/>
          <a:p>
            <a:r>
              <a:rPr lang="en-GB" altLang="en-US"/>
              <a:t>Stress</a:t>
            </a:r>
          </a:p>
        </p:txBody>
      </p:sp>
      <p:sp>
        <p:nvSpPr>
          <p:cNvPr id="56323" name="Rectangle 3">
            <a:extLst>
              <a:ext uri="{FF2B5EF4-FFF2-40B4-BE49-F238E27FC236}">
                <a16:creationId xmlns:a16="http://schemas.microsoft.com/office/drawing/2014/main" id="{E2619C60-83FE-4A3D-9C0E-9031A1FB04CD}"/>
              </a:ext>
            </a:extLst>
          </p:cNvPr>
          <p:cNvSpPr>
            <a:spLocks noGrp="1" noChangeArrowheads="1"/>
          </p:cNvSpPr>
          <p:nvPr>
            <p:ph type="body" idx="1"/>
          </p:nvPr>
        </p:nvSpPr>
        <p:spPr/>
        <p:txBody>
          <a:bodyPr/>
          <a:lstStyle/>
          <a:p>
            <a:r>
              <a:rPr lang="en-GB" altLang="en-US" dirty="0"/>
              <a:t>Edward Yourdon quotes a project manager: ‘</a:t>
            </a:r>
            <a:r>
              <a:rPr lang="en-GB" altLang="en-US" i="1" dirty="0"/>
              <a:t>Once a project gets rolling, you should be expecting members to be putting in at least 60 hours a week….The project manager must expect to put in as many hours as possible.’</a:t>
            </a:r>
          </a:p>
          <a:p>
            <a:r>
              <a:rPr lang="en-GB" altLang="en-US" dirty="0"/>
              <a:t>1960 study in US: people under 45 who worked more than 48 hours a week twice the risk of death from coronary heart disease.</a:t>
            </a:r>
          </a:p>
          <a:p>
            <a:r>
              <a:rPr lang="en-GB" altLang="en-US" dirty="0"/>
              <a:t>XP practice</a:t>
            </a:r>
            <a:r>
              <a:rPr lang="en-GB" altLang="en-US" i="1" dirty="0"/>
              <a:t> </a:t>
            </a:r>
            <a:r>
              <a:rPr lang="en-GB" altLang="en-US" dirty="0"/>
              <a:t>– maximum 40 hour working week</a:t>
            </a:r>
          </a:p>
        </p:txBody>
      </p:sp>
      <p:sp>
        <p:nvSpPr>
          <p:cNvPr id="2" name="Slide Number Placeholder 1">
            <a:extLst>
              <a:ext uri="{FF2B5EF4-FFF2-40B4-BE49-F238E27FC236}">
                <a16:creationId xmlns:a16="http://schemas.microsoft.com/office/drawing/2014/main" id="{12DC0658-E885-D7C8-4F3F-48EF320EB3E0}"/>
              </a:ext>
            </a:extLst>
          </p:cNvPr>
          <p:cNvSpPr>
            <a:spLocks noGrp="1"/>
          </p:cNvSpPr>
          <p:nvPr>
            <p:ph type="sldNum" sz="quarter" idx="12"/>
          </p:nvPr>
        </p:nvSpPr>
        <p:spPr/>
        <p:txBody>
          <a:bodyPr/>
          <a:lstStyle/>
          <a:p>
            <a:fld id="{60D6D740-8150-433F-9426-3FCFF681501A}" type="slidenum">
              <a:rPr lang="en-US" smtClean="0"/>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a:extLst>
              <a:ext uri="{FF2B5EF4-FFF2-40B4-BE49-F238E27FC236}">
                <a16:creationId xmlns:a16="http://schemas.microsoft.com/office/drawing/2014/main" id="{F315CC83-FB0E-4681-B6B5-BC894D53D09B}"/>
              </a:ext>
            </a:extLst>
          </p:cNvPr>
          <p:cNvSpPr>
            <a:spLocks noGrp="1" noChangeArrowheads="1"/>
          </p:cNvSpPr>
          <p:nvPr>
            <p:ph type="body" idx="1"/>
          </p:nvPr>
        </p:nvSpPr>
        <p:spPr>
          <a:xfrm>
            <a:off x="457200" y="2058988"/>
            <a:ext cx="8229600" cy="4033837"/>
          </a:xfrm>
        </p:spPr>
        <p:txBody>
          <a:bodyPr>
            <a:normAutofit lnSpcReduction="10000"/>
          </a:bodyPr>
          <a:lstStyle/>
          <a:p>
            <a:pPr>
              <a:lnSpc>
                <a:spcPct val="90000"/>
              </a:lnSpc>
              <a:buFont typeface="Monotype Sorts" pitchFamily="1" charset="2"/>
              <a:buNone/>
            </a:pPr>
            <a:r>
              <a:rPr lang="en-GB" altLang="en-US" dirty="0"/>
              <a:t>Good project management should lead to:</a:t>
            </a:r>
          </a:p>
          <a:p>
            <a:pPr>
              <a:lnSpc>
                <a:spcPct val="90000"/>
              </a:lnSpc>
            </a:pPr>
            <a:r>
              <a:rPr lang="en-GB" altLang="en-US" dirty="0"/>
              <a:t>Reasonable estimates of effort</a:t>
            </a:r>
          </a:p>
          <a:p>
            <a:pPr>
              <a:lnSpc>
                <a:spcPct val="90000"/>
              </a:lnSpc>
            </a:pPr>
            <a:r>
              <a:rPr lang="en-GB" altLang="en-US" dirty="0"/>
              <a:t>Good project control leading fewer unexpected crises</a:t>
            </a:r>
          </a:p>
          <a:p>
            <a:pPr>
              <a:lnSpc>
                <a:spcPct val="90000"/>
              </a:lnSpc>
            </a:pPr>
            <a:r>
              <a:rPr lang="en-GB" altLang="en-US" dirty="0"/>
              <a:t>Making clear what is expected of each team member – reduces </a:t>
            </a:r>
            <a:r>
              <a:rPr lang="en-GB" altLang="en-US" b="1" dirty="0"/>
              <a:t>role ambiguity</a:t>
            </a:r>
          </a:p>
          <a:p>
            <a:pPr>
              <a:lnSpc>
                <a:spcPct val="90000"/>
              </a:lnSpc>
            </a:pPr>
            <a:r>
              <a:rPr lang="en-GB" altLang="en-US" dirty="0"/>
              <a:t>Reduced </a:t>
            </a:r>
            <a:r>
              <a:rPr lang="en-GB" altLang="en-US" b="1" dirty="0"/>
              <a:t>role conflict </a:t>
            </a:r>
            <a:r>
              <a:rPr lang="en-GB" altLang="en-US" dirty="0"/>
              <a:t>where a person is torn between conflicting responsibilities</a:t>
            </a:r>
          </a:p>
          <a:p>
            <a:pPr>
              <a:lnSpc>
                <a:spcPct val="90000"/>
              </a:lnSpc>
              <a:buFont typeface="Monotype Sorts" pitchFamily="1" charset="2"/>
              <a:buNone/>
            </a:pPr>
            <a:r>
              <a:rPr lang="en-GB" altLang="en-US" dirty="0"/>
              <a:t>Bullying tactics are a symptom of incompetent project management.</a:t>
            </a:r>
          </a:p>
          <a:p>
            <a:pPr>
              <a:lnSpc>
                <a:spcPct val="90000"/>
              </a:lnSpc>
            </a:pPr>
            <a:endParaRPr lang="en-GB" altLang="en-US" b="1" dirty="0"/>
          </a:p>
        </p:txBody>
      </p:sp>
      <p:sp>
        <p:nvSpPr>
          <p:cNvPr id="3" name="Title 2">
            <a:extLst>
              <a:ext uri="{FF2B5EF4-FFF2-40B4-BE49-F238E27FC236}">
                <a16:creationId xmlns:a16="http://schemas.microsoft.com/office/drawing/2014/main" id="{DAFA9853-D956-4E31-968B-6A259365CE3D}"/>
              </a:ext>
            </a:extLst>
          </p:cNvPr>
          <p:cNvSpPr>
            <a:spLocks noGrp="1"/>
          </p:cNvSpPr>
          <p:nvPr>
            <p:ph type="title"/>
          </p:nvPr>
        </p:nvSpPr>
        <p:spPr/>
        <p:txBody>
          <a:bodyPr>
            <a:normAutofit fontScale="90000"/>
          </a:bodyPr>
          <a:lstStyle/>
          <a:p>
            <a:r>
              <a:rPr lang="en-GB" dirty="0"/>
              <a:t>Stress can be reduced by good project management</a:t>
            </a:r>
            <a:endParaRPr lang="en-US" dirty="0"/>
          </a:p>
        </p:txBody>
      </p:sp>
      <p:sp>
        <p:nvSpPr>
          <p:cNvPr id="2" name="Slide Number Placeholder 1">
            <a:extLst>
              <a:ext uri="{FF2B5EF4-FFF2-40B4-BE49-F238E27FC236}">
                <a16:creationId xmlns:a16="http://schemas.microsoft.com/office/drawing/2014/main" id="{6BD8F370-45AE-538F-A839-261566EC2222}"/>
              </a:ext>
            </a:extLst>
          </p:cNvPr>
          <p:cNvSpPr>
            <a:spLocks noGrp="1"/>
          </p:cNvSpPr>
          <p:nvPr>
            <p:ph type="sldNum" sz="quarter" idx="12"/>
          </p:nvPr>
        </p:nvSpPr>
        <p:spPr/>
        <p:txBody>
          <a:bodyPr/>
          <a:lstStyle/>
          <a:p>
            <a:fld id="{60D6D740-8150-433F-9426-3FCFF681501A}" type="slidenum">
              <a:rPr lang="en-US" smtClean="0"/>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5F3A12EF-E087-404B-ACBB-3ED1ADA1CD24}"/>
              </a:ext>
            </a:extLst>
          </p:cNvPr>
          <p:cNvSpPr>
            <a:spLocks noGrp="1" noChangeArrowheads="1"/>
          </p:cNvSpPr>
          <p:nvPr>
            <p:ph type="title"/>
          </p:nvPr>
        </p:nvSpPr>
        <p:spPr/>
        <p:txBody>
          <a:bodyPr/>
          <a:lstStyle/>
          <a:p>
            <a:r>
              <a:rPr lang="en-GB" altLang="en-US"/>
              <a:t>Health and safety</a:t>
            </a:r>
          </a:p>
        </p:txBody>
      </p:sp>
      <p:sp>
        <p:nvSpPr>
          <p:cNvPr id="58371" name="Rectangle 3">
            <a:extLst>
              <a:ext uri="{FF2B5EF4-FFF2-40B4-BE49-F238E27FC236}">
                <a16:creationId xmlns:a16="http://schemas.microsoft.com/office/drawing/2014/main" id="{C2968553-73F2-46CF-83CF-7BE650D0AF6C}"/>
              </a:ext>
            </a:extLst>
          </p:cNvPr>
          <p:cNvSpPr>
            <a:spLocks noGrp="1" noChangeArrowheads="1"/>
          </p:cNvSpPr>
          <p:nvPr>
            <p:ph type="body" idx="1"/>
          </p:nvPr>
        </p:nvSpPr>
        <p:spPr>
          <a:xfrm>
            <a:off x="457200" y="1928812"/>
            <a:ext cx="8229600" cy="4929188"/>
          </a:xfrm>
        </p:spPr>
        <p:txBody>
          <a:bodyPr/>
          <a:lstStyle/>
          <a:p>
            <a:pPr>
              <a:lnSpc>
                <a:spcPct val="90000"/>
              </a:lnSpc>
            </a:pPr>
            <a:r>
              <a:rPr lang="en-GB" altLang="en-US" dirty="0"/>
              <a:t>Apart from stress, health and safety less likely to be an issue compared to other engineering projects.</a:t>
            </a:r>
          </a:p>
          <a:p>
            <a:pPr>
              <a:lnSpc>
                <a:spcPct val="90000"/>
              </a:lnSpc>
            </a:pPr>
            <a:r>
              <a:rPr lang="en-GB" altLang="en-US" dirty="0"/>
              <a:t>…but sometimes IT infrastructure may be set up as other building work is going on</a:t>
            </a:r>
          </a:p>
          <a:p>
            <a:pPr>
              <a:lnSpc>
                <a:spcPct val="90000"/>
              </a:lnSpc>
            </a:pPr>
            <a:r>
              <a:rPr lang="en-GB" altLang="en-US" dirty="0"/>
              <a:t>UK law lays down that organizations employing over 5 staff should have a </a:t>
            </a:r>
            <a:r>
              <a:rPr lang="en-GB" altLang="en-US" b="1" dirty="0"/>
              <a:t>written safety policy</a:t>
            </a:r>
          </a:p>
          <a:p>
            <a:pPr>
              <a:lnSpc>
                <a:spcPct val="90000"/>
              </a:lnSpc>
            </a:pPr>
            <a:r>
              <a:rPr lang="en-GB" altLang="en-US" dirty="0"/>
              <a:t>Management of safety should be embedded in project management.</a:t>
            </a:r>
          </a:p>
        </p:txBody>
      </p:sp>
      <p:sp>
        <p:nvSpPr>
          <p:cNvPr id="2" name="Slide Number Placeholder 1">
            <a:extLst>
              <a:ext uri="{FF2B5EF4-FFF2-40B4-BE49-F238E27FC236}">
                <a16:creationId xmlns:a16="http://schemas.microsoft.com/office/drawing/2014/main" id="{817D3521-00FB-66AF-B994-0CB447742746}"/>
              </a:ext>
            </a:extLst>
          </p:cNvPr>
          <p:cNvSpPr>
            <a:spLocks noGrp="1"/>
          </p:cNvSpPr>
          <p:nvPr>
            <p:ph type="sldNum" sz="quarter" idx="12"/>
          </p:nvPr>
        </p:nvSpPr>
        <p:spPr/>
        <p:txBody>
          <a:bodyPr/>
          <a:lstStyle/>
          <a:p>
            <a:fld id="{60D6D740-8150-433F-9426-3FCFF681501A}" type="slidenum">
              <a:rPr lang="en-US" smtClean="0"/>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F28B07C8-52F1-4223-BD51-0F8476B4F1EE}"/>
              </a:ext>
            </a:extLst>
          </p:cNvPr>
          <p:cNvSpPr>
            <a:spLocks noGrp="1" noChangeArrowheads="1"/>
          </p:cNvSpPr>
          <p:nvPr>
            <p:ph type="title"/>
          </p:nvPr>
        </p:nvSpPr>
        <p:spPr/>
        <p:txBody>
          <a:bodyPr/>
          <a:lstStyle/>
          <a:p>
            <a:r>
              <a:rPr lang="en-GB" altLang="en-US"/>
              <a:t>Health and safety - continued</a:t>
            </a:r>
          </a:p>
        </p:txBody>
      </p:sp>
      <p:sp>
        <p:nvSpPr>
          <p:cNvPr id="59395" name="Rectangle 3">
            <a:extLst>
              <a:ext uri="{FF2B5EF4-FFF2-40B4-BE49-F238E27FC236}">
                <a16:creationId xmlns:a16="http://schemas.microsoft.com/office/drawing/2014/main" id="{28CCC407-3DB2-4381-BEA5-767DC80132F3}"/>
              </a:ext>
            </a:extLst>
          </p:cNvPr>
          <p:cNvSpPr>
            <a:spLocks noGrp="1" noChangeArrowheads="1"/>
          </p:cNvSpPr>
          <p:nvPr>
            <p:ph type="body" idx="1"/>
          </p:nvPr>
        </p:nvSpPr>
        <p:spPr/>
        <p:txBody>
          <a:bodyPr/>
          <a:lstStyle/>
          <a:p>
            <a:pPr>
              <a:lnSpc>
                <a:spcPct val="90000"/>
              </a:lnSpc>
            </a:pPr>
            <a:r>
              <a:rPr lang="en-GB" altLang="en-US"/>
              <a:t>Top management must be committed to health and safety (H&amp;S) policy</a:t>
            </a:r>
          </a:p>
          <a:p>
            <a:pPr>
              <a:lnSpc>
                <a:spcPct val="90000"/>
              </a:lnSpc>
            </a:pPr>
            <a:r>
              <a:rPr lang="en-GB" altLang="en-US"/>
              <a:t>Delegation of responsibilities relating to H&amp;S should be clear</a:t>
            </a:r>
          </a:p>
          <a:p>
            <a:pPr>
              <a:lnSpc>
                <a:spcPct val="90000"/>
              </a:lnSpc>
            </a:pPr>
            <a:r>
              <a:rPr lang="en-GB" altLang="en-US"/>
              <a:t>Job descriptions should include H&amp;S related responsibilities</a:t>
            </a:r>
          </a:p>
          <a:p>
            <a:pPr>
              <a:lnSpc>
                <a:spcPct val="90000"/>
              </a:lnSpc>
            </a:pPr>
            <a:r>
              <a:rPr lang="en-GB" altLang="en-US"/>
              <a:t>Need to ensure those given H&amp;S responsibilities should understand and accept them</a:t>
            </a:r>
          </a:p>
        </p:txBody>
      </p:sp>
      <p:sp>
        <p:nvSpPr>
          <p:cNvPr id="2" name="Slide Number Placeholder 1">
            <a:extLst>
              <a:ext uri="{FF2B5EF4-FFF2-40B4-BE49-F238E27FC236}">
                <a16:creationId xmlns:a16="http://schemas.microsoft.com/office/drawing/2014/main" id="{FB514B87-508F-5235-1744-575FB8CA9B5D}"/>
              </a:ext>
            </a:extLst>
          </p:cNvPr>
          <p:cNvSpPr>
            <a:spLocks noGrp="1"/>
          </p:cNvSpPr>
          <p:nvPr>
            <p:ph type="sldNum" sz="quarter" idx="12"/>
          </p:nvPr>
        </p:nvSpPr>
        <p:spPr/>
        <p:txBody>
          <a:bodyPr/>
          <a:lstStyle/>
          <a:p>
            <a:fld id="{60D6D740-8150-433F-9426-3FCFF681501A}" type="slidenum">
              <a:rPr lang="en-US" smtClean="0"/>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ABF99FA1-DE97-4FD5-9022-C41FE41D0576}"/>
              </a:ext>
            </a:extLst>
          </p:cNvPr>
          <p:cNvSpPr>
            <a:spLocks noGrp="1" noChangeArrowheads="1"/>
          </p:cNvSpPr>
          <p:nvPr>
            <p:ph type="title"/>
          </p:nvPr>
        </p:nvSpPr>
        <p:spPr/>
        <p:txBody>
          <a:bodyPr/>
          <a:lstStyle/>
          <a:p>
            <a:r>
              <a:rPr lang="en-GB" altLang="en-US"/>
              <a:t>Health and safety - continued</a:t>
            </a:r>
          </a:p>
        </p:txBody>
      </p:sp>
      <p:sp>
        <p:nvSpPr>
          <p:cNvPr id="60419" name="Rectangle 3">
            <a:extLst>
              <a:ext uri="{FF2B5EF4-FFF2-40B4-BE49-F238E27FC236}">
                <a16:creationId xmlns:a16="http://schemas.microsoft.com/office/drawing/2014/main" id="{83B9CF74-B2D2-4C2B-9F27-B6EE4EB1A389}"/>
              </a:ext>
            </a:extLst>
          </p:cNvPr>
          <p:cNvSpPr>
            <a:spLocks noGrp="1" noChangeArrowheads="1"/>
          </p:cNvSpPr>
          <p:nvPr>
            <p:ph type="body" idx="1"/>
          </p:nvPr>
        </p:nvSpPr>
        <p:spPr/>
        <p:txBody>
          <a:bodyPr/>
          <a:lstStyle/>
          <a:p>
            <a:r>
              <a:rPr lang="en-GB" altLang="en-US"/>
              <a:t>There should be a designated safety officer</a:t>
            </a:r>
          </a:p>
          <a:p>
            <a:r>
              <a:rPr lang="en-GB" altLang="en-US"/>
              <a:t>Staff, particularly knowledgeable technical specialists, should consulted about safety </a:t>
            </a:r>
          </a:p>
          <a:p>
            <a:r>
              <a:rPr lang="en-GB" altLang="en-US"/>
              <a:t>There should be an adequate H&amp;S budget  </a:t>
            </a:r>
          </a:p>
        </p:txBody>
      </p:sp>
      <p:sp>
        <p:nvSpPr>
          <p:cNvPr id="2" name="Slide Number Placeholder 1">
            <a:extLst>
              <a:ext uri="{FF2B5EF4-FFF2-40B4-BE49-F238E27FC236}">
                <a16:creationId xmlns:a16="http://schemas.microsoft.com/office/drawing/2014/main" id="{7657CDBD-409E-AFCA-7F65-1290B2A8F620}"/>
              </a:ext>
            </a:extLst>
          </p:cNvPr>
          <p:cNvSpPr>
            <a:spLocks noGrp="1"/>
          </p:cNvSpPr>
          <p:nvPr>
            <p:ph type="sldNum" sz="quarter" idx="12"/>
          </p:nvPr>
        </p:nvSpPr>
        <p:spPr/>
        <p:txBody>
          <a:bodyPr/>
          <a:lstStyle/>
          <a:p>
            <a:fld id="{60D6D740-8150-433F-9426-3FCFF681501A}" type="slidenum">
              <a:rPr lang="en-US" smtClean="0"/>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a:extLst>
              <a:ext uri="{FF2B5EF4-FFF2-40B4-BE49-F238E27FC236}">
                <a16:creationId xmlns:a16="http://schemas.microsoft.com/office/drawing/2014/main" id="{76CD3436-73CD-403D-9791-30B183A699C3}"/>
              </a:ext>
            </a:extLst>
          </p:cNvPr>
          <p:cNvSpPr>
            <a:spLocks noGrp="1" noChangeArrowheads="1"/>
          </p:cNvSpPr>
          <p:nvPr>
            <p:ph type="body" idx="1"/>
          </p:nvPr>
        </p:nvSpPr>
        <p:spPr/>
        <p:txBody>
          <a:bodyPr/>
          <a:lstStyle/>
          <a:p>
            <a:pPr>
              <a:lnSpc>
                <a:spcPct val="90000"/>
              </a:lnSpc>
              <a:buFont typeface="Monotype Sorts" pitchFamily="1" charset="2"/>
              <a:buNone/>
            </a:pPr>
            <a:r>
              <a:rPr lang="en-GB" altLang="en-US" dirty="0"/>
              <a:t>Ethics relates to the moral obligation to respect the rights and interests of others – goes beyond strictly legal responsibilities</a:t>
            </a:r>
          </a:p>
          <a:p>
            <a:pPr>
              <a:lnSpc>
                <a:spcPct val="90000"/>
              </a:lnSpc>
              <a:buFont typeface="Monotype Sorts" pitchFamily="1" charset="2"/>
              <a:buNone/>
            </a:pPr>
            <a:r>
              <a:rPr lang="en-GB" altLang="en-US" dirty="0"/>
              <a:t>Three groups of responsibilities:</a:t>
            </a:r>
          </a:p>
          <a:p>
            <a:pPr>
              <a:lnSpc>
                <a:spcPct val="90000"/>
              </a:lnSpc>
            </a:pPr>
            <a:r>
              <a:rPr lang="en-GB" altLang="en-US" dirty="0"/>
              <a:t>Responsibilities that everyone has</a:t>
            </a:r>
          </a:p>
          <a:p>
            <a:pPr>
              <a:lnSpc>
                <a:spcPct val="90000"/>
              </a:lnSpc>
            </a:pPr>
            <a:r>
              <a:rPr lang="en-GB" altLang="en-US" dirty="0"/>
              <a:t>Responsibilities that people in organizations have</a:t>
            </a:r>
          </a:p>
          <a:p>
            <a:pPr>
              <a:lnSpc>
                <a:spcPct val="90000"/>
              </a:lnSpc>
            </a:pPr>
            <a:r>
              <a:rPr lang="en-GB" altLang="en-US" dirty="0"/>
              <a:t>Responsibilities relating to your profession or calling</a:t>
            </a:r>
          </a:p>
        </p:txBody>
      </p:sp>
      <p:sp>
        <p:nvSpPr>
          <p:cNvPr id="3" name="Title 2">
            <a:extLst>
              <a:ext uri="{FF2B5EF4-FFF2-40B4-BE49-F238E27FC236}">
                <a16:creationId xmlns:a16="http://schemas.microsoft.com/office/drawing/2014/main" id="{BB2D5D38-E049-4DA8-8E1D-B90E8063AC37}"/>
              </a:ext>
            </a:extLst>
          </p:cNvPr>
          <p:cNvSpPr>
            <a:spLocks noGrp="1"/>
          </p:cNvSpPr>
          <p:nvPr>
            <p:ph type="title"/>
          </p:nvPr>
        </p:nvSpPr>
        <p:spPr/>
        <p:txBody>
          <a:bodyPr/>
          <a:lstStyle/>
          <a:p>
            <a:r>
              <a:rPr lang="en-US" dirty="0"/>
              <a:t>Ethical and professional concerns</a:t>
            </a:r>
          </a:p>
        </p:txBody>
      </p:sp>
      <p:sp>
        <p:nvSpPr>
          <p:cNvPr id="2" name="Slide Number Placeholder 1">
            <a:extLst>
              <a:ext uri="{FF2B5EF4-FFF2-40B4-BE49-F238E27FC236}">
                <a16:creationId xmlns:a16="http://schemas.microsoft.com/office/drawing/2014/main" id="{48886DBB-8933-4C0F-02A2-E0247B8A079A}"/>
              </a:ext>
            </a:extLst>
          </p:cNvPr>
          <p:cNvSpPr>
            <a:spLocks noGrp="1"/>
          </p:cNvSpPr>
          <p:nvPr>
            <p:ph type="sldNum" sz="quarter" idx="12"/>
          </p:nvPr>
        </p:nvSpPr>
        <p:spPr/>
        <p:txBody>
          <a:bodyPr/>
          <a:lstStyle/>
          <a:p>
            <a:fld id="{60D6D740-8150-433F-9426-3FCFF681501A}" type="slidenum">
              <a:rPr lang="en-US" smtClean="0"/>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a:extLst>
              <a:ext uri="{FF2B5EF4-FFF2-40B4-BE49-F238E27FC236}">
                <a16:creationId xmlns:a16="http://schemas.microsoft.com/office/drawing/2014/main" id="{7F07DADC-3986-4B59-85C5-17370F6AE053}"/>
              </a:ext>
            </a:extLst>
          </p:cNvPr>
          <p:cNvSpPr>
            <a:spLocks noGrp="1" noChangeArrowheads="1"/>
          </p:cNvSpPr>
          <p:nvPr>
            <p:ph type="body" idx="1"/>
          </p:nvPr>
        </p:nvSpPr>
        <p:spPr>
          <a:xfrm>
            <a:off x="386080" y="1999298"/>
            <a:ext cx="8229600" cy="5000625"/>
          </a:xfrm>
        </p:spPr>
        <p:txBody>
          <a:bodyPr>
            <a:normAutofit/>
          </a:bodyPr>
          <a:lstStyle/>
          <a:p>
            <a:pPr>
              <a:buFont typeface="Monotype Sorts" pitchFamily="1" charset="2"/>
              <a:buNone/>
            </a:pPr>
            <a:r>
              <a:rPr lang="en-GB" altLang="en-US" dirty="0"/>
              <a:t>There are some who argue that ethical organizational ethics are limited:</a:t>
            </a:r>
          </a:p>
          <a:p>
            <a:pPr>
              <a:buFont typeface="Monotype Sorts" pitchFamily="1" charset="2"/>
              <a:buNone/>
            </a:pPr>
            <a:r>
              <a:rPr lang="en-GB" altLang="en-US" b="1" dirty="0"/>
              <a:t>Stockholder theory </a:t>
            </a:r>
            <a:r>
              <a:rPr lang="en-GB" altLang="en-US" dirty="0"/>
              <a:t>(e.g. Milton Friedman). An employee’s duty is to the owners of the business (which often means the stakeholders) above all others – although legal requirements must be met.</a:t>
            </a:r>
          </a:p>
          <a:p>
            <a:pPr>
              <a:buFont typeface="Monotype Sorts" pitchFamily="1" charset="2"/>
              <a:buNone/>
            </a:pPr>
            <a:r>
              <a:rPr lang="en-GB" altLang="en-US" b="1" dirty="0"/>
              <a:t>Competitive relationships between businesses</a:t>
            </a:r>
            <a:r>
              <a:rPr lang="en-GB" altLang="en-US" dirty="0"/>
              <a:t>. Competition may cause you to do things that could have a negative impact on the owners or employees of competitive businesses</a:t>
            </a:r>
            <a:endParaRPr lang="en-GB" altLang="en-US" b="1" dirty="0"/>
          </a:p>
        </p:txBody>
      </p:sp>
      <p:sp>
        <p:nvSpPr>
          <p:cNvPr id="3" name="Title 2">
            <a:extLst>
              <a:ext uri="{FF2B5EF4-FFF2-40B4-BE49-F238E27FC236}">
                <a16:creationId xmlns:a16="http://schemas.microsoft.com/office/drawing/2014/main" id="{425EBC7D-44C4-4005-8F91-FA61FC389E2C}"/>
              </a:ext>
            </a:extLst>
          </p:cNvPr>
          <p:cNvSpPr>
            <a:spLocks noGrp="1"/>
          </p:cNvSpPr>
          <p:nvPr>
            <p:ph type="title"/>
          </p:nvPr>
        </p:nvSpPr>
        <p:spPr/>
        <p:txBody>
          <a:bodyPr/>
          <a:lstStyle/>
          <a:p>
            <a:r>
              <a:rPr lang="en-US" dirty="0"/>
              <a:t>Organizational ethics</a:t>
            </a:r>
          </a:p>
        </p:txBody>
      </p:sp>
      <p:sp>
        <p:nvSpPr>
          <p:cNvPr id="2" name="Slide Number Placeholder 1">
            <a:extLst>
              <a:ext uri="{FF2B5EF4-FFF2-40B4-BE49-F238E27FC236}">
                <a16:creationId xmlns:a16="http://schemas.microsoft.com/office/drawing/2014/main" id="{782AD092-B305-A3F9-4CA1-7704C82486C7}"/>
              </a:ext>
            </a:extLst>
          </p:cNvPr>
          <p:cNvSpPr>
            <a:spLocks noGrp="1"/>
          </p:cNvSpPr>
          <p:nvPr>
            <p:ph type="sldNum" sz="quarter" idx="12"/>
          </p:nvPr>
        </p:nvSpPr>
        <p:spPr/>
        <p:txBody>
          <a:bodyPr/>
          <a:lstStyle/>
          <a:p>
            <a:fld id="{60D6D740-8150-433F-9426-3FCFF681501A}" type="slidenum">
              <a:rPr lang="en-US" smtClean="0"/>
              <a:pPr/>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22C9D6A-6C5A-3496-39AF-2F40002E08FF}"/>
              </a:ext>
            </a:extLst>
          </p:cNvPr>
          <p:cNvPicPr>
            <a:picLocks noGrp="1" noChangeAspect="1"/>
          </p:cNvPicPr>
          <p:nvPr>
            <p:ph idx="1"/>
          </p:nvPr>
        </p:nvPicPr>
        <p:blipFill>
          <a:blip r:embed="rId2"/>
          <a:stretch>
            <a:fillRect/>
          </a:stretch>
        </p:blipFill>
        <p:spPr>
          <a:xfrm>
            <a:off x="482600" y="1752345"/>
            <a:ext cx="8178799" cy="3353308"/>
          </a:xfrm>
          <a:prstGeom prst="rect">
            <a:avLst/>
          </a:prstGeom>
        </p:spPr>
      </p:pic>
      <p:sp>
        <p:nvSpPr>
          <p:cNvPr id="4" name="Slide Number Placeholder 3">
            <a:extLst>
              <a:ext uri="{FF2B5EF4-FFF2-40B4-BE49-F238E27FC236}">
                <a16:creationId xmlns:a16="http://schemas.microsoft.com/office/drawing/2014/main" id="{37064A08-164D-FEB9-AC1E-8450DDC790E0}"/>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60D6D740-8150-433F-9426-3FCFF681501A}" type="slidenum">
              <a:rPr lang="en-US" smtClean="0">
                <a:solidFill>
                  <a:schemeClr val="tx1">
                    <a:tint val="75000"/>
                  </a:schemeClr>
                </a:solidFill>
              </a:rPr>
              <a:pPr defTabSz="914400">
                <a:spcAft>
                  <a:spcPts val="600"/>
                </a:spcAft>
              </a:pPr>
              <a:t>26</a:t>
            </a:fld>
            <a:endParaRPr lang="en-US">
              <a:solidFill>
                <a:schemeClr val="tx1">
                  <a:tint val="75000"/>
                </a:schemeClr>
              </a:solidFill>
            </a:endParaRPr>
          </a:p>
        </p:txBody>
      </p:sp>
    </p:spTree>
    <p:extLst>
      <p:ext uri="{BB962C8B-B14F-4D97-AF65-F5344CB8AC3E}">
        <p14:creationId xmlns:p14="http://schemas.microsoft.com/office/powerpoint/2010/main" val="12464171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5F12A357-8095-4E77-97E2-2A87B6F223FE}"/>
              </a:ext>
            </a:extLst>
          </p:cNvPr>
          <p:cNvSpPr>
            <a:spLocks noGrp="1" noChangeArrowheads="1"/>
          </p:cNvSpPr>
          <p:nvPr>
            <p:ph type="title"/>
          </p:nvPr>
        </p:nvSpPr>
        <p:spPr/>
        <p:txBody>
          <a:bodyPr/>
          <a:lstStyle/>
          <a:p>
            <a:r>
              <a:rPr lang="en-GB" altLang="en-US"/>
              <a:t>Professional ethics</a:t>
            </a:r>
          </a:p>
        </p:txBody>
      </p:sp>
      <p:sp>
        <p:nvSpPr>
          <p:cNvPr id="66563" name="Rectangle 3">
            <a:extLst>
              <a:ext uri="{FF2B5EF4-FFF2-40B4-BE49-F238E27FC236}">
                <a16:creationId xmlns:a16="http://schemas.microsoft.com/office/drawing/2014/main" id="{E93192A2-7382-4E43-A20D-E0A34CA9C9EA}"/>
              </a:ext>
            </a:extLst>
          </p:cNvPr>
          <p:cNvSpPr>
            <a:spLocks noGrp="1" noChangeArrowheads="1"/>
          </p:cNvSpPr>
          <p:nvPr>
            <p:ph type="body" idx="1"/>
          </p:nvPr>
        </p:nvSpPr>
        <p:spPr/>
        <p:txBody>
          <a:bodyPr>
            <a:normAutofit/>
          </a:bodyPr>
          <a:lstStyle/>
          <a:p>
            <a:pPr>
              <a:lnSpc>
                <a:spcPct val="90000"/>
              </a:lnSpc>
            </a:pPr>
            <a:r>
              <a:rPr lang="en-GB" altLang="en-US" dirty="0"/>
              <a:t>Professionals have knowledge about the technical domain that the general public does not</a:t>
            </a:r>
          </a:p>
          <a:p>
            <a:pPr>
              <a:lnSpc>
                <a:spcPct val="90000"/>
              </a:lnSpc>
            </a:pPr>
            <a:r>
              <a:rPr lang="en-GB" altLang="en-US" dirty="0"/>
              <a:t>Ethical duty of the expert to warn lay people of the risks involved in a particular course of action</a:t>
            </a:r>
          </a:p>
          <a:p>
            <a:pPr>
              <a:lnSpc>
                <a:spcPct val="90000"/>
              </a:lnSpc>
            </a:pPr>
            <a:r>
              <a:rPr lang="en-GB" altLang="en-US" dirty="0"/>
              <a:t>Many professions, or would be professions, have codes of conduct for their members.</a:t>
            </a:r>
          </a:p>
        </p:txBody>
      </p:sp>
      <p:sp>
        <p:nvSpPr>
          <p:cNvPr id="2" name="Slide Number Placeholder 1">
            <a:extLst>
              <a:ext uri="{FF2B5EF4-FFF2-40B4-BE49-F238E27FC236}">
                <a16:creationId xmlns:a16="http://schemas.microsoft.com/office/drawing/2014/main" id="{0E11C17B-B455-3A45-D078-2109A9FC23CF}"/>
              </a:ext>
            </a:extLst>
          </p:cNvPr>
          <p:cNvSpPr>
            <a:spLocks noGrp="1"/>
          </p:cNvSpPr>
          <p:nvPr>
            <p:ph type="sldNum" sz="quarter" idx="12"/>
          </p:nvPr>
        </p:nvSpPr>
        <p:spPr/>
        <p:txBody>
          <a:bodyPr/>
          <a:lstStyle/>
          <a:p>
            <a:fld id="{60D6D740-8150-433F-9426-3FCFF681501A}" type="slidenum">
              <a:rPr lang="en-US" smtClean="0"/>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EF87DDC0-5AEB-4B45-BE20-6F698BE74F6B}"/>
              </a:ext>
            </a:extLst>
          </p:cNvPr>
          <p:cNvSpPr>
            <a:spLocks noGrp="1" noChangeArrowheads="1"/>
          </p:cNvSpPr>
          <p:nvPr>
            <p:ph type="title"/>
          </p:nvPr>
        </p:nvSpPr>
        <p:spPr/>
        <p:txBody>
          <a:bodyPr/>
          <a:lstStyle/>
          <a:p>
            <a:r>
              <a:rPr lang="en-GB" altLang="en-US"/>
              <a:t>Exercise</a:t>
            </a:r>
          </a:p>
        </p:txBody>
      </p:sp>
      <p:sp>
        <p:nvSpPr>
          <p:cNvPr id="64515" name="Rectangle 3">
            <a:extLst>
              <a:ext uri="{FF2B5EF4-FFF2-40B4-BE49-F238E27FC236}">
                <a16:creationId xmlns:a16="http://schemas.microsoft.com/office/drawing/2014/main" id="{FEF5BFEF-B5DC-48E9-BEE4-0F442B646110}"/>
              </a:ext>
            </a:extLst>
          </p:cNvPr>
          <p:cNvSpPr>
            <a:spLocks noGrp="1" noChangeArrowheads="1"/>
          </p:cNvSpPr>
          <p:nvPr>
            <p:ph type="body" idx="1"/>
          </p:nvPr>
        </p:nvSpPr>
        <p:spPr/>
        <p:txBody>
          <a:bodyPr/>
          <a:lstStyle/>
          <a:p>
            <a:pPr>
              <a:buFont typeface="Monotype Sorts" pitchFamily="1" charset="2"/>
              <a:buNone/>
            </a:pPr>
            <a:r>
              <a:rPr lang="en-GB" altLang="en-US" dirty="0"/>
              <a:t>	Identify some of the possible objections and criticisms that can be made of the stockholder business ethics model described above.</a:t>
            </a:r>
          </a:p>
        </p:txBody>
      </p:sp>
      <p:sp>
        <p:nvSpPr>
          <p:cNvPr id="2" name="Slide Number Placeholder 1">
            <a:extLst>
              <a:ext uri="{FF2B5EF4-FFF2-40B4-BE49-F238E27FC236}">
                <a16:creationId xmlns:a16="http://schemas.microsoft.com/office/drawing/2014/main" id="{03371FB8-0DA3-51BD-E221-C273AF389F27}"/>
              </a:ext>
            </a:extLst>
          </p:cNvPr>
          <p:cNvSpPr>
            <a:spLocks noGrp="1"/>
          </p:cNvSpPr>
          <p:nvPr>
            <p:ph type="sldNum" sz="quarter" idx="12"/>
          </p:nvPr>
        </p:nvSpPr>
        <p:spPr/>
        <p:txBody>
          <a:bodyPr/>
          <a:lstStyle/>
          <a:p>
            <a:fld id="{60D6D740-8150-433F-9426-3FCFF681501A}" type="slidenum">
              <a:rPr lang="en-US" smtClean="0"/>
              <a:pPr/>
              <a:t>28</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3959</TotalTime>
  <Words>2152</Words>
  <Application>Microsoft Office PowerPoint</Application>
  <PresentationFormat>On-screen Show (4:3)</PresentationFormat>
  <Paragraphs>189</Paragraphs>
  <Slides>28</Slides>
  <Notes>13</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Monotype Sorts</vt:lpstr>
      <vt:lpstr>Söhne</vt:lpstr>
      <vt:lpstr>Office Theme</vt:lpstr>
      <vt:lpstr>FUNDAMENTALS OF SOFTWARE PROJECT MANAGEMENT  Managing People in Software Environments </vt:lpstr>
      <vt:lpstr>Main topics</vt:lpstr>
      <vt:lpstr>Before organizational behaviour</vt:lpstr>
      <vt:lpstr>PowerPoint Presentation</vt:lpstr>
      <vt:lpstr>Hawthorne effect</vt:lpstr>
      <vt:lpstr>PowerPoint Presentation</vt:lpstr>
      <vt:lpstr>Selecting the best people</vt:lpstr>
      <vt:lpstr>PowerPoint Presentation</vt:lpstr>
      <vt:lpstr>Do good software developers have innate characteristics?</vt:lpstr>
      <vt:lpstr>PowerPoint Presentation</vt:lpstr>
      <vt:lpstr>A selection process</vt:lpstr>
      <vt:lpstr>A selection process - continued</vt:lpstr>
      <vt:lpstr>Instruction in the best methods</vt:lpstr>
      <vt:lpstr>Motivation</vt:lpstr>
      <vt:lpstr>Herzberg</vt:lpstr>
      <vt:lpstr>Vroom</vt:lpstr>
      <vt:lpstr>Oldham-Hackman job characteristics</vt:lpstr>
      <vt:lpstr>Methods to improve job satisfaction</vt:lpstr>
      <vt:lpstr>Stress</vt:lpstr>
      <vt:lpstr>Stress can be reduced by good project management</vt:lpstr>
      <vt:lpstr>Health and safety</vt:lpstr>
      <vt:lpstr>Health and safety - continued</vt:lpstr>
      <vt:lpstr>Health and safety - continued</vt:lpstr>
      <vt:lpstr>Ethical and professional concerns</vt:lpstr>
      <vt:lpstr>Organizational ethics</vt:lpstr>
      <vt:lpstr>PowerPoint Presentation</vt:lpstr>
      <vt:lpstr>Professional ethics</vt:lpstr>
      <vt:lpstr>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Design and Analysis</dc:title>
  <dc:creator>Muhammad Mr.. Bilal</dc:creator>
  <cp:lastModifiedBy>Ms.Tehreem Aslam</cp:lastModifiedBy>
  <cp:revision>392</cp:revision>
  <dcterms:created xsi:type="dcterms:W3CDTF">2021-08-26T07:43:58Z</dcterms:created>
  <dcterms:modified xsi:type="dcterms:W3CDTF">2024-11-06T09:57:43Z</dcterms:modified>
</cp:coreProperties>
</file>