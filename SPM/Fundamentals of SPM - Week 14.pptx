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notesSlides/notesSlide4.xml" ContentType="application/vnd.openxmlformats-officedocument.presentationml.notesSlide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notesSlides/notesSlide5.xml" ContentType="application/vnd.openxmlformats-officedocument.presentationml.notesSlide+xml"/>
  <Override PartName="/ppt/ink/ink29.xml" ContentType="application/inkml+xml"/>
  <Override PartName="/ppt/ink/ink30.xml" ContentType="application/inkml+xml"/>
  <Override PartName="/ppt/notesSlides/notesSlide6.xml" ContentType="application/vnd.openxmlformats-officedocument.presentationml.notesSlide+xml"/>
  <Override PartName="/ppt/ink/ink31.xml" ContentType="application/inkml+xml"/>
  <Override PartName="/ppt/ink/ink32.xml" ContentType="application/inkml+xml"/>
  <Override PartName="/ppt/ink/ink33.xml" ContentType="application/inkml+xml"/>
  <Override PartName="/ppt/notesSlides/notesSlide7.xml" ContentType="application/vnd.openxmlformats-officedocument.presentationml.notesSlide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38.xml" ContentType="application/inkml+xml"/>
  <Override PartName="/ppt/ink/ink39.xml" ContentType="application/inkml+xml"/>
  <Override PartName="/ppt/ink/ink40.xml" ContentType="application/inkml+xml"/>
  <Override PartName="/ppt/notesSlides/notesSlide13.xml" ContentType="application/vnd.openxmlformats-officedocument.presentationml.notesSlide+xml"/>
  <Override PartName="/ppt/ink/ink41.xml" ContentType="application/inkml+xml"/>
  <Override PartName="/ppt/ink/ink42.xml" ContentType="application/inkml+xml"/>
  <Override PartName="/ppt/notesSlides/notesSlide14.xml" ContentType="application/vnd.openxmlformats-officedocument.presentationml.notesSlide+xml"/>
  <Override PartName="/ppt/ink/ink43.xml" ContentType="application/inkml+xml"/>
  <Override PartName="/ppt/ink/ink44.xml" ContentType="application/inkml+xml"/>
  <Override PartName="/ppt/ink/ink4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0"/>
  </p:notesMasterIdLst>
  <p:handoutMasterIdLst>
    <p:handoutMasterId r:id="rId41"/>
  </p:handoutMasterIdLst>
  <p:sldIdLst>
    <p:sldId id="295" r:id="rId3"/>
    <p:sldId id="337" r:id="rId4"/>
    <p:sldId id="338" r:id="rId5"/>
    <p:sldId id="339" r:id="rId6"/>
    <p:sldId id="340" r:id="rId7"/>
    <p:sldId id="341" r:id="rId8"/>
    <p:sldId id="342" r:id="rId9"/>
    <p:sldId id="343" r:id="rId10"/>
    <p:sldId id="344" r:id="rId11"/>
    <p:sldId id="367" r:id="rId12"/>
    <p:sldId id="345" r:id="rId13"/>
    <p:sldId id="346" r:id="rId14"/>
    <p:sldId id="372" r:id="rId15"/>
    <p:sldId id="347" r:id="rId16"/>
    <p:sldId id="348" r:id="rId17"/>
    <p:sldId id="368" r:id="rId18"/>
    <p:sldId id="369" r:id="rId19"/>
    <p:sldId id="370" r:id="rId20"/>
    <p:sldId id="371" r:id="rId21"/>
    <p:sldId id="349" r:id="rId22"/>
    <p:sldId id="350" r:id="rId23"/>
    <p:sldId id="351" r:id="rId24"/>
    <p:sldId id="352" r:id="rId25"/>
    <p:sldId id="361" r:id="rId26"/>
    <p:sldId id="353" r:id="rId27"/>
    <p:sldId id="362" r:id="rId28"/>
    <p:sldId id="364" r:id="rId29"/>
    <p:sldId id="363" r:id="rId30"/>
    <p:sldId id="355" r:id="rId31"/>
    <p:sldId id="365" r:id="rId32"/>
    <p:sldId id="356" r:id="rId33"/>
    <p:sldId id="359" r:id="rId34"/>
    <p:sldId id="366" r:id="rId35"/>
    <p:sldId id="272" r:id="rId36"/>
    <p:sldId id="273" r:id="rId37"/>
    <p:sldId id="275" r:id="rId38"/>
    <p:sldId id="276" r:id="rId3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51" autoAdjust="0"/>
    <p:restoredTop sz="76503" autoAdjust="0"/>
  </p:normalViewPr>
  <p:slideViewPr>
    <p:cSldViewPr snapToGrid="0">
      <p:cViewPr varScale="1">
        <p:scale>
          <a:sx n="49" d="100"/>
          <a:sy n="49" d="100"/>
        </p:scale>
        <p:origin x="1616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4EE401-9990-4847-9393-B587C049108F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06A5EC-6475-4ACA-82A7-7E5503099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0421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6:29.6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1 204 24575,'3'-3'0,"0"0"0,1 1 0,-1 0 0,1 0 0,-1 0 0,1 0 0,0 0 0,0 1 0,0-1 0,8-1 0,44-3 0,-44 5 0,381-39-6553,-248 22 898,73 6 1818,85-19 3428,-122 8 480,614-25-71,-687 47-7,223 5 67,-184 11 1521,27 2-160,-73-17 3892,-73 0-5489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6:30.7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 24575,'1656'0'-16383,"-1099"-20"16383,-261 6 0,-120 13 2335,-151 1 3522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6:33.0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30 24575,'3'-3'0,"1"0"0,-1 1 0,1 0 0,0 0 0,-1 0 0,1 0 0,0 0 0,0 1 0,0 0 0,7-2 0,45-3 0,-43 6 0,408 0-5935,1 34-3027,-230-16 7476,9-1 1486,378 36 0,55 11 0,-484-53 593,-61-6 125,89 16 0,251 36-718,-203-32 0,170 19-1015,3-26 1,-88-8 1186,148 50-201,-435-55-38,9 3 963,1-2 0,0-1 0,0-1 1,61-3-1,-92-1-682,0-1 0,0 1 0,0-1 0,0 1 0,0-1 1,0 0-1,-1-1 0,1 1 0,0 0 0,0-1 0,-1 0 0,1 1 0,-1-1 0,3-2 0,8-12 210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6:45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1 269 24575,'537'0'0,"-516"-2"0,1 0 0,-1-1 0,23-6 0,-19 3 0,43-4 0,80 9 128,-90 3-465,90-10 0,220-19-13711,-182 25 12723,-1 3 5811,-9-1 6477,641 0-10493,-625 16-470,-47-1 0,384-10 0,-301-7 0,-20-15 0,-21 0 0,322 16-6312,-235 2 3865,-93 1 2447,205-5 0,-220-10 41,23-2-628,0 13-2710,165-13 3703,13-8-3960,2 24 3687,-138 1-369,-53-2 268,-21 0 3963,-138-1-2266,0-1 1,-1-1-1,30-8 0,-27 6-92,1 0-1,25-1 0,-18 2-1636,39-8 0,-40 5 0,47-3 0,-34 8 0,105-11 0,123-21 0,-201 24-455,0 3 0,76 3 0,-115 4-6371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6:48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1 370 24575,'278'-15'-8126,"-116"4"3484,250-25 1027,-148-19 3615,-60 10 0,543-73 0,-630 105 1114,195 3 0,-18-5-1134,-87 1-498,46-4-1449,-35 0 3680,1 19 6450,-87 12-8103,62 3-3060,40-12-453,155 9 2372,122 10 3159,2-24-2357,-184-1 398,-319 2-103,90 0 257,106-14 0,105-23 322,0 20-169,151 19 1159,-434-2-604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6:49.9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36 24575,'3978'0'-5157,"-3289"0"10751,-232 0-4832,-77 0-4352,1 0-5597,78-18 6178,-12 0 1213,1504 20 8146,-1902-2-4508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6:51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0 203 24575,'36'0'0,"527"-21"0,-464 10 0,0-4 0,112-33 0,-129 29 0,158-19 0,-110 21 0,272-15-4449,3 31-2033,-193 2 5731,-185-1 4242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4:57:02.4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1 401 24575,'276'-5'-819,"-193"0"-410,110-22 1,55-12-5870,2 19 4015,255 14 852,983 9 1754,-797-5 259,-461 4 218,376-9 0,-325-24 931,-163 15-242,128 0 1,-142 15-690,207 5 0,-163 11-123,-6 0 2890,390-12-2238,-121-39-3145,-224 15 1439,-56 8-256,267-19 1276,-176 16 2177,16-1-1544,375 16-724,-264 3 3804,-319-4-1942,-1-1 1,49-11-1,-21 3 1448,79-19-1315,-77 16-1818,95-11-1,-42 8 403,-82 11-171,0 1 0,0 2-1,52 0 1,-78 3-257,-1 0-1,0 1 1,1-1-1,-1 1 1,0 0-1,0 0 1,0 0-1,0 1 1,0-1-1,0 1 1,0-1-1,0 1 0,3 3 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25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0 102 24575,'1'1'0,"-1"0"0,0 0 0,1 1 0,-1-1 0,0 0 0,1 0 0,0 0 0,-1 0 0,1 0 0,0 0 0,-1 0 0,1 0 0,0 0 0,0 0 0,0-1 0,0 1 0,0 0 0,0 0 0,0-1 0,0 1 0,0-1 0,0 1 0,0-1 0,0 1 0,0-1 0,1 0 0,0 1 0,37 6 0,-36-6 0,193 29 0,-101-22 0,147-7 0,-109-3 0,286 15 0,104 8 0,3-21 0,-205-2 0,-18 1 0,342 3 0,-229 35 0,-273-21 0,4-2 0,70 8 0,-123-14 0,119-4 0,-195-4 0,11-2 0,0-1 0,32-8 0,31-3 0,-23 9 0,77-8 0,156-10-3302,4 24-2025,-127 1 4014,-56-1 1313,160-2 0,-135-16 0,2 1 0,-3 0 0,4-1 0,56 1 0,19-1 0,174 16-2010,34 0-636,-316-8 2077,118-24 0,-177 23 489,92-4 1571,-2-1-673,98-24 2636,-175 30-2000,0 3-1,120 7 1,-81 1-650,508-2-804,-400 15-660,-43-1-260,155-8-5617,-110-7 5813,-20 0 6365,-172 1-5744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27.9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35 24575,'241'1'-1566,"674"-15"-11561,-110-8 12277,-1 23 158,-317 1 544,3514-2 496,-3210 34-580,-38 0 116,-476-16 184,-142-7-16,17-6 5158,-123-6-2348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1:29.73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 24575,'107'3'73,"-47"0"-692,342 14-5562,91 3 3884,1 8 4387,-167 0-145,24 2 2981,642 6-4847,1-34-95,852-86-16367,-423 33 16383,-329 54 0,-688-4 0,-308-1 293,118-19 0,92-36 294,-261 49 970,94-6 0,51 15 4637,-90 0-3242,-74-1-8193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39.3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78 24575,'991'18'-909,"215"-1"-324,-757-35 1233,49-1 0,586 21 0,-1035 0 77,77 14 0,-75-8 367,71 2 0,-54-9-363,276-4 938,-160-12-1019,30-1 0,723 10-7940,-536 9 5045,5-3-1939,-167 0 7107,-208-2-2273,-1-1 0,48-11 0,-42 7 0,44-4 0,87-5 0,-85 4 0,101 0 0,84 12 0,-122 2 0,303-1 4599,-288-1 2606,-130 0-13804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45.43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0 548 24575,'1400'0'-546,"-992"-19"-5784,-188 5 4200,-43-7 1625,21 0 745,-166 18 740,0-1 0,-1-2 0,0-1 0,0-1-1,37-16 1,-29 10 151,2 1 0,51-8-1,230-34-1130,-263 44 0,238-32 0,-36 6 0,-5-20 0,72-38 0,-236 66 277,-58 18-825,0 0 1,62-9 0,-66 17-6279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47.2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0 473 24575,'69'0'0,"372"-14"0,87-31 0,-81 33-6112,38-4-1625,-407 10 7359,501-39-1778,-94 6 2143,-5-31 78,-326 42 202,33-7-273,253-33 1,-304 51-43,442-24-90,1 40 31,-311 3 92,90-21 437,-39 1 242,161 17 406,-226 3-1117,156 29-741,-271-15-83,461 76 425,-508-75 442,486 76 470,-487-78 412,-21-3 892,104 3 0,-160-15-1523,1 1 0,0 0 0,14 4 0,-3 3 2073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48.48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24575,'762'15'-12768,"-433"-3"11233,371 28-545,155 3 5527,-814-43-2289,-7-1 2429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55.5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1 183 24575,'351'-18'0,"-56"0"0,293 16 0,-316 3 0,-230-2 0,1-3 0,-1-1 0,44-11 0,120-41 0,-177 49 0,-1 3 0,54-5 0,-41 6 0,-18 0 0,28-7 0,-29 5 0,31-4 0,110 6-823,-150 4 281,19 0-6284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57.3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1 112 24575,'420'15'0,"158"8"0,-425-23 0,483-15 0,-211-7 0,85-5 0,-3-31 0,-264 32-1365,-201 25-5461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4:58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14 24575,'18'0'0,"26"0"0,16 0 0,17 0 0,8 0 0,-4 0 0,-4 0 0,-3 0 0,-8 0 0,-8 0 0,-9 0 0,-5 0 0,-6 0 0,-2 0 0,-1 0 0,-6-6 0,-9-2-8191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00.2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1 254 24575,'48'0'0,"447"-14"0,32-23 0,-469 32 0,155-21 0,-47-4 0,105-23 0,-116 22 0,206-14 0,-343 43 0,413-9-556,-373 12-253,-28-1-6017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08.1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24575,'963'0'0,"-534"28"0,-294-9 0,-64-7 0,95 2 0,143-11-2627,150-5-6155,-15 0 3808,-242 1 5008,328 4 214,-3 23-172,86 23-382,-340-29 254,413-7 2622,-468-14-2125,55 25 2595,-191-14-2557,7 3-483,70 5 0,569-9-5423,-469-11 4308,349 2 1546,-378-18 1688,-36 1 291,484 15-1784,-346 4-722,-207-1 96,144-3 0,-117-16 0,10 0 0,266 16 2535,-220 4-1688,2-3-847,704 16 0,415 8-5257,-1261-20 5339,73 12 1,45 2 3012,-177-16-2913,15-1 1248,0 1-1,0 1 1,42 9 0,17 9 1845,-48-13-3619,0 2-1,61 24 1,-72-22-6482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19.69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1 111 24575,'184'1'0,"207"-3"0,-205-14-2306,18-1-1941,501 13-2024,-109 4 2712,-318-18 4874,76 0 1128,-340 18-1773,130 0 2850,72-13-3306,107-9-215,0 21 5,-282 1-2,-9 0 23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22.8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79 24575,'969'0'-15763,"-921"-2"15740,81-15 0,-77 9 138,57-2-1,52 7 2658,80 5 5743,-24-1-4222,-209 0-4398,0-1 0,1 0 0,-1-1 0,0 0 0,1 0 0,-1-1 0,0 0 0,0 0 0,0-1 0,0 0 0,-1-1 0,11-5 0,-2-6-6721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24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1 184 24575,'434'-15'0,"17"-4"0,-253 13 0,436-54 0,-602 56 0,204-33 0,-146 20 0,-49 8 0,0 2 0,57-2 0,7 9-1365,-74 1-5461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25.6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39 24575,'2699'0'-11578,"-2226"0"6727,235 0 5311,-660-2 249,79-15 0,-75 8 1684,55-1 1,-72 9-403,-5 1-2409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5:44.2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0 148 24575,'2121'0'0,"-1595"18"0,-16 1 0,-38-34 0,-9-12 0,-212 16 0,272-25 0,-237 15 0,72-14 0,-258 18 0,-59 9 0,62-5 0,19 12-1365,-88 1-5461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03.9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75 24575,'293'0'-1541,"576"4"-10642,-500 6 9798,1178 11 3908,-1078-54-1523,-148 3 0,-81 21 0,102-8 0,179-4 5068,-486 21-3741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05.4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0 291 24575,'22'1'16,"-1"1"-1,39 8 1,-17-2-609,235 40-6579,131 21 1218,3-17 3581,312-18 1966,1-36 438,-286-2 7,-253 5-38,236-5 0,-317-3 0,206-39 0,-309 46 0,1087-222 0,-443 115 0,250 19 470,-652 75-507,279-9 2336,-51 21-1389,-435 2 3640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6:28.2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1 511 24575,'18'0'0,"1"1"0,-1 0 0,0 1 0,34 9 0,-21-3 0,0-2 0,1-1 0,44 2 0,100-8 0,-71-1 0,475-28-11578,-21-37 6773,-454 58 8806,116 4 1,-181 3-1549,0-1 0,64-14-1,-46 6-1430,128-26-1022,-58 6 0,11-2 0,271-34 0,749-118-806,-1104 179 806,548-40 0,816 50 684,-955-5-562,37 19-122,-173-2 0,-47 4 341,10-1-2047,-260-18-5120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9:19.4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24575,'1521'0'0,"-1470"2"0,76 14 0,21 2 0,-106-16 0,-6-1 0,-1 2 0,41 7 0,-26 0 0,0-3 0,57 0 0,102-7 0,-82-2 0,-84 2 0,22-1 0,-1 3 0,68 11 0,-48-1 0,-38-7 0,52 15 0,-64-12 0,0-2 0,68 4 0,72-11 0,-85 0 0,251 19 0,-223-8 0,282-1 0,-369-8 0,0 2 0,46 10 0,-40-6 0,39 2 0,11-4 0,117-10 0,-173 0-1365,-7-3-5461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9:21.79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24575,'1399'0'-10774,"-1335"2"14158,66 13 0,21 1 622,77 2-6513,96 4-1770,493-22 4277,-368-1 0,436 1 374,2 0 4671,-856 0-11871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9:32.7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0 185 24575,'12'-5'-1,"1"0"0,0 1 0,-1 0 0,1 1 0,0 1 0,1 0 0,25 0 0,3-1-537,700-90-15049,-382 66 16230,4 28 403,-131 2-776,495-3-2023,366 0 8990,-792 16-7237,-126-4 0,83 8 0,58 2 0,8-4 0,119 4 0,194-22 4031,-263-1-2222,-95 20-1809,-22 0 0,533-18 0,-363-3 0,-39-28 0,-349 25 0,79-12 627,76-6 688,-29 6-865,4 0 8,-53 15-458,135-11 0,-77-3 0,50-6 0,-113 9-682,205 4-1,-285 9-6143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09:59.78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24575,'1534'0'0,"-1467"3"0,-1 2 0,0 3 0,91 23 0,187 70 0,-98-24 0,4-22 0,-197-47 0,60 10 0,191 5 0,-206-22 0,134-5 0,-116-13 0,-19 2 0,10-2 0,16-2 0,162 15 0,-178 5 0,352 35 0,-179-7 0,-73-10 0,211 8 0,170-29 0,-567 3 0,-1 1 0,1 0 0,38 11 0,57 24 0,-75-22 0,82 19 0,20-4-1365,-113-25-5461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0:04.63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0 329 24575,'37'-15'0,"1"2"0,1 2 0,46-8 0,-32 7 0,40-5 0,113-7 0,-193 23 0,100-14 0,39-2 0,367 15 0,-258 4 0,-203-2 0,56 1 0,126-17 0,-103 2 0,165 4 0,-90-5 0,-62 0 0,-35 4 68,119-29-1,72-8-748,29 32-8233,1 16 3421,-189 1 4401,254 20 695,-307-9 527,-1 4-1,113 35 0,-11 18 2543,-155-51-349,42 26 1,-48-26-868,1-2 0,1-1 0,0-2 0,0-1-1,44 8 1,-22-2-2821,-35-9-5461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0:42.2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0 112 24575,'105'1'0,"118"-3"0,-191-3 0,30-7 0,27-4 0,-63 12 0,40-11 0,-40 8 0,40-5 0,54-5 0,57-3 0,324 18 0,-251 4 0,-171-2 0,95 13 0,-93-2 0,90 15 0,-118-16 0,1-3 0,59 1 0,109-9 0,-79-1 0,1272 2 0,-1396 1 0,0 1 0,0 1 0,30 8 0,30 5 0,38 0 0,122 8 0,162-25-1365,-370 1-5461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0:45.0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24575,'15'2'0,"-1"0"0,0 1 0,0 0 0,0 1 0,0 1 0,25 11 0,13 4 0,27 3 0,0-3 0,2-5 0,135 10 0,247-17 0,-284-10 0,-155 4 0,-1 1 0,1 1 0,-1 1 0,0 0 0,24 11 0,-17-6 0,1-1 0,32 4 0,36-4 0,171-8 0,-120-4 0,-79 3 0,6-2 0,152 18 0,-189-9 0,118 23 0,-121-23 0,1-1 0,1-2 0,62-1 0,8 0 0,14 12 0,16 2 0,272-14 0,-318-12 0,120-29 0,-39 5 0,26-3 0,128-17 0,206 36 0,-517 18 0,-1-1 0,1-1 0,0 0 0,0-2 0,0 0 0,-1 0 0,1-2 0,-1 0 0,0-1 0,23-12 0,-21 9 0,0 0 0,0 1 0,1 1 0,0 1 0,31-6 0,-12 6 0,-1 2 0,40 0 0,-29 1 0,55-10 0,44-3 0,141 16-1365,-257 0-5461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0:47.7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0 219 24575,'1133'0'-11320,"-1079"-2"11320,68-13 0,-28 2 0,595-60 0,-630 68 94,28-3-109,-28-1 2876,-21 1-1739,182-33-599,-124 33 2705,352 7-181,-211 3-2587,717-2-460,-661-19 0,-27 0 0,185 20-1365,-420-1-5461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1:07.84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1 184 24575,'117'2'0,"131"-5"0,-231 1 0,-1-2 0,0 0 0,0 0 0,0-2 0,20-9 0,-19 8 0,1 0 0,0 1 0,34-7 0,29-4 0,-54 10 0,52-7 0,256 10 0,-203 5 0,29 1 0,224-4 0,-197-13-2488,-3-1-1577,115 14-3848,8 0 6834,-154-16 2232,24-1-425,482 18-2173,-323 3 509,556-2 1152,-647 0 3325,-1 0 3913,-213 0-10811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43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24575,'1461'0'0,"-1184"16"0,-55 0 0,150 3 0,136 3 0,-86-45 0,-284 11 0,46-6 0,-18 4 0,185 8 0,-255 6 0,-61 2-410,-1 2-1,53 11 1,-85-15 276,30 7-6692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45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24575,'400'-2'0,"470"5"0,-335 39 0,-414-30 0,273 10 288,0-23-572,-130-1-1085,-233 2-5457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47.5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24575,'46'9'4,"0"-2"0,1-2 0,51-1 0,-10-1-566,1302 43-15275,-169-48 18154,-773 19-2821,-112-1-1087,730-11 2794,-624-6 7307,-438 1-8245,-2 0 26,1 0 0,-1 0 1,0 0-1,0 0 1,0 0-1,1 0 1,-1-1-1,0 1 1,0-1-1,0 0 0,0 1 1,0-1-1,3-2 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2:58.0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24575,'1155'0'0,"-1111"2"0,74 13 0,3 1 0,138 10 0,-218-20 0,106 16 0,-63-2 0,-36-8 0,1-1 0,0-3 0,53 2 0,422-10 0,-224-2 0,792 2 0,-875-18 0,-65 3 0,7-5 0,22-1 0,337 19 0,-257 4 0,-166-4 0,108 5 0,-106 13 0,7 0 0,-23-11 0,94 10 0,-20 1 0,-79-9 0,22 8 0,-60-7 0,45 2 0,-9-11 269,-53 0-595,0 0-1,-1 2 0,1 0 0,31 7 0,-28 0-6499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04.0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0 110 24575,'88'0'0,"38"-1"0,139 17 0,-13 19 0,151 19 0,110 18 0,-437-55 0,100 36 0,-111-32 0,-41-14 0,0-1 0,1-2 0,46 4 0,76-9 0,-95-1 0,104 10 0,241 45 0,-254-42-2302,182-8 0,-170-5 861,613 2-5340,-749-1 6781,0-1 0,0-1 0,27-7 0,-21 4 0,31-3 0,58-9 0,21-2 0,5 2 0,24-2 0,19 20 1332,92-6 1126,72-25-2458,-38-4 5270,-161 14-4014,-2-6-1,198-62 0,-281 72-1255,0 4 0,72-6 0,-52 3 0,-57 10 0,0 1 0,28-2 0,111 7 0,-92 1 0,86-8 0,487-23 0,-321 12 0,-36-1 0,122 19 0,-179 1 0,-170 2 0,69 12 0,8 0 0,483 78 0,-581-85 0,39 9 0,-34-6 0,0-3 0,81 5 0,303-15-1365,-398 2-5461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15.1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 24575,'149'-2'0,"165"5"0,-168 13 0,-17 0 0,33 2 0,28 2 0,-80-16 0,128 10 0,-98 0 0,0-6 0,149-11 0,-145-13 0,18-2 0,40 1 0,-80 4 0,272 4 0,-312 9 0,273 32 0,-138-6 0,122-4 0,-141-11 0,934 10 0,-815-22 0,-38 12-2262,138 32-5705,77 4 1813,144-38 7361,-573-7-367,115 20 1,-134-15-921,42 10 2294,20 3 1504,-77-17-4266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17.1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36 24575,'792'15'-12768,"200"-20"9033,-302-5 5446,-641 10-72,-19-2 238,-1 3 1,0 0-1,0 2 0,43 9 1,-37-4-1878,1-1 0,69 3 0,78-10 0,-98-1 0,461-1 0,-492 0 1073,78-14 0,20-2 547,-6 0-1279,-10 1-2047,-106 15-5120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23T05:13:21.7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24575,'26'8'0,"1"-2"0,0 0 0,34 1 0,13 3 0,412 62 0,11-35 0,719-34 0,-642-6 0,-457 3 0,299 13 0,-289 3 0,220 20 0,-125-20 0,374 14 0,-548-30 0,328 13 0,112 10 0,1-23 0,-178-3 0,2296 3 0,-2547-2 75,67-12-1,-46 3-1588,-36 7-5312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36036-6769-40BF-B513-474833C74DCA}" type="datetimeFigureOut">
              <a:rPr lang="en-US" smtClean="0"/>
              <a:t>12/23/2025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C5D26-D9CE-49B4-8A24-9C5C728135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0801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x-non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C5D26-D9CE-49B4-8A24-9C5C7281350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913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Planning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This is like mapping out your journey and setting a course. You create a schedule and establish processes to control the project.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Measuring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As you sail, you keep track of where you are and how far you've come. In project terms, this means recording the actual work done.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Comparing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You compare your current position to where you planned to be. This helps you spot any deviations or differences (variances) from your original plan.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Corrective Action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If you're off course, you make adjustments to get back on track. Similarly, in projects, you take corrective action to address any discrepancies and keep things moving forward smoothly.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C5D26-D9CE-49B4-8A24-9C5C7281350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2298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Balance: </a:t>
            </a:r>
            <a:r>
              <a:rPr lang="en-US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Control should strike a balance between being too hands-on (micromanaging) and being too hands-off (neglecting). It's about finding the right level of detail and oversight to keep things on track without stifling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8C5D26-D9CE-49B4-8A24-9C5C7281350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56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0C3DD8FF-EEAC-4E5B-80D7-CB9F1588754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BAADC097-5663-4FD0-BD51-C0BF2D31B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9050A84E-3B5A-465E-B80B-20D70C2957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9B3A6E-B59D-4881-9561-A5EA9CDC6AD8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A6E075C6-CCD5-4E1B-A6AB-A3911AD7F3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39840C92-3241-4DA5-A600-F28587CF3F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31748" name="Slide Number Placeholder 3">
            <a:extLst>
              <a:ext uri="{FF2B5EF4-FFF2-40B4-BE49-F238E27FC236}">
                <a16:creationId xmlns:a16="http://schemas.microsoft.com/office/drawing/2014/main" id="{CDBAC36A-6A29-42BA-901D-3810BF619E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0E9541E-659D-41B2-B9C3-65378C5BD2A9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E0D8DDDE-485E-41CB-8BBF-CD8A89E98EB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DCDB6A78-C7C3-49FE-929E-B7074A8DB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6E7CF747-CEC8-417D-9F5D-BA0C77BC5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5D98A6C-21A3-4F0B-BC6D-DCF66677AB5C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9433A3CB-A661-4E03-8984-BA443A4AF7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7973E841-7F33-4ECE-B6B0-16B87FE01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58F4CB81-5F77-4590-BD03-9C064C366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756399-90CC-4B9C-9ACA-B979F845984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>
            <a:extLst>
              <a:ext uri="{FF2B5EF4-FFF2-40B4-BE49-F238E27FC236}">
                <a16:creationId xmlns:a16="http://schemas.microsoft.com/office/drawing/2014/main" id="{9433A3CB-A661-4E03-8984-BA443A4AF7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3795" name="Notes Placeholder 2">
            <a:extLst>
              <a:ext uri="{FF2B5EF4-FFF2-40B4-BE49-F238E27FC236}">
                <a16:creationId xmlns:a16="http://schemas.microsoft.com/office/drawing/2014/main" id="{7973E841-7F33-4ECE-B6B0-16B87FE01C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en-US" dirty="0"/>
              <a:t>The SV is calculated in terms of the difference in dollar value between the amount of work that should have been completed in a given time period and the work actually completed. </a:t>
            </a:r>
          </a:p>
          <a:p>
            <a:r>
              <a:rPr lang="en-US" altLang="en-US" dirty="0"/>
              <a:t>Cost Variance (CV) – The difference between the planned cost of work performed (BCWP) and actual cost incurred for the work (ACWP). This is the actual dollar value by which a project is either overrunning or underrunning its estimated cost. </a:t>
            </a:r>
          </a:p>
          <a:p>
            <a:endParaRPr lang="en-US" altLang="en-US" dirty="0"/>
          </a:p>
        </p:txBody>
      </p:sp>
      <p:sp>
        <p:nvSpPr>
          <p:cNvPr id="33796" name="Slide Number Placeholder 3">
            <a:extLst>
              <a:ext uri="{FF2B5EF4-FFF2-40B4-BE49-F238E27FC236}">
                <a16:creationId xmlns:a16="http://schemas.microsoft.com/office/drawing/2014/main" id="{58F4CB81-5F77-4590-BD03-9C064C3667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1756399-90CC-4B9C-9ACA-B979F8459845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82463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B06AB97A-1F1F-4DBF-B7EC-7256EB27CF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EA40B433-BD8F-4BF1-9DC9-109932750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A783CDD0-BA70-48A5-A730-4E1A9C906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DF9274-84DC-4E71-A5D7-C5D3FDFCC9A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>
            <a:extLst>
              <a:ext uri="{FF2B5EF4-FFF2-40B4-BE49-F238E27FC236}">
                <a16:creationId xmlns:a16="http://schemas.microsoft.com/office/drawing/2014/main" id="{B06AB97A-1F1F-4DBF-B7EC-7256EB27CF6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5843" name="Notes Placeholder 2">
            <a:extLst>
              <a:ext uri="{FF2B5EF4-FFF2-40B4-BE49-F238E27FC236}">
                <a16:creationId xmlns:a16="http://schemas.microsoft.com/office/drawing/2014/main" id="{EA40B433-BD8F-4BF1-9DC9-109932750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 dirty="0"/>
          </a:p>
        </p:txBody>
      </p:sp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A783CDD0-BA70-48A5-A730-4E1A9C9068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5DF9274-84DC-4E71-A5D7-C5D3FDFCC9A4}" type="slidenum">
              <a:rPr kumimoji="0" lang="en-US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3477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6">
            <a:extLst>
              <a:ext uri="{FF2B5EF4-FFF2-40B4-BE49-F238E27FC236}">
                <a16:creationId xmlns:a16="http://schemas.microsoft.com/office/drawing/2014/main" id="{E63030DB-16BD-4A68-B8C2-C30AA306F25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/>
              <a:t>SPM monitoring and control</a:t>
            </a:r>
          </a:p>
        </p:txBody>
      </p:sp>
      <p:sp>
        <p:nvSpPr>
          <p:cNvPr id="43011" name="Rectangle 7">
            <a:extLst>
              <a:ext uri="{FF2B5EF4-FFF2-40B4-BE49-F238E27FC236}">
                <a16:creationId xmlns:a16="http://schemas.microsoft.com/office/drawing/2014/main" id="{71722820-0684-4EC6-8FE1-3637EBDCF6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29ED70-8E34-4864-88F0-52248B6E868F}" type="slidenum">
              <a:rPr lang="en-GB" altLang="en-US"/>
              <a:pPr/>
              <a:t>34</a:t>
            </a:fld>
            <a:endParaRPr lang="en-GB" altLang="en-US"/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09AAAB42-F9A1-43CA-90EB-2D23946CF5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793E799A-505D-4479-A52D-A8AF7AF70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GB" altLang="en-US" dirty="0"/>
              <a:t>Critical path activities – by definition if these are late then the project as a whole will be delayed</a:t>
            </a:r>
          </a:p>
          <a:p>
            <a:pPr eaLnBrk="1" hangingPunct="1"/>
            <a:r>
              <a:rPr lang="en-GB" altLang="en-US" dirty="0"/>
              <a:t>Activities with no free float – free float was defined in Lecture/Chapter 6. A project with no free float will delay following dependent activities, although the project end date may not be directly threatened.</a:t>
            </a:r>
          </a:p>
          <a:p>
            <a:pPr eaLnBrk="1" hangingPunct="1"/>
            <a:r>
              <a:rPr lang="en-GB" altLang="en-US" dirty="0"/>
              <a:t>Activities with less than a specified float – projects when being executed can be very dynamic: some activities will take longer than estimated others less; this could lead to the critical shifting. Activities with small floats are the most likely to find themselves turned into activities on the critical path if their floats get eroded.</a:t>
            </a:r>
          </a:p>
          <a:p>
            <a:pPr eaLnBrk="1" hangingPunct="1"/>
            <a:r>
              <a:rPr lang="en-GB" altLang="en-US" dirty="0"/>
              <a:t>High risk activities – recall the calculation of activity standard deviations in Chapter 7. If the standard deviation for an activity is large, this indicates that there is a lot of uncertainty about how long it will actually take.</a:t>
            </a:r>
            <a:br>
              <a:rPr lang="en-GB" altLang="en-US" dirty="0"/>
            </a:br>
            <a:r>
              <a:rPr lang="en-GB" altLang="en-US" dirty="0"/>
              <a:t>Activities using critical resources – some resources may only be available for a limited period and if the activities that need the resource are delayed the resource could become unavailable.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6">
            <a:extLst>
              <a:ext uri="{FF2B5EF4-FFF2-40B4-BE49-F238E27FC236}">
                <a16:creationId xmlns:a16="http://schemas.microsoft.com/office/drawing/2014/main" id="{22D02E2A-E8A9-4610-8691-A303E65CB9F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/>
              <a:t>SPM monitoring and control</a:t>
            </a:r>
          </a:p>
        </p:txBody>
      </p:sp>
      <p:sp>
        <p:nvSpPr>
          <p:cNvPr id="45059" name="Rectangle 7">
            <a:extLst>
              <a:ext uri="{FF2B5EF4-FFF2-40B4-BE49-F238E27FC236}">
                <a16:creationId xmlns:a16="http://schemas.microsoft.com/office/drawing/2014/main" id="{CDF1F33D-F961-42D2-8D81-4758FC00C8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D4E3D97-58C1-4DF6-BAE8-82188FA85FA1}" type="slidenum">
              <a:rPr lang="en-GB" altLang="en-US"/>
              <a:pPr/>
              <a:t>35</a:t>
            </a:fld>
            <a:endParaRPr lang="en-GB" altLang="en-US"/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E640C1D5-8F9F-4802-8050-5B4D7D4A2B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A6E4B95E-CB82-40D5-A2AE-D3FE86D3FF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r>
              <a:rPr lang="en-GB" altLang="en-US" dirty="0"/>
              <a:t>Renegotiating the deadline – one way of doing this is to divide the deliverables into  ‘tranches’ (see Lecture/Chapter 3),  delivering the ones  most valuable to the client on or before the deadline, but delaying less valuable ones. </a:t>
            </a:r>
          </a:p>
          <a:p>
            <a:pPr eaLnBrk="1" hangingPunct="1"/>
            <a:r>
              <a:rPr lang="en-GB" altLang="en-US" dirty="0"/>
              <a:t>Shortening the critical path – the idea is to try to get things done more quickly by adding more staff. Some activities lend themselves to this more readily than others – it is often quite difficult to do this with software development. It also increases costs</a:t>
            </a:r>
          </a:p>
          <a:p>
            <a:pPr eaLnBrk="1" hangingPunct="1"/>
            <a:r>
              <a:rPr lang="en-GB" altLang="en-US" dirty="0"/>
              <a:t>Reconsidering activity dependencies – allowing activities to overlap often increases the risk of quality shortfalls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6">
            <a:extLst>
              <a:ext uri="{FF2B5EF4-FFF2-40B4-BE49-F238E27FC236}">
                <a16:creationId xmlns:a16="http://schemas.microsoft.com/office/drawing/2014/main" id="{A7C715F9-30DC-404B-8BFE-CF7785C12B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/>
              <a:t>SPM monitoring and control</a:t>
            </a:r>
          </a:p>
        </p:txBody>
      </p:sp>
      <p:sp>
        <p:nvSpPr>
          <p:cNvPr id="48131" name="Rectangle 7">
            <a:extLst>
              <a:ext uri="{FF2B5EF4-FFF2-40B4-BE49-F238E27FC236}">
                <a16:creationId xmlns:a16="http://schemas.microsoft.com/office/drawing/2014/main" id="{0DC94CFB-60A4-486E-8252-194EAC4E75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7A82465-B110-466C-95EE-56A9B6BEF9DD}" type="slidenum">
              <a:rPr lang="en-GB" altLang="en-US"/>
              <a:pPr/>
              <a:t>36</a:t>
            </a:fld>
            <a:endParaRPr lang="en-GB" altLang="en-US"/>
          </a:p>
        </p:txBody>
      </p:sp>
      <p:sp>
        <p:nvSpPr>
          <p:cNvPr id="48132" name="Rectangle 2">
            <a:extLst>
              <a:ext uri="{FF2B5EF4-FFF2-40B4-BE49-F238E27FC236}">
                <a16:creationId xmlns:a16="http://schemas.microsoft.com/office/drawing/2014/main" id="{6DF4E61E-F795-47A4-8495-2612AAB73C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>
            <a:extLst>
              <a:ext uri="{FF2B5EF4-FFF2-40B4-BE49-F238E27FC236}">
                <a16:creationId xmlns:a16="http://schemas.microsoft.com/office/drawing/2014/main" id="{0B5488D0-7EFE-4EE7-ACEC-58EC8931A0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6">
            <a:extLst>
              <a:ext uri="{FF2B5EF4-FFF2-40B4-BE49-F238E27FC236}">
                <a16:creationId xmlns:a16="http://schemas.microsoft.com/office/drawing/2014/main" id="{477E698A-4FD8-4467-98C9-F459A1AAF04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/>
              <a:t>SPM monitoring and control</a:t>
            </a:r>
          </a:p>
        </p:txBody>
      </p:sp>
      <p:sp>
        <p:nvSpPr>
          <p:cNvPr id="50179" name="Rectangle 7">
            <a:extLst>
              <a:ext uri="{FF2B5EF4-FFF2-40B4-BE49-F238E27FC236}">
                <a16:creationId xmlns:a16="http://schemas.microsoft.com/office/drawing/2014/main" id="{37CFA2FC-A137-47D5-8167-9F649E8BA9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676AF00-E64E-4653-A1E8-515181BA9FB4}" type="slidenum">
              <a:rPr lang="en-GB" altLang="en-US"/>
              <a:pPr/>
              <a:t>37</a:t>
            </a:fld>
            <a:endParaRPr lang="en-GB" altLang="en-US"/>
          </a:p>
        </p:txBody>
      </p:sp>
      <p:sp>
        <p:nvSpPr>
          <p:cNvPr id="50180" name="Rectangle 2">
            <a:extLst>
              <a:ext uri="{FF2B5EF4-FFF2-40B4-BE49-F238E27FC236}">
                <a16:creationId xmlns:a16="http://schemas.microsoft.com/office/drawing/2014/main" id="{3520B662-98EC-4ED0-B812-FEFCF29AE8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1" name="Rectangle 3">
            <a:extLst>
              <a:ext uri="{FF2B5EF4-FFF2-40B4-BE49-F238E27FC236}">
                <a16:creationId xmlns:a16="http://schemas.microsoft.com/office/drawing/2014/main" id="{E4C0292D-9CB5-4BCF-8E99-0127B4E30F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/>
            <a:endParaRPr lang="en-GB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74142" y="741406"/>
            <a:ext cx="8979242" cy="5784098"/>
          </a:xfrm>
          <a:prstGeom prst="rect">
            <a:avLst/>
          </a:prstGeom>
          <a:blipFill dpi="0" rotWithShape="1">
            <a:blip r:embed="rId2">
              <a:alphaModFix amt="3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095886"/>
            <a:ext cx="6858000" cy="2161914"/>
          </a:xfrm>
        </p:spPr>
        <p:txBody>
          <a:bodyPr>
            <a:normAutofit/>
          </a:bodyPr>
          <a:lstStyle>
            <a:lvl1pPr marL="0" indent="0" algn="ctr">
              <a:buNone/>
              <a:defRPr sz="4400" b="1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Introduction and Course Organization</a:t>
            </a:r>
          </a:p>
        </p:txBody>
      </p:sp>
      <p:sp>
        <p:nvSpPr>
          <p:cNvPr id="8" name="TextBox 7"/>
          <p:cNvSpPr txBox="1"/>
          <p:nvPr userDrawn="1"/>
        </p:nvSpPr>
        <p:spPr>
          <a:xfrm>
            <a:off x="1143000" y="5230684"/>
            <a:ext cx="6858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Fall 2021</a:t>
            </a:r>
          </a:p>
          <a:p>
            <a:pPr algn="ctr"/>
            <a:r>
              <a:rPr lang="en-US" sz="2000" b="1" dirty="0"/>
              <a:t>Dr. Muhammad Bilal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1143000" y="1210962"/>
            <a:ext cx="6858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+mj-lt"/>
              </a:rPr>
              <a:t>FUNDAMENTALS OF</a:t>
            </a:r>
          </a:p>
          <a:p>
            <a:pPr algn="ctr"/>
            <a:r>
              <a:rPr lang="en-US" sz="3200" b="1" dirty="0">
                <a:latin typeface="+mj-lt"/>
              </a:rPr>
              <a:t>SOFTWARE PROJECT MANAGEMENT</a:t>
            </a:r>
          </a:p>
          <a:p>
            <a:pPr algn="ctr"/>
            <a:r>
              <a:rPr lang="en-US" sz="3200" b="1" dirty="0">
                <a:latin typeface="+mj-lt"/>
              </a:rPr>
              <a:t>CS</a:t>
            </a:r>
            <a:r>
              <a:rPr lang="en-US" sz="3200" b="1" baseline="0" dirty="0">
                <a:latin typeface="+mj-lt"/>
              </a:rPr>
              <a:t> 4044</a:t>
            </a:r>
            <a:endParaRPr lang="en-US" sz="3200" b="1" dirty="0">
              <a:latin typeface="+mj-lt"/>
            </a:endParaRP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74142" y="6525504"/>
            <a:ext cx="8979242" cy="24622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/>
              <a:t>Department</a:t>
            </a:r>
            <a:r>
              <a:rPr lang="en-US" sz="1000" b="1" baseline="0" dirty="0"/>
              <a:t> of Computer Science, National University of Computer and Emerging Sciences, Chiniot-Faisalabad Campus | +92-111-128-128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595482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55589"/>
            <a:ext cx="7886700" cy="7351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D6D740-8150-433F-9426-3FCFF681501A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EF0590-DF68-4B3D-B21B-60AED912C1C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627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ACE867-13EC-4909-A9E0-B314143780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1AE3E1F-8B4C-485C-8107-AE466D9BE89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346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739596-DB6A-479B-8DE6-3124830B90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26F4A6A-7CA1-4B96-BCB5-CCFEB6117C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355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5DB69B-9D59-45DE-84A6-3AC28FF417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AA2DBB1-D6BD-4E22-BFED-C2F8CB977E4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19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45CAFDA-18DD-4110-B59C-B2070B80D9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337EED-E22C-4587-9ADE-427466086D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859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49AC34-1F80-446B-B9DC-6BABBE085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0E6FA64-842E-4C27-B70C-2ECC2BCBB0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265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8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7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44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1254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46B6-8BC7-4900-B802-5715C0C6BB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C32D74-7B8E-4451-BB7F-AF8F1E282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FE4D8-0167-4298-8186-82E2E6DED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6E9BA-A492-436C-A5E2-DF8625E46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CS4044 - Fundamentals of Software Project Managment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0F9C7-899B-4CCA-B1C7-56EC0A531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7418D-B8E7-4A7C-BF6E-454B79F4EB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5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4" name="Rectangle 1036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64525" name="Rectangle 1037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7E0B2-1CD2-4F7E-AFDC-FFEDADE5450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251634-9C3F-4922-926C-52EB178777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0459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EBBDBB-9423-4636-A85E-8F15C776F0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27E5081-9C2B-4252-B602-881A230EB86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2128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03579E-2700-4768-8A05-34ED2F2E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80ABE76-75D3-4328-83E9-04C3174BA4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6921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2EEE29-7429-4D26-8437-1C4CFDA67D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40819A-3B06-4870-9947-B42820848E5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0619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7A0502-C8E9-46B2-BEEE-D1938C3572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71457AF-8726-4C65-A33E-3EC1BED719C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554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035">
            <a:extLst>
              <a:ext uri="{FF2B5EF4-FFF2-40B4-BE49-F238E27FC236}">
                <a16:creationId xmlns:a16="http://schemas.microsoft.com/office/drawing/2014/main" id="{70557537-F052-435E-9B00-F73BEBDF33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036">
            <a:extLst>
              <a:ext uri="{FF2B5EF4-FFF2-40B4-BE49-F238E27FC236}">
                <a16:creationId xmlns:a16="http://schemas.microsoft.com/office/drawing/2014/main" id="{027A16F7-481A-4C61-AF7A-F78A355096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CS4044 - Fundamentals of Software Project Managment</a:t>
            </a:r>
          </a:p>
        </p:txBody>
      </p:sp>
      <p:sp>
        <p:nvSpPr>
          <p:cNvPr id="5" name="Rectangle 1037">
            <a:extLst>
              <a:ext uri="{FF2B5EF4-FFF2-40B4-BE49-F238E27FC236}">
                <a16:creationId xmlns:a16="http://schemas.microsoft.com/office/drawing/2014/main" id="{58EFB151-BAC5-4037-8229-13D5BF54FC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2D61903C-A4A0-4404-B726-A60D6962750A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2BDF30-EFA9-4E31-9FF4-2F8BC38712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0846AE-13BB-4277-BF5A-72FEA4C947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173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4ACC98-3635-4CAB-B52F-2AFBD40C302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9DEAFB0-5169-4CE3-8E58-61400C5BF65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363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1A0DA1-4654-4D75-9C08-4BD3866EA0F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C7FDFC-DDB8-40EE-B6F4-A16BD538D9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17386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B685D4-8987-4FDD-B3FC-FE6BF16C60F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6E4D730-6FD2-4033-8390-7EA8B0D26C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146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035">
            <a:extLst>
              <a:ext uri="{FF2B5EF4-FFF2-40B4-BE49-F238E27FC236}">
                <a16:creationId xmlns:a16="http://schemas.microsoft.com/office/drawing/2014/main" id="{1088A13B-02C6-4483-94C9-CC300ED4E2F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036">
            <a:extLst>
              <a:ext uri="{FF2B5EF4-FFF2-40B4-BE49-F238E27FC236}">
                <a16:creationId xmlns:a16="http://schemas.microsoft.com/office/drawing/2014/main" id="{E8D062BF-E98D-40E7-B1AA-A12FFFB62FE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3246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CS4044 - Fundamentals of Software Project Managment</a:t>
            </a:r>
          </a:p>
        </p:txBody>
      </p:sp>
      <p:sp>
        <p:nvSpPr>
          <p:cNvPr id="6" name="Rectangle 1037">
            <a:extLst>
              <a:ext uri="{FF2B5EF4-FFF2-40B4-BE49-F238E27FC236}">
                <a16:creationId xmlns:a16="http://schemas.microsoft.com/office/drawing/2014/main" id="{A2AD4AD3-0009-4FCE-999B-5BBADF10912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fld id="{BAB67F05-5C17-4285-A2E4-B6F5162B311E}" type="slidenum">
              <a:rPr lang="en-US" altLang="en-US"/>
              <a:pPr/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DDAD96-422C-461C-B181-293C837900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DC08F9-3BDF-4068-95D6-3A146514177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2830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B887FD-981B-4E43-B66F-3E7606ACF1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29F2CD-45EF-4B37-89EC-ED4A0D139FB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3084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Title, Clip Ar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lipArt Placeholder 2"/>
          <p:cNvSpPr>
            <a:spLocks noGrp="1"/>
          </p:cNvSpPr>
          <p:nvPr>
            <p:ph type="clipArt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A73D46-19D8-42A0-98CA-2762508B3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EDC4F5-0B6C-4861-9E70-E08ECC31C8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5187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617538"/>
            <a:ext cx="7793037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44DAA4-B704-41AA-B8FC-E8BEE9AF22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18B6D3D-FB0E-495A-A324-8F04515A28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143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jp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CS4044 - Fundamentals of Software Project Managment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E4BBE6-ABD8-4AAC-A679-4F37D73C89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975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6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033">
            <a:extLst>
              <a:ext uri="{FF2B5EF4-FFF2-40B4-BE49-F238E27FC236}">
                <a16:creationId xmlns:a16="http://schemas.microsoft.com/office/drawing/2014/main" id="{59EAB3D1-57D2-4CCC-84F4-2D780B4D5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617538"/>
            <a:ext cx="779303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4" name="Rectangle 1034">
            <a:extLst>
              <a:ext uri="{FF2B5EF4-FFF2-40B4-BE49-F238E27FC236}">
                <a16:creationId xmlns:a16="http://schemas.microsoft.com/office/drawing/2014/main" id="{1818786B-CA92-43D5-88B8-F0515EFA40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8B92E-7C8F-4023-AE55-022262D53B20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2" y="65056"/>
            <a:ext cx="2323070" cy="5807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DFD152-8F9C-4F03-B37F-6733BE794929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2631" y="60636"/>
            <a:ext cx="2340753" cy="585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099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12" Type="http://schemas.openxmlformats.org/officeDocument/2006/relationships/customXml" Target="../ink/ink6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3.xml"/><Relationship Id="rId11" Type="http://schemas.openxmlformats.org/officeDocument/2006/relationships/image" Target="../media/image9.png"/><Relationship Id="rId5" Type="http://schemas.openxmlformats.org/officeDocument/2006/relationships/image" Target="../media/image6.png"/><Relationship Id="rId15" Type="http://schemas.openxmlformats.org/officeDocument/2006/relationships/image" Target="../media/image11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8.png"/><Relationship Id="rId14" Type="http://schemas.openxmlformats.org/officeDocument/2006/relationships/customXml" Target="../ink/ink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0.xml"/><Relationship Id="rId5" Type="http://schemas.openxmlformats.org/officeDocument/2006/relationships/image" Target="../media/image13.png"/><Relationship Id="rId4" Type="http://schemas.openxmlformats.org/officeDocument/2006/relationships/customXml" Target="../ink/ink9.xml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5.xml"/><Relationship Id="rId5" Type="http://schemas.openxmlformats.org/officeDocument/2006/relationships/image" Target="../media/image18.png"/><Relationship Id="rId4" Type="http://schemas.openxmlformats.org/officeDocument/2006/relationships/customXml" Target="../ink/ink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18.xml"/><Relationship Id="rId5" Type="http://schemas.openxmlformats.org/officeDocument/2006/relationships/image" Target="../media/image21.png"/><Relationship Id="rId4" Type="http://schemas.openxmlformats.org/officeDocument/2006/relationships/customXml" Target="../ink/ink17.xml"/><Relationship Id="rId9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customXml" Target="../ink/ink24.xml"/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customXml" Target="../ink/ink21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3.xml"/><Relationship Id="rId5" Type="http://schemas.openxmlformats.org/officeDocument/2006/relationships/image" Target="../media/image26.png"/><Relationship Id="rId4" Type="http://schemas.openxmlformats.org/officeDocument/2006/relationships/customXml" Target="../ink/ink22.xml"/><Relationship Id="rId9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5.xm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26.xm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3.png"/><Relationship Id="rId5" Type="http://schemas.openxmlformats.org/officeDocument/2006/relationships/customXml" Target="../ink/ink27.xml"/><Relationship Id="rId4" Type="http://schemas.openxmlformats.org/officeDocument/2006/relationships/image" Target="../media/image3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28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ustomXml" Target="../ink/ink2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38.png"/><Relationship Id="rId5" Type="http://schemas.openxmlformats.org/officeDocument/2006/relationships/customXml" Target="../ink/ink30.xml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customXml" Target="../ink/ink31.xml"/><Relationship Id="rId7" Type="http://schemas.openxmlformats.org/officeDocument/2006/relationships/customXml" Target="../ink/ink3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0.png"/><Relationship Id="rId5" Type="http://schemas.openxmlformats.org/officeDocument/2006/relationships/customXml" Target="../ink/ink32.xml"/><Relationship Id="rId4" Type="http://schemas.openxmlformats.org/officeDocument/2006/relationships/image" Target="../media/image3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customXml" Target="../ink/ink34.xml"/><Relationship Id="rId7" Type="http://schemas.openxmlformats.org/officeDocument/2006/relationships/customXml" Target="../ink/ink3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3.png"/><Relationship Id="rId5" Type="http://schemas.openxmlformats.org/officeDocument/2006/relationships/customXml" Target="../ink/ink35.xml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customXml" Target="../ink/ink3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customXml" Target="../ink/ink38.xml"/><Relationship Id="rId7" Type="http://schemas.openxmlformats.org/officeDocument/2006/relationships/customXml" Target="../ink/ink40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0.png"/><Relationship Id="rId5" Type="http://schemas.openxmlformats.org/officeDocument/2006/relationships/customXml" Target="../ink/ink39.xml"/><Relationship Id="rId4" Type="http://schemas.openxmlformats.org/officeDocument/2006/relationships/image" Target="../media/image4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3.png"/><Relationship Id="rId5" Type="http://schemas.openxmlformats.org/officeDocument/2006/relationships/customXml" Target="../ink/ink42.xml"/><Relationship Id="rId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customXml" Target="../ink/ink43.xml"/><Relationship Id="rId7" Type="http://schemas.openxmlformats.org/officeDocument/2006/relationships/customXml" Target="../ink/ink45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55.png"/><Relationship Id="rId5" Type="http://schemas.openxmlformats.org/officeDocument/2006/relationships/customXml" Target="../ink/ink44.xml"/><Relationship Id="rId4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228600" y="1999615"/>
            <a:ext cx="8915400" cy="2764028"/>
          </a:xfrm>
        </p:spPr>
        <p:txBody>
          <a:bodyPr anchor="ctr">
            <a:noAutofit/>
          </a:bodyPr>
          <a:lstStyle/>
          <a:p>
            <a:r>
              <a:rPr lang="en-IN" sz="4400" dirty="0">
                <a:latin typeface="+mn-lt"/>
                <a:cs typeface="Arial" panose="020B0604020202020204" pitchFamily="34" charset="0"/>
              </a:rPr>
              <a:t>FUNDAMENTALS OF SOFTWARE PROJECT MANAGEMENT</a:t>
            </a:r>
            <a:br>
              <a:rPr lang="en-IN" sz="2000" dirty="0">
                <a:latin typeface="+mn-lt"/>
                <a:cs typeface="Arial" panose="020B0604020202020204" pitchFamily="34" charset="0"/>
              </a:rPr>
            </a:br>
            <a:br>
              <a:rPr lang="en-IN" sz="2000" dirty="0">
                <a:latin typeface="+mn-lt"/>
                <a:cs typeface="Arial" panose="020B0604020202020204" pitchFamily="34" charset="0"/>
              </a:rPr>
            </a:br>
            <a:br>
              <a:rPr lang="en-IN" sz="2000" dirty="0">
                <a:latin typeface="+mn-lt"/>
                <a:cs typeface="Arial" panose="020B0604020202020204" pitchFamily="34" charset="0"/>
              </a:rPr>
            </a:br>
            <a:br>
              <a:rPr lang="en-IN" sz="2000" dirty="0">
                <a:latin typeface="+mn-lt"/>
                <a:cs typeface="Arial" panose="020B0604020202020204" pitchFamily="34" charset="0"/>
              </a:rPr>
            </a:br>
            <a:r>
              <a:rPr lang="en-GB" altLang="en-US" sz="3600" dirty="0"/>
              <a:t>Project Monitoring and Control</a:t>
            </a:r>
            <a:br>
              <a:rPr lang="en-GB" altLang="en-US" sz="3600" dirty="0"/>
            </a:br>
            <a:endParaRPr lang="en-US" sz="2000" dirty="0"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184" y="5645150"/>
            <a:ext cx="6193632" cy="631825"/>
          </a:xfrm>
        </p:spPr>
        <p:txBody>
          <a:bodyPr anchor="ctr">
            <a:normAutofit/>
          </a:bodyPr>
          <a:lstStyle/>
          <a:p>
            <a:r>
              <a:rPr lang="en-IN" sz="2400" dirty="0"/>
              <a:t>Week -14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66764" y="6356350"/>
            <a:ext cx="9516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966D855-C268-4653-AB02-0C37BDE9B0E4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742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AE321-E982-4AC6-AB95-5ECE6F8A2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617538"/>
            <a:ext cx="8562975" cy="1008062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Project Management Process Groups</a:t>
            </a:r>
          </a:p>
        </p:txBody>
      </p:sp>
      <p:pic>
        <p:nvPicPr>
          <p:cNvPr id="4099" name="Picture 2">
            <a:extLst>
              <a:ext uri="{FF2B5EF4-FFF2-40B4-BE49-F238E27FC236}">
                <a16:creationId xmlns:a16="http://schemas.microsoft.com/office/drawing/2014/main" id="{B0B38F4F-F0B7-4172-8FF6-D94FB5801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887538"/>
            <a:ext cx="8534400" cy="4818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>
            <a:extLst>
              <a:ext uri="{FF2B5EF4-FFF2-40B4-BE49-F238E27FC236}">
                <a16:creationId xmlns:a16="http://schemas.microsoft.com/office/drawing/2014/main" id="{DC2F772F-5FCD-4A27-9D83-E4DAAEFE1F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br>
              <a:rPr lang="en-US" altLang="en-US" sz="3200">
                <a:latin typeface="Arial" panose="020B0604020202020204" pitchFamily="34" charset="0"/>
                <a:sym typeface="Symbol" panose="05050102010706020507" pitchFamily="18" charset="2"/>
              </a:rPr>
            </a:br>
            <a:r>
              <a:rPr lang="en-US" altLang="en-US" sz="3200">
                <a:latin typeface="Arial" panose="020B0604020202020204" pitchFamily="34" charset="0"/>
                <a:sym typeface="Symbol" panose="05050102010706020507" pitchFamily="18" charset="2"/>
              </a:rPr>
              <a:t>Project Monitoring and Control</a:t>
            </a:r>
          </a:p>
        </p:txBody>
      </p:sp>
      <p:sp>
        <p:nvSpPr>
          <p:cNvPr id="4101" name="Rectangle 3">
            <a:extLst>
              <a:ext uri="{FF2B5EF4-FFF2-40B4-BE49-F238E27FC236}">
                <a16:creationId xmlns:a16="http://schemas.microsoft.com/office/drawing/2014/main" id="{26E58BDF-5265-4535-B58C-6464B1C89A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2446" y="2125662"/>
            <a:ext cx="7772400" cy="4114800"/>
          </a:xfrm>
        </p:spPr>
        <p:txBody>
          <a:bodyPr>
            <a:normAutofit lnSpcReduction="10000"/>
          </a:bodyPr>
          <a:lstStyle/>
          <a:p>
            <a:pPr algn="just" eaLnBrk="1" hangingPunct="1">
              <a:defRPr/>
            </a:pPr>
            <a:r>
              <a:rPr lang="en-US" sz="2800" dirty="0"/>
              <a:t>Monitoring – collecting, recording, and reporting information concerning project performance that project manger and others wish to know</a:t>
            </a:r>
          </a:p>
          <a:p>
            <a:pPr algn="just" eaLnBrk="1" hangingPunct="1">
              <a:defRPr/>
            </a:pPr>
            <a:r>
              <a:rPr lang="en-US" sz="2800" dirty="0"/>
              <a:t>Controlling – uses data from monitor activity to bring </a:t>
            </a:r>
            <a:r>
              <a:rPr lang="en-US" sz="2800" b="1" dirty="0"/>
              <a:t>actual performance to planned performance</a:t>
            </a:r>
          </a:p>
          <a:p>
            <a:pPr algn="just" eaLnBrk="1" hangingPunct="1">
              <a:defRPr/>
            </a:pPr>
            <a:r>
              <a:rPr lang="en-US" sz="2800" dirty="0"/>
              <a:t>Outputs include performance reports, requested changes, and updates to various plans</a:t>
            </a:r>
          </a:p>
          <a:p>
            <a:pPr algn="just" eaLnBrk="1" hangingPunct="1">
              <a:defRPr/>
            </a:pPr>
            <a:endParaRPr lang="en-US" sz="28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0CD19AE-E274-736F-9450-0CCBB0CD7FA4}"/>
              </a:ext>
            </a:extLst>
          </p:cNvPr>
          <p:cNvGrpSpPr/>
          <p:nvPr/>
        </p:nvGrpSpPr>
        <p:grpSpPr>
          <a:xfrm>
            <a:off x="4150269" y="2453173"/>
            <a:ext cx="2913120" cy="73800"/>
            <a:chOff x="4150269" y="2453173"/>
            <a:chExt cx="2913120" cy="7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01AA8292-0525-0DC6-250D-F655BE880C28}"/>
                    </a:ext>
                  </a:extLst>
                </p14:cNvPr>
                <p14:cNvContentPartPr/>
                <p14:nvPr/>
              </p14:nvContentPartPr>
              <p14:xfrm>
                <a:off x="4150269" y="2453173"/>
                <a:ext cx="1095120" cy="73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01AA8292-0525-0DC6-250D-F655BE880C2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32629" y="2435173"/>
                  <a:ext cx="113076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0098D9A-99C6-5ADA-B97E-6CD25EAAADBF}"/>
                    </a:ext>
                  </a:extLst>
                </p14:cNvPr>
                <p14:cNvContentPartPr/>
                <p14:nvPr/>
              </p14:nvContentPartPr>
              <p14:xfrm>
                <a:off x="6087429" y="2501413"/>
                <a:ext cx="975960" cy="12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0098D9A-99C6-5ADA-B97E-6CD25EAAADB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69789" y="2483773"/>
                  <a:ext cx="101160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53E6275-CF48-F75C-E136-EF2196FE3B3E}"/>
                  </a:ext>
                </a:extLst>
              </p14:cNvPr>
              <p14:cNvContentPartPr/>
              <p14:nvPr/>
            </p14:nvContentPartPr>
            <p14:xfrm>
              <a:off x="1431549" y="2828293"/>
              <a:ext cx="1985400" cy="168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53E6275-CF48-F75C-E136-EF2196FE3B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3549" y="2810653"/>
                <a:ext cx="202104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0D85868-4FB8-C35C-DCF4-F685B3438326}"/>
                  </a:ext>
                </a:extLst>
              </p14:cNvPr>
              <p14:cNvContentPartPr/>
              <p14:nvPr/>
            </p14:nvContentPartPr>
            <p14:xfrm>
              <a:off x="4896549" y="5268733"/>
              <a:ext cx="3248640" cy="97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0D85868-4FB8-C35C-DCF4-F685B3438326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78909" y="5250733"/>
                <a:ext cx="3284280" cy="132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8B009CEF-7B66-29B8-C6B6-A044069C29DF}"/>
              </a:ext>
            </a:extLst>
          </p:cNvPr>
          <p:cNvGrpSpPr/>
          <p:nvPr/>
        </p:nvGrpSpPr>
        <p:grpSpPr>
          <a:xfrm>
            <a:off x="1311309" y="5617573"/>
            <a:ext cx="7436880" cy="169560"/>
            <a:chOff x="1311309" y="5617573"/>
            <a:chExt cx="7436880" cy="16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67019A1-7A04-3261-8D3C-FDE1D4693F0B}"/>
                    </a:ext>
                  </a:extLst>
                </p14:cNvPr>
                <p14:cNvContentPartPr/>
                <p14:nvPr/>
              </p14:nvContentPartPr>
              <p14:xfrm>
                <a:off x="1311309" y="5617573"/>
                <a:ext cx="2670840" cy="1332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67019A1-7A04-3261-8D3C-FDE1D4693F0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293669" y="5599933"/>
                  <a:ext cx="270648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BBBE649-3F77-9E9F-3F95-2A32B3B255AF}"/>
                    </a:ext>
                  </a:extLst>
                </p14:cNvPr>
                <p14:cNvContentPartPr/>
                <p14:nvPr/>
              </p14:nvContentPartPr>
              <p14:xfrm>
                <a:off x="5582709" y="5774173"/>
                <a:ext cx="3165480" cy="129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BBBE649-3F77-9E9F-3F95-2A32B3B255A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565069" y="5756173"/>
                  <a:ext cx="320112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6F55608B-E649-2740-1814-AF9FF01A05EB}"/>
                  </a:ext>
                </a:extLst>
              </p14:cNvPr>
              <p14:cNvContentPartPr/>
              <p14:nvPr/>
            </p14:nvContentPartPr>
            <p14:xfrm>
              <a:off x="1455309" y="6147133"/>
              <a:ext cx="902520" cy="73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6F55608B-E649-2740-1814-AF9FF01A05E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37309" y="6129493"/>
                <a:ext cx="938160" cy="1087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>
            <a:extLst>
              <a:ext uri="{FF2B5EF4-FFF2-40B4-BE49-F238E27FC236}">
                <a16:creationId xmlns:a16="http://schemas.microsoft.com/office/drawing/2014/main" id="{709E8724-BF6C-4C6F-997E-B63E788409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41438" y="685800"/>
            <a:ext cx="7802562" cy="1066800"/>
          </a:xfrm>
        </p:spPr>
        <p:txBody>
          <a:bodyPr/>
          <a:lstStyle/>
          <a:p>
            <a:pPr eaLnBrk="1" hangingPunct="1"/>
            <a:r>
              <a:rPr lang="en-US" altLang="en-US" sz="3600">
                <a:latin typeface="Arial" panose="020B0604020202020204" pitchFamily="34" charset="0"/>
              </a:rPr>
              <a:t>Why do we monitor?</a:t>
            </a:r>
          </a:p>
        </p:txBody>
      </p:sp>
      <p:sp>
        <p:nvSpPr>
          <p:cNvPr id="6149" name="Rectangle 3">
            <a:extLst>
              <a:ext uri="{FF2B5EF4-FFF2-40B4-BE49-F238E27FC236}">
                <a16:creationId xmlns:a16="http://schemas.microsoft.com/office/drawing/2014/main" id="{6A0FA3F3-884B-478D-B384-553A407117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Simply because we know that things don’t always go according to plan (no matter how much we prepare)</a:t>
            </a:r>
          </a:p>
          <a:p>
            <a:pPr eaLnBrk="1" hangingPunct="1"/>
            <a:r>
              <a:rPr lang="en-US" altLang="en-US"/>
              <a:t>To detect and react appropriately to deviations and changes to plans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719680C-038A-F7C8-FC31-B103108C07CC}"/>
                  </a:ext>
                </a:extLst>
              </p14:cNvPr>
              <p14:cNvContentPartPr/>
              <p14:nvPr/>
            </p14:nvContentPartPr>
            <p14:xfrm>
              <a:off x="1491309" y="1623733"/>
              <a:ext cx="3555360" cy="144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719680C-038A-F7C8-FC31-B103108C07C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73669" y="1606093"/>
                <a:ext cx="3591000" cy="18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B68BD5A-AC1B-6910-E98E-18F2D05D595C}"/>
                  </a:ext>
                </a:extLst>
              </p14:cNvPr>
              <p14:cNvContentPartPr/>
              <p14:nvPr/>
            </p14:nvContentPartPr>
            <p14:xfrm>
              <a:off x="1708389" y="2994613"/>
              <a:ext cx="4105080" cy="109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B68BD5A-AC1B-6910-E98E-18F2D05D595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90389" y="2976613"/>
                <a:ext cx="414072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A0072DF-44A3-4A86-E8FC-E92AF4E5AF81}"/>
                  </a:ext>
                </a:extLst>
              </p14:cNvPr>
              <p14:cNvContentPartPr/>
              <p14:nvPr/>
            </p14:nvContentPartPr>
            <p14:xfrm>
              <a:off x="2177469" y="4125733"/>
              <a:ext cx="3380760" cy="37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A0072DF-44A3-4A86-E8FC-E92AF4E5AF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59829" y="4107733"/>
                <a:ext cx="341640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9C98E09-DF4C-CC58-36F7-DD1165FE8B60}"/>
                  </a:ext>
                </a:extLst>
              </p14:cNvPr>
              <p14:cNvContentPartPr/>
              <p14:nvPr/>
            </p14:nvContentPartPr>
            <p14:xfrm>
              <a:off x="1972989" y="4715413"/>
              <a:ext cx="3644640" cy="84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9C98E09-DF4C-CC58-36F7-DD1165FE8B6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55349" y="4697413"/>
                <a:ext cx="3680280" cy="120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>
            <a:extLst>
              <a:ext uri="{FF2B5EF4-FFF2-40B4-BE49-F238E27FC236}">
                <a16:creationId xmlns:a16="http://schemas.microsoft.com/office/drawing/2014/main" id="{986EECA6-2B63-4936-AA5A-AB266AB474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Control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D067ABDE-5141-44C5-8FA1-399BD2854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Ongoing effort to keep your project on track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4 primary activities: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1. Planning performance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schedule, and a control process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2. Measuring status of work performed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Actuals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3. Comparing to baseline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Variances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4. Taking corrective action as needed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 dirty="0"/>
              <a:t>Response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Prerequisite to good control is a good plan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1026">
            <a:extLst>
              <a:ext uri="{FF2B5EF4-FFF2-40B4-BE49-F238E27FC236}">
                <a16:creationId xmlns:a16="http://schemas.microsoft.com/office/drawing/2014/main" id="{3A519CB4-1CC7-466F-854A-983ED632E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Project Control</a:t>
            </a:r>
          </a:p>
        </p:txBody>
      </p:sp>
      <p:sp>
        <p:nvSpPr>
          <p:cNvPr id="10245" name="Rectangle 1027">
            <a:extLst>
              <a:ext uri="{FF2B5EF4-FFF2-40B4-BE49-F238E27FC236}">
                <a16:creationId xmlns:a16="http://schemas.microsoft.com/office/drawing/2014/main" id="{4D97B15D-19B5-4706-9BAE-2EF050B919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3173" y="1760538"/>
            <a:ext cx="8410802" cy="5097462"/>
          </a:xfrm>
        </p:spPr>
        <p:txBody>
          <a:bodyPr>
            <a:normAutofit/>
          </a:bodyPr>
          <a:lstStyle/>
          <a:p>
            <a:pPr eaLnBrk="1" hangingPunct="1">
              <a:lnSpc>
                <a:spcPct val="110000"/>
              </a:lnSpc>
              <a:defRPr/>
            </a:pPr>
            <a:r>
              <a:rPr lang="en-US" sz="2800" dirty="0"/>
              <a:t>“Control”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sz="2000" dirty="0"/>
              <a:t>Power, authority, domination. No.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sz="2000" dirty="0"/>
              <a:t>Guiding a course of action to meet an objective. Yes.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sz="2800" dirty="0"/>
              <a:t>Principles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sz="2000" dirty="0"/>
              <a:t>Work is controlled, not workers</a:t>
            </a:r>
          </a:p>
          <a:p>
            <a:pPr lvl="3" eaLnBrk="1" hangingPunct="1">
              <a:lnSpc>
                <a:spcPct val="110000"/>
              </a:lnSpc>
              <a:defRPr/>
            </a:pPr>
            <a:r>
              <a:rPr lang="en-US" sz="1800" dirty="0"/>
              <a:t>Control helps workers be more effective &amp; efficient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sz="2000" dirty="0"/>
              <a:t>Control based on work completed</a:t>
            </a:r>
          </a:p>
          <a:p>
            <a:pPr lvl="2" eaLnBrk="1" hangingPunct="1">
              <a:lnSpc>
                <a:spcPct val="110000"/>
              </a:lnSpc>
              <a:defRPr/>
            </a:pPr>
            <a:r>
              <a:rPr lang="en-US" sz="2000" dirty="0"/>
              <a:t>Balance</a:t>
            </a:r>
          </a:p>
          <a:p>
            <a:pPr lvl="3" eaLnBrk="1" hangingPunct="1">
              <a:lnSpc>
                <a:spcPct val="110000"/>
              </a:lnSpc>
              <a:defRPr/>
            </a:pPr>
            <a:r>
              <a:rPr lang="en-US" sz="1800" dirty="0"/>
              <a:t>Appropriate level between too much and too little</a:t>
            </a:r>
          </a:p>
          <a:p>
            <a:pPr lvl="3" eaLnBrk="1" hangingPunct="1">
              <a:lnSpc>
                <a:spcPct val="110000"/>
              </a:lnSpc>
              <a:defRPr/>
            </a:pPr>
            <a:r>
              <a:rPr lang="en-US" sz="1800" dirty="0"/>
              <a:t>Includes:</a:t>
            </a:r>
          </a:p>
          <a:p>
            <a:pPr lvl="4" eaLnBrk="1" hangingPunct="1">
              <a:lnSpc>
                <a:spcPct val="110000"/>
              </a:lnSpc>
              <a:defRPr/>
            </a:pPr>
            <a:r>
              <a:rPr lang="en-US" sz="1800" dirty="0"/>
              <a:t>Micro-managing vs. neglect</a:t>
            </a:r>
          </a:p>
          <a:p>
            <a:pPr lvl="4" eaLnBrk="1" hangingPunct="1">
              <a:lnSpc>
                <a:spcPct val="110000"/>
              </a:lnSpc>
              <a:defRPr/>
            </a:pPr>
            <a:r>
              <a:rPr lang="en-US" sz="1800" dirty="0"/>
              <a:t>Too much tracking detail vs. too little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86FB72-379A-684F-48D5-82092B60E15F}"/>
                  </a:ext>
                </a:extLst>
              </p14:cNvPr>
              <p14:cNvContentPartPr/>
              <p14:nvPr/>
            </p14:nvContentPartPr>
            <p14:xfrm>
              <a:off x="1984886" y="3982269"/>
              <a:ext cx="3278520" cy="41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86FB72-379A-684F-48D5-82092B60E15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67246" y="3964629"/>
                <a:ext cx="3314160" cy="77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1026">
            <a:extLst>
              <a:ext uri="{FF2B5EF4-FFF2-40B4-BE49-F238E27FC236}">
                <a16:creationId xmlns:a16="http://schemas.microsoft.com/office/drawing/2014/main" id="{47E402A6-5C57-42E6-A89A-9799152657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Progress Monitoring</a:t>
            </a:r>
          </a:p>
        </p:txBody>
      </p:sp>
      <p:sp>
        <p:nvSpPr>
          <p:cNvPr id="9220" name="Rectangle 1027">
            <a:extLst>
              <a:ext uri="{FF2B5EF4-FFF2-40B4-BE49-F238E27FC236}">
                <a16:creationId xmlns:a16="http://schemas.microsoft.com/office/drawing/2014/main" id="{05EBEC4B-7A0D-4DA8-BEFE-590FA32C5B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3 key Progress Monitoring Questions</a:t>
            </a:r>
          </a:p>
          <a:p>
            <a:pPr lvl="1" eaLnBrk="1" hangingPunct="1"/>
            <a:r>
              <a:rPr lang="en-US" altLang="en-US"/>
              <a:t>What is the actual status?</a:t>
            </a:r>
          </a:p>
          <a:p>
            <a:pPr lvl="1" eaLnBrk="1" hangingPunct="1"/>
            <a:r>
              <a:rPr lang="en-US" altLang="en-US"/>
              <a:t>If there’s a variance, what is cause?</a:t>
            </a:r>
          </a:p>
          <a:p>
            <a:pPr lvl="1" eaLnBrk="1" hangingPunct="1"/>
            <a:r>
              <a:rPr lang="en-US" altLang="en-US"/>
              <a:t>What to do about it? </a:t>
            </a:r>
          </a:p>
          <a:p>
            <a:pPr eaLnBrk="1" hangingPunct="1"/>
            <a:r>
              <a:rPr lang="en-US" altLang="en-US"/>
              <a:t>Possible responses</a:t>
            </a:r>
          </a:p>
          <a:p>
            <a:pPr lvl="2" eaLnBrk="1" hangingPunct="1"/>
            <a:r>
              <a:rPr lang="en-US" altLang="en-US"/>
              <a:t>1. Ignore</a:t>
            </a:r>
          </a:p>
          <a:p>
            <a:pPr lvl="2" eaLnBrk="1" hangingPunct="1"/>
            <a:r>
              <a:rPr lang="en-US" altLang="en-US"/>
              <a:t>2. Take corrective action</a:t>
            </a:r>
          </a:p>
          <a:p>
            <a:pPr lvl="2" eaLnBrk="1" hangingPunct="1"/>
            <a:r>
              <a:rPr lang="en-US" altLang="en-US"/>
              <a:t>3. Review the plan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021BABC-A2E4-DF4E-BC84-D229D839F9C5}"/>
                  </a:ext>
                </a:extLst>
              </p14:cNvPr>
              <p14:cNvContentPartPr/>
              <p14:nvPr/>
            </p14:nvContentPartPr>
            <p14:xfrm>
              <a:off x="3905486" y="3381789"/>
              <a:ext cx="1659240" cy="1976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021BABC-A2E4-DF4E-BC84-D229D839F9C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87486" y="3364149"/>
                <a:ext cx="169488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90414E1-946A-CE29-1E58-7C70C92974A6}"/>
                  </a:ext>
                </a:extLst>
              </p14:cNvPr>
              <p14:cNvContentPartPr/>
              <p14:nvPr/>
            </p14:nvContentPartPr>
            <p14:xfrm>
              <a:off x="3853646" y="3852669"/>
              <a:ext cx="3455640" cy="170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90414E1-946A-CE29-1E58-7C70C92974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35646" y="3834669"/>
                <a:ext cx="3491280" cy="20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29FAABF-CE9E-6093-8E02-8A3470B0D5B5}"/>
                  </a:ext>
                </a:extLst>
              </p14:cNvPr>
              <p14:cNvContentPartPr/>
              <p14:nvPr/>
            </p14:nvContentPartPr>
            <p14:xfrm>
              <a:off x="3343886" y="4557909"/>
              <a:ext cx="980280" cy="39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29FAABF-CE9E-6093-8E02-8A3470B0D5B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26246" y="4540269"/>
                <a:ext cx="1015920" cy="7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050">
            <a:extLst>
              <a:ext uri="{FF2B5EF4-FFF2-40B4-BE49-F238E27FC236}">
                <a16:creationId xmlns:a16="http://schemas.microsoft.com/office/drawing/2014/main" id="{723647B2-7E0E-4FA0-9849-E65A49A702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Progress Monitoring</a:t>
            </a:r>
          </a:p>
        </p:txBody>
      </p:sp>
      <p:sp>
        <p:nvSpPr>
          <p:cNvPr id="10244" name="Rectangle 2051">
            <a:extLst>
              <a:ext uri="{FF2B5EF4-FFF2-40B4-BE49-F238E27FC236}">
                <a16:creationId xmlns:a16="http://schemas.microsoft.com/office/drawing/2014/main" id="{3A0E193B-A235-4507-9238-9D5845FBEC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Monitoring rates</a:t>
            </a:r>
          </a:p>
          <a:p>
            <a:pPr lvl="1" eaLnBrk="1" hangingPunct="1"/>
            <a:r>
              <a:rPr lang="en-US" altLang="en-US" sz="2400" dirty="0"/>
              <a:t>Daily, weekly, monthly</a:t>
            </a:r>
          </a:p>
          <a:p>
            <a:pPr lvl="1" eaLnBrk="1" hangingPunct="1"/>
            <a:r>
              <a:rPr lang="en-US" altLang="en-US" sz="2400" dirty="0"/>
              <a:t>If problems occur – then adjust</a:t>
            </a:r>
          </a:p>
          <a:p>
            <a:pPr lvl="2" eaLnBrk="1" hangingPunct="1"/>
            <a:r>
              <a:rPr lang="en-US" altLang="en-US" sz="2000" dirty="0"/>
              <a:t>You may have to monitor problem areas more closely</a:t>
            </a:r>
          </a:p>
          <a:p>
            <a:pPr lvl="2" eaLnBrk="1" hangingPunct="1"/>
            <a:r>
              <a:rPr lang="en-US" altLang="en-US" sz="2000" dirty="0"/>
              <a:t>For some period of time</a:t>
            </a:r>
          </a:p>
          <a:p>
            <a:pPr lvl="2" eaLnBrk="1" hangingPunct="1"/>
            <a:r>
              <a:rPr lang="en-US" altLang="en-US" sz="2000" dirty="0"/>
              <a:t>Almost always there’s one or more areas under closer scrutiny</a:t>
            </a:r>
          </a:p>
          <a:p>
            <a:pPr eaLnBrk="1" hangingPunct="1"/>
            <a:r>
              <a:rPr lang="en-US" altLang="en-US" sz="2400" dirty="0"/>
              <a:t>Status Reporting</a:t>
            </a:r>
          </a:p>
          <a:p>
            <a:pPr lvl="1" eaLnBrk="1" hangingPunct="1"/>
            <a:r>
              <a:rPr lang="en-US" altLang="en-US" sz="2400" dirty="0"/>
              <a:t>Part of the communications management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B218D11E-4BA2-4B14-BCE7-300533189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Status Reports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5BED5BD2-152B-4E66-AC14-C73D2615D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From team to PM, from PM to stakeholders</a:t>
            </a:r>
          </a:p>
          <a:p>
            <a:pPr eaLnBrk="1" hangingPunct="1"/>
            <a:r>
              <a:rPr lang="en-US" altLang="en-US" sz="2400"/>
              <a:t>Typical format for letter</a:t>
            </a:r>
          </a:p>
          <a:p>
            <a:pPr lvl="1" eaLnBrk="1" hangingPunct="1"/>
            <a:r>
              <a:rPr lang="en-US" altLang="en-US" sz="2000"/>
              <a:t>Summary</a:t>
            </a:r>
          </a:p>
          <a:p>
            <a:pPr lvl="1" eaLnBrk="1" hangingPunct="1"/>
            <a:r>
              <a:rPr lang="en-US" altLang="en-US" sz="2000"/>
              <a:t>Accomplishments for this period (done)</a:t>
            </a:r>
          </a:p>
          <a:p>
            <a:pPr lvl="2" eaLnBrk="1" hangingPunct="1"/>
            <a:r>
              <a:rPr lang="en-US" altLang="en-US" sz="1800"/>
              <a:t>Tasks, milestones,</a:t>
            </a:r>
          </a:p>
          <a:p>
            <a:pPr lvl="2" eaLnBrk="1" hangingPunct="1"/>
            <a:r>
              <a:rPr lang="en-US" altLang="en-US" sz="2000"/>
              <a:t>Plans for next period (to-do)</a:t>
            </a:r>
          </a:p>
          <a:p>
            <a:pPr lvl="1" eaLnBrk="1" hangingPunct="1"/>
            <a:r>
              <a:rPr lang="en-US" altLang="en-US" sz="2000"/>
              <a:t>Risk analysis and review</a:t>
            </a:r>
          </a:p>
          <a:p>
            <a:pPr lvl="1" eaLnBrk="1" hangingPunct="1"/>
            <a:r>
              <a:rPr lang="en-US" altLang="en-US" sz="2000"/>
              <a:t>Issues &amp; Actions</a:t>
            </a:r>
          </a:p>
          <a:p>
            <a:pPr eaLnBrk="1" hangingPunct="1"/>
            <a:r>
              <a:rPr lang="en-US" altLang="en-US" sz="2400"/>
              <a:t>Shoot for weekly updates</a:t>
            </a:r>
          </a:p>
          <a:p>
            <a:pPr lvl="1" eaLnBrk="1" hangingPunct="1"/>
            <a:r>
              <a:rPr lang="en-US" altLang="en-US" sz="2000"/>
              <a:t>Email notes, then hold brief meeting</a:t>
            </a:r>
          </a:p>
          <a:p>
            <a:pPr lvl="1" eaLnBrk="1" hangingPunct="1"/>
            <a:r>
              <a:rPr lang="en-US" altLang="en-US" sz="2000"/>
              <a:t>More frequently during crises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380EB1F-C6AC-9D51-7D31-C6E814E4B11C}"/>
                  </a:ext>
                </a:extLst>
              </p14:cNvPr>
              <p14:cNvContentPartPr/>
              <p14:nvPr/>
            </p14:nvContentPartPr>
            <p14:xfrm>
              <a:off x="1867886" y="3238509"/>
              <a:ext cx="886680" cy="658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380EB1F-C6AC-9D51-7D31-C6E814E4B11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0246" y="3220869"/>
                <a:ext cx="9223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A869FBB-E73C-F423-5333-4ED43F9242E8}"/>
                  </a:ext>
                </a:extLst>
              </p14:cNvPr>
              <p14:cNvContentPartPr/>
              <p14:nvPr/>
            </p14:nvContentPartPr>
            <p14:xfrm>
              <a:off x="2102606" y="3616509"/>
              <a:ext cx="1265760" cy="54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A869FBB-E73C-F423-5333-4ED43F9242E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84966" y="3598869"/>
                <a:ext cx="1301400" cy="9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7975B8F-3386-85A4-002A-5DE246D5D21F}"/>
                  </a:ext>
                </a:extLst>
              </p14:cNvPr>
              <p14:cNvContentPartPr/>
              <p14:nvPr/>
            </p14:nvContentPartPr>
            <p14:xfrm>
              <a:off x="2115926" y="4736109"/>
              <a:ext cx="321120" cy="54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7975B8F-3386-85A4-002A-5DE246D5D21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8286" y="4718109"/>
                <a:ext cx="356760" cy="4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2A81A5E-58D8-7E1A-57EB-2C5D2F88C9A9}"/>
                  </a:ext>
                </a:extLst>
              </p14:cNvPr>
              <p14:cNvContentPartPr/>
              <p14:nvPr/>
            </p14:nvContentPartPr>
            <p14:xfrm>
              <a:off x="2037446" y="5015469"/>
              <a:ext cx="1019520" cy="918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2A81A5E-58D8-7E1A-57EB-2C5D2F88C9A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19806" y="4997469"/>
                <a:ext cx="1055160" cy="1274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B841-8D5E-469E-2582-D0687883B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66" y="874713"/>
            <a:ext cx="7793037" cy="1143000"/>
          </a:xfrm>
        </p:spPr>
        <p:txBody>
          <a:bodyPr/>
          <a:lstStyle/>
          <a:p>
            <a:r>
              <a:rPr lang="en-US" altLang="en-US" sz="4400" dirty="0"/>
              <a:t>Traffic Light Assessment (RAG Reporting)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63E68-6B7D-A56A-184B-251BD46F5D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Traffic Light Assessment (RAG Reporting) is a method in project management to visually indicate the status of project elements: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Red</a:t>
            </a:r>
            <a:r>
              <a:rPr lang="en-US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Not on track, needs immediate attention.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Amber</a:t>
            </a:r>
            <a:r>
              <a:rPr lang="en-US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Not on track but recoverable with effort.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Green</a:t>
            </a:r>
            <a:r>
              <a:rPr lang="en-US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: On track, meeting targets.</a:t>
            </a:r>
          </a:p>
          <a:p>
            <a:pPr algn="just"/>
            <a:r>
              <a:rPr lang="en-US" sz="28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Used in reports and meetings for quick understanding and decision-making.</a:t>
            </a:r>
          </a:p>
          <a:p>
            <a:pPr marL="0" indent="0" algn="just">
              <a:buNone/>
            </a:pPr>
            <a:endParaRPr lang="en-US" sz="28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FB92C63-8DA8-D2AF-7A85-8F58E3FF7F9C}"/>
                  </a:ext>
                </a:extLst>
              </p14:cNvPr>
              <p14:cNvContentPartPr/>
              <p14:nvPr/>
            </p14:nvContentPartPr>
            <p14:xfrm>
              <a:off x="1789406" y="2416269"/>
              <a:ext cx="5137200" cy="125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FB92C63-8DA8-D2AF-7A85-8F58E3FF7F9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71766" y="2398629"/>
                <a:ext cx="5172840" cy="161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77547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ADC863E3-88AB-4244-BF4E-83A89770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 dirty="0"/>
              <a:t>Traffic Light Assessment (RAG Reporting)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B2376655-1610-4328-9898-C759122EBB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400" dirty="0"/>
              <a:t>Identify the key element</a:t>
            </a:r>
          </a:p>
          <a:p>
            <a:r>
              <a:rPr lang="en-US" altLang="en-US" sz="2400" dirty="0"/>
              <a:t>Break these key element in constitute element</a:t>
            </a:r>
          </a:p>
          <a:p>
            <a:r>
              <a:rPr lang="en-US" altLang="en-US" sz="2400" dirty="0"/>
              <a:t>Access each second level element</a:t>
            </a:r>
          </a:p>
          <a:p>
            <a:pPr lvl="1"/>
            <a:r>
              <a:rPr lang="en-US" altLang="en-US" sz="2000" dirty="0"/>
              <a:t>Green (on target)</a:t>
            </a:r>
          </a:p>
          <a:p>
            <a:pPr lvl="1"/>
            <a:r>
              <a:rPr lang="en-US" altLang="en-US" sz="2000" dirty="0"/>
              <a:t>Amber (not on target but recoverable)</a:t>
            </a:r>
          </a:p>
          <a:p>
            <a:pPr lvl="1"/>
            <a:r>
              <a:rPr lang="en-US" altLang="en-US" sz="2000" dirty="0"/>
              <a:t>Red (not on target but recoverable with difficulties)</a:t>
            </a:r>
          </a:p>
          <a:p>
            <a:r>
              <a:rPr lang="en-US" altLang="en-US" sz="2400" dirty="0"/>
              <a:t>Review all the second level assessment to arrive at first level assessment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B8E15796-2D4A-C43A-9B65-94B798A75EE5}"/>
                  </a:ext>
                </a:extLst>
              </p14:cNvPr>
              <p14:cNvContentPartPr/>
              <p14:nvPr/>
            </p14:nvContentPartPr>
            <p14:xfrm>
              <a:off x="3317966" y="2402589"/>
              <a:ext cx="1437480" cy="40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B8E15796-2D4A-C43A-9B65-94B798A75EE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00326" y="2384949"/>
                <a:ext cx="147312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928126C-789C-9C9D-DB5C-A989D0EC8634}"/>
                  </a:ext>
                </a:extLst>
              </p14:cNvPr>
              <p14:cNvContentPartPr/>
              <p14:nvPr/>
            </p14:nvContentPartPr>
            <p14:xfrm>
              <a:off x="2141846" y="3746109"/>
              <a:ext cx="740880" cy="28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928126C-789C-9C9D-DB5C-A989D0EC863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4206" y="3728109"/>
                <a:ext cx="77652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15985C6-3825-3390-F49F-D0823FD70149}"/>
                  </a:ext>
                </a:extLst>
              </p14:cNvPr>
              <p14:cNvContentPartPr/>
              <p14:nvPr/>
            </p14:nvContentPartPr>
            <p14:xfrm>
              <a:off x="2063366" y="4048509"/>
              <a:ext cx="861120" cy="66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15985C6-3825-3390-F49F-D0823FD7014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45726" y="4030869"/>
                <a:ext cx="896760" cy="10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93ACB42-AF9B-43DD-CCCB-8D3E89EC4C7F}"/>
                  </a:ext>
                </a:extLst>
              </p14:cNvPr>
              <p14:cNvContentPartPr/>
              <p14:nvPr/>
            </p14:nvContentPartPr>
            <p14:xfrm>
              <a:off x="2024126" y="4387989"/>
              <a:ext cx="1540800" cy="144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93ACB42-AF9B-43DD-CCCB-8D3E89EC4C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006486" y="4369989"/>
                <a:ext cx="1576440" cy="500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7FF57DA2-A66C-4AC6-8B41-87E8B862D3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793038" cy="906463"/>
          </a:xfrm>
        </p:spPr>
        <p:txBody>
          <a:bodyPr/>
          <a:lstStyle/>
          <a:p>
            <a:pPr eaLnBrk="1" hangingPunct="1"/>
            <a:r>
              <a:rPr lang="en-US" altLang="en-US" sz="3600">
                <a:latin typeface="Arial" panose="020B0604020202020204" pitchFamily="34" charset="0"/>
              </a:rPr>
              <a:t>Project Control Cycle</a:t>
            </a:r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36DE4234-20EC-4E75-A778-92F0895B8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1828800"/>
            <a:ext cx="2286000" cy="208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PLAN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Specifications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Project Schedule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Project budget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Resource plan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Vendor contracts</a:t>
            </a:r>
          </a:p>
        </p:txBody>
      </p:sp>
      <p:sp>
        <p:nvSpPr>
          <p:cNvPr id="13318" name="Text Box 5">
            <a:extLst>
              <a:ext uri="{FF2B5EF4-FFF2-40B4-BE49-F238E27FC236}">
                <a16:creationId xmlns:a16="http://schemas.microsoft.com/office/drawing/2014/main" id="{7E5649C5-6558-4C68-B52C-655E40221D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29400" y="3276600"/>
            <a:ext cx="2057400" cy="13446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MONITOR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Record status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Report progress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Report cost</a:t>
            </a:r>
          </a:p>
        </p:txBody>
      </p:sp>
      <p:sp>
        <p:nvSpPr>
          <p:cNvPr id="13319" name="Text Box 6">
            <a:extLst>
              <a:ext uri="{FF2B5EF4-FFF2-40B4-BE49-F238E27FC236}">
                <a16:creationId xmlns:a16="http://schemas.microsoft.com/office/drawing/2014/main" id="{A7DA7902-6661-4A43-BC0B-F07B6E0CE1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4343400"/>
            <a:ext cx="2362200" cy="1946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COMPARE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45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Actual status against plan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45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Schedule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45000"/>
              </a:spcBef>
              <a:spcAft>
                <a:spcPct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Cost</a:t>
            </a:r>
          </a:p>
        </p:txBody>
      </p:sp>
      <p:sp>
        <p:nvSpPr>
          <p:cNvPr id="13320" name="Text Box 7">
            <a:extLst>
              <a:ext uri="{FF2B5EF4-FFF2-40B4-BE49-F238E27FC236}">
                <a16:creationId xmlns:a16="http://schemas.microsoft.com/office/drawing/2014/main" id="{06C44C14-D852-492F-91DC-8DB420FC3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2514600"/>
            <a:ext cx="1752600" cy="22352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Correct deviations from plan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RE-PLAN as necessary</a:t>
            </a:r>
          </a:p>
        </p:txBody>
      </p:sp>
      <p:sp>
        <p:nvSpPr>
          <p:cNvPr id="13321" name="Line 8">
            <a:extLst>
              <a:ext uri="{FF2B5EF4-FFF2-40B4-BE49-F238E27FC236}">
                <a16:creationId xmlns:a16="http://schemas.microsoft.com/office/drawing/2014/main" id="{5774899A-1991-4A12-A0E3-2684501C5D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2133600"/>
            <a:ext cx="1752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2" name="Line 9">
            <a:extLst>
              <a:ext uri="{FF2B5EF4-FFF2-40B4-BE49-F238E27FC236}">
                <a16:creationId xmlns:a16="http://schemas.microsoft.com/office/drawing/2014/main" id="{7CBC1456-4E56-4BCB-BE2E-422CC0A10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133600"/>
            <a:ext cx="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3" name="Line 10">
            <a:extLst>
              <a:ext uri="{FF2B5EF4-FFF2-40B4-BE49-F238E27FC236}">
                <a16:creationId xmlns:a16="http://schemas.microsoft.com/office/drawing/2014/main" id="{385B45A8-1712-4704-A299-781D145C7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64820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4" name="Line 11">
            <a:extLst>
              <a:ext uri="{FF2B5EF4-FFF2-40B4-BE49-F238E27FC236}">
                <a16:creationId xmlns:a16="http://schemas.microsoft.com/office/drawing/2014/main" id="{95E61971-EE8E-468F-B6BE-4B89D7DED03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1200" y="5410200"/>
            <a:ext cx="1752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5" name="Line 12">
            <a:extLst>
              <a:ext uri="{FF2B5EF4-FFF2-40B4-BE49-F238E27FC236}">
                <a16:creationId xmlns:a16="http://schemas.microsoft.com/office/drawing/2014/main" id="{8A8BAB6B-132F-4D04-BF58-BD875D74D6D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5410200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6" name="Line 13">
            <a:extLst>
              <a:ext uri="{FF2B5EF4-FFF2-40B4-BE49-F238E27FC236}">
                <a16:creationId xmlns:a16="http://schemas.microsoft.com/office/drawing/2014/main" id="{D7264A94-C285-438A-86D9-DC667BF5BC2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4724400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7" name="Line 14">
            <a:extLst>
              <a:ext uri="{FF2B5EF4-FFF2-40B4-BE49-F238E27FC236}">
                <a16:creationId xmlns:a16="http://schemas.microsoft.com/office/drawing/2014/main" id="{52473B0D-8D12-4D44-AABA-5F17F99E5A9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21336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8" name="Line 15">
            <a:extLst>
              <a:ext uri="{FF2B5EF4-FFF2-40B4-BE49-F238E27FC236}">
                <a16:creationId xmlns:a16="http://schemas.microsoft.com/office/drawing/2014/main" id="{26C22A40-7C9D-4E42-9C6A-407A0C3180C8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9BA0-54E6-9124-E196-1203B2917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>
            <a:extLst>
              <a:ext uri="{FF2B5EF4-FFF2-40B4-BE49-F238E27FC236}">
                <a16:creationId xmlns:a16="http://schemas.microsoft.com/office/drawing/2014/main" id="{49E63B72-948D-AD81-675E-DD16A2EFB1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3000" y="457200"/>
            <a:ext cx="7793038" cy="906463"/>
          </a:xfrm>
        </p:spPr>
        <p:txBody>
          <a:bodyPr/>
          <a:lstStyle/>
          <a:p>
            <a:pPr eaLnBrk="1" hangingPunct="1"/>
            <a:r>
              <a:rPr lang="en-US" altLang="en-US" sz="3600">
                <a:latin typeface="Arial" panose="020B0604020202020204" pitchFamily="34" charset="0"/>
              </a:rPr>
              <a:t>Project Control Cycle</a:t>
            </a:r>
          </a:p>
        </p:txBody>
      </p:sp>
      <p:sp>
        <p:nvSpPr>
          <p:cNvPr id="13317" name="Text Box 4">
            <a:extLst>
              <a:ext uri="{FF2B5EF4-FFF2-40B4-BE49-F238E27FC236}">
                <a16:creationId xmlns:a16="http://schemas.microsoft.com/office/drawing/2014/main" id="{C9481274-803A-4684-0523-778648403E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901" y="1374550"/>
            <a:ext cx="2781292" cy="211282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PLAN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8" name="Text Box 5">
            <a:extLst>
              <a:ext uri="{FF2B5EF4-FFF2-40B4-BE49-F238E27FC236}">
                <a16:creationId xmlns:a16="http://schemas.microsoft.com/office/drawing/2014/main" id="{863E5ABE-331B-41DB-F216-C7C3A49B20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0547" y="2481020"/>
            <a:ext cx="2547251" cy="218777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MONITOR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18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19" name="Text Box 6">
            <a:extLst>
              <a:ext uri="{FF2B5EF4-FFF2-40B4-BE49-F238E27FC236}">
                <a16:creationId xmlns:a16="http://schemas.microsoft.com/office/drawing/2014/main" id="{8E13A5BC-99C0-352C-E80B-D0A16CAAB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0900" y="4354286"/>
            <a:ext cx="2895597" cy="242059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COMPARE</a:t>
            </a: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5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20" name="Text Box 7">
            <a:extLst>
              <a:ext uri="{FF2B5EF4-FFF2-40B4-BE49-F238E27FC236}">
                <a16:creationId xmlns:a16="http://schemas.microsoft.com/office/drawing/2014/main" id="{49CEBD82-15CB-A642-4702-70199E2DF6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2" y="2514600"/>
            <a:ext cx="2895598" cy="22467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ACTION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altLang="en-US" sz="2000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3321" name="Line 8">
            <a:extLst>
              <a:ext uri="{FF2B5EF4-FFF2-40B4-BE49-F238E27FC236}">
                <a16:creationId xmlns:a16="http://schemas.microsoft.com/office/drawing/2014/main" id="{85FEB16C-BF9D-4F87-D0CA-39261419E2AC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2192" y="2133600"/>
            <a:ext cx="1371608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2" name="Line 9">
            <a:extLst>
              <a:ext uri="{FF2B5EF4-FFF2-40B4-BE49-F238E27FC236}">
                <a16:creationId xmlns:a16="http://schemas.microsoft.com/office/drawing/2014/main" id="{857C07E8-6AAC-962E-BBE5-C13E5B46B3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21336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3" name="Line 10">
            <a:extLst>
              <a:ext uri="{FF2B5EF4-FFF2-40B4-BE49-F238E27FC236}">
                <a16:creationId xmlns:a16="http://schemas.microsoft.com/office/drawing/2014/main" id="{2D74BB46-06E9-5A12-C656-E536D1231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43800" y="4648200"/>
            <a:ext cx="0" cy="762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4" name="Line 11">
            <a:extLst>
              <a:ext uri="{FF2B5EF4-FFF2-40B4-BE49-F238E27FC236}">
                <a16:creationId xmlns:a16="http://schemas.microsoft.com/office/drawing/2014/main" id="{376E6623-5F8D-3348-2C29-ACC9CFDAECE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86497" y="5410200"/>
            <a:ext cx="125730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5" name="Line 12">
            <a:extLst>
              <a:ext uri="{FF2B5EF4-FFF2-40B4-BE49-F238E27FC236}">
                <a16:creationId xmlns:a16="http://schemas.microsoft.com/office/drawing/2014/main" id="{7CD43E93-7019-58D2-F2F2-0F3DB40A6A3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7400" y="5410200"/>
            <a:ext cx="13716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6" name="Line 13">
            <a:extLst>
              <a:ext uri="{FF2B5EF4-FFF2-40B4-BE49-F238E27FC236}">
                <a16:creationId xmlns:a16="http://schemas.microsoft.com/office/drawing/2014/main" id="{066EF9E3-2298-9486-DBCF-B5C5802FD8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057400" y="4724400"/>
            <a:ext cx="0" cy="6858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7" name="Line 14">
            <a:extLst>
              <a:ext uri="{FF2B5EF4-FFF2-40B4-BE49-F238E27FC236}">
                <a16:creationId xmlns:a16="http://schemas.microsoft.com/office/drawing/2014/main" id="{47ADC3B7-0DEB-7040-5C23-65EB3F4C66E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133600" y="2133600"/>
            <a:ext cx="0" cy="381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3328" name="Line 15">
            <a:extLst>
              <a:ext uri="{FF2B5EF4-FFF2-40B4-BE49-F238E27FC236}">
                <a16:creationId xmlns:a16="http://schemas.microsoft.com/office/drawing/2014/main" id="{7FC2D7DD-CE8B-A651-C9B8-EC36B849BE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3600" y="2133600"/>
            <a:ext cx="12573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8213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2">
            <a:extLst>
              <a:ext uri="{FF2B5EF4-FFF2-40B4-BE49-F238E27FC236}">
                <a16:creationId xmlns:a16="http://schemas.microsoft.com/office/drawing/2014/main" id="{F52DC113-5B44-4C33-B311-6A40BAE001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>
                <a:latin typeface="Arial" panose="020B0604020202020204" pitchFamily="34" charset="0"/>
              </a:rPr>
              <a:t>Project Control</a:t>
            </a:r>
          </a:p>
        </p:txBody>
      </p:sp>
      <p:sp>
        <p:nvSpPr>
          <p:cNvPr id="14341" name="Rectangle 3">
            <a:extLst>
              <a:ext uri="{FF2B5EF4-FFF2-40B4-BE49-F238E27FC236}">
                <a16:creationId xmlns:a16="http://schemas.microsoft.com/office/drawing/2014/main" id="{5C7C7845-4C18-4D4B-A99A-314BD0B7DD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Control – process and activities needed to correct deviations from plan</a:t>
            </a:r>
          </a:p>
          <a:p>
            <a:pPr eaLnBrk="1" hangingPunct="1"/>
            <a:r>
              <a:rPr lang="en-US" altLang="en-US" sz="2800"/>
              <a:t>Control the triple constraints </a:t>
            </a:r>
          </a:p>
          <a:p>
            <a:pPr lvl="1" eaLnBrk="1" hangingPunct="1"/>
            <a:r>
              <a:rPr lang="en-US" altLang="en-US" sz="2400"/>
              <a:t>time (schedule)</a:t>
            </a:r>
          </a:p>
          <a:p>
            <a:pPr lvl="1" eaLnBrk="1" hangingPunct="1"/>
            <a:r>
              <a:rPr lang="en-US" altLang="en-US" sz="2400"/>
              <a:t>cost (budget, expenses, etc) </a:t>
            </a:r>
          </a:p>
          <a:p>
            <a:pPr lvl="1" eaLnBrk="1" hangingPunct="1"/>
            <a:r>
              <a:rPr lang="en-US" altLang="en-US" sz="2400"/>
              <a:t>performance (specifications, testing results, etc.)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>
            <a:extLst>
              <a:ext uri="{FF2B5EF4-FFF2-40B4-BE49-F238E27FC236}">
                <a16:creationId xmlns:a16="http://schemas.microsoft.com/office/drawing/2014/main" id="{DFD6E16C-B4C3-4708-A22C-ED8C04C1BA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457200"/>
            <a:ext cx="7010400" cy="1303338"/>
          </a:xfrm>
        </p:spPr>
        <p:txBody>
          <a:bodyPr/>
          <a:lstStyle/>
          <a:p>
            <a:pPr eaLnBrk="1" hangingPunct="1"/>
            <a:r>
              <a:rPr lang="en-US" altLang="en-US" sz="3600" dirty="0">
                <a:latin typeface="Arial" panose="020B0604020202020204" pitchFamily="34" charset="0"/>
              </a:rPr>
              <a:t>Techniques for monitoring and control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B4FF56C6-6AB6-4105-BA03-E28EEC4BC9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2057400"/>
            <a:ext cx="5294313" cy="2286000"/>
          </a:xfrm>
        </p:spPr>
        <p:txBody>
          <a:bodyPr/>
          <a:lstStyle/>
          <a:p>
            <a:pPr eaLnBrk="1" hangingPunct="1"/>
            <a:r>
              <a:rPr lang="en-US" altLang="en-US" dirty="0"/>
              <a:t>Earned Value Analysis</a:t>
            </a:r>
          </a:p>
          <a:p>
            <a:pPr eaLnBrk="1" hangingPunct="1"/>
            <a:r>
              <a:rPr lang="en-US" altLang="en-US" dirty="0"/>
              <a:t>Critical Ratio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text on a white background&#10;&#10;Description automatically generated">
            <a:extLst>
              <a:ext uri="{FF2B5EF4-FFF2-40B4-BE49-F238E27FC236}">
                <a16:creationId xmlns:a16="http://schemas.microsoft.com/office/drawing/2014/main" id="{C75C883D-A87E-B6A3-97E4-41D0A26D3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1253613"/>
            <a:ext cx="8963025" cy="4996886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CC3AD76-38D5-9BBC-80AF-AA9FFE3D020D}"/>
                  </a:ext>
                </a:extLst>
              </p14:cNvPr>
              <p14:cNvContentPartPr/>
              <p14:nvPr/>
            </p14:nvContentPartPr>
            <p14:xfrm>
              <a:off x="809846" y="3382149"/>
              <a:ext cx="2127960" cy="66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CC3AD76-38D5-9BBC-80AF-AA9FFE3D02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1846" y="3364509"/>
                <a:ext cx="2163600" cy="10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19996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5D273A1-13FF-FD26-2D38-3FD889C96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1522504"/>
            <a:ext cx="8963025" cy="4459104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515785-FBBC-CEA2-074B-F48C2D06EBB9}"/>
                  </a:ext>
                </a:extLst>
              </p14:cNvPr>
              <p14:cNvContentPartPr/>
              <p14:nvPr/>
            </p14:nvContentPartPr>
            <p14:xfrm>
              <a:off x="7511246" y="5171709"/>
              <a:ext cx="1802880" cy="39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515785-FBBC-CEA2-074B-F48C2D06EB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93606" y="5153709"/>
                <a:ext cx="1838520" cy="7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E2C3739-97FA-C10C-A1F5-533D6C9731D8}"/>
                  </a:ext>
                </a:extLst>
              </p14:cNvPr>
              <p14:cNvContentPartPr/>
              <p14:nvPr/>
            </p14:nvContentPartPr>
            <p14:xfrm>
              <a:off x="1044566" y="4453509"/>
              <a:ext cx="2903760" cy="18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E2C3739-97FA-C10C-A1F5-533D6C9731D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26566" y="4435509"/>
                <a:ext cx="2939400" cy="221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747213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C6C480-319E-BCAF-93B5-A5901A8E9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1320836"/>
            <a:ext cx="8963025" cy="4862440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0EF9463-B7D2-791C-43DD-C0FCC60C9250}"/>
                  </a:ext>
                </a:extLst>
              </p14:cNvPr>
              <p14:cNvContentPartPr/>
              <p14:nvPr/>
            </p14:nvContentPartPr>
            <p14:xfrm>
              <a:off x="1907126" y="3446949"/>
              <a:ext cx="2980440" cy="1987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0EF9463-B7D2-791C-43DD-C0FCC60C925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89486" y="3428949"/>
                <a:ext cx="3016080" cy="234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09753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table of calculations&#10;&#10;Description automatically generated with medium confidence">
            <a:extLst>
              <a:ext uri="{FF2B5EF4-FFF2-40B4-BE49-F238E27FC236}">
                <a16:creationId xmlns:a16="http://schemas.microsoft.com/office/drawing/2014/main" id="{7C5F81E6-4B69-4AA4-27FC-32D0CAFE96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1152779"/>
            <a:ext cx="8963025" cy="51985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81986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>
            <a:extLst>
              <a:ext uri="{FF2B5EF4-FFF2-40B4-BE49-F238E27FC236}">
                <a16:creationId xmlns:a16="http://schemas.microsoft.com/office/drawing/2014/main" id="{93404D40-E6B3-4A26-B18B-5127438F2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latin typeface="Arial" panose="020B0604020202020204" pitchFamily="34" charset="0"/>
                <a:sym typeface="Symbol" panose="05050102010706020507" pitchFamily="18" charset="2"/>
              </a:rPr>
              <a:t>Earned Value Analysis (EVA)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EAF4C3CA-F585-4FD1-88D7-0644F4CD2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2017712"/>
            <a:ext cx="7772400" cy="4648901"/>
          </a:xfrm>
        </p:spPr>
        <p:txBody>
          <a:bodyPr>
            <a:normAutofit lnSpcReduction="10000"/>
          </a:bodyPr>
          <a:lstStyle/>
          <a:p>
            <a:pPr eaLnBrk="1" hangingPunct="1">
              <a:defRPr/>
            </a:pPr>
            <a:r>
              <a:rPr lang="en-US" sz="2400" dirty="0"/>
              <a:t>Earned Value analysis is a method of performance measurement </a:t>
            </a:r>
          </a:p>
          <a:p>
            <a:pPr eaLnBrk="1" hangingPunct="1">
              <a:defRPr/>
            </a:pPr>
            <a:r>
              <a:rPr lang="en-US" sz="2400" dirty="0"/>
              <a:t>EVA is also called Variance Analysis</a:t>
            </a:r>
          </a:p>
          <a:p>
            <a:pPr eaLnBrk="1" hangingPunct="1">
              <a:defRPr/>
            </a:pPr>
            <a:r>
              <a:rPr lang="en-US" sz="2400" dirty="0"/>
              <a:t>Metric of project tracking</a:t>
            </a:r>
          </a:p>
          <a:p>
            <a:pPr eaLnBrk="1" hangingPunct="1">
              <a:defRPr/>
            </a:pPr>
            <a:r>
              <a:rPr lang="en-US" sz="2400" dirty="0"/>
              <a:t>“What you got for what you paid”</a:t>
            </a:r>
          </a:p>
          <a:p>
            <a:pPr lvl="1" eaLnBrk="1" hangingPunct="1">
              <a:defRPr/>
            </a:pPr>
            <a:r>
              <a:rPr lang="en-US" sz="2000" dirty="0"/>
              <a:t>Physical progress</a:t>
            </a:r>
          </a:p>
          <a:p>
            <a:pPr eaLnBrk="1" hangingPunct="1">
              <a:defRPr/>
            </a:pPr>
            <a:r>
              <a:rPr lang="en-US" sz="2400" dirty="0"/>
              <a:t>Pre-EVA ‘traditional’ approach</a:t>
            </a:r>
          </a:p>
          <a:p>
            <a:pPr lvl="1" eaLnBrk="1" hangingPunct="1">
              <a:defRPr/>
            </a:pPr>
            <a:r>
              <a:rPr lang="en-US" sz="2000" dirty="0"/>
              <a:t>1. Planned time and costs</a:t>
            </a:r>
          </a:p>
          <a:p>
            <a:pPr lvl="1" eaLnBrk="1" hangingPunct="1">
              <a:defRPr/>
            </a:pPr>
            <a:r>
              <a:rPr lang="en-US" sz="2000" dirty="0"/>
              <a:t>2. Actual time and costs</a:t>
            </a:r>
          </a:p>
          <a:p>
            <a:pPr lvl="1" eaLnBrk="1" hangingPunct="1">
              <a:defRPr/>
            </a:pPr>
            <a:r>
              <a:rPr lang="en-US" sz="2000" dirty="0"/>
              <a:t>Progress: compare planned vs. actual</a:t>
            </a:r>
          </a:p>
          <a:p>
            <a:pPr eaLnBrk="1" hangingPunct="1">
              <a:defRPr/>
            </a:pPr>
            <a:r>
              <a:rPr lang="en-US" sz="2400" dirty="0"/>
              <a:t>EVA adds third dimension: value</a:t>
            </a:r>
          </a:p>
          <a:p>
            <a:pPr lvl="1" eaLnBrk="1" hangingPunct="1">
              <a:defRPr/>
            </a:pPr>
            <a:r>
              <a:rPr lang="en-US" sz="2000" dirty="0"/>
              <a:t>Planned, actual, earned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Rectangle 1026">
            <a:extLst>
              <a:ext uri="{FF2B5EF4-FFF2-40B4-BE49-F238E27FC236}">
                <a16:creationId xmlns:a16="http://schemas.microsoft.com/office/drawing/2014/main" id="{8478C1D2-CA99-4572-9D33-1F68300CA8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>
                <a:latin typeface="Arial" panose="020B0604020202020204" pitchFamily="34" charset="0"/>
                <a:sym typeface="Symbol" panose="05050102010706020507" pitchFamily="18" charset="2"/>
              </a:rPr>
              <a:t>Earned Value Analysis</a:t>
            </a:r>
          </a:p>
        </p:txBody>
      </p:sp>
      <p:sp>
        <p:nvSpPr>
          <p:cNvPr id="17413" name="Rectangle 1027">
            <a:extLst>
              <a:ext uri="{FF2B5EF4-FFF2-40B4-BE49-F238E27FC236}">
                <a16:creationId xmlns:a16="http://schemas.microsoft.com/office/drawing/2014/main" id="{4C68A828-ED8E-484C-9ABF-D7A9E4B16A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If total value of the work accomplished is in balance with the planned (baseline) cost, and actual cost then top </a:t>
            </a:r>
            <a:r>
              <a:rPr lang="en-US" altLang="en-US" sz="2400" dirty="0" err="1">
                <a:sym typeface="Symbol" panose="05050102010706020507" pitchFamily="18" charset="2"/>
              </a:rPr>
              <a:t>mgmt</a:t>
            </a:r>
            <a:r>
              <a:rPr lang="en-US" altLang="en-US" sz="2400" dirty="0">
                <a:sym typeface="Symbol" panose="05050102010706020507" pitchFamily="18" charset="2"/>
              </a:rPr>
              <a:t> has no particular need for a detailed analysis of individual tasks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Old models include cost &amp; expenditure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EVA adds schedule estimation</a:t>
            </a:r>
          </a:p>
          <a:p>
            <a:pPr eaLnBrk="1" hangingPunct="1"/>
            <a:r>
              <a:rPr lang="en-US" altLang="en-US" sz="2400" dirty="0">
                <a:sym typeface="Symbol" panose="05050102010706020507" pitchFamily="18" charset="2"/>
              </a:rPr>
              <a:t>Measured in dollars or hours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ABAD5BD8-CF30-DE28-BF39-52479D93D141}"/>
                  </a:ext>
                </a:extLst>
              </p14:cNvPr>
              <p14:cNvContentPartPr/>
              <p14:nvPr/>
            </p14:nvContentPartPr>
            <p14:xfrm>
              <a:off x="3108446" y="4414269"/>
              <a:ext cx="1796400" cy="80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ABAD5BD8-CF30-DE28-BF39-52479D93D14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0806" y="4396629"/>
                <a:ext cx="1832040" cy="11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F9DDFFD-C70C-9DCB-0E6A-58D7C130060C}"/>
                  </a:ext>
                </a:extLst>
              </p14:cNvPr>
              <p14:cNvContentPartPr/>
              <p14:nvPr/>
            </p14:nvContentPartPr>
            <p14:xfrm>
              <a:off x="4506686" y="3957429"/>
              <a:ext cx="1932120" cy="27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F9DDFFD-C70C-9DCB-0E6A-58D7C130060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489046" y="3939789"/>
                <a:ext cx="1967760" cy="62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2">
            <a:extLst>
              <a:ext uri="{FF2B5EF4-FFF2-40B4-BE49-F238E27FC236}">
                <a16:creationId xmlns:a16="http://schemas.microsoft.com/office/drawing/2014/main" id="{0A64197D-7462-4F4B-9B40-0D5261B19C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Earned Value Analysis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DFDB040D-1694-47F6-AF6D-A0B7AE7569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3657" y="2017713"/>
            <a:ext cx="8541431" cy="4114800"/>
          </a:xfrm>
        </p:spPr>
        <p:txBody>
          <a:bodyPr>
            <a:normAutofit/>
          </a:bodyPr>
          <a:lstStyle/>
          <a:p>
            <a:pPr marL="457200" indent="-457200" algn="just" eaLnBrk="1" fontAlgn="auto" hangingPunct="1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PV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Planned Value,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estimated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value of the planned work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Budgeted Cost</a:t>
            </a:r>
          </a:p>
          <a:p>
            <a:pPr marL="457200" indent="-457200" algn="just" eaLnBrk="1" fontAlgn="auto" hangingPunct="1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Earned Value, </a:t>
            </a:r>
            <a:r>
              <a:rPr lang="en-US" sz="2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estimated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value of work done </a:t>
            </a:r>
            <a:r>
              <a:rPr lang="en-US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Actual work completed</a:t>
            </a:r>
          </a:p>
          <a:p>
            <a:pPr marL="457200" indent="-457200" algn="just" eaLnBrk="1" fontAlgn="auto" hangingPunct="1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Actual Cost, what you paid</a:t>
            </a:r>
          </a:p>
          <a:p>
            <a:pPr marL="457200" indent="-457200" algn="just" eaLnBrk="1" fontAlgn="auto" hangingPunct="1">
              <a:lnSpc>
                <a:spcPct val="120000"/>
              </a:lnSpc>
              <a:spcAft>
                <a:spcPts val="600"/>
              </a:spcAft>
              <a:buFont typeface="+mj-lt"/>
              <a:buAutoNum type="arabicPeriod"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</a:t>
            </a:r>
            <a:r>
              <a: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Budget at Completion, the budget for the total job</a:t>
            </a:r>
          </a:p>
          <a:p>
            <a:pPr lvl="1" eaLnBrk="1" hangingPunct="1">
              <a:lnSpc>
                <a:spcPct val="90000"/>
              </a:lnSpc>
              <a:spcAft>
                <a:spcPts val="600"/>
              </a:spcAft>
              <a:defRPr/>
            </a:pP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67A8C6E-36C5-A178-6C8C-FEBC241D9F10}"/>
                  </a:ext>
                </a:extLst>
              </p14:cNvPr>
              <p14:cNvContentPartPr/>
              <p14:nvPr/>
            </p14:nvContentPartPr>
            <p14:xfrm>
              <a:off x="4036526" y="2532909"/>
              <a:ext cx="3814200" cy="673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67A8C6E-36C5-A178-6C8C-FEBC241D9F1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18526" y="2515269"/>
                <a:ext cx="3849840" cy="10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6522B3-AE9A-3F01-9E6F-71CBCCB854E3}"/>
                  </a:ext>
                </a:extLst>
              </p14:cNvPr>
              <p14:cNvContentPartPr/>
              <p14:nvPr/>
            </p14:nvContentPartPr>
            <p14:xfrm>
              <a:off x="861686" y="5289789"/>
              <a:ext cx="2481120" cy="181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6522B3-AE9A-3F01-9E6F-71CBCCB854E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3686" y="5271789"/>
                <a:ext cx="2516760" cy="21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54CA66F-B0E1-56FE-4713-4821DE550F21}"/>
                  </a:ext>
                </a:extLst>
              </p14:cNvPr>
              <p14:cNvContentPartPr/>
              <p14:nvPr/>
            </p14:nvContentPartPr>
            <p14:xfrm>
              <a:off x="861686" y="4335429"/>
              <a:ext cx="2068200" cy="127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54CA66F-B0E1-56FE-4713-4821DE550F2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43686" y="4317789"/>
                <a:ext cx="2103840" cy="163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5024B138-BBCF-4B86-8673-095ACA468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Derived EVA Variances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7215CDC-B3E7-412E-81F8-B6A839AD1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163286" y="2017713"/>
            <a:ext cx="9118374" cy="4557258"/>
          </a:xfrm>
        </p:spPr>
        <p:txBody>
          <a:bodyPr/>
          <a:lstStyle/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Planned Value (PV)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 Authorized budget assigned to scheduled work for an activity or WBS component. Total PV for the project is also known at Budget At Completion (BAC).</a:t>
            </a:r>
          </a:p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r>
              <a:rPr lang="en-US" sz="22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Earned Value (EV). </a:t>
            </a:r>
            <a:r>
              <a:rPr lang="en-US" sz="2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measure of work performed expressed in terms on the budget authorized for that work. It’s often used to calculate the percent complete of a project.</a:t>
            </a:r>
          </a:p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 startAt="3"/>
              <a:defRPr/>
            </a:pPr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Actual Cost (AC</a:t>
            </a:r>
            <a:r>
              <a:rPr lang="en-US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 It is the total cost incurred in accomplishing the work that the EV measured.  </a:t>
            </a:r>
          </a:p>
          <a:p>
            <a:pPr marL="1097280" lvl="2" indent="-457200" algn="just" eaLnBrk="1" fontAlgn="auto" hangingPunct="1">
              <a:lnSpc>
                <a:spcPct val="100000"/>
              </a:lnSpc>
              <a:buFont typeface="+mj-lt"/>
              <a:buAutoNum type="arabicPeriod" startAt="3"/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097280" lvl="2" indent="-457200" algn="just" eaLnBrk="1" fontAlgn="auto" hangingPunct="1">
              <a:lnSpc>
                <a:spcPct val="100000"/>
              </a:lnSpc>
              <a:buFont typeface="+mj-lt"/>
              <a:buAutoNum type="arabicPeriod"/>
              <a:defRPr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4540C9-EA72-BE52-D84F-4B62CC0D7F31}"/>
                  </a:ext>
                </a:extLst>
              </p14:cNvPr>
              <p14:cNvContentPartPr/>
              <p14:nvPr/>
            </p14:nvContentPartPr>
            <p14:xfrm>
              <a:off x="875006" y="2337069"/>
              <a:ext cx="1879920" cy="5328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4540C9-EA72-BE52-D84F-4B62CC0D7F3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7006" y="2319429"/>
                <a:ext cx="19155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34ADE1F-B823-654C-7E14-7D2628DD3ADD}"/>
                  </a:ext>
                </a:extLst>
              </p14:cNvPr>
              <p14:cNvContentPartPr/>
              <p14:nvPr/>
            </p14:nvContentPartPr>
            <p14:xfrm>
              <a:off x="835766" y="3604629"/>
              <a:ext cx="2271960" cy="118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34ADE1F-B823-654C-7E14-7D2628DD3A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7766" y="3586989"/>
                <a:ext cx="2307600" cy="15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2F61997-D5DC-1598-0119-55C7A4FD58B4}"/>
                  </a:ext>
                </a:extLst>
              </p14:cNvPr>
              <p14:cNvContentPartPr/>
              <p14:nvPr/>
            </p14:nvContentPartPr>
            <p14:xfrm>
              <a:off x="914246" y="4858509"/>
              <a:ext cx="1919520" cy="792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2F61997-D5DC-1598-0119-55C7A4FD58B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96246" y="4840509"/>
                <a:ext cx="1955160" cy="11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335A71E-E152-C489-4726-FD64791DE040}"/>
                  </a:ext>
                </a:extLst>
              </p14:cNvPr>
              <p14:cNvContentPartPr/>
              <p14:nvPr/>
            </p14:nvContentPartPr>
            <p14:xfrm>
              <a:off x="2128526" y="2976789"/>
              <a:ext cx="1985040" cy="669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335A71E-E152-C489-4726-FD64791DE040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110886" y="2959149"/>
                <a:ext cx="2020680" cy="102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Rectangle 2">
            <a:extLst>
              <a:ext uri="{FF2B5EF4-FFF2-40B4-BE49-F238E27FC236}">
                <a16:creationId xmlns:a16="http://schemas.microsoft.com/office/drawing/2014/main" id="{5024B138-BBCF-4B86-8673-095ACA468C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EVA Variances</a:t>
            </a:r>
          </a:p>
        </p:txBody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27215CDC-B3E7-412E-81F8-B6A839AD1F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72142" y="2017713"/>
            <a:ext cx="8682945" cy="4557258"/>
          </a:xfrm>
        </p:spPr>
        <p:txBody>
          <a:bodyPr/>
          <a:lstStyle/>
          <a:p>
            <a:pPr marL="240030" lvl="1" indent="0" algn="just" eaLnBrk="1" fontAlgn="auto" hangingPunct="1">
              <a:lnSpc>
                <a:spcPct val="10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Variances from the approved baseline will also be monitored:</a:t>
            </a:r>
          </a:p>
          <a:p>
            <a:pPr marL="531813" lvl="2" indent="-258763" algn="just" eaLnBrk="1" fontAlgn="auto" hangingPunct="1">
              <a:lnSpc>
                <a:spcPct val="10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Schedule Variance (SV). </a:t>
            </a:r>
          </a:p>
          <a:p>
            <a:pPr marL="273050" lvl="2" indent="0" eaLnBrk="1" fontAlgn="auto" hangingPunct="1">
              <a:lnSpc>
                <a:spcPct val="100000"/>
              </a:lnSpc>
              <a:buFont typeface="Calibri" panose="020F0502020204030204" pitchFamily="34" charset="0"/>
              <a:buNone/>
              <a:defRPr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SV = EV – PV</a:t>
            </a:r>
          </a:p>
          <a:p>
            <a:pPr marL="1097280" lvl="2" indent="-457200" algn="just" eaLnBrk="1" fontAlgn="auto" hangingPunct="1">
              <a:lnSpc>
                <a:spcPct val="100000"/>
              </a:lnSpc>
              <a:buFont typeface="+mj-lt"/>
              <a:buAutoNum type="arabicPeriod" startAt="3"/>
              <a:defRPr/>
            </a:pP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531813" lvl="2" indent="-258763" algn="just" eaLnBrk="1" fontAlgn="auto" hangingPunct="1">
              <a:lnSpc>
                <a:spcPct val="100000"/>
              </a:lnSpc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Cost Variance (CV). </a:t>
            </a:r>
          </a:p>
          <a:p>
            <a:pPr marL="273050" lvl="2" indent="0" eaLnBrk="1" fontAlgn="auto" hangingPunct="1">
              <a:lnSpc>
                <a:spcPct val="100000"/>
              </a:lnSpc>
              <a:buFont typeface="Calibri" panose="020F0502020204030204" pitchFamily="34" charset="0"/>
              <a:buNone/>
              <a:defRPr/>
            </a:pPr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CV = EV – AC</a:t>
            </a:r>
          </a:p>
          <a:p>
            <a:pPr marL="1097280" lvl="2" indent="-457200" algn="just" eaLnBrk="1" fontAlgn="auto" hangingPunct="1">
              <a:lnSpc>
                <a:spcPct val="100000"/>
              </a:lnSpc>
              <a:buFont typeface="+mj-lt"/>
              <a:buAutoNum type="arabicPeriod" startAt="3"/>
              <a:defRPr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908050" lvl="2" indent="-457200" algn="just" eaLnBrk="1" fontAlgn="auto" hangingPunct="1">
              <a:lnSpc>
                <a:spcPct val="100000"/>
              </a:lnSpc>
              <a:spcBef>
                <a:spcPts val="0"/>
              </a:spcBef>
              <a:buFont typeface="+mj-lt"/>
              <a:buAutoNum type="arabicPeriod"/>
              <a:defRPr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1097280" lvl="2" indent="-457200" algn="just" eaLnBrk="1" fontAlgn="auto" hangingPunct="1">
              <a:lnSpc>
                <a:spcPct val="100000"/>
              </a:lnSpc>
              <a:buFont typeface="+mj-lt"/>
              <a:buAutoNum type="arabicPeriod"/>
              <a:defRPr/>
            </a:pPr>
            <a:endParaRPr lang="en-US" sz="2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5906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51E42496-7A0D-49A9-A056-C900AF5A0B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Derived EVA Ratios</a:t>
            </a: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BAC992CB-3D5E-4457-8596-EF02F52203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en-US" dirty="0"/>
              <a:t>SPI: Schedule Performance Index</a:t>
            </a:r>
          </a:p>
          <a:p>
            <a:pPr lvl="3" eaLnBrk="1" hangingPunct="1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EV/PV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CPI: Cost Performance Index</a:t>
            </a:r>
          </a:p>
          <a:p>
            <a:pPr lvl="3" eaLnBrk="1" hangingPunct="1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EV/AC</a:t>
            </a:r>
            <a:endParaRPr lang="en-US" altLang="en-US" dirty="0"/>
          </a:p>
          <a:p>
            <a:pPr lvl="1" eaLnBrk="1" hangingPunct="1"/>
            <a:r>
              <a:rPr lang="en-US" altLang="en-US" dirty="0"/>
              <a:t>Interpretation of Indexes</a:t>
            </a:r>
          </a:p>
        </p:txBody>
      </p:sp>
      <p:pic>
        <p:nvPicPr>
          <p:cNvPr id="20485" name="Picture 6">
            <a:extLst>
              <a:ext uri="{FF2B5EF4-FFF2-40B4-BE49-F238E27FC236}">
                <a16:creationId xmlns:a16="http://schemas.microsoft.com/office/drawing/2014/main" id="{BCA34A21-095A-4087-9B32-0ACE0C29F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724400"/>
            <a:ext cx="8134350" cy="164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245B3-CBED-D37E-3F41-C01CDB54F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Earned Value Formulas</a:t>
            </a:r>
            <a:endParaRPr lang="x-none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8CF4A-3DBD-09FB-7267-D35A19043C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34051" t="36494" r="18275" b="22678"/>
          <a:stretch/>
        </p:blipFill>
        <p:spPr>
          <a:xfrm>
            <a:off x="723013" y="1760538"/>
            <a:ext cx="7868093" cy="4948607"/>
          </a:xfrm>
        </p:spPr>
      </p:pic>
    </p:spTree>
    <p:extLst>
      <p:ext uri="{BB962C8B-B14F-4D97-AF65-F5344CB8AC3E}">
        <p14:creationId xmlns:p14="http://schemas.microsoft.com/office/powerpoint/2010/main" val="39922725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B2A8-0224-3A1A-4FC8-18E6021C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Activity</a:t>
            </a:r>
            <a:endParaRPr lang="x-none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DD2029F-06D3-2FE6-F9BF-19DCF62494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79"/>
          <a:stretch/>
        </p:blipFill>
        <p:spPr bwMode="auto">
          <a:xfrm>
            <a:off x="882502" y="2098675"/>
            <a:ext cx="7058173" cy="19416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808723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6B2A8-0224-3A1A-4FC8-18E6021CE9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Activity</a:t>
            </a:r>
            <a:endParaRPr lang="x-none" dirty="0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DD2029F-06D3-2FE6-F9BF-19DCF62494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502" y="2098675"/>
            <a:ext cx="7058173" cy="395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0013971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D7B0A264-0337-4020-B1BC-66B72A40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EVA Example-1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E56C8B-2BD5-44BC-A3F7-7D868E684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44" y="1996447"/>
            <a:ext cx="8586198" cy="4404352"/>
          </a:xfrm>
        </p:spPr>
        <p:txBody>
          <a:bodyPr/>
          <a:lstStyle/>
          <a:p>
            <a:r>
              <a:rPr lang="en-US" altLang="en-US" sz="2400" dirty="0"/>
              <a:t>You have a project to be completed in 12 months and total cost of project is $100,000. Six months have been passed (and schedule says that 50% of work should be completed). </a:t>
            </a:r>
          </a:p>
          <a:p>
            <a:r>
              <a:rPr lang="en-US" altLang="en-US" sz="2400" dirty="0"/>
              <a:t>Six months have been passed and $60,000 is spent but on closer look you find that only 40% of work is completed so far.</a:t>
            </a:r>
          </a:p>
          <a:p>
            <a:endParaRPr lang="en-US" alt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D7B0A264-0337-4020-B1BC-66B72A40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EVA Example-1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8E56C8B-2BD5-44BC-A3F7-7D868E684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44" y="1996447"/>
            <a:ext cx="8586198" cy="4404352"/>
          </a:xfrm>
        </p:spPr>
        <p:txBody>
          <a:bodyPr/>
          <a:lstStyle/>
          <a:p>
            <a:r>
              <a:rPr lang="en-US" altLang="en-US" sz="2800" dirty="0"/>
              <a:t>Planned Value (</a:t>
            </a:r>
          </a:p>
          <a:p>
            <a:pPr lvl="1"/>
            <a:r>
              <a:rPr lang="en-US" altLang="en-US" sz="2000" dirty="0"/>
              <a:t>Project duration – 12 months</a:t>
            </a:r>
            <a:endParaRPr lang="en-US" altLang="en-US" sz="2000" b="1" dirty="0"/>
          </a:p>
          <a:p>
            <a:pPr lvl="1"/>
            <a:r>
              <a:rPr lang="en-US" altLang="en-US" sz="2000" dirty="0"/>
              <a:t>Project Cost (BAC) = $100,000</a:t>
            </a:r>
          </a:p>
          <a:p>
            <a:pPr lvl="1"/>
            <a:r>
              <a:rPr lang="en-US" altLang="en-US" sz="2000" dirty="0"/>
              <a:t>Percent complete – 50% (as per the schedule)</a:t>
            </a:r>
          </a:p>
          <a:p>
            <a:pPr lvl="1"/>
            <a:r>
              <a:rPr lang="en-US" altLang="en-US" sz="2000" dirty="0"/>
              <a:t>Planned Value = 50% of value of total work</a:t>
            </a:r>
          </a:p>
          <a:p>
            <a:pPr lvl="1"/>
            <a:r>
              <a:rPr lang="en-US" altLang="en-US" sz="2000" dirty="0"/>
              <a:t>= 50% of BAC</a:t>
            </a:r>
          </a:p>
          <a:p>
            <a:pPr lvl="1"/>
            <a:r>
              <a:rPr lang="en-US" altLang="en-US" sz="2000" dirty="0"/>
              <a:t>= 50% of $100,000</a:t>
            </a:r>
          </a:p>
          <a:p>
            <a:pPr lvl="1"/>
            <a:r>
              <a:rPr lang="en-US" altLang="en-US" sz="2000" dirty="0"/>
              <a:t>= (50/100)X $100,000</a:t>
            </a:r>
          </a:p>
          <a:p>
            <a:pPr lvl="1"/>
            <a:r>
              <a:rPr lang="en-US" altLang="en-US" sz="2000" dirty="0"/>
              <a:t>= $50,000</a:t>
            </a:r>
            <a:br>
              <a:rPr lang="en-US" altLang="en-US" sz="4000" dirty="0"/>
            </a:br>
            <a:endParaRPr lang="en-US" altLang="en-US" sz="4000" dirty="0"/>
          </a:p>
          <a:p>
            <a:endParaRPr lang="en-US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875899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1647B9AE-3387-488B-8066-98766E796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EVA Example-1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981DF9-7008-46D7-93F0-2842A9FCF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Earned Value (EV)</a:t>
            </a:r>
          </a:p>
          <a:p>
            <a:pPr>
              <a:defRPr/>
            </a:pPr>
            <a:r>
              <a:rPr lang="en-US" sz="1600" dirty="0"/>
              <a:t>Hence, Earned Value is = 40% of value of total work</a:t>
            </a:r>
          </a:p>
          <a:p>
            <a:pPr>
              <a:defRPr/>
            </a:pPr>
            <a:r>
              <a:rPr lang="en-US" sz="1600" dirty="0"/>
              <a:t>= 40 % of BAC</a:t>
            </a:r>
          </a:p>
          <a:p>
            <a:pPr>
              <a:defRPr/>
            </a:pPr>
            <a:r>
              <a:rPr lang="en-US" sz="1600" dirty="0"/>
              <a:t>= 40% of $100,000</a:t>
            </a:r>
          </a:p>
          <a:p>
            <a:pPr>
              <a:defRPr/>
            </a:pPr>
            <a:r>
              <a:rPr lang="en-US" sz="1600" dirty="0"/>
              <a:t>= 0.4X$100,000</a:t>
            </a:r>
          </a:p>
          <a:p>
            <a:pPr>
              <a:defRPr/>
            </a:pPr>
            <a:r>
              <a:rPr lang="en-US" sz="1600" dirty="0"/>
              <a:t>= $40,000</a:t>
            </a:r>
          </a:p>
          <a:p>
            <a:pPr>
              <a:defRPr/>
            </a:pPr>
            <a:r>
              <a:rPr lang="en-US" sz="1600" b="1" dirty="0"/>
              <a:t> </a:t>
            </a:r>
            <a:r>
              <a:rPr lang="en-US" sz="1600" dirty="0"/>
              <a:t>Therefore, Earned Value (EV) is $40,000</a:t>
            </a:r>
            <a:endParaRPr lang="en-US" sz="4000" dirty="0"/>
          </a:p>
          <a:p>
            <a:pPr>
              <a:defRPr/>
            </a:pPr>
            <a:r>
              <a:rPr lang="en-US" sz="2800" dirty="0"/>
              <a:t>Actual Cost (AC)</a:t>
            </a:r>
            <a:br>
              <a:rPr lang="en-US" sz="4000" dirty="0"/>
            </a:br>
            <a:r>
              <a:rPr lang="en-US" sz="2000" dirty="0"/>
              <a:t>And in our question, you have spent $60,000 on the project so far.</a:t>
            </a:r>
          </a:p>
          <a:p>
            <a:pPr>
              <a:defRPr/>
            </a:pPr>
            <a:r>
              <a:rPr lang="en-US" sz="2000" dirty="0"/>
              <a:t>Hence, Actual Cost is $60,000</a:t>
            </a:r>
          </a:p>
          <a:p>
            <a:pPr marL="342900" lvl="3" indent="-342900">
              <a:buClr>
                <a:schemeClr val="folHlink"/>
              </a:buClr>
              <a:buSzPct val="60000"/>
              <a:defRPr/>
            </a:pPr>
            <a:r>
              <a:rPr lang="en-US" sz="2800" dirty="0">
                <a:ea typeface="+mn-ea"/>
                <a:cs typeface="+mn-cs"/>
              </a:rPr>
              <a:t>Calculate CV, SV, SPI  and CPI?</a:t>
            </a:r>
          </a:p>
          <a:p>
            <a:pPr>
              <a:defRPr/>
            </a:pPr>
            <a:endParaRPr lang="en-US" sz="2000" dirty="0"/>
          </a:p>
          <a:p>
            <a:pPr>
              <a:defRPr/>
            </a:pPr>
            <a:endParaRPr lang="en-US" sz="4000" dirty="0"/>
          </a:p>
          <a:p>
            <a:pPr>
              <a:defRPr/>
            </a:pP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>
            <a:extLst>
              <a:ext uri="{FF2B5EF4-FFF2-40B4-BE49-F238E27FC236}">
                <a16:creationId xmlns:a16="http://schemas.microsoft.com/office/drawing/2014/main" id="{CE9A8F50-ED87-44EA-8161-86D81C5B1E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Earned Value Analysis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C4835DEB-8CCD-4720-9AF9-9315CC9D88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Benefits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Consistent unit of measure for total progress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Consistent methodology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Across cost and completed activity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000"/>
              <a:t>Apples and apples comparisons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Ability to forecast cost &amp; schedule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Can provide warnings early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Success factors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A full WBS is required (all scope)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FB63F-993E-AACA-1B63-0CE3A0A0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Critical Ratio</a:t>
            </a:r>
            <a:endParaRPr lang="x-non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C6A73-A9BD-65D4-B062-F0D29A343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CR: Critical Ratio </a:t>
            </a:r>
          </a:p>
          <a:p>
            <a:r>
              <a:rPr lang="en-US" dirty="0"/>
              <a:t>CR = SPI x CPI </a:t>
            </a:r>
          </a:p>
          <a:p>
            <a:r>
              <a:rPr lang="en-US" dirty="0"/>
              <a:t>1: everything on track</a:t>
            </a:r>
          </a:p>
          <a:p>
            <a:r>
              <a:rPr lang="en-US" dirty="0"/>
              <a:t>&gt; .9 and &lt; 1.2 ok</a:t>
            </a:r>
            <a:endParaRPr lang="x-none" dirty="0"/>
          </a:p>
        </p:txBody>
      </p:sp>
    </p:spTree>
    <p:extLst>
      <p:ext uri="{BB962C8B-B14F-4D97-AF65-F5344CB8AC3E}">
        <p14:creationId xmlns:p14="http://schemas.microsoft.com/office/powerpoint/2010/main" val="18320967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A8549DB7-C8F7-4842-AC43-165A0156F1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13" y="558800"/>
            <a:ext cx="7772400" cy="1143000"/>
          </a:xfrm>
        </p:spPr>
        <p:txBody>
          <a:bodyPr/>
          <a:lstStyle/>
          <a:p>
            <a:pPr eaLnBrk="1" hangingPunct="1"/>
            <a:r>
              <a:rPr lang="en-GB" altLang="en-US" b="1" dirty="0"/>
              <a:t>Prioritizing monitoring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42B7DF8A-DF32-4089-B40C-496ED05F86C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798955"/>
            <a:ext cx="8229600" cy="49291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GB" altLang="en-US" dirty="0"/>
              <a:t>We might focus more on monitoring certain types of activity e.g.</a:t>
            </a:r>
          </a:p>
          <a:p>
            <a:pPr eaLnBrk="1" hangingPunct="1"/>
            <a:r>
              <a:rPr lang="en-GB" altLang="en-US" dirty="0"/>
              <a:t>Critical path activities </a:t>
            </a:r>
          </a:p>
          <a:p>
            <a:pPr eaLnBrk="1" hangingPunct="1"/>
            <a:r>
              <a:rPr lang="en-GB" altLang="en-US" dirty="0"/>
              <a:t>Activities with no free float – if delayed later dependent activities are delayed</a:t>
            </a:r>
          </a:p>
          <a:p>
            <a:pPr eaLnBrk="1" hangingPunct="1"/>
            <a:r>
              <a:rPr lang="en-GB" altLang="en-US" dirty="0"/>
              <a:t>Activities with less than a specified float</a:t>
            </a:r>
          </a:p>
          <a:p>
            <a:pPr eaLnBrk="1" hangingPunct="1"/>
            <a:r>
              <a:rPr lang="en-GB" altLang="en-US" dirty="0"/>
              <a:t>High risk activities</a:t>
            </a:r>
          </a:p>
          <a:p>
            <a:pPr eaLnBrk="1" hangingPunct="1"/>
            <a:r>
              <a:rPr lang="en-GB" altLang="en-US" dirty="0"/>
              <a:t>Activities using critical resources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C81161A2-F208-4AF5-9AB9-D12ED8877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353425" cy="1143000"/>
          </a:xfrm>
        </p:spPr>
        <p:txBody>
          <a:bodyPr/>
          <a:lstStyle/>
          <a:p>
            <a:pPr eaLnBrk="1" hangingPunct="1"/>
            <a:r>
              <a:rPr lang="en-GB" altLang="en-US" sz="4000" b="1"/>
              <a:t>Getting back on track: options</a:t>
            </a: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BE3DC7B5-74DC-4438-A6AA-FE0BD06F97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1557338"/>
            <a:ext cx="7772400" cy="4114800"/>
          </a:xfrm>
        </p:spPr>
        <p:txBody>
          <a:bodyPr/>
          <a:lstStyle/>
          <a:p>
            <a:pPr eaLnBrk="1" hangingPunct="1"/>
            <a:r>
              <a:rPr lang="en-GB" altLang="en-US" sz="2800" dirty="0"/>
              <a:t>Renegotiate the deadline – if not possible then</a:t>
            </a:r>
          </a:p>
          <a:p>
            <a:pPr eaLnBrk="1" hangingPunct="1"/>
            <a:r>
              <a:rPr lang="en-GB" altLang="en-US" sz="2800" dirty="0"/>
              <a:t>Try to shorten critical path e.g.</a:t>
            </a:r>
          </a:p>
          <a:p>
            <a:pPr lvl="1" eaLnBrk="1" hangingPunct="1"/>
            <a:r>
              <a:rPr lang="en-GB" altLang="en-US" sz="2400" dirty="0"/>
              <a:t>Work overtime</a:t>
            </a:r>
          </a:p>
          <a:p>
            <a:pPr lvl="1" eaLnBrk="1" hangingPunct="1"/>
            <a:r>
              <a:rPr lang="en-GB" altLang="en-US" sz="2400" dirty="0"/>
              <a:t>Re-allocate staff from less pressing work</a:t>
            </a:r>
          </a:p>
          <a:p>
            <a:pPr lvl="1" eaLnBrk="1" hangingPunct="1"/>
            <a:r>
              <a:rPr lang="en-GB" altLang="en-US" sz="2400" dirty="0"/>
              <a:t>Buy in more staff </a:t>
            </a:r>
          </a:p>
          <a:p>
            <a:pPr eaLnBrk="1" hangingPunct="1"/>
            <a:r>
              <a:rPr lang="en-GB" altLang="en-US" sz="2800" dirty="0"/>
              <a:t>Reconsider activity dependencies</a:t>
            </a:r>
          </a:p>
          <a:p>
            <a:pPr lvl="1" eaLnBrk="1" hangingPunct="1"/>
            <a:r>
              <a:rPr lang="en-GB" altLang="en-US" sz="2400" dirty="0"/>
              <a:t>Over-lap the activities so that the start of one activity does not have to wait for completion of another</a:t>
            </a:r>
          </a:p>
          <a:p>
            <a:pPr lvl="1" eaLnBrk="1" hangingPunct="1"/>
            <a:r>
              <a:rPr lang="en-GB" altLang="en-US" sz="2400" dirty="0"/>
              <a:t>Split activities</a:t>
            </a:r>
          </a:p>
          <a:p>
            <a:pPr lvl="2" eaLnBrk="1" hangingPunct="1">
              <a:buFontTx/>
              <a:buNone/>
            </a:pPr>
            <a:endParaRPr lang="en-GB" altLang="en-US" sz="20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6CCC161-35E3-75AE-E108-BC1102A97A0F}"/>
                  </a:ext>
                </a:extLst>
              </p14:cNvPr>
              <p14:cNvContentPartPr/>
              <p14:nvPr/>
            </p14:nvContentPartPr>
            <p14:xfrm>
              <a:off x="1580606" y="3395829"/>
              <a:ext cx="1579680" cy="270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6CCC161-35E3-75AE-E108-BC1102A97A0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62966" y="3378189"/>
                <a:ext cx="1615320" cy="6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B9A7880-2710-C532-48F8-8FC2C3B5E546}"/>
                  </a:ext>
                </a:extLst>
              </p14:cNvPr>
              <p14:cNvContentPartPr/>
              <p14:nvPr/>
            </p14:nvContentPartPr>
            <p14:xfrm>
              <a:off x="1671686" y="3878229"/>
              <a:ext cx="1083600" cy="288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B9A7880-2710-C532-48F8-8FC2C3B5E546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54046" y="3860589"/>
                <a:ext cx="1119240" cy="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77FAF61-9059-ED76-558E-823AAFE54001}"/>
                  </a:ext>
                </a:extLst>
              </p14:cNvPr>
              <p14:cNvContentPartPr/>
              <p14:nvPr/>
            </p14:nvContentPartPr>
            <p14:xfrm>
              <a:off x="1658366" y="4336509"/>
              <a:ext cx="1895760" cy="40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77FAF61-9059-ED76-558E-823AAFE540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640726" y="4318869"/>
                <a:ext cx="1931400" cy="75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B93CCF1B-A00F-4161-BAD5-C904DE1672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8893175" cy="1143000"/>
          </a:xfrm>
        </p:spPr>
        <p:txBody>
          <a:bodyPr/>
          <a:lstStyle/>
          <a:p>
            <a:pPr eaLnBrk="1" hangingPunct="1"/>
            <a:r>
              <a:rPr lang="en-GB" altLang="en-US" b="1"/>
              <a:t>Typical change control process</a:t>
            </a:r>
          </a:p>
        </p:txBody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20B17DDA-63D7-4520-AA7A-766B6BC8EC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7772400" cy="4114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GB" altLang="en-US" sz="2800"/>
              <a:t>One or more users might perceive the need for a change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GB" altLang="en-US" sz="2800"/>
              <a:t>User management decide that the change is valid and worthwhile and pass it to development management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GB" altLang="en-US" sz="2800"/>
              <a:t>A developer is assigned to assess the practicality and cost of making the change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/>
            </a:pPr>
            <a:r>
              <a:rPr lang="en-GB" altLang="en-US" sz="2800"/>
              <a:t>Development management report back to user management on the cost of the change; user management decide whether to go ahead</a:t>
            </a:r>
          </a:p>
          <a:p>
            <a:pPr marL="609600" indent="-609600" eaLnBrk="1" hangingPunct="1">
              <a:lnSpc>
                <a:spcPct val="90000"/>
              </a:lnSpc>
              <a:buFontTx/>
              <a:buNone/>
            </a:pPr>
            <a:endParaRPr lang="en-GB" altLang="en-US" sz="280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0A632A5-B9A9-E71C-F8AC-288742B0E8EE}"/>
                  </a:ext>
                </a:extLst>
              </p14:cNvPr>
              <p14:cNvContentPartPr/>
              <p14:nvPr/>
            </p14:nvContentPartPr>
            <p14:xfrm>
              <a:off x="1371086" y="2794629"/>
              <a:ext cx="2541240" cy="709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0A632A5-B9A9-E71C-F8AC-288742B0E8E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3086" y="2776989"/>
                <a:ext cx="25768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2BE4727-81CB-70A2-ECF2-CE865160082A}"/>
                  </a:ext>
                </a:extLst>
              </p14:cNvPr>
              <p14:cNvContentPartPr/>
              <p14:nvPr/>
            </p14:nvContentPartPr>
            <p14:xfrm>
              <a:off x="1410326" y="4858509"/>
              <a:ext cx="4048560" cy="1710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2BE4727-81CB-70A2-ECF2-CE865160082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392326" y="4840509"/>
                <a:ext cx="4084200" cy="206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EFCB33CB-7BB8-48ED-8B91-D9C41DCBAB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9750" y="260350"/>
            <a:ext cx="8062913" cy="1143000"/>
          </a:xfrm>
        </p:spPr>
        <p:txBody>
          <a:bodyPr/>
          <a:lstStyle/>
          <a:p>
            <a:pPr eaLnBrk="1" hangingPunct="1"/>
            <a:r>
              <a:rPr lang="en-GB" altLang="en-US" sz="4000" b="1"/>
              <a:t>Change control process contd.</a:t>
            </a: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80EB5583-49D2-4572-8E7A-148283B199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23850" y="1557338"/>
            <a:ext cx="8351838" cy="41148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AutoNum type="arabicPeriod" startAt="5"/>
            </a:pPr>
            <a:r>
              <a:rPr lang="en-GB" altLang="en-US" dirty="0"/>
              <a:t>One or more developers are authorized to make copies of components to be modified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5"/>
            </a:pPr>
            <a:r>
              <a:rPr lang="en-GB" altLang="en-US" dirty="0"/>
              <a:t>Copies modified. After initial testing, a test version might be released to users for acceptance testing</a:t>
            </a:r>
          </a:p>
          <a:p>
            <a:pPr marL="609600" indent="-609600" eaLnBrk="1" hangingPunct="1">
              <a:lnSpc>
                <a:spcPct val="90000"/>
              </a:lnSpc>
              <a:buFontTx/>
              <a:buAutoNum type="arabicPeriod" startAt="5"/>
            </a:pPr>
            <a:r>
              <a:rPr lang="en-GB" altLang="en-US" dirty="0"/>
              <a:t>When users are satisfied then operational release authorized – master configuration items updated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9A6F5163-78F4-8A63-DFEB-3558CA5A806F}"/>
                  </a:ext>
                </a:extLst>
              </p14:cNvPr>
              <p14:cNvContentPartPr/>
              <p14:nvPr/>
            </p14:nvContentPartPr>
            <p14:xfrm>
              <a:off x="2220686" y="2428509"/>
              <a:ext cx="2886480" cy="1188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9A6F5163-78F4-8A63-DFEB-3558CA5A806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2686" y="2410509"/>
                <a:ext cx="2922120" cy="15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0C19B8C-5D14-B79D-2CB4-3F3BC37CA24F}"/>
                  </a:ext>
                </a:extLst>
              </p14:cNvPr>
              <p14:cNvContentPartPr/>
              <p14:nvPr/>
            </p14:nvContentPartPr>
            <p14:xfrm>
              <a:off x="1057886" y="3500229"/>
              <a:ext cx="1567080" cy="277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0C19B8C-5D14-B79D-2CB4-3F3BC37CA24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39886" y="3482229"/>
                <a:ext cx="16027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CF1E51C-6EC9-250E-4688-8F8AF6BD467C}"/>
                  </a:ext>
                </a:extLst>
              </p14:cNvPr>
              <p14:cNvContentPartPr/>
              <p14:nvPr/>
            </p14:nvContentPartPr>
            <p14:xfrm>
              <a:off x="5198966" y="5394189"/>
              <a:ext cx="3400560" cy="105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CF1E51C-6EC9-250E-4688-8F8AF6BD467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181326" y="5376189"/>
                <a:ext cx="3436200" cy="14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4276</TotalTime>
  <Words>1992</Words>
  <Application>Microsoft Office PowerPoint</Application>
  <PresentationFormat>On-screen Show (4:3)</PresentationFormat>
  <Paragraphs>276</Paragraphs>
  <Slides>37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Calibri</vt:lpstr>
      <vt:lpstr>Calibri Light</vt:lpstr>
      <vt:lpstr>Söhne</vt:lpstr>
      <vt:lpstr>Symbol</vt:lpstr>
      <vt:lpstr>Tahoma</vt:lpstr>
      <vt:lpstr>Times New Roman</vt:lpstr>
      <vt:lpstr>Wingdings</vt:lpstr>
      <vt:lpstr>Office Theme</vt:lpstr>
      <vt:lpstr>Blends</vt:lpstr>
      <vt:lpstr>FUNDAMENTALS OF SOFTWARE PROJECT MANAGEMENT    Project Monitoring and Control </vt:lpstr>
      <vt:lpstr>Project Management Process Groups</vt:lpstr>
      <vt:lpstr> Project Monitoring and Control</vt:lpstr>
      <vt:lpstr>Why do we monitor?</vt:lpstr>
      <vt:lpstr>Project Control</vt:lpstr>
      <vt:lpstr>Project Control</vt:lpstr>
      <vt:lpstr>Progress Monitoring</vt:lpstr>
      <vt:lpstr>Progress Monitoring</vt:lpstr>
      <vt:lpstr>Status Reports</vt:lpstr>
      <vt:lpstr>Traffic Light Assessment (RAG Reporting)</vt:lpstr>
      <vt:lpstr>Traffic Light Assessment (RAG Reporting)</vt:lpstr>
      <vt:lpstr>Project Control Cycle</vt:lpstr>
      <vt:lpstr>Project Control Cycle</vt:lpstr>
      <vt:lpstr>Project Control</vt:lpstr>
      <vt:lpstr>Techniques for monitoring and control</vt:lpstr>
      <vt:lpstr>PowerPoint Presentation</vt:lpstr>
      <vt:lpstr>PowerPoint Presentation</vt:lpstr>
      <vt:lpstr>PowerPoint Presentation</vt:lpstr>
      <vt:lpstr>PowerPoint Presentation</vt:lpstr>
      <vt:lpstr>Earned Value Analysis (EVA)</vt:lpstr>
      <vt:lpstr>Earned Value Analysis</vt:lpstr>
      <vt:lpstr>Earned Value Analysis</vt:lpstr>
      <vt:lpstr>Derived EVA Variances</vt:lpstr>
      <vt:lpstr>EVA Variances</vt:lpstr>
      <vt:lpstr>Derived EVA Ratios</vt:lpstr>
      <vt:lpstr>Earned Value Formulas</vt:lpstr>
      <vt:lpstr>Activity</vt:lpstr>
      <vt:lpstr>Activity</vt:lpstr>
      <vt:lpstr>EVA Example-1</vt:lpstr>
      <vt:lpstr>EVA Example-1</vt:lpstr>
      <vt:lpstr>EVA Example-1</vt:lpstr>
      <vt:lpstr>Earned Value Analysis</vt:lpstr>
      <vt:lpstr>Critical Ratio</vt:lpstr>
      <vt:lpstr>Prioritizing monitoring</vt:lpstr>
      <vt:lpstr>Getting back on track: options</vt:lpstr>
      <vt:lpstr>Typical change control process</vt:lpstr>
      <vt:lpstr>Change control process contd.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Design and Analysis</dc:title>
  <dc:creator>Muhammad Mr.. Bilal</dc:creator>
  <cp:lastModifiedBy>Imama Kainat</cp:lastModifiedBy>
  <cp:revision>391</cp:revision>
  <dcterms:created xsi:type="dcterms:W3CDTF">2021-08-26T07:43:58Z</dcterms:created>
  <dcterms:modified xsi:type="dcterms:W3CDTF">2025-12-23T05:13:26Z</dcterms:modified>
</cp:coreProperties>
</file>