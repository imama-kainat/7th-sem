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handoutMasterIdLst>
    <p:handoutMasterId r:id="rId84"/>
  </p:handoutMasterIdLst>
  <p:sldIdLst>
    <p:sldId id="295" r:id="rId2"/>
    <p:sldId id="271" r:id="rId3"/>
    <p:sldId id="374" r:id="rId4"/>
    <p:sldId id="395" r:id="rId5"/>
    <p:sldId id="360" r:id="rId6"/>
    <p:sldId id="349" r:id="rId7"/>
    <p:sldId id="326" r:id="rId8"/>
    <p:sldId id="391" r:id="rId9"/>
    <p:sldId id="289" r:id="rId10"/>
    <p:sldId id="823" r:id="rId11"/>
    <p:sldId id="824" r:id="rId12"/>
    <p:sldId id="825" r:id="rId13"/>
    <p:sldId id="826" r:id="rId14"/>
    <p:sldId id="827" r:id="rId15"/>
    <p:sldId id="828" r:id="rId16"/>
    <p:sldId id="829" r:id="rId17"/>
    <p:sldId id="879" r:id="rId18"/>
    <p:sldId id="366" r:id="rId19"/>
    <p:sldId id="378" r:id="rId20"/>
    <p:sldId id="899" r:id="rId21"/>
    <p:sldId id="900" r:id="rId22"/>
    <p:sldId id="342" r:id="rId23"/>
    <p:sldId id="279" r:id="rId24"/>
    <p:sldId id="280" r:id="rId25"/>
    <p:sldId id="260" r:id="rId26"/>
    <p:sldId id="882" r:id="rId27"/>
    <p:sldId id="261" r:id="rId28"/>
    <p:sldId id="834" r:id="rId29"/>
    <p:sldId id="835" r:id="rId30"/>
    <p:sldId id="836" r:id="rId31"/>
    <p:sldId id="837" r:id="rId32"/>
    <p:sldId id="379" r:id="rId33"/>
    <p:sldId id="842" r:id="rId34"/>
    <p:sldId id="381" r:id="rId35"/>
    <p:sldId id="846" r:id="rId36"/>
    <p:sldId id="883" r:id="rId37"/>
    <p:sldId id="884" r:id="rId38"/>
    <p:sldId id="283" r:id="rId39"/>
    <p:sldId id="284" r:id="rId40"/>
    <p:sldId id="897" r:id="rId41"/>
    <p:sldId id="898" r:id="rId42"/>
    <p:sldId id="853" r:id="rId43"/>
    <p:sldId id="854" r:id="rId44"/>
    <p:sldId id="855" r:id="rId45"/>
    <p:sldId id="856" r:id="rId46"/>
    <p:sldId id="858" r:id="rId47"/>
    <p:sldId id="859" r:id="rId48"/>
    <p:sldId id="860" r:id="rId49"/>
    <p:sldId id="862" r:id="rId50"/>
    <p:sldId id="863" r:id="rId51"/>
    <p:sldId id="868" r:id="rId52"/>
    <p:sldId id="869" r:id="rId53"/>
    <p:sldId id="870" r:id="rId54"/>
    <p:sldId id="871" r:id="rId55"/>
    <p:sldId id="872" r:id="rId56"/>
    <p:sldId id="873" r:id="rId57"/>
    <p:sldId id="874" r:id="rId58"/>
    <p:sldId id="878" r:id="rId59"/>
    <p:sldId id="294" r:id="rId60"/>
    <p:sldId id="368" r:id="rId61"/>
    <p:sldId id="885" r:id="rId62"/>
    <p:sldId id="887" r:id="rId63"/>
    <p:sldId id="888" r:id="rId64"/>
    <p:sldId id="889" r:id="rId65"/>
    <p:sldId id="890" r:id="rId66"/>
    <p:sldId id="891" r:id="rId67"/>
    <p:sldId id="892" r:id="rId68"/>
    <p:sldId id="893" r:id="rId69"/>
    <p:sldId id="894" r:id="rId70"/>
    <p:sldId id="895" r:id="rId71"/>
    <p:sldId id="896" r:id="rId72"/>
    <p:sldId id="373" r:id="rId73"/>
    <p:sldId id="327" r:id="rId74"/>
    <p:sldId id="393" r:id="rId75"/>
    <p:sldId id="328" r:id="rId76"/>
    <p:sldId id="329" r:id="rId77"/>
    <p:sldId id="357" r:id="rId78"/>
    <p:sldId id="367" r:id="rId79"/>
    <p:sldId id="875" r:id="rId80"/>
    <p:sldId id="876" r:id="rId81"/>
    <p:sldId id="877" r:id="rId8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93557" autoAdjust="0"/>
  </p:normalViewPr>
  <p:slideViewPr>
    <p:cSldViewPr snapToGrid="0">
      <p:cViewPr varScale="1">
        <p:scale>
          <a:sx n="69" d="100"/>
          <a:sy n="69" d="100"/>
        </p:scale>
        <p:origin x="-1272" y="624"/>
      </p:cViewPr>
      <p:guideLst>
        <p:guide orient="horz" pos="2160"/>
        <p:guide pos="288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 Id="rId4"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10/20/2025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49:11.537"/>
    </inkml:context>
    <inkml:brush xml:id="br0">
      <inkml:brushProperty name="width" value="0.025" units="cm"/>
      <inkml:brushProperty name="height" value="0.025" units="cm"/>
    </inkml:brush>
  </inkml:definitions>
  <inkml:trace contextRef="#ctx0" brushRef="#br0">2 1 24575,'-1'100'0,"3"111"0,2-179 0,1 0 0,2-1 0,20 58 0,-18-75 0,-5-13 0,-5-9 0,-7-29 101,1-1-1,-3-70 0,10-80-522,1 87-822,-1 75-5582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49:13.198"/>
    </inkml:context>
    <inkml:brush xml:id="br0">
      <inkml:brushProperty name="width" value="0.025" units="cm"/>
      <inkml:brushProperty name="height" value="0.025"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33.629"/>
    </inkml:context>
    <inkml:brush xml:id="br0">
      <inkml:brushProperty name="width" value="0.025" units="cm"/>
      <inkml:brushProperty name="height" value="0.025" units="cm"/>
      <inkml:brushProperty name="color" value="#E71224"/>
    </inkml:brush>
  </inkml:definitions>
  <inkml:trace contextRef="#ctx0" brushRef="#br0">288 2 24575,'-68'-2'0,"-80"4"0,145-1 0,0-1 0,0 1 0,0 0 0,-1 0 0,1 0 0,0 0 0,0 1 0,0-1 0,0 1 0,1-1 0,-1 1 0,0 0 0,1 0 0,-1 0 0,1 1 0,0-1 0,-1 1 0,1-1 0,0 1 0,1 0 0,-1 0 0,0 0 0,1-1 0,0 2 0,-2 3 0,1-2 0,1 1 0,0-1 0,0 1 0,0-1 0,1 1 0,-1 0 0,1-1 0,1 1 0,-1 0 0,1-1 0,0 1 0,0-1 0,0 1 0,4 6 0,0-4 0,0 0 0,1-1 0,0 1 0,0-1 0,1-1 0,-1 1 0,2-1 0,-1 0 0,15 9 0,17 15 0,-24-17 0,-5-3 0,0-1 0,0 0 0,0-1 0,1 0 0,19 9 0,-27-15 0,0-1 0,0 0 0,0 0 0,1 0 0,-1-1 0,0 1 0,0-1 0,1 1 0,-1-1 0,0 0 0,0-1 0,1 1 0,-1 0 0,0-1 0,0 0 0,1 0 0,-1 0 0,0 0 0,0 0 0,0-1 0,0 1 0,-1-1 0,1 0 0,0 1 0,-1-2 0,1 1 0,-1 0 0,3-3 0,2-2 0,-1 1 0,0-2 0,0 1 0,-1-1 0,0 1 0,0-1 0,-1-1 0,0 1 0,0-1 0,-1 1 0,0-1 0,-1 0 0,0 0 0,2-18 0,-4 20 0,0 0 0,-1 1 0,1-1 0,-2 1 0,1-1 0,0 1 0,-1-1 0,0 1 0,-1 0 0,1 0 0,-1 0 0,-1 0 0,1 1 0,-1-1 0,0 1 0,0 0 0,0 0 0,-1 0 0,0 0 0,0 1 0,-8-6 0,-12-6-1365,1 5-5461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37.935"/>
    </inkml:context>
    <inkml:brush xml:id="br0">
      <inkml:brushProperty name="width" value="0.025" units="cm"/>
      <inkml:brushProperty name="height" value="0.025" units="cm"/>
      <inkml:brushProperty name="color" value="#E71224"/>
    </inkml:brush>
  </inkml:definitions>
  <inkml:trace contextRef="#ctx0" brushRef="#br0">29 0 24575,'2'0'0,"0"1"0,0-1 0,1 1 0,-1-1 0,0 1 0,0 0 0,0 0 0,0 0 0,0 0 0,0 0 0,0 1 0,0-1 0,-1 0 0,1 1 0,0 0 0,-1-1 0,1 1 0,-1 0 0,1 0 0,-1 0 0,0 0 0,0 0 0,1 3 0,2 3 0,-1 0 0,0 0 0,-1 0 0,0 0 0,1 9 0,0-1 0,-2 1 0,0-1 0,-1 19 0,-1-28 0,0 0 0,0 1 0,0-1 0,-1 0 0,0-1 0,-1 1 0,1 0 0,-1 0 0,-7 9 0,0 2 0,-14 31 0,6-12 0,10-26 0,2-12 0,6 0 0,0 0 0,-1 1 0,1-1 0,0 0 0,0 0 0,0 0 0,-1 0 0,1 0 0,0 1 0,0-1 0,0 0 0,1 0 0,-1 0 0,0 0 0,0 0 0,0 1 0,1-1 0,-1 0 0,0 0 0,1 0 0,0-1 0,2-3 0,0 0 0,1 1 0,-1-1 0,1 0 0,0 1 0,0 0 0,1 0 0,-1 0 0,1 1 0,0-1 0,0 1 0,0 0 0,0 1 0,1-1 0,-1 1 0,1 0 0,-1 1 0,11-3 0,8 1 0,-1 0 0,1 2 0,32 2 0,-38-1 0,-5 0-455,0 1 0,23 5 0,-9 1-6371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40.213"/>
    </inkml:context>
    <inkml:brush xml:id="br0">
      <inkml:brushProperty name="width" value="0.025" units="cm"/>
      <inkml:brushProperty name="height" value="0.025" units="cm"/>
      <inkml:brushProperty name="color" value="#E71224"/>
    </inkml:brush>
  </inkml:definitions>
  <inkml:trace contextRef="#ctx0" brushRef="#br0">0 27 24575,'6'-5'0,"6"-2"0,7 1 0,5 1 0,-1 1-8191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45.129"/>
    </inkml:context>
    <inkml:brush xml:id="br0">
      <inkml:brushProperty name="width" value="0.025" units="cm"/>
      <inkml:brushProperty name="height" value="0.025" units="cm"/>
      <inkml:brushProperty name="color" value="#E71224"/>
    </inkml:brush>
  </inkml:definitions>
  <inkml:trace contextRef="#ctx0" brushRef="#br0">78 64 24575,'6'-5'0,"0"0"0,1 1 0,0 0 0,0 1 0,0-1 0,11-3 0,1 0 0,-6 1 0,0 2 0,0 0 0,0 1 0,1 0 0,26-2 0,73 5 0,-68 1 0,-38-1 0,-1 1 0,0-1 0,1 1 0,-1 0 0,0 0 0,0 1 0,12 4 0,-16-5 0,-1 0 0,1 0 0,0 0 0,0 0 0,-1 1 0,1-1 0,0 1 0,-1-1 0,0 1 0,1-1 0,-1 1 0,0 0 0,0 0 0,0 0 0,0 0 0,0 0 0,0 0 0,0 0 0,-1 0 0,1 0 0,-1 0 0,0 0 0,1 0 0,-1 0 0,0 1 0,0-1 0,-1 2 0,1 2 0,-1-1 0,0 1 0,0-1 0,-1 1 0,1-1 0,-1 1 0,0-1 0,-1 0 0,1 0 0,-1 0 0,0 0 0,-4 4 0,-4 4 0,-1 0 0,-21 17 0,-4 4 0,21-17 0,-1-1 0,-34 25 0,40-34 0,0-1 0,0 0 0,0 0 0,-1-1 0,0-1 0,-22 6 0,22-7 0,8-2 0,-1 0 0,0 0 0,0 0 0,0 0 0,-8-1 0,13 0 0,0 0 0,0 0 0,0 0 0,1 0 0,-1 0 0,0 0 0,0 0 0,1-1 0,-1 1 0,0 0 0,0 0 0,0 0 0,0 0 0,1-1 0,-1 1 0,0 0 0,0 0 0,0 0 0,0-1 0,0 1 0,0 0 0,0 0 0,1-1 0,-1 1 0,0 0 0,0 0 0,0-1 0,0 1 0,0 0 0,0 0 0,0-1 0,0 1 0,0 0 0,0 0 0,0-1 0,0 1 0,-1 0 0,1 0 0,0 0 0,0-1 0,0 1 0,0 0 0,0 0 0,0-1 0,-1 1 0,1 0 0,0 0 0,0 0 0,0 0 0,0-1 0,-1 1 0,1 0 0,0 0 0,0 0 0,-1 0 0,1 0 0,0 0 0,0 0 0,0-1 0,-1 1 0,1 0 0,0 0 0,0 0 0,-1 0 0,1 0 0,18-11 0,-3 6 0,0 1 0,0 0 0,1 1 0,-1 1 0,19-1 0,84 4 0,-63 0 0,-47-1 0,-1 1 0,1-1 0,0 1 0,-1 0 0,1 1 0,-1 0 0,0 0 0,1 0 0,9 6 0,-14-6 0,0 0 0,0 0 0,-1 0 0,1 0 0,-1 0 0,1 1 0,-1 0 0,0-1 0,0 1 0,0 0 0,0 0 0,-1 0 0,1 0 0,-1 0 0,0 0 0,1 0 0,-1 1 0,-1-1 0,1 0 0,-1 1 0,1-1 0,-1 0 0,0 5 0,0-3 0,0 0 0,-1 0 0,1-1 0,-1 1 0,0-1 0,-1 1 0,1-1 0,-1 1 0,0-1 0,0 1 0,0-1 0,0 0 0,-4 5 0,0-3 0,1 0 0,-1 0 0,0 0 0,-1-1 0,1 0 0,-15 8 0,-3 0 0,-1-1 0,-1-2 0,-38 10 0,64-20 0,-21 6 0,0-1 0,0-1 0,-1-1 0,0 0 0,1-2 0,-1-1 0,0-1 0,0 0 0,1-2 0,-33-7 0,32 4 226,11 3-757,1 1 1,-18-9 0,11 2-6296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49.599"/>
    </inkml:context>
    <inkml:brush xml:id="br0">
      <inkml:brushProperty name="width" value="0.025" units="cm"/>
      <inkml:brushProperty name="height" value="0.025" units="cm"/>
      <inkml:brushProperty name="color" value="#E71224"/>
    </inkml:brush>
  </inkml:definitions>
  <inkml:trace contextRef="#ctx0" brushRef="#br0">43 141 24575,'35'-33'0,"-18"17"0,27-29 0,-41 40 0,2 0 0,-1 0 0,0 1 0,1 0 0,0 0 0,0 0 0,0 1 0,7-4 0,-10 6 0,0 0 0,-1 0 0,1 1 0,0-1 0,-1 1 0,1-1 0,0 1 0,0 0 0,-1 0 0,1 0 0,0 0 0,0 0 0,0 0 0,-1 0 0,1 1 0,0-1 0,0 1 0,-1-1 0,1 1 0,0-1 0,-1 1 0,1 0 0,0 0 0,-1 0 0,0 0 0,1 0 0,-1 0 0,1 0 0,-1 1 0,0-1 0,0 0 0,2 4 0,-1-3 0,-1 0 0,0 0 0,0 1 0,1-1 0,-1 1 0,-1-1 0,1 1 0,0-1 0,-1 1 0,1 0 0,-1-1 0,0 1 0,1 0 0,-2-1 0,1 1 0,0 0 0,0-1 0,-1 1 0,1-1 0,-1 1 0,0-1 0,0 1 0,0-1 0,-3 5 0,-2 4 0,-1-1 0,0 0 0,-1 0 0,-10 10 0,5-6 0,-142 148 0,150-158 0,1 0 0,1 0 0,-1 1 0,-5 8 0,9-13 0,-1 1 0,1-1 0,-1 1 0,1-1 0,0 1 0,-1-1 0,1 1 0,0-1 0,0 1 0,-1 0 0,1-1 0,0 1 0,0-1 0,0 1 0,0 0 0,0-1 0,0 1 0,0-1 0,0 1 0,0 0 0,0-1 0,0 1 0,0-1 0,0 1 0,0 0 0,0-1 0,1 1 0,-1-1 0,0 1 0,0-1 0,1 1 0,-1-1 0,0 1 0,1-1 0,-1 1 0,1-1 0,-1 1 0,1-1 0,-1 0 0,1 1 0,-1-1 0,1 0 0,-1 1 0,1-1 0,-1 0 0,1 1 0,-1-1 0,1 0 0,0 0 0,-1 0 0,1 0 0,-1 0 0,1 0 0,0 0 0,-1 0 0,1 0 0,0 0 0,21 0 0,-1-1 0,37-6 0,6-1 0,45 4-1365,-80 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52.560"/>
    </inkml:context>
    <inkml:brush xml:id="br0">
      <inkml:brushProperty name="width" value="0.025" units="cm"/>
      <inkml:brushProperty name="height" value="0.025" units="cm"/>
      <inkml:brushProperty name="color" value="#E71224"/>
    </inkml:brush>
  </inkml:definitions>
  <inkml:trace contextRef="#ctx0" brushRef="#br0">163 26 24575,'-25'-1'0,"14"0"0,0 1 0,1 0 0,-1 1 0,0 0 0,-15 4 0,23-4 0,1 0 0,-1 0 0,0 0 0,0 1 0,1-1 0,-1 1 0,1 0 0,-1 0 0,1 0 0,-1 0 0,1 0 0,0 0 0,0 0 0,0 1 0,1-1 0,-1 1 0,1 0 0,-1-1 0,1 1 0,0 0 0,0 0 0,0 0 0,-1 5 0,-1 4 0,1 0 0,0 0 0,1 0 0,0 1 0,1-1 0,1 0 0,0 0 0,0 1 0,1-1 0,5 14 0,-6-24 0,0 1 0,0-1 0,0 1 0,1-1 0,-1 0 0,1 0 0,-1 0 0,1 0 0,0 0 0,0 0 0,0 0 0,0 0 0,0-1 0,0 1 0,1-1 0,-1 0 0,0 0 0,1 1 0,3 0 0,-2-1 0,0-1 0,1 1 0,-1-1 0,1 0 0,-1 0 0,1 0 0,-1-1 0,0 1 0,1-1 0,6-2 0,7-4 0,-1 0 0,0-1 0,-1-1 0,20-13 0,27-14 0,-47 27 0,1 1 0,-1-2 0,-1 0 0,0-1 0,0-1 0,24-24 0,-38 34 0,1 1 0,-1 0 0,0-1 0,0 1 0,0-1 0,0 1 0,0-1 0,-1 0 0,1 1 0,0-1 0,-1 0 0,1 0 0,-1 1 0,0-1 0,1 0 0,-1 0 0,0 0 0,0-3 0,-1 4 0,1 0 0,-1-1 0,0 1 0,1 0 0,-1 0 0,0 0 0,0 0 0,0 0 0,1 0 0,-1 0 0,0 0 0,0 0 0,-1 1 0,1-1 0,0 0 0,0 1 0,0-1 0,0 1 0,-3-2 0,-7-1 0,-1 1 0,0 0 0,1 0 0,-21 1 0,14 0 0,-45-8 194,40 5-165,-39-3 0,55 7-191,0 0 0,-1 1 1,1 0-1,0 0 0,0 0 1,0 1-1,0 0 0,1 0 1,-12 6-1,-2 4-6664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3T21:53:55.797"/>
    </inkml:context>
    <inkml:brush xml:id="br0">
      <inkml:brushProperty name="width" value="0.025" units="cm"/>
      <inkml:brushProperty name="height" value="0.025" units="cm"/>
      <inkml:brushProperty name="color" value="#E71224"/>
    </inkml:brush>
  </inkml:definitions>
  <inkml:trace contextRef="#ctx0" brushRef="#br0">147 1 24575,'-2'0'0,"0"1"0,0-1 0,-1 1 0,1-1 0,0 1 0,0 0 0,0 0 0,0 0 0,1 0 0,-1 0 0,0 0 0,0 1 0,1-1 0,-1 1 0,1-1 0,-1 1 0,1-1 0,-1 1 0,1 0 0,0 0 0,0 0 0,0 0 0,0-1 0,-1 4 0,-1 4 0,-1-1 0,2 1 0,-1 0 0,-1 11 0,1-4 0,1 0 0,0 0 0,1 0 0,1 0 0,1 0 0,0 0 0,5 24 0,-6-39 0,1 0 0,-1 1 0,1-1 0,-1 0 0,1 0 0,0 0 0,-1 0 0,1 0 0,0 0 0,0 0 0,0 0 0,0 0 0,0 0 0,0 0 0,0 0 0,0-1 0,0 1 0,0 0 0,0-1 0,0 1 0,2 0 0,0-1 0,0 1 0,-1-1 0,1 1 0,0-1 0,0 0 0,0 0 0,0 0 0,-1-1 0,5 0 0,2-1 0,0-1 0,0 0 0,0 0 0,15-10 0,-11 6 0,-1-2 0,0 1 0,0-2 0,-1 1 0,0-2 0,-1 1 0,0-2 0,-1 1 0,0-1 0,14-26 0,-22 37 0,0 0 0,0-1 0,0 1 0,-1-1 0,1 1 0,0-1 0,-1 0 0,1 1 0,-1-1 0,1 0 0,-1 1 0,0-1 0,0 0 0,1 1 0,-1-1 0,0 0 0,-1 0 0,1 1 0,0-1 0,0 0 0,-1 1 0,1-1 0,-1 0 0,0 1 0,1-1 0,-1 1 0,0-1 0,0 1 0,0-1 0,0 1 0,0-1 0,0 1 0,0 0 0,-1 0 0,1 0 0,0 0 0,-1 0 0,1 0 0,-1 0 0,1 0 0,-1 0 0,1 1 0,-1-1 0,0 0 0,-1 1 0,-10-4 0,1 2 0,0 0 0,-1 0 0,-23 0 0,10 2 57,-6-1 76,-34 3 0,59-2-287,-1 1 1,1 0 0,0 1-1,0-1 1,0 1-1,0 1 1,0-1-1,0 1 1,1 1-1,-10 5 1,2 4-6673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10/20/2025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xmlns="" id="{0BE52E26-C126-46E1-9EF7-3EB9EE7EE5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3F7DEC0F-AF18-4683-937E-EEF8E0497772}" type="slidenum">
              <a:rPr lang="en-US" altLang="en-US" sz="1200"/>
              <a:pPr eaLnBrk="1" hangingPunct="1"/>
              <a:t>2</a:t>
            </a:fld>
            <a:endParaRPr lang="en-US" altLang="en-US" sz="1200"/>
          </a:p>
        </p:txBody>
      </p:sp>
      <p:sp>
        <p:nvSpPr>
          <p:cNvPr id="73731" name="Rectangle 2">
            <a:extLst>
              <a:ext uri="{FF2B5EF4-FFF2-40B4-BE49-F238E27FC236}">
                <a16:creationId xmlns:a16="http://schemas.microsoft.com/office/drawing/2014/main" xmlns="" id="{17F48373-DD5D-4300-A3A4-7D7C75A74362}"/>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xmlns="" id="{2B829FEC-CD7A-4F4A-B73D-74336C572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effectLst/>
              </a:rPr>
              <a:t>Graphical Evaluation and Review Technique</a:t>
            </a:r>
            <a:r>
              <a:rPr lang="en-GB" dirty="0">
                <a:effectLst/>
              </a:rPr>
              <a:t>, commonly known as GERT</a:t>
            </a:r>
          </a:p>
        </p:txBody>
      </p:sp>
      <p:sp>
        <p:nvSpPr>
          <p:cNvPr id="4" name="Slide Number Placeholder 3"/>
          <p:cNvSpPr>
            <a:spLocks noGrp="1"/>
          </p:cNvSpPr>
          <p:nvPr>
            <p:ph type="sldNum" sz="quarter" idx="5"/>
          </p:nvPr>
        </p:nvSpPr>
        <p:spPr/>
        <p:txBody>
          <a:bodyPr/>
          <a:lstStyle/>
          <a:p>
            <a:fld id="{F68C5D26-D9CE-49B4-8A24-9C5C7281350F}" type="slidenum">
              <a:rPr lang="en-US" smtClean="0"/>
              <a:t>8</a:t>
            </a:fld>
            <a:endParaRPr lang="en-US"/>
          </a:p>
        </p:txBody>
      </p:sp>
    </p:spTree>
    <p:extLst>
      <p:ext uri="{BB962C8B-B14F-4D97-AF65-F5344CB8AC3E}">
        <p14:creationId xmlns:p14="http://schemas.microsoft.com/office/powerpoint/2010/main" val="3078993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xmlns="" id="{69319C42-99E4-4B05-919B-6D7E653E4263}"/>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xmlns="" id="{5CBBC7BF-6B55-46EA-8E5B-EDD715B393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02124"/>
                </a:solidFill>
                <a:effectLst/>
                <a:latin typeface="Google Sans"/>
              </a:rPr>
              <a:t>ADM is also called the Activity on Arrow (AOA) method.</a:t>
            </a:r>
            <a:endParaRPr lang="en-US" b="0" i="0" dirty="0">
              <a:solidFill>
                <a:srgbClr val="040C28"/>
              </a:solidFill>
              <a:effectLst/>
              <a:latin typeface="Google Sans"/>
            </a:endParaRPr>
          </a:p>
          <a:p>
            <a:r>
              <a:rPr lang="en-US" b="0" i="0" dirty="0">
                <a:solidFill>
                  <a:srgbClr val="040C28"/>
                </a:solidFill>
                <a:effectLst/>
                <a:latin typeface="Google Sans"/>
              </a:rPr>
              <a:t>PDM is also known as the Activity on Node (AON) method</a:t>
            </a:r>
            <a:r>
              <a:rPr lang="en-US" b="0" i="0" dirty="0">
                <a:solidFill>
                  <a:srgbClr val="202124"/>
                </a:solidFill>
                <a:effectLst/>
                <a:latin typeface="Google Sans"/>
              </a:rPr>
              <a:t>.</a:t>
            </a:r>
            <a:endParaRPr lang="en-US" altLang="en-US" dirty="0"/>
          </a:p>
        </p:txBody>
      </p:sp>
      <p:sp>
        <p:nvSpPr>
          <p:cNvPr id="25604" name="Slide Number Placeholder 3">
            <a:extLst>
              <a:ext uri="{FF2B5EF4-FFF2-40B4-BE49-F238E27FC236}">
                <a16:creationId xmlns:a16="http://schemas.microsoft.com/office/drawing/2014/main" xmlns="" id="{93727C5D-D72A-433A-B229-A8642313449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2256E8-7B55-4D91-92A3-62A7CAB8659B}" type="slidenum">
              <a:rPr lang="en-GB" altLang="en-US">
                <a:latin typeface="Times New Roman" panose="02020603050405020304" pitchFamily="18" charset="0"/>
              </a:rPr>
              <a:pPr/>
              <a:t>9</a:t>
            </a:fld>
            <a:endParaRPr lang="en-GB"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202124"/>
                </a:solidFill>
                <a:effectLst/>
                <a:latin typeface="arial" panose="020B0604020202020204" pitchFamily="34" charset="0"/>
              </a:rPr>
              <a:t>Start to finish - the duty officer of the current shift has to continue his job until the next shift duty officer started his job</a:t>
            </a:r>
            <a:r>
              <a:rPr lang="en-US" b="0" i="0" dirty="0">
                <a:solidFill>
                  <a:srgbClr val="202124"/>
                </a:solidFill>
                <a:effectLst/>
                <a:latin typeface="arial" panose="020B0604020202020204" pitchFamily="34" charset="0"/>
              </a:rPr>
              <a:t>.</a:t>
            </a:r>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22</a:t>
            </a:fld>
            <a:endParaRPr lang="en-US"/>
          </a:p>
        </p:txBody>
      </p:sp>
    </p:spTree>
    <p:extLst>
      <p:ext uri="{BB962C8B-B14F-4D97-AF65-F5344CB8AC3E}">
        <p14:creationId xmlns:p14="http://schemas.microsoft.com/office/powerpoint/2010/main" val="562111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xmlns="" id="{DE966D09-2BA1-452A-A133-8D196B1BB1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7E6AD9-9199-47CB-BE8B-9079332606E3}" type="slidenum">
              <a:rPr lang="en-GB" altLang="en-US">
                <a:latin typeface="Times New Roman" panose="02020603050405020304" pitchFamily="18" charset="0"/>
              </a:rPr>
              <a:pPr/>
              <a:t>24</a:t>
            </a:fld>
            <a:endParaRPr lang="en-GB"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xmlns="" id="{69477FD4-BD9E-4497-B4AB-DD5FCD6C0C45}"/>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xmlns="" id="{7A74CE96-C06A-4AE4-9AC9-3EFE6623CFE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r>
              <a:rPr lang="en-GB" altLang="en-US" b="1" dirty="0">
                <a:latin typeface="Arial" panose="020B0604020202020204" pitchFamily="34" charset="0"/>
              </a:rPr>
              <a:t>Finish to start</a:t>
            </a:r>
            <a:r>
              <a:rPr lang="en-GB" altLang="en-US" dirty="0"/>
              <a:t>: </a:t>
            </a:r>
            <a:r>
              <a:rPr lang="en-GB" altLang="en-US" dirty="0">
                <a:latin typeface="Arial" panose="020B0604020202020204" pitchFamily="34" charset="0"/>
              </a:rPr>
              <a:t>The following activity starts when the previous one has been finished</a:t>
            </a:r>
          </a:p>
          <a:p>
            <a:pPr lvl="1"/>
            <a:r>
              <a:rPr lang="en-GB" altLang="en-US" dirty="0">
                <a:latin typeface="Arial" panose="020B0604020202020204" pitchFamily="34" charset="0"/>
              </a:rPr>
              <a:t>e.g. testing starts when coding has been completed</a:t>
            </a:r>
          </a:p>
          <a:p>
            <a:pPr lvl="1"/>
            <a:r>
              <a:rPr lang="en-GB" altLang="en-US" b="1" dirty="0">
                <a:latin typeface="Arial" panose="020B0604020202020204" pitchFamily="34" charset="0"/>
              </a:rPr>
              <a:t>Start to start: </a:t>
            </a:r>
            <a:r>
              <a:rPr lang="en-GB" altLang="en-US" dirty="0">
                <a:latin typeface="Arial" panose="020B0604020202020204" pitchFamily="34" charset="0"/>
              </a:rPr>
              <a:t>When one activity starts another has to start as well</a:t>
            </a:r>
          </a:p>
          <a:p>
            <a:pPr lvl="1"/>
            <a:r>
              <a:rPr lang="en-GB" altLang="en-US" dirty="0">
                <a:latin typeface="Arial" panose="020B0604020202020204" pitchFamily="34" charset="0"/>
              </a:rPr>
              <a:t>e.g. when prototype testing  starts amendment documentation has to start as well</a:t>
            </a:r>
          </a:p>
          <a:p>
            <a:pPr lvl="1"/>
            <a:r>
              <a:rPr lang="en-GB" altLang="en-US" b="1" dirty="0">
                <a:latin typeface="Arial" panose="020B0604020202020204" pitchFamily="34" charset="0"/>
              </a:rPr>
              <a:t>Finish to finish</a:t>
            </a:r>
            <a:r>
              <a:rPr lang="en-GB" altLang="en-US" dirty="0">
                <a:latin typeface="Arial" panose="020B0604020202020204" pitchFamily="34" charset="0"/>
              </a:rPr>
              <a:t>: when one activity finishes the other must finish too</a:t>
            </a:r>
          </a:p>
          <a:p>
            <a:pPr lvl="1"/>
            <a:r>
              <a:rPr lang="en-GB" altLang="en-US" dirty="0">
                <a:latin typeface="Arial" panose="020B0604020202020204" pitchFamily="34" charset="0"/>
              </a:rPr>
              <a:t>e.g. when the testing of the prototype is completed so is the documentation of any amendments</a:t>
            </a:r>
          </a:p>
          <a:p>
            <a:pPr lvl="1"/>
            <a:r>
              <a:rPr lang="en-GB" altLang="en-US" dirty="0">
                <a:latin typeface="Arial" panose="020B0604020202020204" pitchFamily="34" charset="0"/>
              </a:rPr>
              <a:t>You could use these with lags e.g. documentation of the changes to the prototype starts 1 day after the testing and finishes 2 days after testing has been completed</a:t>
            </a:r>
          </a:p>
          <a:p>
            <a:pPr lvl="1"/>
            <a:endParaRPr lang="en-GB" altLang="en-US" dirty="0">
              <a:latin typeface="Arial" panose="020B0604020202020204" pitchFamily="34" charset="0"/>
            </a:endParaRPr>
          </a:p>
          <a:p>
            <a:pPr lvl="1"/>
            <a:endParaRPr lang="en-GB" altLang="en-US" b="1" dirty="0">
              <a:latin typeface="Arial" panose="020B0604020202020204" pitchFamily="34" charset="0"/>
            </a:endParaRPr>
          </a:p>
          <a:p>
            <a:endParaRPr lang="en-GB"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xmlns="" id="{3ACDEBA2-0ACF-4580-AD25-D321D13AE1D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454173-1FB1-455B-B013-AD51640DE9D6}" type="slidenum">
              <a:rPr lang="en-GB" altLang="en-US">
                <a:latin typeface="Times New Roman" panose="02020603050405020304" pitchFamily="18" charset="0"/>
              </a:rPr>
              <a:pPr/>
              <a:t>25</a:t>
            </a:fld>
            <a:endParaRPr lang="en-GB"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xmlns="" id="{731FC255-3BDA-499D-B1C5-AC0CC4C514DF}"/>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xmlns="" id="{4455317B-1438-441C-B2B9-93B2DE93CEB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ltLang="en-US">
                <a:latin typeface="Arial" panose="020B0604020202020204" pitchFamily="34" charset="0"/>
              </a:rPr>
              <a:t>The time that an activity can start depends on its relationship with the other tasks in the project. The earliest start is when the earliest of the preceding activities upon which the current activity depends will be completed, so that the current one can start. If it starts at this time the earliest the current activity can finish is the earliest start plus its duration.</a:t>
            </a:r>
          </a:p>
          <a:p>
            <a:r>
              <a:rPr lang="en-GB" altLang="en-US">
                <a:latin typeface="Arial" panose="020B0604020202020204" pitchFamily="34" charset="0"/>
              </a:rPr>
              <a:t>However, it may be that the activity, although it </a:t>
            </a:r>
            <a:r>
              <a:rPr lang="en-GB" altLang="en-US" i="1">
                <a:latin typeface="Arial" panose="020B0604020202020204" pitchFamily="34" charset="0"/>
              </a:rPr>
              <a:t>can</a:t>
            </a:r>
            <a:r>
              <a:rPr lang="en-GB" altLang="en-US">
                <a:latin typeface="Arial" panose="020B0604020202020204" pitchFamily="34" charset="0"/>
              </a:rPr>
              <a:t> start, can be delayed because later activities do not have to start right way. This gives us a latest finish date. The latest start date is the latest finish date less the duration of the activity.</a:t>
            </a:r>
          </a:p>
          <a:p>
            <a:r>
              <a:rPr lang="en-GB" altLang="en-US">
                <a:latin typeface="Arial" panose="020B0604020202020204" pitchFamily="34" charset="0"/>
              </a:rPr>
              <a:t>When a student is given coursework to do they do not  necessarily start it straight away. They might note when it has got to be handed in, work out that it will only take about three days to do - with a bit of luck - and wait until three days before the hand-in before they start.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Google Sans"/>
              </a:rPr>
              <a:t>“float” or “slack” is </a:t>
            </a:r>
            <a:r>
              <a:rPr lang="en-US" b="0" i="0" dirty="0">
                <a:solidFill>
                  <a:srgbClr val="040C28"/>
                </a:solidFill>
                <a:effectLst/>
                <a:latin typeface="Google Sans"/>
              </a:rPr>
              <a:t>the amount of time a task can be delayed without affecting the deadlines of subsequent tasks or the project's final delivery date</a:t>
            </a:r>
            <a:r>
              <a:rPr lang="en-US" b="0" i="0" dirty="0">
                <a:solidFill>
                  <a:srgbClr val="4D5156"/>
                </a:solidFill>
                <a:effectLst/>
                <a:latin typeface="Google Sans"/>
              </a:rPr>
              <a:t>.</a:t>
            </a:r>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26</a:t>
            </a:fld>
            <a:endParaRPr lang="en-US"/>
          </a:p>
        </p:txBody>
      </p:sp>
    </p:spTree>
    <p:extLst>
      <p:ext uri="{BB962C8B-B14F-4D97-AF65-F5344CB8AC3E}">
        <p14:creationId xmlns:p14="http://schemas.microsoft.com/office/powerpoint/2010/main" val="3835292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xmlns="" id="{7C78E06C-1DFB-465E-A1AD-74B78C0F3D6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461ACF-62FE-43CC-8166-BD23DF0FABDA}" type="slidenum">
              <a:rPr lang="en-GB" altLang="en-US">
                <a:latin typeface="Times New Roman" panose="02020603050405020304" pitchFamily="18" charset="0"/>
              </a:rPr>
              <a:pPr/>
              <a:t>27</a:t>
            </a:fld>
            <a:endParaRPr lang="en-GB"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xmlns="" id="{86837B80-16CC-44C2-82A5-DCC47A95E3D8}"/>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xmlns="" id="{5E663B14-B19E-4519-B7FD-04F766B9C97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dirty="0"/>
              <a:t>Note that Float can also be calculated as the difference between the earliest and latest start dates for an activity </a:t>
            </a:r>
            <a:r>
              <a:rPr lang="en-GB" altLang="en-US" i="1" dirty="0"/>
              <a:t>or </a:t>
            </a:r>
            <a:r>
              <a:rPr lang="en-GB" altLang="en-US" dirty="0"/>
              <a:t>the difference between the earliest and latest finish dates.</a:t>
            </a:r>
          </a:p>
          <a:p>
            <a:endParaRPr lang="en-GB" altLang="en-US" dirty="0">
              <a:latin typeface="Arial" panose="020B0604020202020204" pitchFamily="34" charset="0"/>
            </a:endParaRPr>
          </a:p>
          <a:p>
            <a:r>
              <a:rPr lang="en-GB" altLang="en-US" dirty="0">
                <a:latin typeface="Arial" panose="020B0604020202020204" pitchFamily="34" charset="0"/>
              </a:rPr>
              <a:t>The earliest finish (EF) would be day 5 plus 10 days i.e. day 15.</a:t>
            </a:r>
          </a:p>
          <a:p>
            <a:r>
              <a:rPr lang="en-GB" altLang="en-US" dirty="0">
                <a:latin typeface="Arial" panose="020B0604020202020204" pitchFamily="34" charset="0"/>
              </a:rPr>
              <a:t>The latest start (LS) would be day 30 – 10 days i.e. day 20</a:t>
            </a:r>
          </a:p>
          <a:p>
            <a:r>
              <a:rPr lang="en-GB" altLang="en-US" dirty="0">
                <a:latin typeface="Arial" panose="020B0604020202020204" pitchFamily="34" charset="0"/>
              </a:rPr>
              <a:t>The float would be 30 – 5 – 10 = 15 days</a:t>
            </a:r>
          </a:p>
          <a:p>
            <a:r>
              <a:rPr lang="en-GB" altLang="en-US" dirty="0">
                <a:latin typeface="Arial" panose="020B0604020202020204" pitchFamily="34" charset="0"/>
              </a:rPr>
              <a:t>This also is the same as LF – EF or LS - 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dirty="0">
                <a:latin typeface="Arial" panose="020B0604020202020204" pitchFamily="34" charset="0"/>
              </a:rPr>
              <a:t>The activity span is the LF -ES</a:t>
            </a:r>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28</a:t>
            </a:fld>
            <a:endParaRPr lang="en-US"/>
          </a:p>
        </p:txBody>
      </p:sp>
    </p:spTree>
    <p:extLst>
      <p:ext uri="{BB962C8B-B14F-4D97-AF65-F5344CB8AC3E}">
        <p14:creationId xmlns:p14="http://schemas.microsoft.com/office/powerpoint/2010/main" val="2446323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35</a:t>
            </a:fld>
            <a:endParaRPr lang="en-US"/>
          </a:p>
        </p:txBody>
      </p:sp>
    </p:spTree>
    <p:extLst>
      <p:ext uri="{BB962C8B-B14F-4D97-AF65-F5344CB8AC3E}">
        <p14:creationId xmlns:p14="http://schemas.microsoft.com/office/powerpoint/2010/main" val="61917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50</a:t>
            </a:fld>
            <a:endParaRPr lang="en-US"/>
          </a:p>
        </p:txBody>
      </p:sp>
    </p:spTree>
    <p:extLst>
      <p:ext uri="{BB962C8B-B14F-4D97-AF65-F5344CB8AC3E}">
        <p14:creationId xmlns:p14="http://schemas.microsoft.com/office/powerpoint/2010/main" val="1035164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EF=</a:t>
            </a:r>
            <a:r>
              <a:rPr lang="en-IN" dirty="0" err="1"/>
              <a:t>ES+Duration</a:t>
            </a:r>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51</a:t>
            </a:fld>
            <a:endParaRPr lang="en-US"/>
          </a:p>
        </p:txBody>
      </p:sp>
    </p:spTree>
    <p:extLst>
      <p:ext uri="{BB962C8B-B14F-4D97-AF65-F5344CB8AC3E}">
        <p14:creationId xmlns:p14="http://schemas.microsoft.com/office/powerpoint/2010/main" val="3026949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EF=</a:t>
            </a:r>
            <a:r>
              <a:rPr lang="en-IN" dirty="0" err="1"/>
              <a:t>ES+Duration</a:t>
            </a:r>
            <a:endParaRPr lang="x-none" dirty="0"/>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52</a:t>
            </a:fld>
            <a:endParaRPr lang="en-US"/>
          </a:p>
        </p:txBody>
      </p:sp>
    </p:spTree>
    <p:extLst>
      <p:ext uri="{BB962C8B-B14F-4D97-AF65-F5344CB8AC3E}">
        <p14:creationId xmlns:p14="http://schemas.microsoft.com/office/powerpoint/2010/main" val="2355333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54</a:t>
            </a:fld>
            <a:endParaRPr lang="en-US"/>
          </a:p>
        </p:txBody>
      </p:sp>
    </p:spTree>
    <p:extLst>
      <p:ext uri="{BB962C8B-B14F-4D97-AF65-F5344CB8AC3E}">
        <p14:creationId xmlns:p14="http://schemas.microsoft.com/office/powerpoint/2010/main" val="2223079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LS=LF – Duration</a:t>
            </a:r>
          </a:p>
          <a:p>
            <a:r>
              <a:rPr lang="en-US" dirty="0"/>
              <a:t>Total Float/Slack= LF-EF OR LS - ES</a:t>
            </a:r>
          </a:p>
        </p:txBody>
      </p:sp>
      <p:sp>
        <p:nvSpPr>
          <p:cNvPr id="4" name="Slide Number Placeholder 3"/>
          <p:cNvSpPr>
            <a:spLocks noGrp="1"/>
          </p:cNvSpPr>
          <p:nvPr>
            <p:ph type="sldNum" sz="quarter" idx="5"/>
          </p:nvPr>
        </p:nvSpPr>
        <p:spPr/>
        <p:txBody>
          <a:bodyPr/>
          <a:lstStyle/>
          <a:p>
            <a:fld id="{F68C5D26-D9CE-49B4-8A24-9C5C7281350F}" type="slidenum">
              <a:rPr lang="en-US" smtClean="0"/>
              <a:t>55</a:t>
            </a:fld>
            <a:endParaRPr lang="en-US"/>
          </a:p>
        </p:txBody>
      </p:sp>
    </p:spTree>
    <p:extLst>
      <p:ext uri="{BB962C8B-B14F-4D97-AF65-F5344CB8AC3E}">
        <p14:creationId xmlns:p14="http://schemas.microsoft.com/office/powerpoint/2010/main" val="1194766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path == path that contain slack with 0 value OR Longest path (total max duration) from all the possible path.</a:t>
            </a:r>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56</a:t>
            </a:fld>
            <a:endParaRPr lang="en-US"/>
          </a:p>
        </p:txBody>
      </p:sp>
    </p:spTree>
    <p:extLst>
      <p:ext uri="{BB962C8B-B14F-4D97-AF65-F5344CB8AC3E}">
        <p14:creationId xmlns:p14="http://schemas.microsoft.com/office/powerpoint/2010/main" val="310207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Slack = Latest –Earliest</a:t>
            </a:r>
          </a:p>
          <a:p>
            <a:endParaRPr lang="x-none" dirty="0"/>
          </a:p>
        </p:txBody>
      </p:sp>
      <p:sp>
        <p:nvSpPr>
          <p:cNvPr id="4" name="Slide Number Placeholder 3"/>
          <p:cNvSpPr>
            <a:spLocks noGrp="1"/>
          </p:cNvSpPr>
          <p:nvPr>
            <p:ph type="sldNum" sz="quarter" idx="5"/>
          </p:nvPr>
        </p:nvSpPr>
        <p:spPr/>
        <p:txBody>
          <a:bodyPr/>
          <a:lstStyle/>
          <a:p>
            <a:fld id="{F68C5D26-D9CE-49B4-8A24-9C5C7281350F}" type="slidenum">
              <a:rPr lang="en-US" smtClean="0"/>
              <a:t>57</a:t>
            </a:fld>
            <a:endParaRPr lang="en-US"/>
          </a:p>
        </p:txBody>
      </p:sp>
    </p:spTree>
    <p:extLst>
      <p:ext uri="{BB962C8B-B14F-4D97-AF65-F5344CB8AC3E}">
        <p14:creationId xmlns:p14="http://schemas.microsoft.com/office/powerpoint/2010/main" val="3340616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 Gantt Chart By using MS Project</a:t>
            </a:r>
          </a:p>
        </p:txBody>
      </p:sp>
      <p:sp>
        <p:nvSpPr>
          <p:cNvPr id="4" name="Slide Number Placeholder 3"/>
          <p:cNvSpPr>
            <a:spLocks noGrp="1"/>
          </p:cNvSpPr>
          <p:nvPr>
            <p:ph type="sldNum" sz="quarter" idx="5"/>
          </p:nvPr>
        </p:nvSpPr>
        <p:spPr/>
        <p:txBody>
          <a:bodyPr/>
          <a:lstStyle/>
          <a:p>
            <a:fld id="{F68C5D26-D9CE-49B4-8A24-9C5C7281350F}" type="slidenum">
              <a:rPr lang="en-US" smtClean="0"/>
              <a:t>75</a:t>
            </a:fld>
            <a:endParaRPr lang="en-US"/>
          </a:p>
        </p:txBody>
      </p:sp>
    </p:spTree>
    <p:extLst>
      <p:ext uri="{BB962C8B-B14F-4D97-AF65-F5344CB8AC3E}">
        <p14:creationId xmlns:p14="http://schemas.microsoft.com/office/powerpoint/2010/main" val="25794456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xmlns=""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Management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Management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Management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xmlns="" id="{584CBEF9-168F-4B3A-A478-2933ACA57E7C}"/>
              </a:ext>
            </a:extLst>
          </p:cNvPr>
          <p:cNvSpPr>
            <a:spLocks noGrp="1" noChangeArrowheads="1"/>
          </p:cNvSpPr>
          <p:nvPr>
            <p:ph type="ftr" sz="quarter" idx="10"/>
          </p:nvPr>
        </p:nvSpPr>
        <p:spPr>
          <a:ln/>
        </p:spPr>
        <p:txBody>
          <a:bodyPr/>
          <a:lstStyle>
            <a:lvl1pPr>
              <a:defRPr/>
            </a:lvl1pPr>
          </a:lstStyle>
          <a:p>
            <a:pPr>
              <a:defRPr/>
            </a:pPr>
            <a:r>
              <a:rPr lang="en-US"/>
              <a:t>CS4044 - Fundamentals of Software Project Management</a:t>
            </a:r>
          </a:p>
        </p:txBody>
      </p:sp>
      <p:sp>
        <p:nvSpPr>
          <p:cNvPr id="5" name="Rectangle 5">
            <a:extLst>
              <a:ext uri="{FF2B5EF4-FFF2-40B4-BE49-F238E27FC236}">
                <a16:creationId xmlns:a16="http://schemas.microsoft.com/office/drawing/2014/main" xmlns="" id="{5946F449-C478-4572-8506-F6F0BE808EEE}"/>
              </a:ext>
            </a:extLst>
          </p:cNvPr>
          <p:cNvSpPr>
            <a:spLocks noGrp="1" noChangeArrowheads="1"/>
          </p:cNvSpPr>
          <p:nvPr>
            <p:ph type="sldNum" sz="quarter" idx="11"/>
          </p:nvPr>
        </p:nvSpPr>
        <p:spPr>
          <a:ln/>
        </p:spPr>
        <p:txBody>
          <a:bodyPr/>
          <a:lstStyle>
            <a:lvl1pPr>
              <a:defRPr/>
            </a:lvl1pPr>
          </a:lstStyle>
          <a:p>
            <a:r>
              <a:rPr lang="en-US" altLang="en-US"/>
              <a:t>Chapter 6-</a:t>
            </a:r>
            <a:fld id="{59A94938-E575-4F08-8802-50841093BDBF}" type="slidenum">
              <a:rPr lang="en-US" altLang="en-US"/>
              <a:pPr/>
              <a:t>‹#›</a:t>
            </a:fld>
            <a:endParaRPr lang="en-US" altLang="en-US"/>
          </a:p>
        </p:txBody>
      </p:sp>
    </p:spTree>
    <p:extLst>
      <p:ext uri="{BB962C8B-B14F-4D97-AF65-F5344CB8AC3E}">
        <p14:creationId xmlns:p14="http://schemas.microsoft.com/office/powerpoint/2010/main" val="1131454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93F55957-A782-42DD-BC07-DD7993497851}"/>
              </a:ext>
            </a:extLst>
          </p:cNvPr>
          <p:cNvSpPr>
            <a:spLocks noGrp="1" noChangeArrowheads="1"/>
          </p:cNvSpPr>
          <p:nvPr>
            <p:ph type="sldNum" sz="quarter" idx="10"/>
          </p:nvPr>
        </p:nvSpPr>
        <p:spPr>
          <a:ln/>
        </p:spPr>
        <p:txBody>
          <a:bodyPr/>
          <a:lstStyle>
            <a:lvl1pPr>
              <a:defRPr/>
            </a:lvl1pPr>
          </a:lstStyle>
          <a:p>
            <a:fld id="{C2D832FB-B552-421F-8124-C05415ED5E9A}" type="slidenum">
              <a:rPr lang="en-US" altLang="en-US"/>
              <a:pPr/>
              <a:t>‹#›</a:t>
            </a:fld>
            <a:endParaRPr lang="en-US" altLang="en-US"/>
          </a:p>
        </p:txBody>
      </p:sp>
    </p:spTree>
    <p:extLst>
      <p:ext uri="{BB962C8B-B14F-4D97-AF65-F5344CB8AC3E}">
        <p14:creationId xmlns:p14="http://schemas.microsoft.com/office/powerpoint/2010/main" val="28616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xmlns="" id="{B7D6E9BA-A492-436C-A5E2-DF8625E46CF2}"/>
              </a:ext>
            </a:extLst>
          </p:cNvPr>
          <p:cNvSpPr>
            <a:spLocks noGrp="1"/>
          </p:cNvSpPr>
          <p:nvPr>
            <p:ph type="ftr" sz="quarter" idx="11"/>
          </p:nvPr>
        </p:nvSpPr>
        <p:spPr/>
        <p:txBody>
          <a:bodyPr/>
          <a:lstStyle/>
          <a:p>
            <a:r>
              <a:rPr lang="en-US"/>
              <a:t>CS4044 - Fundamentals of Software Project Management</a:t>
            </a:r>
          </a:p>
        </p:txBody>
      </p:sp>
      <p:sp>
        <p:nvSpPr>
          <p:cNvPr id="6" name="Slide Number Placeholder 5">
            <a:extLst>
              <a:ext uri="{FF2B5EF4-FFF2-40B4-BE49-F238E27FC236}">
                <a16:creationId xmlns:a16="http://schemas.microsoft.com/office/drawing/2014/main" xmlns=""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390528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4.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0.png"/><Relationship Id="rId18" Type="http://schemas.openxmlformats.org/officeDocument/2006/relationships/customXml" Target="../ink/ink8.xml"/><Relationship Id="rId3" Type="http://schemas.openxmlformats.org/officeDocument/2006/relationships/image" Target="../media/image25.jpeg"/><Relationship Id="rId21" Type="http://schemas.openxmlformats.org/officeDocument/2006/relationships/image" Target="../media/image34.png"/><Relationship Id="rId7" Type="http://schemas.openxmlformats.org/officeDocument/2006/relationships/image" Target="../media/image27.png"/><Relationship Id="rId12" Type="http://schemas.openxmlformats.org/officeDocument/2006/relationships/customXml" Target="../ink/ink5.xml"/><Relationship Id="rId17" Type="http://schemas.openxmlformats.org/officeDocument/2006/relationships/image" Target="../media/image32.png"/><Relationship Id="rId2" Type="http://schemas.openxmlformats.org/officeDocument/2006/relationships/notesSlide" Target="../notesSlides/notesSlide14.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9.png"/><Relationship Id="rId5" Type="http://schemas.openxmlformats.org/officeDocument/2006/relationships/image" Target="../media/image26.png"/><Relationship Id="rId15" Type="http://schemas.openxmlformats.org/officeDocument/2006/relationships/image" Target="../media/image31.png"/><Relationship Id="rId10" Type="http://schemas.openxmlformats.org/officeDocument/2006/relationships/customXml" Target="../ink/ink4.xml"/><Relationship Id="rId19" Type="http://schemas.openxmlformats.org/officeDocument/2006/relationships/image" Target="../media/image33.png"/><Relationship Id="rId4" Type="http://schemas.openxmlformats.org/officeDocument/2006/relationships/customXml" Target="../ink/ink1.xml"/><Relationship Id="rId9" Type="http://schemas.openxmlformats.org/officeDocument/2006/relationships/image" Target="../media/image28.png"/><Relationship Id="rId14" Type="http://schemas.openxmlformats.org/officeDocument/2006/relationships/customXml" Target="../ink/ink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5.png"/></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FD48BC7-DC40-47DE-87EE-9F4B6ECB9A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xmlns="" id="{E502BBC7-2C76-46F3-BC24-5985BC13DB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xmlns="" id="{C7F28D52-2A5F-4D23-81AE-7CB8B591C7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701749" y="2046986"/>
            <a:ext cx="7601003" cy="2764028"/>
          </a:xfrm>
        </p:spPr>
        <p:txBody>
          <a:bodyPr anchor="ctr">
            <a:noAutofit/>
          </a:bodyPr>
          <a:lstStyle/>
          <a:p>
            <a:r>
              <a:rPr lang="en-IN" sz="4400" dirty="0">
                <a:latin typeface="+mn-lt"/>
                <a:cs typeface="Arial" panose="020B0604020202020204" pitchFamily="34" charset="0"/>
              </a:rPr>
              <a:t>FUNDAMENTALS OF SOFTWARE PROJECT MANAGEMENT</a:t>
            </a:r>
            <a:br>
              <a:rPr lang="en-IN" sz="4400" dirty="0">
                <a:latin typeface="+mn-lt"/>
                <a:cs typeface="Arial" panose="020B0604020202020204" pitchFamily="34" charset="0"/>
              </a:rPr>
            </a:br>
            <a:r>
              <a:rPr lang="en-IN" sz="4400" dirty="0">
                <a:latin typeface="+mn-lt"/>
                <a:cs typeface="Arial" panose="020B0604020202020204" pitchFamily="34" charset="0"/>
              </a:rPr>
              <a:t/>
            </a:r>
            <a:br>
              <a:rPr lang="en-IN" sz="4400" dirty="0">
                <a:latin typeface="+mn-lt"/>
                <a:cs typeface="Arial" panose="020B0604020202020204" pitchFamily="34" charset="0"/>
              </a:rPr>
            </a:br>
            <a:r>
              <a:rPr lang="en-GB" altLang="en-US" sz="4400" dirty="0"/>
              <a:t>Scheduling</a:t>
            </a:r>
            <a:br>
              <a:rPr lang="en-GB" altLang="en-US" sz="4400" dirty="0"/>
            </a:br>
            <a:endParaRPr lang="en-US" sz="44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Week-9</a:t>
            </a:r>
            <a:endParaRPr lang="en-US" sz="2400" dirty="0"/>
          </a:p>
          <a:p>
            <a:endParaRPr lang="en-US" sz="2400" dirty="0"/>
          </a:p>
        </p:txBody>
      </p:sp>
      <p:sp>
        <p:nvSpPr>
          <p:cNvPr id="17" name="Rectangle 16">
            <a:extLst>
              <a:ext uri="{FF2B5EF4-FFF2-40B4-BE49-F238E27FC236}">
                <a16:creationId xmlns:a16="http://schemas.microsoft.com/office/drawing/2014/main" xmlns="" id="{3629484E-3792-4B3D-89AD-7C8A1ED0E0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xmlns="" id="{2E08A5EB-A057-4F52-8F82-6AF3D9437E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1D130A09-AE85-4ED7-B927-E866A82D558A}" type="slidenum">
              <a:rPr lang="en-US" altLang="en-US" sz="1200"/>
              <a:pPr eaLnBrk="1" hangingPunct="1"/>
              <a:t>2</a:t>
            </a:fld>
            <a:endParaRPr lang="en-US" altLang="en-US" sz="1200"/>
          </a:p>
        </p:txBody>
      </p:sp>
      <p:sp>
        <p:nvSpPr>
          <p:cNvPr id="15363" name="Rectangle 2">
            <a:extLst>
              <a:ext uri="{FF2B5EF4-FFF2-40B4-BE49-F238E27FC236}">
                <a16:creationId xmlns:a16="http://schemas.microsoft.com/office/drawing/2014/main" xmlns="" id="{64EA7473-9AC5-478B-956F-8A68AAF67E2D}"/>
              </a:ext>
            </a:extLst>
          </p:cNvPr>
          <p:cNvSpPr>
            <a:spLocks noGrp="1" noChangeArrowheads="1"/>
          </p:cNvSpPr>
          <p:nvPr>
            <p:ph type="title"/>
          </p:nvPr>
        </p:nvSpPr>
        <p:spPr/>
        <p:txBody>
          <a:bodyPr/>
          <a:lstStyle/>
          <a:p>
            <a:pPr eaLnBrk="1" hangingPunct="1"/>
            <a:r>
              <a:rPr lang="en-US" altLang="en-US" sz="4000"/>
              <a:t>Today</a:t>
            </a:r>
          </a:p>
        </p:txBody>
      </p:sp>
      <p:sp>
        <p:nvSpPr>
          <p:cNvPr id="15364" name="Rectangle 3">
            <a:extLst>
              <a:ext uri="{FF2B5EF4-FFF2-40B4-BE49-F238E27FC236}">
                <a16:creationId xmlns:a16="http://schemas.microsoft.com/office/drawing/2014/main" xmlns="" id="{445D37B1-9036-45D4-A0B3-7E9E48A3CC23}"/>
              </a:ext>
            </a:extLst>
          </p:cNvPr>
          <p:cNvSpPr>
            <a:spLocks noGrp="1" noChangeArrowheads="1"/>
          </p:cNvSpPr>
          <p:nvPr>
            <p:ph type="body" idx="1"/>
          </p:nvPr>
        </p:nvSpPr>
        <p:spPr/>
        <p:txBody>
          <a:bodyPr/>
          <a:lstStyle/>
          <a:p>
            <a:pPr eaLnBrk="1" hangingPunct="1"/>
            <a:r>
              <a:rPr lang="en-US" altLang="en-US" sz="2800"/>
              <a:t>Network Fundamentals</a:t>
            </a:r>
          </a:p>
          <a:p>
            <a:pPr eaLnBrk="1" hangingPunct="1"/>
            <a:r>
              <a:rPr lang="en-US" altLang="en-US" sz="2800"/>
              <a:t>Gantt Charts</a:t>
            </a:r>
          </a:p>
          <a:p>
            <a:pPr eaLnBrk="1" hangingPunct="1"/>
            <a:r>
              <a:rPr lang="en-US" altLang="en-US" sz="2800"/>
              <a:t>PERT/CPM Techniques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xmlns="" id="{DC39DDEF-E8D4-42B9-8569-7EF0290F35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613AB89B-954A-4206-94D4-7C10B7555785}" type="slidenum">
              <a:rPr lang="en-US" altLang="en-US" sz="1200"/>
              <a:pPr eaLnBrk="1" hangingPunct="1"/>
              <a:t>3</a:t>
            </a:fld>
            <a:endParaRPr lang="en-US" altLang="en-US" sz="1200"/>
          </a:p>
        </p:txBody>
      </p:sp>
      <p:sp>
        <p:nvSpPr>
          <p:cNvPr id="16387" name="Rectangle 1026">
            <a:extLst>
              <a:ext uri="{FF2B5EF4-FFF2-40B4-BE49-F238E27FC236}">
                <a16:creationId xmlns:a16="http://schemas.microsoft.com/office/drawing/2014/main" xmlns="" id="{48799686-FB60-4BB4-993D-EA3FAA26AF34}"/>
              </a:ext>
            </a:extLst>
          </p:cNvPr>
          <p:cNvSpPr>
            <a:spLocks noGrp="1" noChangeArrowheads="1"/>
          </p:cNvSpPr>
          <p:nvPr>
            <p:ph type="title"/>
          </p:nvPr>
        </p:nvSpPr>
        <p:spPr/>
        <p:txBody>
          <a:bodyPr/>
          <a:lstStyle/>
          <a:p>
            <a:pPr eaLnBrk="1" hangingPunct="1"/>
            <a:r>
              <a:rPr lang="en-US" altLang="en-US" sz="4000"/>
              <a:t>WBS</a:t>
            </a:r>
          </a:p>
        </p:txBody>
      </p:sp>
      <p:sp>
        <p:nvSpPr>
          <p:cNvPr id="16388" name="Rectangle 1027">
            <a:extLst>
              <a:ext uri="{FF2B5EF4-FFF2-40B4-BE49-F238E27FC236}">
                <a16:creationId xmlns:a16="http://schemas.microsoft.com/office/drawing/2014/main" xmlns="" id="{0F8C8C65-E791-411C-AB5C-347B8B7E0EF6}"/>
              </a:ext>
            </a:extLst>
          </p:cNvPr>
          <p:cNvSpPr>
            <a:spLocks noGrp="1" noChangeArrowheads="1"/>
          </p:cNvSpPr>
          <p:nvPr>
            <p:ph type="body" idx="1"/>
          </p:nvPr>
        </p:nvSpPr>
        <p:spPr/>
        <p:txBody>
          <a:bodyPr/>
          <a:lstStyle/>
          <a:p>
            <a:pPr eaLnBrk="1" hangingPunct="1"/>
            <a:r>
              <a:rPr lang="en-US" altLang="en-US" sz="2800"/>
              <a:t>Types: Process, product, hybrid</a:t>
            </a:r>
          </a:p>
          <a:p>
            <a:pPr eaLnBrk="1" hangingPunct="1"/>
            <a:r>
              <a:rPr lang="en-US" altLang="en-US" sz="2800"/>
              <a:t>Formats: Outline or graphical org chart</a:t>
            </a:r>
          </a:p>
          <a:p>
            <a:pPr eaLnBrk="1" hangingPunct="1"/>
            <a:r>
              <a:rPr lang="en-US" altLang="en-US" sz="2800"/>
              <a:t>High-level WBS does not show dependencies or durations</a:t>
            </a:r>
          </a:p>
          <a:p>
            <a:pPr eaLnBrk="1" hangingPunct="1"/>
            <a:r>
              <a:rPr lang="en-US" altLang="en-US" sz="2800"/>
              <a:t>What hurts most ---- is -----what’s missing</a:t>
            </a:r>
          </a:p>
          <a:p>
            <a:pPr eaLnBrk="1" hangingPunct="1"/>
            <a:r>
              <a:rPr lang="en-US" altLang="en-US" sz="2800"/>
              <a:t>Becomes input to many things, esp. schedule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xmlns="" id="{663E2A7B-4F9F-4BA3-8370-7EFB420E2B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E5DF056-39BB-4888-BB47-F9DF175A96C2}" type="slidenum">
              <a:rPr lang="en-US" altLang="en-US" sz="1200"/>
              <a:pPr eaLnBrk="1" hangingPunct="1"/>
              <a:t>4</a:t>
            </a:fld>
            <a:endParaRPr lang="en-US" altLang="en-US" sz="1200"/>
          </a:p>
        </p:txBody>
      </p:sp>
      <p:sp>
        <p:nvSpPr>
          <p:cNvPr id="17411" name="Rectangle 1026">
            <a:extLst>
              <a:ext uri="{FF2B5EF4-FFF2-40B4-BE49-F238E27FC236}">
                <a16:creationId xmlns:a16="http://schemas.microsoft.com/office/drawing/2014/main" xmlns="" id="{ED78CE75-54BE-4D52-974D-642E9AD86670}"/>
              </a:ext>
            </a:extLst>
          </p:cNvPr>
          <p:cNvSpPr>
            <a:spLocks noGrp="1" noChangeArrowheads="1"/>
          </p:cNvSpPr>
          <p:nvPr>
            <p:ph type="title"/>
          </p:nvPr>
        </p:nvSpPr>
        <p:spPr/>
        <p:txBody>
          <a:bodyPr/>
          <a:lstStyle/>
          <a:p>
            <a:pPr eaLnBrk="1" hangingPunct="1"/>
            <a:r>
              <a:rPr lang="en-US" altLang="en-US"/>
              <a:t>Estimation</a:t>
            </a:r>
          </a:p>
        </p:txBody>
      </p:sp>
      <p:sp>
        <p:nvSpPr>
          <p:cNvPr id="17412" name="Rectangle 1027">
            <a:extLst>
              <a:ext uri="{FF2B5EF4-FFF2-40B4-BE49-F238E27FC236}">
                <a16:creationId xmlns:a16="http://schemas.microsoft.com/office/drawing/2014/main" xmlns="" id="{04606EA7-F146-4B81-BC67-046B29B5113E}"/>
              </a:ext>
            </a:extLst>
          </p:cNvPr>
          <p:cNvSpPr>
            <a:spLocks noGrp="1" noChangeArrowheads="1"/>
          </p:cNvSpPr>
          <p:nvPr>
            <p:ph type="body" idx="1"/>
          </p:nvPr>
        </p:nvSpPr>
        <p:spPr/>
        <p:txBody>
          <a:bodyPr>
            <a:normAutofit/>
          </a:bodyPr>
          <a:lstStyle/>
          <a:p>
            <a:pPr eaLnBrk="1" hangingPunct="1"/>
            <a:r>
              <a:rPr lang="en-US" altLang="en-US" sz="3200" dirty="0"/>
              <a:t>“The single most important task of a project: setting realistic expectations. Unrealistic expectations based on inaccurate estimates are the single largest cause of software failure.” </a:t>
            </a:r>
          </a:p>
          <a:p>
            <a:pPr eaLnBrk="1" hangingPunct="1"/>
            <a:endParaRPr lang="en-US" altLang="en-US" sz="1800" dirty="0"/>
          </a:p>
          <a:p>
            <a:pPr eaLnBrk="1" hangingPunct="1"/>
            <a:r>
              <a:rPr lang="en-US" altLang="en-US" sz="2000" dirty="0"/>
              <a:t>Futrell, Shafer, Shafer, “Quality Software Project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xmlns="" id="{824853D8-ADA7-4D6A-AFE8-82125745A4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3DD7FC7B-C317-4EBD-AA9D-854317F6D75F}" type="slidenum">
              <a:rPr lang="en-US" altLang="en-US" sz="1200"/>
              <a:pPr eaLnBrk="1" hangingPunct="1"/>
              <a:t>5</a:t>
            </a:fld>
            <a:endParaRPr lang="en-US" altLang="en-US" sz="1200"/>
          </a:p>
        </p:txBody>
      </p:sp>
      <p:sp>
        <p:nvSpPr>
          <p:cNvPr id="18435" name="Rectangle 1026">
            <a:extLst>
              <a:ext uri="{FF2B5EF4-FFF2-40B4-BE49-F238E27FC236}">
                <a16:creationId xmlns:a16="http://schemas.microsoft.com/office/drawing/2014/main" xmlns="" id="{967D5DA7-8F19-4AC9-8D58-11CCEE5560A2}"/>
              </a:ext>
            </a:extLst>
          </p:cNvPr>
          <p:cNvSpPr>
            <a:spLocks noGrp="1" noChangeArrowheads="1"/>
          </p:cNvSpPr>
          <p:nvPr>
            <p:ph type="title"/>
          </p:nvPr>
        </p:nvSpPr>
        <p:spPr/>
        <p:txBody>
          <a:bodyPr/>
          <a:lstStyle/>
          <a:p>
            <a:pPr eaLnBrk="1" hangingPunct="1"/>
            <a:r>
              <a:rPr lang="en-US" altLang="en-US" sz="4000"/>
              <a:t>Estimation</a:t>
            </a:r>
          </a:p>
        </p:txBody>
      </p:sp>
      <p:sp>
        <p:nvSpPr>
          <p:cNvPr id="18436" name="Rectangle 1027">
            <a:extLst>
              <a:ext uri="{FF2B5EF4-FFF2-40B4-BE49-F238E27FC236}">
                <a16:creationId xmlns:a16="http://schemas.microsoft.com/office/drawing/2014/main" xmlns="" id="{3901F8F3-BDB5-44B7-8624-BE3DE72725AC}"/>
              </a:ext>
            </a:extLst>
          </p:cNvPr>
          <p:cNvSpPr>
            <a:spLocks noGrp="1" noChangeArrowheads="1"/>
          </p:cNvSpPr>
          <p:nvPr>
            <p:ph type="body" idx="1"/>
          </p:nvPr>
        </p:nvSpPr>
        <p:spPr/>
        <p:txBody>
          <a:bodyPr/>
          <a:lstStyle/>
          <a:p>
            <a:pPr eaLnBrk="1" hangingPunct="1"/>
            <a:r>
              <a:rPr lang="en-US" altLang="en-US" sz="2800"/>
              <a:t>History is your best ally</a:t>
            </a:r>
          </a:p>
          <a:p>
            <a:pPr lvl="1" eaLnBrk="1" hangingPunct="1"/>
            <a:r>
              <a:rPr lang="en-US" altLang="en-US" sz="2400"/>
              <a:t>Especially when using LOC, function points, etc.</a:t>
            </a:r>
          </a:p>
          <a:p>
            <a:pPr eaLnBrk="1" hangingPunct="1"/>
            <a:r>
              <a:rPr lang="en-US" altLang="en-US" sz="2800"/>
              <a:t>Use multiple methods if possible</a:t>
            </a:r>
          </a:p>
          <a:p>
            <a:pPr lvl="1" eaLnBrk="1" hangingPunct="1"/>
            <a:r>
              <a:rPr lang="en-US" altLang="en-US" sz="2400"/>
              <a:t>This reduces your risk</a:t>
            </a:r>
          </a:p>
          <a:p>
            <a:pPr lvl="1" eaLnBrk="1" hangingPunct="1"/>
            <a:r>
              <a:rPr lang="en-US" altLang="en-US" sz="2400"/>
              <a:t>If using “experts”, use two</a:t>
            </a:r>
          </a:p>
          <a:p>
            <a:pPr eaLnBrk="1" hangingPunct="1"/>
            <a:r>
              <a:rPr lang="en-US" altLang="en-US" sz="2800"/>
              <a:t>Get buy-in</a:t>
            </a:r>
          </a:p>
          <a:p>
            <a:pPr eaLnBrk="1" hangingPunct="1"/>
            <a:r>
              <a:rPr lang="en-US" altLang="en-US" sz="2800"/>
              <a:t>Remember: it’s an iterative process!</a:t>
            </a:r>
          </a:p>
          <a:p>
            <a:pPr eaLnBrk="1" hangingPunct="1"/>
            <a:r>
              <a:rPr lang="en-US" altLang="en-US" sz="2800"/>
              <a:t>Know your “presentation” techniques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xmlns="" id="{D6D88C44-FC5B-498B-9114-CC60981065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79D3008-A0C5-4F7A-A71F-6CBEF0EF4A86}" type="slidenum">
              <a:rPr lang="en-US" altLang="en-US" sz="1200"/>
              <a:pPr eaLnBrk="1" hangingPunct="1"/>
              <a:t>6</a:t>
            </a:fld>
            <a:endParaRPr lang="en-US" altLang="en-US" sz="1200"/>
          </a:p>
        </p:txBody>
      </p:sp>
      <p:sp>
        <p:nvSpPr>
          <p:cNvPr id="21507" name="Rectangle 2">
            <a:extLst>
              <a:ext uri="{FF2B5EF4-FFF2-40B4-BE49-F238E27FC236}">
                <a16:creationId xmlns:a16="http://schemas.microsoft.com/office/drawing/2014/main" xmlns="" id="{47022EC1-A06D-4C39-BA96-1D5879F84082}"/>
              </a:ext>
            </a:extLst>
          </p:cNvPr>
          <p:cNvSpPr>
            <a:spLocks noGrp="1" noChangeArrowheads="1"/>
          </p:cNvSpPr>
          <p:nvPr>
            <p:ph type="title"/>
          </p:nvPr>
        </p:nvSpPr>
        <p:spPr/>
        <p:txBody>
          <a:bodyPr/>
          <a:lstStyle/>
          <a:p>
            <a:pPr eaLnBrk="1" hangingPunct="1"/>
            <a:r>
              <a:rPr lang="en-US" altLang="en-US"/>
              <a:t>Your Early Phase Processes</a:t>
            </a:r>
          </a:p>
        </p:txBody>
      </p:sp>
      <p:sp>
        <p:nvSpPr>
          <p:cNvPr id="21508" name="Rectangle 3">
            <a:extLst>
              <a:ext uri="{FF2B5EF4-FFF2-40B4-BE49-F238E27FC236}">
                <a16:creationId xmlns:a16="http://schemas.microsoft.com/office/drawing/2014/main" xmlns="" id="{EF1CC0D0-BBF8-46DF-B4D9-ED9FBBA111C2}"/>
              </a:ext>
            </a:extLst>
          </p:cNvPr>
          <p:cNvSpPr>
            <a:spLocks noGrp="1" noChangeArrowheads="1"/>
          </p:cNvSpPr>
          <p:nvPr>
            <p:ph type="body" idx="1"/>
          </p:nvPr>
        </p:nvSpPr>
        <p:spPr>
          <a:xfrm>
            <a:off x="148856" y="1825624"/>
            <a:ext cx="9101470" cy="4798459"/>
          </a:xfrm>
        </p:spPr>
        <p:txBody>
          <a:bodyPr>
            <a:normAutofit/>
          </a:bodyPr>
          <a:lstStyle/>
          <a:p>
            <a:pPr eaLnBrk="1" hangingPunct="1">
              <a:lnSpc>
                <a:spcPct val="90000"/>
              </a:lnSpc>
            </a:pPr>
            <a:r>
              <a:rPr lang="en-US" altLang="en-US" sz="2800" dirty="0"/>
              <a:t>Initial Planning: </a:t>
            </a:r>
          </a:p>
          <a:p>
            <a:pPr lvl="2" eaLnBrk="1" hangingPunct="1">
              <a:lnSpc>
                <a:spcPct val="90000"/>
              </a:lnSpc>
            </a:pPr>
            <a:r>
              <a:rPr lang="en-US" altLang="en-US" dirty="0"/>
              <a:t>Why</a:t>
            </a:r>
          </a:p>
          <a:p>
            <a:pPr lvl="3" eaLnBrk="1" hangingPunct="1">
              <a:lnSpc>
                <a:spcPct val="90000"/>
              </a:lnSpc>
            </a:pPr>
            <a:r>
              <a:rPr lang="en-US" altLang="en-US" dirty="0"/>
              <a:t>SOW, Charter</a:t>
            </a:r>
          </a:p>
          <a:p>
            <a:pPr lvl="2" eaLnBrk="1" hangingPunct="1">
              <a:lnSpc>
                <a:spcPct val="90000"/>
              </a:lnSpc>
            </a:pPr>
            <a:r>
              <a:rPr lang="en-US" altLang="en-US" dirty="0"/>
              <a:t>What/How (partial/1</a:t>
            </a:r>
            <a:r>
              <a:rPr lang="en-US" altLang="en-US" baseline="30000" dirty="0"/>
              <a:t>st</a:t>
            </a:r>
            <a:r>
              <a:rPr lang="en-US" altLang="en-US" dirty="0"/>
              <a:t> pass)</a:t>
            </a:r>
          </a:p>
          <a:p>
            <a:pPr lvl="3" eaLnBrk="1" hangingPunct="1">
              <a:lnSpc>
                <a:spcPct val="90000"/>
              </a:lnSpc>
            </a:pPr>
            <a:r>
              <a:rPr lang="en-US" altLang="en-US" dirty="0"/>
              <a:t>WBS</a:t>
            </a:r>
          </a:p>
          <a:p>
            <a:pPr lvl="3" eaLnBrk="1" hangingPunct="1">
              <a:lnSpc>
                <a:spcPct val="90000"/>
              </a:lnSpc>
            </a:pPr>
            <a:r>
              <a:rPr lang="en-US" altLang="en-US" dirty="0"/>
              <a:t>Other planning documents </a:t>
            </a:r>
          </a:p>
          <a:p>
            <a:pPr lvl="4" eaLnBrk="1" hangingPunct="1">
              <a:lnSpc>
                <a:spcPct val="90000"/>
              </a:lnSpc>
            </a:pPr>
            <a:r>
              <a:rPr lang="en-US" altLang="en-US" dirty="0"/>
              <a:t>Software Development Plan, Risk Mgmt., </a:t>
            </a:r>
            <a:r>
              <a:rPr lang="en-US" altLang="en-US" dirty="0" err="1"/>
              <a:t>Cfg</a:t>
            </a:r>
            <a:r>
              <a:rPr lang="en-US" altLang="en-US" dirty="0"/>
              <a:t>. Mgmt.</a:t>
            </a:r>
          </a:p>
          <a:p>
            <a:pPr eaLnBrk="1" hangingPunct="1">
              <a:lnSpc>
                <a:spcPct val="90000"/>
              </a:lnSpc>
            </a:pPr>
            <a:r>
              <a:rPr lang="en-US" altLang="en-US" sz="2800" dirty="0"/>
              <a:t>Estimating</a:t>
            </a:r>
          </a:p>
          <a:p>
            <a:pPr lvl="2" eaLnBrk="1" hangingPunct="1">
              <a:lnSpc>
                <a:spcPct val="90000"/>
              </a:lnSpc>
            </a:pPr>
            <a:r>
              <a:rPr lang="en-US" altLang="en-US" sz="2000" dirty="0"/>
              <a:t>Size (quantity/complexity) and Effort (duration)</a:t>
            </a:r>
          </a:p>
          <a:p>
            <a:pPr lvl="2" eaLnBrk="1" hangingPunct="1">
              <a:lnSpc>
                <a:spcPct val="90000"/>
              </a:lnSpc>
            </a:pPr>
            <a:r>
              <a:rPr lang="en-US" altLang="en-US" sz="2000" dirty="0"/>
              <a:t>Iterates</a:t>
            </a:r>
          </a:p>
          <a:p>
            <a:pPr eaLnBrk="1" hangingPunct="1">
              <a:lnSpc>
                <a:spcPct val="90000"/>
              </a:lnSpc>
            </a:pPr>
            <a:r>
              <a:rPr lang="en-US" altLang="en-US" sz="2800" dirty="0"/>
              <a:t>Scheduling</a:t>
            </a:r>
          </a:p>
          <a:p>
            <a:pPr lvl="2" eaLnBrk="1" hangingPunct="1">
              <a:lnSpc>
                <a:spcPct val="90000"/>
              </a:lnSpc>
            </a:pPr>
            <a:r>
              <a:rPr lang="en-US" altLang="en-US" sz="2000" dirty="0"/>
              <a:t>Begins along with 1</a:t>
            </a:r>
            <a:r>
              <a:rPr lang="en-US" altLang="en-US" sz="2000" baseline="30000" dirty="0"/>
              <a:t>st</a:t>
            </a:r>
            <a:r>
              <a:rPr lang="en-US" altLang="en-US" sz="2000" dirty="0"/>
              <a:t> estimates</a:t>
            </a:r>
          </a:p>
          <a:p>
            <a:pPr lvl="2" eaLnBrk="1" hangingPunct="1">
              <a:lnSpc>
                <a:spcPct val="90000"/>
              </a:lnSpc>
            </a:pPr>
            <a:r>
              <a:rPr lang="en-US" altLang="en-US" sz="2000" dirty="0"/>
              <a:t>Iterates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xmlns="" id="{BC4F7AAE-5A77-4975-9783-3DB22EE0C6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C396BF9F-9F13-4F8E-A641-C0D8E974BA63}" type="slidenum">
              <a:rPr lang="en-US" altLang="en-US" sz="1200"/>
              <a:pPr eaLnBrk="1" hangingPunct="1"/>
              <a:t>7</a:t>
            </a:fld>
            <a:endParaRPr lang="en-US" altLang="en-US" sz="1200"/>
          </a:p>
        </p:txBody>
      </p:sp>
      <p:sp>
        <p:nvSpPr>
          <p:cNvPr id="22531" name="Rectangle 2">
            <a:extLst>
              <a:ext uri="{FF2B5EF4-FFF2-40B4-BE49-F238E27FC236}">
                <a16:creationId xmlns:a16="http://schemas.microsoft.com/office/drawing/2014/main" xmlns="" id="{A1CA3966-F88B-4946-B99E-985CEF776EBA}"/>
              </a:ext>
            </a:extLst>
          </p:cNvPr>
          <p:cNvSpPr>
            <a:spLocks noGrp="1" noChangeArrowheads="1"/>
          </p:cNvSpPr>
          <p:nvPr>
            <p:ph type="title"/>
          </p:nvPr>
        </p:nvSpPr>
        <p:spPr/>
        <p:txBody>
          <a:bodyPr/>
          <a:lstStyle/>
          <a:p>
            <a:pPr eaLnBrk="1" hangingPunct="1"/>
            <a:r>
              <a:rPr lang="en-US" altLang="en-US"/>
              <a:t>Scheduling</a:t>
            </a:r>
          </a:p>
        </p:txBody>
      </p:sp>
      <p:sp>
        <p:nvSpPr>
          <p:cNvPr id="22532" name="Rectangle 3">
            <a:extLst>
              <a:ext uri="{FF2B5EF4-FFF2-40B4-BE49-F238E27FC236}">
                <a16:creationId xmlns:a16="http://schemas.microsoft.com/office/drawing/2014/main" xmlns="" id="{ED2A585C-2672-4C31-A552-E07D22EDDCA5}"/>
              </a:ext>
            </a:extLst>
          </p:cNvPr>
          <p:cNvSpPr>
            <a:spLocks noGrp="1" noChangeArrowheads="1"/>
          </p:cNvSpPr>
          <p:nvPr>
            <p:ph type="body" idx="1"/>
          </p:nvPr>
        </p:nvSpPr>
        <p:spPr/>
        <p:txBody>
          <a:bodyPr/>
          <a:lstStyle/>
          <a:p>
            <a:pPr eaLnBrk="1" hangingPunct="1"/>
            <a:r>
              <a:rPr lang="en-US" altLang="en-US" sz="2800" dirty="0"/>
              <a:t>Once tasks (from the WBS) and size/effort (from estimation) are known: then schedule</a:t>
            </a:r>
          </a:p>
          <a:p>
            <a:pPr eaLnBrk="1" hangingPunct="1"/>
            <a:r>
              <a:rPr lang="en-US" altLang="en-US" sz="2800" dirty="0"/>
              <a:t>Primary objectives</a:t>
            </a:r>
          </a:p>
          <a:p>
            <a:pPr lvl="2" eaLnBrk="1" hangingPunct="1"/>
            <a:r>
              <a:rPr lang="en-US" altLang="en-US" sz="2400" dirty="0"/>
              <a:t>Best time</a:t>
            </a:r>
          </a:p>
          <a:p>
            <a:pPr lvl="2" eaLnBrk="1" hangingPunct="1"/>
            <a:r>
              <a:rPr lang="en-US" altLang="en-US" sz="2400" dirty="0"/>
              <a:t>Least cost</a:t>
            </a:r>
          </a:p>
          <a:p>
            <a:pPr lvl="2" eaLnBrk="1" hangingPunct="1"/>
            <a:r>
              <a:rPr lang="en-US" altLang="en-US" sz="2400" dirty="0"/>
              <a:t>Least risk</a:t>
            </a:r>
          </a:p>
          <a:p>
            <a:pPr eaLnBrk="1" hangingPunct="1"/>
            <a:r>
              <a:rPr lang="en-US" altLang="en-US" sz="2800" dirty="0"/>
              <a:t>Secondary objectives</a:t>
            </a:r>
          </a:p>
          <a:p>
            <a:pPr lvl="2" eaLnBrk="1" hangingPunct="1"/>
            <a:r>
              <a:rPr lang="en-US" altLang="en-US" sz="2400" dirty="0"/>
              <a:t>Evaluation of schedule alternatives</a:t>
            </a:r>
          </a:p>
          <a:p>
            <a:pPr lvl="2" eaLnBrk="1" hangingPunct="1"/>
            <a:r>
              <a:rPr lang="en-US" altLang="en-US" sz="2400" dirty="0"/>
              <a:t>Effective use of resources</a:t>
            </a:r>
          </a:p>
          <a:p>
            <a:pPr lvl="2" eaLnBrk="1" hangingPunct="1"/>
            <a:r>
              <a:rPr lang="en-US" altLang="en-US" sz="2400" dirty="0"/>
              <a:t>Communications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xmlns="" id="{1787DBFD-3139-4257-B1C1-29D177C8EC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2843D4E6-E532-4D32-93CA-11D83392FE14}" type="slidenum">
              <a:rPr lang="en-US" altLang="en-US" sz="1200"/>
              <a:pPr eaLnBrk="1" hangingPunct="1"/>
              <a:t>8</a:t>
            </a:fld>
            <a:endParaRPr lang="en-US" altLang="en-US" sz="1200"/>
          </a:p>
        </p:txBody>
      </p:sp>
      <p:sp>
        <p:nvSpPr>
          <p:cNvPr id="26627" name="Rectangle 2">
            <a:extLst>
              <a:ext uri="{FF2B5EF4-FFF2-40B4-BE49-F238E27FC236}">
                <a16:creationId xmlns:a16="http://schemas.microsoft.com/office/drawing/2014/main" xmlns="" id="{237771B9-5310-465D-AE5C-CA4595A4A77C}"/>
              </a:ext>
            </a:extLst>
          </p:cNvPr>
          <p:cNvSpPr>
            <a:spLocks noGrp="1" noChangeArrowheads="1"/>
          </p:cNvSpPr>
          <p:nvPr>
            <p:ph type="title"/>
          </p:nvPr>
        </p:nvSpPr>
        <p:spPr/>
        <p:txBody>
          <a:bodyPr/>
          <a:lstStyle/>
          <a:p>
            <a:pPr eaLnBrk="1" hangingPunct="1"/>
            <a:r>
              <a:rPr lang="en-US" altLang="en-US"/>
              <a:t>Scheduling Techniques</a:t>
            </a:r>
          </a:p>
        </p:txBody>
      </p:sp>
      <p:sp>
        <p:nvSpPr>
          <p:cNvPr id="26628" name="Rectangle 3">
            <a:extLst>
              <a:ext uri="{FF2B5EF4-FFF2-40B4-BE49-F238E27FC236}">
                <a16:creationId xmlns:a16="http://schemas.microsoft.com/office/drawing/2014/main" xmlns="" id="{190A8336-3DC9-4770-A7A5-0107EF9A5218}"/>
              </a:ext>
            </a:extLst>
          </p:cNvPr>
          <p:cNvSpPr>
            <a:spLocks noGrp="1" noChangeArrowheads="1"/>
          </p:cNvSpPr>
          <p:nvPr>
            <p:ph type="body" idx="1"/>
          </p:nvPr>
        </p:nvSpPr>
        <p:spPr/>
        <p:txBody>
          <a:bodyPr>
            <a:normAutofit/>
          </a:bodyPr>
          <a:lstStyle/>
          <a:p>
            <a:pPr lvl="1" eaLnBrk="1" hangingPunct="1"/>
            <a:r>
              <a:rPr lang="en-US" altLang="en-US" sz="3600" dirty="0"/>
              <a:t>Mathematical Analysis</a:t>
            </a:r>
          </a:p>
          <a:p>
            <a:pPr lvl="2" eaLnBrk="1" hangingPunct="1"/>
            <a:r>
              <a:rPr lang="en-US" altLang="en-US" sz="3200" dirty="0"/>
              <a:t>Network Diagrams</a:t>
            </a:r>
          </a:p>
          <a:p>
            <a:pPr lvl="3" eaLnBrk="1" hangingPunct="1"/>
            <a:r>
              <a:rPr lang="en-US" altLang="en-US" sz="2800" dirty="0"/>
              <a:t>PERT</a:t>
            </a:r>
          </a:p>
          <a:p>
            <a:pPr lvl="3" eaLnBrk="1" hangingPunct="1"/>
            <a:r>
              <a:rPr lang="en-US" altLang="en-US" sz="2800" dirty="0"/>
              <a:t>CPM</a:t>
            </a:r>
          </a:p>
          <a:p>
            <a:pPr lvl="1" eaLnBrk="1" hangingPunct="1"/>
            <a:r>
              <a:rPr lang="en-US" altLang="en-US" sz="3600" dirty="0"/>
              <a:t>Bar Charts</a:t>
            </a:r>
          </a:p>
          <a:p>
            <a:pPr lvl="2" eaLnBrk="1" hangingPunct="1"/>
            <a:r>
              <a:rPr lang="en-US" altLang="en-US" sz="3200" dirty="0"/>
              <a:t>Milestone Chart</a:t>
            </a:r>
          </a:p>
          <a:p>
            <a:pPr lvl="2" eaLnBrk="1" hangingPunct="1"/>
            <a:r>
              <a:rPr lang="en-US" altLang="en-US" sz="3200" dirty="0"/>
              <a:t>Gantt Chart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56688491-A296-4673-A972-1E099242AC10}"/>
              </a:ext>
            </a:extLst>
          </p:cNvPr>
          <p:cNvSpPr>
            <a:spLocks noGrp="1" noChangeArrowheads="1"/>
          </p:cNvSpPr>
          <p:nvPr>
            <p:ph type="title"/>
          </p:nvPr>
        </p:nvSpPr>
        <p:spPr>
          <a:xfrm>
            <a:off x="685800" y="115888"/>
            <a:ext cx="7772400" cy="1143000"/>
          </a:xfrm>
        </p:spPr>
        <p:txBody>
          <a:bodyPr/>
          <a:lstStyle/>
          <a:p>
            <a:r>
              <a:rPr lang="en-US" altLang="en-US"/>
              <a:t>Network Planning Models</a:t>
            </a:r>
          </a:p>
        </p:txBody>
      </p:sp>
      <p:sp>
        <p:nvSpPr>
          <p:cNvPr id="24579" name="Slide Number Placeholder 4">
            <a:extLst>
              <a:ext uri="{FF2B5EF4-FFF2-40B4-BE49-F238E27FC236}">
                <a16:creationId xmlns:a16="http://schemas.microsoft.com/office/drawing/2014/main" xmlns="" id="{48761B37-7C17-416E-A479-C9D8078BA0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fld id="{55C01F1F-9F61-468D-BD85-2EB50FF99539}" type="slidenum">
              <a:rPr lang="en-US" altLang="en-US" sz="1400">
                <a:solidFill>
                  <a:schemeClr val="tx1"/>
                </a:solidFill>
                <a:latin typeface="Times New Roman" panose="02020603050405020304" pitchFamily="18" charset="0"/>
              </a:rPr>
              <a:pPr>
                <a:spcBef>
                  <a:spcPct val="0"/>
                </a:spcBef>
                <a:buFontTx/>
                <a:buNone/>
              </a:pPr>
              <a:t>9</a:t>
            </a:fld>
            <a:endParaRPr lang="en-US" altLang="en-US" sz="1400">
              <a:solidFill>
                <a:schemeClr val="tx1"/>
              </a:solidFill>
              <a:latin typeface="Times New Roman" panose="02020603050405020304" pitchFamily="18" charset="0"/>
            </a:endParaRPr>
          </a:p>
        </p:txBody>
      </p:sp>
      <p:pic>
        <p:nvPicPr>
          <p:cNvPr id="24580" name="Picture 2">
            <a:extLst>
              <a:ext uri="{FF2B5EF4-FFF2-40B4-BE49-F238E27FC236}">
                <a16:creationId xmlns:a16="http://schemas.microsoft.com/office/drawing/2014/main" xmlns="" id="{37235966-CE9D-4BCC-9971-844956FB5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1773238"/>
            <a:ext cx="5010150"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3">
            <a:extLst>
              <a:ext uri="{FF2B5EF4-FFF2-40B4-BE49-F238E27FC236}">
                <a16:creationId xmlns:a16="http://schemas.microsoft.com/office/drawing/2014/main" xmlns="" id="{CB343224-925B-44E2-83AC-03E89A62992C}"/>
              </a:ext>
            </a:extLst>
          </p:cNvPr>
          <p:cNvSpPr txBox="1">
            <a:spLocks noChangeArrowheads="1"/>
          </p:cNvSpPr>
          <p:nvPr/>
        </p:nvSpPr>
        <p:spPr bwMode="auto">
          <a:xfrm>
            <a:off x="685800" y="1125538"/>
            <a:ext cx="7772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just">
              <a:spcBef>
                <a:spcPct val="0"/>
              </a:spcBef>
              <a:buFontTx/>
              <a:buNone/>
            </a:pPr>
            <a:r>
              <a:rPr lang="en-US" altLang="en-US" sz="1800">
                <a:solidFill>
                  <a:schemeClr val="tx1"/>
                </a:solidFill>
                <a:latin typeface="Arial" panose="020B0604020202020204" pitchFamily="34" charset="0"/>
              </a:rPr>
              <a:t>The project scheduling techniques model the project’s activities and their relationship as a network.</a:t>
            </a:r>
          </a:p>
        </p:txBody>
      </p:sp>
      <p:sp>
        <p:nvSpPr>
          <p:cNvPr id="24582" name="TextBox 7">
            <a:extLst>
              <a:ext uri="{FF2B5EF4-FFF2-40B4-BE49-F238E27FC236}">
                <a16:creationId xmlns:a16="http://schemas.microsoft.com/office/drawing/2014/main" xmlns="" id="{40E5D4D4-81BB-4651-BAE8-41D3A8204086}"/>
              </a:ext>
            </a:extLst>
          </p:cNvPr>
          <p:cNvSpPr txBox="1">
            <a:spLocks noChangeArrowheads="1"/>
          </p:cNvSpPr>
          <p:nvPr/>
        </p:nvSpPr>
        <p:spPr bwMode="auto">
          <a:xfrm>
            <a:off x="838200" y="4365625"/>
            <a:ext cx="77724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just">
              <a:spcBef>
                <a:spcPct val="0"/>
              </a:spcBef>
              <a:buFontTx/>
              <a:buNone/>
            </a:pPr>
            <a:r>
              <a:rPr lang="en-US" altLang="en-US" sz="1800" b="1">
                <a:solidFill>
                  <a:schemeClr val="tx1"/>
                </a:solidFill>
                <a:latin typeface="Arial" panose="020B0604020202020204" pitchFamily="34" charset="0"/>
              </a:rPr>
              <a:t>AOA</a:t>
            </a:r>
            <a:r>
              <a:rPr lang="en-US" altLang="en-US" sz="1800">
                <a:solidFill>
                  <a:schemeClr val="tx1"/>
                </a:solidFill>
                <a:latin typeface="Arial" panose="020B0604020202020204" pitchFamily="34" charset="0"/>
              </a:rPr>
              <a:t> approach is used to visualize the project as a network where activities are drawn as arrows joining circles, or nodes, which represent the possible start and/or completion of an activity or set of activities.</a:t>
            </a:r>
          </a:p>
        </p:txBody>
      </p:sp>
      <p:sp>
        <p:nvSpPr>
          <p:cNvPr id="24583" name="TextBox 8">
            <a:extLst>
              <a:ext uri="{FF2B5EF4-FFF2-40B4-BE49-F238E27FC236}">
                <a16:creationId xmlns:a16="http://schemas.microsoft.com/office/drawing/2014/main" xmlns="" id="{60BADE88-113F-47BE-8253-D960EFCC9F24}"/>
              </a:ext>
            </a:extLst>
          </p:cNvPr>
          <p:cNvSpPr txBox="1">
            <a:spLocks noChangeArrowheads="1"/>
          </p:cNvSpPr>
          <p:nvPr/>
        </p:nvSpPr>
        <p:spPr bwMode="auto">
          <a:xfrm>
            <a:off x="827088" y="5386388"/>
            <a:ext cx="77724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just">
              <a:spcBef>
                <a:spcPct val="0"/>
              </a:spcBef>
              <a:buFontTx/>
              <a:buNone/>
            </a:pPr>
            <a:r>
              <a:rPr lang="en-US" altLang="en-US" sz="1800" b="1">
                <a:solidFill>
                  <a:schemeClr val="tx1"/>
                </a:solidFill>
                <a:latin typeface="Arial" panose="020B0604020202020204" pitchFamily="34" charset="0"/>
              </a:rPr>
              <a:t>AON</a:t>
            </a:r>
            <a:r>
              <a:rPr lang="en-US" altLang="en-US" sz="1800">
                <a:solidFill>
                  <a:schemeClr val="tx1"/>
                </a:solidFill>
                <a:latin typeface="Arial" panose="020B0604020202020204" pitchFamily="34" charset="0"/>
              </a:rPr>
              <a:t> networks, activities are represented as nodes and links between nodes represent precedence (or sequencing) requirements. Majority of the computer applications use this method.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a:extLst>
              <a:ext uri="{FF2B5EF4-FFF2-40B4-BE49-F238E27FC236}">
                <a16:creationId xmlns:a16="http://schemas.microsoft.com/office/drawing/2014/main" xmlns="" id="{5042038A-CB0F-4769-B32A-1CABDE4A7C84}"/>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10</a:t>
            </a:fld>
            <a:endParaRPr lang="en-US" altLang="en-US" sz="1400">
              <a:solidFill>
                <a:schemeClr val="bg1"/>
              </a:solidFill>
            </a:endParaRPr>
          </a:p>
        </p:txBody>
      </p:sp>
      <p:sp>
        <p:nvSpPr>
          <p:cNvPr id="36867" name="Rectangle 2">
            <a:extLst>
              <a:ext uri="{FF2B5EF4-FFF2-40B4-BE49-F238E27FC236}">
                <a16:creationId xmlns:a16="http://schemas.microsoft.com/office/drawing/2014/main" xmlns="" id="{94A13DEF-D8C5-4A6C-82BE-6F06CE93A825}"/>
              </a:ext>
            </a:extLst>
          </p:cNvPr>
          <p:cNvSpPr>
            <a:spLocks noGrp="1" noChangeAspect="1" noChangeArrowheads="1"/>
          </p:cNvSpPr>
          <p:nvPr>
            <p:ph type="title"/>
          </p:nvPr>
        </p:nvSpPr>
        <p:spPr/>
        <p:txBody>
          <a:bodyPr/>
          <a:lstStyle/>
          <a:p>
            <a:r>
              <a:rPr lang="en-US" altLang="en-US" dirty="0"/>
              <a:t>Network Planning Models</a:t>
            </a:r>
          </a:p>
        </p:txBody>
      </p:sp>
      <p:sp>
        <p:nvSpPr>
          <p:cNvPr id="36868" name="Rectangle 3">
            <a:extLst>
              <a:ext uri="{FF2B5EF4-FFF2-40B4-BE49-F238E27FC236}">
                <a16:creationId xmlns:a16="http://schemas.microsoft.com/office/drawing/2014/main" xmlns="" id="{5FFEB4E9-6549-49AD-ABA6-5496D6388D0F}"/>
              </a:ext>
            </a:extLst>
          </p:cNvPr>
          <p:cNvSpPr>
            <a:spLocks noGrp="1" noChangeArrowheads="1"/>
          </p:cNvSpPr>
          <p:nvPr>
            <p:ph type="body" idx="1"/>
          </p:nvPr>
        </p:nvSpPr>
        <p:spPr/>
        <p:txBody>
          <a:bodyPr/>
          <a:lstStyle/>
          <a:p>
            <a:pPr>
              <a:lnSpc>
                <a:spcPct val="90000"/>
              </a:lnSpc>
            </a:pPr>
            <a:r>
              <a:rPr lang="en-US" altLang="en-US"/>
              <a:t>Sequencing the tasks according to their logical relationship, and then scheduling them taking into account resources and other factor</a:t>
            </a:r>
          </a:p>
          <a:p>
            <a:pPr>
              <a:lnSpc>
                <a:spcPct val="90000"/>
              </a:lnSpc>
            </a:pPr>
            <a:r>
              <a:rPr lang="en-US" altLang="en-US"/>
              <a:t>Modeling the project’s activities and their relationship as a network</a:t>
            </a:r>
          </a:p>
          <a:p>
            <a:pPr lvl="1">
              <a:lnSpc>
                <a:spcPct val="90000"/>
              </a:lnSpc>
            </a:pPr>
            <a:r>
              <a:rPr lang="en-US" altLang="en-US"/>
              <a:t>Time flows from left to right</a:t>
            </a:r>
          </a:p>
          <a:p>
            <a:pPr lvl="1">
              <a:lnSpc>
                <a:spcPct val="90000"/>
              </a:lnSpc>
            </a:pPr>
            <a:r>
              <a:rPr lang="en-US" altLang="en-US"/>
              <a:t>Originally developed in the 1950’s</a:t>
            </a:r>
          </a:p>
          <a:p>
            <a:pPr lvl="1">
              <a:lnSpc>
                <a:spcPct val="90000"/>
              </a:lnSpc>
            </a:pPr>
            <a:r>
              <a:rPr lang="en-US" altLang="en-US"/>
              <a:t>Two best known: CPM and PERT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xmlns="" id="{82D5BF59-85B7-4222-98EE-4306C8BF7C6C}"/>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11</a:t>
            </a:fld>
            <a:endParaRPr lang="en-US" altLang="en-US" sz="1400">
              <a:solidFill>
                <a:schemeClr val="bg1"/>
              </a:solidFill>
            </a:endParaRPr>
          </a:p>
        </p:txBody>
      </p:sp>
      <p:sp>
        <p:nvSpPr>
          <p:cNvPr id="37891" name="Rectangle 2">
            <a:extLst>
              <a:ext uri="{FF2B5EF4-FFF2-40B4-BE49-F238E27FC236}">
                <a16:creationId xmlns:a16="http://schemas.microsoft.com/office/drawing/2014/main" xmlns="" id="{8DD1B253-AF56-4E63-A0BF-8F79F716E0FD}"/>
              </a:ext>
            </a:extLst>
          </p:cNvPr>
          <p:cNvSpPr>
            <a:spLocks noGrp="1" noChangeAspect="1" noChangeArrowheads="1"/>
          </p:cNvSpPr>
          <p:nvPr>
            <p:ph type="title"/>
          </p:nvPr>
        </p:nvSpPr>
        <p:spPr/>
        <p:txBody>
          <a:bodyPr>
            <a:normAutofit fontScale="90000"/>
          </a:bodyPr>
          <a:lstStyle/>
          <a:p>
            <a:r>
              <a:rPr lang="en-US" altLang="en-US" dirty="0"/>
              <a:t>Network Planning Models</a:t>
            </a:r>
            <a:r>
              <a:rPr lang="en-US" altLang="en-US" sz="3200" dirty="0"/>
              <a:t/>
            </a:r>
            <a:br>
              <a:rPr lang="en-US" altLang="en-US" sz="3200" dirty="0"/>
            </a:br>
            <a:r>
              <a:rPr lang="en-US" altLang="en-US" sz="3200" dirty="0"/>
              <a:t>Activity-On-Arrow [1/2]</a:t>
            </a:r>
          </a:p>
        </p:txBody>
      </p:sp>
      <p:sp>
        <p:nvSpPr>
          <p:cNvPr id="37892" name="Rectangle 3">
            <a:extLst>
              <a:ext uri="{FF2B5EF4-FFF2-40B4-BE49-F238E27FC236}">
                <a16:creationId xmlns:a16="http://schemas.microsoft.com/office/drawing/2014/main" xmlns="" id="{0FCC2255-F4E9-43B5-B471-8B117FB959AF}"/>
              </a:ext>
            </a:extLst>
          </p:cNvPr>
          <p:cNvSpPr>
            <a:spLocks noGrp="1" noChangeArrowheads="1"/>
          </p:cNvSpPr>
          <p:nvPr>
            <p:ph type="body" idx="1"/>
          </p:nvPr>
        </p:nvSpPr>
        <p:spPr>
          <a:xfrm>
            <a:off x="724343" y="2211387"/>
            <a:ext cx="7886700" cy="4351338"/>
          </a:xfrm>
        </p:spPr>
        <p:txBody>
          <a:bodyPr/>
          <a:lstStyle/>
          <a:p>
            <a:pPr algn="just">
              <a:lnSpc>
                <a:spcPct val="100000"/>
              </a:lnSpc>
            </a:pPr>
            <a:r>
              <a:rPr lang="en-US" altLang="en-US" dirty="0"/>
              <a:t>Used by CPM (Critical Path Method) and PERT (Program Evaluation Review Technique) to visualize the project as a network </a:t>
            </a:r>
          </a:p>
          <a:p>
            <a:pPr lvl="1" algn="just">
              <a:lnSpc>
                <a:spcPct val="100000"/>
              </a:lnSpc>
            </a:pPr>
            <a:r>
              <a:rPr lang="en-US" altLang="en-US" dirty="0"/>
              <a:t>Activities are drawn as arrow joining circles, or nodes, which represent the possible start and/or completion of an activity or set of activities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a:extLst>
              <a:ext uri="{FF2B5EF4-FFF2-40B4-BE49-F238E27FC236}">
                <a16:creationId xmlns:a16="http://schemas.microsoft.com/office/drawing/2014/main" xmlns="" id="{80D86A32-8E85-4E3A-884C-ED3CFF34553E}"/>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12</a:t>
            </a:fld>
            <a:endParaRPr lang="en-US" altLang="en-US" sz="1400">
              <a:solidFill>
                <a:schemeClr val="bg1"/>
              </a:solidFill>
            </a:endParaRPr>
          </a:p>
        </p:txBody>
      </p:sp>
      <p:sp>
        <p:nvSpPr>
          <p:cNvPr id="38915" name="Rectangle 2">
            <a:extLst>
              <a:ext uri="{FF2B5EF4-FFF2-40B4-BE49-F238E27FC236}">
                <a16:creationId xmlns:a16="http://schemas.microsoft.com/office/drawing/2014/main" xmlns="" id="{4B63F7D3-F166-4010-9D62-64A37C8F37D7}"/>
              </a:ext>
            </a:extLst>
          </p:cNvPr>
          <p:cNvSpPr>
            <a:spLocks noGrp="1" noChangeAspect="1" noChangeArrowheads="1"/>
          </p:cNvSpPr>
          <p:nvPr>
            <p:ph type="title"/>
          </p:nvPr>
        </p:nvSpPr>
        <p:spPr/>
        <p:txBody>
          <a:bodyPr>
            <a:normAutofit fontScale="90000"/>
          </a:bodyPr>
          <a:lstStyle/>
          <a:p>
            <a:r>
              <a:rPr lang="en-US" altLang="en-US" dirty="0"/>
              <a:t>Network Planning Models</a:t>
            </a:r>
            <a:r>
              <a:rPr lang="en-US" altLang="en-US" sz="3200" dirty="0"/>
              <a:t/>
            </a:r>
            <a:br>
              <a:rPr lang="en-US" altLang="en-US" sz="3200" dirty="0"/>
            </a:br>
            <a:r>
              <a:rPr lang="en-US" altLang="en-US" sz="3200" dirty="0"/>
              <a:t>Activity-On-Arrow [2/2]</a:t>
            </a:r>
          </a:p>
        </p:txBody>
      </p:sp>
      <p:sp>
        <p:nvSpPr>
          <p:cNvPr id="38916" name="Rectangle 3">
            <a:extLst>
              <a:ext uri="{FF2B5EF4-FFF2-40B4-BE49-F238E27FC236}">
                <a16:creationId xmlns:a16="http://schemas.microsoft.com/office/drawing/2014/main" xmlns="" id="{6AA24529-8FBE-46CA-A4B1-8CBF0FFB233D}"/>
              </a:ext>
            </a:extLst>
          </p:cNvPr>
          <p:cNvSpPr>
            <a:spLocks noGrp="1" noChangeArrowheads="1"/>
          </p:cNvSpPr>
          <p:nvPr>
            <p:ph type="body" idx="1"/>
          </p:nvPr>
        </p:nvSpPr>
        <p:spPr/>
        <p:txBody>
          <a:bodyPr/>
          <a:lstStyle/>
          <a:p>
            <a:r>
              <a:rPr lang="en-US" altLang="en-US"/>
              <a:t>Project activity network fragment represented as a CPM network</a:t>
            </a:r>
          </a:p>
        </p:txBody>
      </p:sp>
      <p:pic>
        <p:nvPicPr>
          <p:cNvPr id="38917" name="Picture 4" descr="smpfigure 6">
            <a:extLst>
              <a:ext uri="{FF2B5EF4-FFF2-40B4-BE49-F238E27FC236}">
                <a16:creationId xmlns:a16="http://schemas.microsoft.com/office/drawing/2014/main" xmlns="" id="{DD1D707E-183B-4BA0-A841-1A49FC7E8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775099"/>
            <a:ext cx="8132578" cy="382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a:extLst>
              <a:ext uri="{FF2B5EF4-FFF2-40B4-BE49-F238E27FC236}">
                <a16:creationId xmlns:a16="http://schemas.microsoft.com/office/drawing/2014/main" xmlns="" id="{A8EF141C-3CE9-4177-9B85-B7E60EBE8370}"/>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13</a:t>
            </a:fld>
            <a:endParaRPr lang="en-US" altLang="en-US" sz="1400">
              <a:solidFill>
                <a:schemeClr val="bg1"/>
              </a:solidFill>
            </a:endParaRPr>
          </a:p>
        </p:txBody>
      </p:sp>
      <p:sp>
        <p:nvSpPr>
          <p:cNvPr id="39939" name="Rectangle 2">
            <a:extLst>
              <a:ext uri="{FF2B5EF4-FFF2-40B4-BE49-F238E27FC236}">
                <a16:creationId xmlns:a16="http://schemas.microsoft.com/office/drawing/2014/main" xmlns="" id="{8C7D42C3-80A9-427C-8B54-973874FDE589}"/>
              </a:ext>
            </a:extLst>
          </p:cNvPr>
          <p:cNvSpPr>
            <a:spLocks noGrp="1" noChangeAspect="1" noChangeArrowheads="1"/>
          </p:cNvSpPr>
          <p:nvPr>
            <p:ph type="title"/>
          </p:nvPr>
        </p:nvSpPr>
        <p:spPr/>
        <p:txBody>
          <a:bodyPr>
            <a:normAutofit fontScale="90000"/>
          </a:bodyPr>
          <a:lstStyle/>
          <a:p>
            <a:r>
              <a:rPr lang="en-US" altLang="en-US" dirty="0"/>
              <a:t>Network Planning Models</a:t>
            </a:r>
            <a:r>
              <a:rPr lang="en-US" altLang="en-US" sz="3200" dirty="0"/>
              <a:t/>
            </a:r>
            <a:br>
              <a:rPr lang="en-US" altLang="en-US" sz="3200" dirty="0"/>
            </a:br>
            <a:r>
              <a:rPr lang="en-US" altLang="en-US" sz="3200" dirty="0"/>
              <a:t>Activity-On-Node [1/2]</a:t>
            </a:r>
          </a:p>
        </p:txBody>
      </p:sp>
      <p:sp>
        <p:nvSpPr>
          <p:cNvPr id="39940" name="Rectangle 3">
            <a:extLst>
              <a:ext uri="{FF2B5EF4-FFF2-40B4-BE49-F238E27FC236}">
                <a16:creationId xmlns:a16="http://schemas.microsoft.com/office/drawing/2014/main" xmlns="" id="{556812CE-F9FE-4EC1-85D2-852F64CA4EEB}"/>
              </a:ext>
            </a:extLst>
          </p:cNvPr>
          <p:cNvSpPr>
            <a:spLocks noGrp="1" noChangeArrowheads="1"/>
          </p:cNvSpPr>
          <p:nvPr>
            <p:ph type="body" idx="1"/>
          </p:nvPr>
        </p:nvSpPr>
        <p:spPr>
          <a:xfrm>
            <a:off x="628650" y="2346620"/>
            <a:ext cx="7886700" cy="4351338"/>
          </a:xfrm>
        </p:spPr>
        <p:txBody>
          <a:bodyPr/>
          <a:lstStyle/>
          <a:p>
            <a:pPr>
              <a:lnSpc>
                <a:spcPct val="80000"/>
              </a:lnSpc>
            </a:pPr>
            <a:r>
              <a:rPr lang="en-US" altLang="en-US" dirty="0"/>
              <a:t>Used by </a:t>
            </a:r>
            <a:r>
              <a:rPr lang="en-US" altLang="en-US" i="1" dirty="0"/>
              <a:t>precedence networks</a:t>
            </a:r>
          </a:p>
          <a:p>
            <a:pPr lvl="1">
              <a:lnSpc>
                <a:spcPct val="80000"/>
              </a:lnSpc>
            </a:pPr>
            <a:r>
              <a:rPr lang="en-US" altLang="en-US" dirty="0"/>
              <a:t>Has become popular</a:t>
            </a:r>
          </a:p>
          <a:p>
            <a:pPr lvl="1">
              <a:lnSpc>
                <a:spcPct val="80000"/>
              </a:lnSpc>
            </a:pPr>
            <a:r>
              <a:rPr lang="en-US" altLang="en-US" dirty="0"/>
              <a:t>Widely adopted</a:t>
            </a:r>
          </a:p>
          <a:p>
            <a:pPr>
              <a:lnSpc>
                <a:spcPct val="80000"/>
              </a:lnSpc>
            </a:pPr>
            <a:r>
              <a:rPr lang="en-US" altLang="en-US" dirty="0"/>
              <a:t>Activities are represented as nodes</a:t>
            </a:r>
          </a:p>
          <a:p>
            <a:pPr>
              <a:lnSpc>
                <a:spcPct val="80000"/>
              </a:lnSpc>
            </a:pPr>
            <a:r>
              <a:rPr lang="en-US" altLang="en-US" dirty="0"/>
              <a:t>The links between nodes represent precedence (or sequencing) requirements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a:extLst>
              <a:ext uri="{FF2B5EF4-FFF2-40B4-BE49-F238E27FC236}">
                <a16:creationId xmlns:a16="http://schemas.microsoft.com/office/drawing/2014/main" xmlns="" id="{9B9AA7A8-7C4B-4EE8-A80A-8E61C1E9D45B}"/>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14</a:t>
            </a:fld>
            <a:endParaRPr lang="en-US" altLang="en-US" sz="1400">
              <a:solidFill>
                <a:schemeClr val="bg1"/>
              </a:solidFill>
            </a:endParaRPr>
          </a:p>
        </p:txBody>
      </p:sp>
      <p:sp>
        <p:nvSpPr>
          <p:cNvPr id="40963" name="Rectangle 2">
            <a:extLst>
              <a:ext uri="{FF2B5EF4-FFF2-40B4-BE49-F238E27FC236}">
                <a16:creationId xmlns:a16="http://schemas.microsoft.com/office/drawing/2014/main" xmlns="" id="{3974D988-698A-45B8-8F37-8451BE563CFB}"/>
              </a:ext>
            </a:extLst>
          </p:cNvPr>
          <p:cNvSpPr>
            <a:spLocks noGrp="1" noChangeAspect="1" noChangeArrowheads="1"/>
          </p:cNvSpPr>
          <p:nvPr>
            <p:ph type="title"/>
          </p:nvPr>
        </p:nvSpPr>
        <p:spPr/>
        <p:txBody>
          <a:bodyPr>
            <a:normAutofit fontScale="90000"/>
          </a:bodyPr>
          <a:lstStyle/>
          <a:p>
            <a:r>
              <a:rPr lang="en-US" altLang="en-US" dirty="0"/>
              <a:t>Network Planning Models</a:t>
            </a:r>
            <a:r>
              <a:rPr lang="en-US" altLang="en-US" sz="3200" dirty="0"/>
              <a:t/>
            </a:r>
            <a:br>
              <a:rPr lang="en-US" altLang="en-US" sz="3200" dirty="0"/>
            </a:br>
            <a:r>
              <a:rPr lang="en-US" altLang="en-US" sz="3200" dirty="0"/>
              <a:t>Activity-On-Node [2/2]</a:t>
            </a:r>
          </a:p>
        </p:txBody>
      </p:sp>
      <p:sp>
        <p:nvSpPr>
          <p:cNvPr id="40964" name="Rectangle 3">
            <a:extLst>
              <a:ext uri="{FF2B5EF4-FFF2-40B4-BE49-F238E27FC236}">
                <a16:creationId xmlns:a16="http://schemas.microsoft.com/office/drawing/2014/main" xmlns="" id="{39CB2CF5-849D-4B5B-8956-26F22070ACC6}"/>
              </a:ext>
            </a:extLst>
          </p:cNvPr>
          <p:cNvSpPr>
            <a:spLocks noGrp="1" noChangeArrowheads="1"/>
          </p:cNvSpPr>
          <p:nvPr>
            <p:ph type="body" idx="1"/>
          </p:nvPr>
        </p:nvSpPr>
        <p:spPr/>
        <p:txBody>
          <a:bodyPr/>
          <a:lstStyle/>
          <a:p>
            <a:r>
              <a:rPr lang="en-US" altLang="en-US"/>
              <a:t>Fragment of a network developed as an activity-on-node network</a:t>
            </a:r>
          </a:p>
        </p:txBody>
      </p:sp>
      <p:grpSp>
        <p:nvGrpSpPr>
          <p:cNvPr id="40965" name="Group 9">
            <a:extLst>
              <a:ext uri="{FF2B5EF4-FFF2-40B4-BE49-F238E27FC236}">
                <a16:creationId xmlns:a16="http://schemas.microsoft.com/office/drawing/2014/main" xmlns="" id="{3AFE9E0A-FD4E-475F-B7C0-FA91D2460366}"/>
              </a:ext>
            </a:extLst>
          </p:cNvPr>
          <p:cNvGrpSpPr>
            <a:grpSpLocks/>
          </p:cNvGrpSpPr>
          <p:nvPr/>
        </p:nvGrpSpPr>
        <p:grpSpPr bwMode="auto">
          <a:xfrm>
            <a:off x="914400" y="2743200"/>
            <a:ext cx="7239000" cy="3371850"/>
            <a:chOff x="576" y="1728"/>
            <a:chExt cx="4560" cy="2124"/>
          </a:xfrm>
        </p:grpSpPr>
        <p:pic>
          <p:nvPicPr>
            <p:cNvPr id="40967" name="Picture 4" descr="smpfigure 6">
              <a:extLst>
                <a:ext uri="{FF2B5EF4-FFF2-40B4-BE49-F238E27FC236}">
                  <a16:creationId xmlns:a16="http://schemas.microsoft.com/office/drawing/2014/main" xmlns="" id="{FF6D5FAF-E33D-4A17-800B-72722A7A2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1728"/>
              <a:ext cx="4560" cy="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Line 5">
              <a:extLst>
                <a:ext uri="{FF2B5EF4-FFF2-40B4-BE49-F238E27FC236}">
                  <a16:creationId xmlns:a16="http://schemas.microsoft.com/office/drawing/2014/main" xmlns="" id="{719A6470-3AD7-4193-80C1-C9AF34AD3A0F}"/>
                </a:ext>
              </a:extLst>
            </p:cNvPr>
            <p:cNvSpPr>
              <a:spLocks noChangeShapeType="1"/>
            </p:cNvSpPr>
            <p:nvPr/>
          </p:nvSpPr>
          <p:spPr bwMode="auto">
            <a:xfrm>
              <a:off x="3456" y="2016"/>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0969" name="Line 6">
              <a:extLst>
                <a:ext uri="{FF2B5EF4-FFF2-40B4-BE49-F238E27FC236}">
                  <a16:creationId xmlns:a16="http://schemas.microsoft.com/office/drawing/2014/main" xmlns="" id="{C764E305-55C1-4F60-9FA3-8921BB744707}"/>
                </a:ext>
              </a:extLst>
            </p:cNvPr>
            <p:cNvSpPr>
              <a:spLocks noChangeShapeType="1"/>
            </p:cNvSpPr>
            <p:nvPr/>
          </p:nvSpPr>
          <p:spPr bwMode="auto">
            <a:xfrm>
              <a:off x="3456" y="3024"/>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0970" name="Line 7">
              <a:extLst>
                <a:ext uri="{FF2B5EF4-FFF2-40B4-BE49-F238E27FC236}">
                  <a16:creationId xmlns:a16="http://schemas.microsoft.com/office/drawing/2014/main" xmlns="" id="{8B9ED950-5FEF-4CAD-B89D-E3963BF528EA}"/>
                </a:ext>
              </a:extLst>
            </p:cNvPr>
            <p:cNvSpPr>
              <a:spLocks noChangeShapeType="1"/>
            </p:cNvSpPr>
            <p:nvPr/>
          </p:nvSpPr>
          <p:spPr bwMode="auto">
            <a:xfrm>
              <a:off x="3456" y="2544"/>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0971" name="Line 8">
              <a:extLst>
                <a:ext uri="{FF2B5EF4-FFF2-40B4-BE49-F238E27FC236}">
                  <a16:creationId xmlns:a16="http://schemas.microsoft.com/office/drawing/2014/main" xmlns="" id="{A975E72B-00C6-40F5-B8E6-1C0394084AC0}"/>
                </a:ext>
              </a:extLst>
            </p:cNvPr>
            <p:cNvSpPr>
              <a:spLocks noChangeShapeType="1"/>
            </p:cNvSpPr>
            <p:nvPr/>
          </p:nvSpPr>
          <p:spPr bwMode="auto">
            <a:xfrm>
              <a:off x="3456" y="3504"/>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a:extLst>
              <a:ext uri="{FF2B5EF4-FFF2-40B4-BE49-F238E27FC236}">
                <a16:creationId xmlns:a16="http://schemas.microsoft.com/office/drawing/2014/main" xmlns="" id="{7F89302B-9A20-403D-B63D-7D01709EF77A}"/>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15</a:t>
            </a:fld>
            <a:endParaRPr lang="en-US" altLang="en-US" sz="1400">
              <a:solidFill>
                <a:schemeClr val="bg1"/>
              </a:solidFill>
            </a:endParaRPr>
          </a:p>
        </p:txBody>
      </p:sp>
      <p:sp>
        <p:nvSpPr>
          <p:cNvPr id="41987" name="Rectangle 2">
            <a:extLst>
              <a:ext uri="{FF2B5EF4-FFF2-40B4-BE49-F238E27FC236}">
                <a16:creationId xmlns:a16="http://schemas.microsoft.com/office/drawing/2014/main" xmlns="" id="{8085DE70-DECF-4881-84BA-2B0BA8D5DA46}"/>
              </a:ext>
            </a:extLst>
          </p:cNvPr>
          <p:cNvSpPr>
            <a:spLocks noGrp="1" noChangeAspect="1" noChangeArrowheads="1"/>
          </p:cNvSpPr>
          <p:nvPr>
            <p:ph type="title"/>
          </p:nvPr>
        </p:nvSpPr>
        <p:spPr/>
        <p:txBody>
          <a:bodyPr>
            <a:normAutofit fontScale="90000"/>
          </a:bodyPr>
          <a:lstStyle/>
          <a:p>
            <a:r>
              <a:rPr lang="en-US" altLang="en-US" dirty="0"/>
              <a:t>Formulating A Network Model</a:t>
            </a:r>
            <a:r>
              <a:rPr lang="en-US" altLang="en-US" sz="3200" dirty="0"/>
              <a:t/>
            </a:r>
            <a:br>
              <a:rPr lang="en-US" altLang="en-US" sz="3200" dirty="0"/>
            </a:br>
            <a:r>
              <a:rPr lang="en-US" altLang="en-US" sz="2800" dirty="0"/>
              <a:t>Constructing Precedence Network Rules [1/2]</a:t>
            </a:r>
          </a:p>
        </p:txBody>
      </p:sp>
      <p:sp>
        <p:nvSpPr>
          <p:cNvPr id="41988" name="Rectangle 3">
            <a:extLst>
              <a:ext uri="{FF2B5EF4-FFF2-40B4-BE49-F238E27FC236}">
                <a16:creationId xmlns:a16="http://schemas.microsoft.com/office/drawing/2014/main" xmlns="" id="{7CF694C2-0023-4FD1-B89F-CA36A1AB3C29}"/>
              </a:ext>
            </a:extLst>
          </p:cNvPr>
          <p:cNvSpPr>
            <a:spLocks noGrp="1" noChangeArrowheads="1"/>
          </p:cNvSpPr>
          <p:nvPr>
            <p:ph type="body" idx="1"/>
          </p:nvPr>
        </p:nvSpPr>
        <p:spPr/>
        <p:txBody>
          <a:bodyPr/>
          <a:lstStyle/>
          <a:p>
            <a:r>
              <a:rPr lang="en-US" altLang="en-US"/>
              <a:t>A project network should have only one start node</a:t>
            </a:r>
          </a:p>
          <a:p>
            <a:pPr lvl="1"/>
            <a:r>
              <a:rPr lang="en-US" altLang="en-US"/>
              <a:t>More than one activity starting at once? Invent a ‘start’ activity with zero duration</a:t>
            </a:r>
          </a:p>
          <a:p>
            <a:r>
              <a:rPr lang="en-US" altLang="en-US"/>
              <a:t>A project network should have only one end node</a:t>
            </a:r>
          </a:p>
          <a:p>
            <a:pPr lvl="1"/>
            <a:r>
              <a:rPr lang="en-US" altLang="en-US"/>
              <a:t>If necessary, invent an ‘end’ activity</a:t>
            </a:r>
          </a:p>
          <a:p>
            <a:r>
              <a:rPr lang="en-US" altLang="en-US"/>
              <a:t>A node has duration</a:t>
            </a:r>
          </a:p>
          <a:p>
            <a:r>
              <a:rPr lang="en-US" altLang="en-US"/>
              <a:t>Links normally have no duration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a:extLst>
              <a:ext uri="{FF2B5EF4-FFF2-40B4-BE49-F238E27FC236}">
                <a16:creationId xmlns:a16="http://schemas.microsoft.com/office/drawing/2014/main" xmlns="" id="{2F29168C-0606-442F-8887-19752B1276B5}"/>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16</a:t>
            </a:fld>
            <a:endParaRPr lang="en-US" altLang="en-US" sz="1400">
              <a:solidFill>
                <a:schemeClr val="bg1"/>
              </a:solidFill>
            </a:endParaRPr>
          </a:p>
        </p:txBody>
      </p:sp>
      <p:sp>
        <p:nvSpPr>
          <p:cNvPr id="43011" name="Rectangle 2">
            <a:extLst>
              <a:ext uri="{FF2B5EF4-FFF2-40B4-BE49-F238E27FC236}">
                <a16:creationId xmlns:a16="http://schemas.microsoft.com/office/drawing/2014/main" xmlns="" id="{6CEA05EE-8774-465F-8C50-9CD39FBDFEF8}"/>
              </a:ext>
            </a:extLst>
          </p:cNvPr>
          <p:cNvSpPr>
            <a:spLocks noGrp="1" noChangeAspect="1" noChangeArrowheads="1"/>
          </p:cNvSpPr>
          <p:nvPr>
            <p:ph type="title"/>
          </p:nvPr>
        </p:nvSpPr>
        <p:spPr/>
        <p:txBody>
          <a:bodyPr>
            <a:normAutofit fontScale="90000"/>
          </a:bodyPr>
          <a:lstStyle/>
          <a:p>
            <a:r>
              <a:rPr lang="en-US" altLang="en-US" dirty="0"/>
              <a:t>Formulating A Network Model</a:t>
            </a:r>
            <a:r>
              <a:rPr lang="en-US" altLang="en-US" sz="3200" dirty="0"/>
              <a:t/>
            </a:r>
            <a:br>
              <a:rPr lang="en-US" altLang="en-US" sz="3200" dirty="0"/>
            </a:br>
            <a:r>
              <a:rPr lang="en-US" altLang="en-US" sz="2800" dirty="0"/>
              <a:t>Constructing Precedence Network Rules [2/2]</a:t>
            </a:r>
          </a:p>
        </p:txBody>
      </p:sp>
      <p:sp>
        <p:nvSpPr>
          <p:cNvPr id="43012" name="Rectangle 3">
            <a:extLst>
              <a:ext uri="{FF2B5EF4-FFF2-40B4-BE49-F238E27FC236}">
                <a16:creationId xmlns:a16="http://schemas.microsoft.com/office/drawing/2014/main" xmlns="" id="{E848FD52-6893-48B0-AE44-3CBE5FAA34D2}"/>
              </a:ext>
            </a:extLst>
          </p:cNvPr>
          <p:cNvSpPr>
            <a:spLocks noGrp="1" noChangeArrowheads="1"/>
          </p:cNvSpPr>
          <p:nvPr>
            <p:ph type="body" idx="1"/>
          </p:nvPr>
        </p:nvSpPr>
        <p:spPr>
          <a:xfrm>
            <a:off x="628650" y="2211387"/>
            <a:ext cx="7886700" cy="4351338"/>
          </a:xfrm>
        </p:spPr>
        <p:txBody>
          <a:bodyPr/>
          <a:lstStyle/>
          <a:p>
            <a:r>
              <a:rPr lang="en-US" altLang="en-US" dirty="0"/>
              <a:t>Precedents are the immediate preceding activities</a:t>
            </a:r>
          </a:p>
          <a:p>
            <a:pPr lvl="1"/>
            <a:r>
              <a:rPr lang="en-US" altLang="en-US" dirty="0"/>
              <a:t>All have to be completed before an activity can be started</a:t>
            </a:r>
          </a:p>
          <a:p>
            <a:r>
              <a:rPr lang="en-US" altLang="en-US" dirty="0"/>
              <a:t>Time moves from left to right</a:t>
            </a:r>
          </a:p>
          <a:p>
            <a:r>
              <a:rPr lang="en-US" altLang="en-US" dirty="0"/>
              <a:t>A network may not contain loops</a:t>
            </a:r>
          </a:p>
          <a:p>
            <a:r>
              <a:rPr lang="en-US" altLang="en-US" dirty="0"/>
              <a:t>A network should not contain dangles</a:t>
            </a:r>
          </a:p>
          <a:p>
            <a:pPr lvl="1"/>
            <a:r>
              <a:rPr lang="en-US" altLang="en-US" dirty="0"/>
              <a:t>If necessary, connect to the final node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xmlns="" id="{E0B49D36-5414-475F-90C4-36F5B3AC3F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D52D4BA3-8FD1-4E2D-BC86-4054CCBBC0DD}" type="slidenum">
              <a:rPr lang="en-US" altLang="en-US" sz="1200"/>
              <a:pPr eaLnBrk="1" hangingPunct="1"/>
              <a:t>17</a:t>
            </a:fld>
            <a:endParaRPr lang="en-US" altLang="en-US" sz="1200"/>
          </a:p>
        </p:txBody>
      </p:sp>
      <p:sp>
        <p:nvSpPr>
          <p:cNvPr id="23555" name="Rectangle 2">
            <a:extLst>
              <a:ext uri="{FF2B5EF4-FFF2-40B4-BE49-F238E27FC236}">
                <a16:creationId xmlns:a16="http://schemas.microsoft.com/office/drawing/2014/main" xmlns="" id="{22E42C7C-59E3-4775-A8C4-56BF375680EF}"/>
              </a:ext>
            </a:extLst>
          </p:cNvPr>
          <p:cNvSpPr>
            <a:spLocks noGrp="1" noChangeArrowheads="1"/>
          </p:cNvSpPr>
          <p:nvPr>
            <p:ph type="title"/>
          </p:nvPr>
        </p:nvSpPr>
        <p:spPr/>
        <p:txBody>
          <a:bodyPr/>
          <a:lstStyle/>
          <a:p>
            <a:pPr eaLnBrk="1" hangingPunct="1"/>
            <a:r>
              <a:rPr lang="en-US" altLang="en-US"/>
              <a:t>Terminology</a:t>
            </a:r>
          </a:p>
        </p:txBody>
      </p:sp>
      <p:sp>
        <p:nvSpPr>
          <p:cNvPr id="23556" name="Rectangle 3">
            <a:extLst>
              <a:ext uri="{FF2B5EF4-FFF2-40B4-BE49-F238E27FC236}">
                <a16:creationId xmlns:a16="http://schemas.microsoft.com/office/drawing/2014/main" xmlns="" id="{C2B9DBF0-5A81-4A94-8105-7023D5FA5F7B}"/>
              </a:ext>
            </a:extLst>
          </p:cNvPr>
          <p:cNvSpPr>
            <a:spLocks noGrp="1" noChangeArrowheads="1"/>
          </p:cNvSpPr>
          <p:nvPr>
            <p:ph type="body" idx="1"/>
          </p:nvPr>
        </p:nvSpPr>
        <p:spPr>
          <a:xfrm>
            <a:off x="628650" y="1825624"/>
            <a:ext cx="7886700" cy="4660235"/>
          </a:xfrm>
        </p:spPr>
        <p:txBody>
          <a:bodyPr>
            <a:normAutofit lnSpcReduction="10000"/>
          </a:bodyPr>
          <a:lstStyle/>
          <a:p>
            <a:pPr algn="just" eaLnBrk="1" hangingPunct="1">
              <a:lnSpc>
                <a:spcPct val="100000"/>
              </a:lnSpc>
            </a:pPr>
            <a:r>
              <a:rPr lang="en-US" altLang="en-US" sz="3600" dirty="0"/>
              <a:t>Precedence: </a:t>
            </a:r>
          </a:p>
          <a:p>
            <a:pPr lvl="2" algn="just" eaLnBrk="1" hangingPunct="1">
              <a:lnSpc>
                <a:spcPct val="100000"/>
              </a:lnSpc>
            </a:pPr>
            <a:r>
              <a:rPr lang="en-US" altLang="en-US" sz="2800" dirty="0"/>
              <a:t>A task that must occur before another is said to have precedence of the other</a:t>
            </a:r>
          </a:p>
          <a:p>
            <a:pPr algn="just" eaLnBrk="1" hangingPunct="1">
              <a:lnSpc>
                <a:spcPct val="100000"/>
              </a:lnSpc>
            </a:pPr>
            <a:r>
              <a:rPr lang="en-US" altLang="en-US" sz="3600" dirty="0"/>
              <a:t>Concurrence:</a:t>
            </a:r>
          </a:p>
          <a:p>
            <a:pPr lvl="2" algn="just" eaLnBrk="1" hangingPunct="1">
              <a:lnSpc>
                <a:spcPct val="100000"/>
              </a:lnSpc>
            </a:pPr>
            <a:r>
              <a:rPr lang="en-US" altLang="en-US" sz="2800" dirty="0"/>
              <a:t>Concurrent tasks are those that can occur at the same time (in parallel)</a:t>
            </a:r>
          </a:p>
          <a:p>
            <a:pPr algn="just" eaLnBrk="1" hangingPunct="1">
              <a:lnSpc>
                <a:spcPct val="100000"/>
              </a:lnSpc>
            </a:pPr>
            <a:r>
              <a:rPr lang="en-US" altLang="en-US" sz="3600" dirty="0"/>
              <a:t>Leads &amp; Lag Time</a:t>
            </a:r>
          </a:p>
          <a:p>
            <a:pPr lvl="2" algn="just" eaLnBrk="1" hangingPunct="1">
              <a:lnSpc>
                <a:spcPct val="100000"/>
              </a:lnSpc>
            </a:pPr>
            <a:r>
              <a:rPr lang="en-US" altLang="en-US" sz="2800" dirty="0"/>
              <a:t>Delays between activities</a:t>
            </a:r>
          </a:p>
          <a:p>
            <a:pPr lvl="2" algn="just" eaLnBrk="1" hangingPunct="1">
              <a:lnSpc>
                <a:spcPct val="100000"/>
              </a:lnSpc>
            </a:pPr>
            <a:r>
              <a:rPr lang="en-US" altLang="en-US" sz="2800" dirty="0"/>
              <a:t>Time required before or after a given task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xmlns="" id="{2012A995-B031-44E4-863E-EF3DE6ADCC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4DC786FC-DB9F-4CEE-9A86-0EBCF5074D7C}" type="slidenum">
              <a:rPr lang="en-US" altLang="en-US" sz="1200"/>
              <a:pPr eaLnBrk="1" hangingPunct="1"/>
              <a:t>18</a:t>
            </a:fld>
            <a:endParaRPr lang="en-US" altLang="en-US" sz="1200"/>
          </a:p>
        </p:txBody>
      </p:sp>
      <p:sp>
        <p:nvSpPr>
          <p:cNvPr id="34819" name="Rectangle 2">
            <a:extLst>
              <a:ext uri="{FF2B5EF4-FFF2-40B4-BE49-F238E27FC236}">
                <a16:creationId xmlns:a16="http://schemas.microsoft.com/office/drawing/2014/main" xmlns="" id="{6EB5C74A-5B73-424E-9BA7-F7EB98109E4A}"/>
              </a:ext>
            </a:extLst>
          </p:cNvPr>
          <p:cNvSpPr>
            <a:spLocks noGrp="1" noChangeArrowheads="1"/>
          </p:cNvSpPr>
          <p:nvPr>
            <p:ph type="title"/>
          </p:nvPr>
        </p:nvSpPr>
        <p:spPr/>
        <p:txBody>
          <a:bodyPr/>
          <a:lstStyle/>
          <a:p>
            <a:pPr eaLnBrk="1" hangingPunct="1"/>
            <a:r>
              <a:rPr lang="en-US" altLang="en-US"/>
              <a:t>4 Task Dependency Types</a:t>
            </a:r>
          </a:p>
        </p:txBody>
      </p:sp>
      <p:sp>
        <p:nvSpPr>
          <p:cNvPr id="34820" name="Rectangle 3">
            <a:extLst>
              <a:ext uri="{FF2B5EF4-FFF2-40B4-BE49-F238E27FC236}">
                <a16:creationId xmlns:a16="http://schemas.microsoft.com/office/drawing/2014/main" xmlns="" id="{0D9635A6-490F-426E-B733-9569BC4B7071}"/>
              </a:ext>
            </a:extLst>
          </p:cNvPr>
          <p:cNvSpPr>
            <a:spLocks noGrp="1" noChangeArrowheads="1"/>
          </p:cNvSpPr>
          <p:nvPr>
            <p:ph type="body" idx="1"/>
          </p:nvPr>
        </p:nvSpPr>
        <p:spPr>
          <a:xfrm>
            <a:off x="628650" y="1825624"/>
            <a:ext cx="7886700" cy="4809091"/>
          </a:xfrm>
        </p:spPr>
        <p:txBody>
          <a:bodyPr>
            <a:normAutofit/>
          </a:bodyPr>
          <a:lstStyle/>
          <a:p>
            <a:pPr eaLnBrk="1" hangingPunct="1">
              <a:lnSpc>
                <a:spcPct val="100000"/>
              </a:lnSpc>
            </a:pPr>
            <a:r>
              <a:rPr lang="en-US" altLang="en-US" b="1" dirty="0"/>
              <a:t>Mandatory</a:t>
            </a:r>
            <a:r>
              <a:rPr lang="en-US" altLang="en-US" dirty="0"/>
              <a:t> Dependencies</a:t>
            </a:r>
          </a:p>
          <a:p>
            <a:pPr lvl="2" eaLnBrk="1" hangingPunct="1">
              <a:lnSpc>
                <a:spcPct val="100000"/>
              </a:lnSpc>
            </a:pPr>
            <a:r>
              <a:rPr lang="en-US" altLang="en-US" dirty="0"/>
              <a:t>“</a:t>
            </a:r>
            <a:r>
              <a:rPr lang="en-US" altLang="en-US" sz="2400" dirty="0"/>
              <a:t>Hard logic” dependencies</a:t>
            </a:r>
          </a:p>
          <a:p>
            <a:pPr lvl="2" eaLnBrk="1" hangingPunct="1">
              <a:lnSpc>
                <a:spcPct val="100000"/>
              </a:lnSpc>
            </a:pPr>
            <a:r>
              <a:rPr lang="en-US" altLang="en-US" sz="2400" dirty="0"/>
              <a:t>Nature of the work dictates an ordering</a:t>
            </a:r>
          </a:p>
          <a:p>
            <a:pPr lvl="2" eaLnBrk="1" hangingPunct="1">
              <a:lnSpc>
                <a:spcPct val="100000"/>
              </a:lnSpc>
            </a:pPr>
            <a:r>
              <a:rPr lang="en-US" altLang="en-US" sz="2400" dirty="0"/>
              <a:t>Ex: Coding has to precede testing</a:t>
            </a:r>
          </a:p>
          <a:p>
            <a:pPr lvl="2" eaLnBrk="1" hangingPunct="1">
              <a:lnSpc>
                <a:spcPct val="100000"/>
              </a:lnSpc>
            </a:pPr>
            <a:r>
              <a:rPr lang="en-US" altLang="en-US" sz="2400" dirty="0"/>
              <a:t>Ex: UI design precedes UI implementation</a:t>
            </a:r>
          </a:p>
          <a:p>
            <a:pPr eaLnBrk="1" hangingPunct="1">
              <a:lnSpc>
                <a:spcPct val="100000"/>
              </a:lnSpc>
            </a:pPr>
            <a:r>
              <a:rPr lang="en-US" altLang="en-US" b="1" dirty="0"/>
              <a:t>Discretionary</a:t>
            </a:r>
            <a:r>
              <a:rPr lang="en-US" altLang="en-US" dirty="0"/>
              <a:t> Dependencies</a:t>
            </a:r>
          </a:p>
          <a:p>
            <a:pPr lvl="2" eaLnBrk="1" hangingPunct="1">
              <a:lnSpc>
                <a:spcPct val="100000"/>
              </a:lnSpc>
            </a:pPr>
            <a:r>
              <a:rPr lang="en-US" altLang="en-US" sz="2400" dirty="0"/>
              <a:t>“Soft logic” dependencies</a:t>
            </a:r>
          </a:p>
          <a:p>
            <a:pPr lvl="2" eaLnBrk="1" hangingPunct="1">
              <a:lnSpc>
                <a:spcPct val="100000"/>
              </a:lnSpc>
            </a:pPr>
            <a:r>
              <a:rPr lang="en-US" altLang="en-US" sz="2400" dirty="0"/>
              <a:t>Determined by the project management team</a:t>
            </a:r>
          </a:p>
          <a:p>
            <a:pPr lvl="2" eaLnBrk="1" hangingPunct="1">
              <a:lnSpc>
                <a:spcPct val="100000"/>
              </a:lnSpc>
            </a:pPr>
            <a:r>
              <a:rPr lang="en-US" altLang="en-US" sz="2400" dirty="0"/>
              <a:t>Process-driven</a:t>
            </a:r>
          </a:p>
          <a:p>
            <a:pPr lvl="2" eaLnBrk="1" hangingPunct="1">
              <a:lnSpc>
                <a:spcPct val="100000"/>
              </a:lnSpc>
            </a:pPr>
            <a:r>
              <a:rPr lang="en-US" altLang="en-US" sz="2400" dirty="0"/>
              <a:t>Ex: Discretionary order of creating certain modules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xmlns="" id="{B5F71E2F-5E24-48E2-B6F5-6BAC6C0F88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1EFAC4A3-367F-4C49-9FD6-7ABB24A3FDB2}" type="slidenum">
              <a:rPr lang="en-US" altLang="en-US" sz="1200"/>
              <a:pPr eaLnBrk="1" hangingPunct="1"/>
              <a:t>19</a:t>
            </a:fld>
            <a:endParaRPr lang="en-US" altLang="en-US" sz="1200"/>
          </a:p>
        </p:txBody>
      </p:sp>
      <p:sp>
        <p:nvSpPr>
          <p:cNvPr id="35843" name="Rectangle 2">
            <a:extLst>
              <a:ext uri="{FF2B5EF4-FFF2-40B4-BE49-F238E27FC236}">
                <a16:creationId xmlns:a16="http://schemas.microsoft.com/office/drawing/2014/main" xmlns="" id="{85F89115-81C0-409A-9B61-FD2EA628EA0B}"/>
              </a:ext>
            </a:extLst>
          </p:cNvPr>
          <p:cNvSpPr>
            <a:spLocks noGrp="1" noChangeArrowheads="1"/>
          </p:cNvSpPr>
          <p:nvPr>
            <p:ph type="title"/>
          </p:nvPr>
        </p:nvSpPr>
        <p:spPr/>
        <p:txBody>
          <a:bodyPr/>
          <a:lstStyle/>
          <a:p>
            <a:pPr eaLnBrk="1" hangingPunct="1"/>
            <a:r>
              <a:rPr lang="en-US" altLang="en-US"/>
              <a:t>4 Task Dependency Types</a:t>
            </a:r>
          </a:p>
        </p:txBody>
      </p:sp>
      <p:sp>
        <p:nvSpPr>
          <p:cNvPr id="35844" name="Rectangle 3">
            <a:extLst>
              <a:ext uri="{FF2B5EF4-FFF2-40B4-BE49-F238E27FC236}">
                <a16:creationId xmlns:a16="http://schemas.microsoft.com/office/drawing/2014/main" xmlns="" id="{3B73EF7E-FC05-4A0B-BB31-C98B00463D09}"/>
              </a:ext>
            </a:extLst>
          </p:cNvPr>
          <p:cNvSpPr>
            <a:spLocks noGrp="1" noChangeArrowheads="1"/>
          </p:cNvSpPr>
          <p:nvPr>
            <p:ph type="body" idx="1"/>
          </p:nvPr>
        </p:nvSpPr>
        <p:spPr/>
        <p:txBody>
          <a:bodyPr/>
          <a:lstStyle/>
          <a:p>
            <a:pPr eaLnBrk="1" hangingPunct="1">
              <a:lnSpc>
                <a:spcPct val="100000"/>
              </a:lnSpc>
            </a:pPr>
            <a:r>
              <a:rPr lang="en-US" altLang="en-US" b="1" dirty="0"/>
              <a:t>External</a:t>
            </a:r>
            <a:r>
              <a:rPr lang="en-US" altLang="en-US" dirty="0"/>
              <a:t> Dependencies</a:t>
            </a:r>
          </a:p>
          <a:p>
            <a:pPr lvl="2" eaLnBrk="1" hangingPunct="1">
              <a:lnSpc>
                <a:spcPct val="100000"/>
              </a:lnSpc>
            </a:pPr>
            <a:r>
              <a:rPr lang="en-US" altLang="en-US" sz="2400" dirty="0"/>
              <a:t>Outside of the project itself</a:t>
            </a:r>
          </a:p>
          <a:p>
            <a:pPr lvl="2" eaLnBrk="1" hangingPunct="1">
              <a:lnSpc>
                <a:spcPct val="100000"/>
              </a:lnSpc>
            </a:pPr>
            <a:r>
              <a:rPr lang="en-US" altLang="en-US" sz="2400" dirty="0"/>
              <a:t>Ex: Release of 3</a:t>
            </a:r>
            <a:r>
              <a:rPr lang="en-US" altLang="en-US" sz="2400" baseline="30000" dirty="0"/>
              <a:t>rd</a:t>
            </a:r>
            <a:r>
              <a:rPr lang="en-US" altLang="en-US" sz="2400" dirty="0"/>
              <a:t> party product; contract signoff</a:t>
            </a:r>
          </a:p>
          <a:p>
            <a:pPr lvl="2" eaLnBrk="1" hangingPunct="1">
              <a:lnSpc>
                <a:spcPct val="100000"/>
              </a:lnSpc>
            </a:pPr>
            <a:r>
              <a:rPr lang="en-US" altLang="en-US" sz="2400" dirty="0"/>
              <a:t>Ex: stakeholders, suppliers, Y2K, year end</a:t>
            </a:r>
          </a:p>
          <a:p>
            <a:pPr eaLnBrk="1" hangingPunct="1">
              <a:lnSpc>
                <a:spcPct val="100000"/>
              </a:lnSpc>
            </a:pPr>
            <a:r>
              <a:rPr lang="en-US" altLang="en-US" b="1" dirty="0"/>
              <a:t>Resource</a:t>
            </a:r>
            <a:r>
              <a:rPr lang="en-US" altLang="en-US" dirty="0"/>
              <a:t> Dependencies</a:t>
            </a:r>
          </a:p>
          <a:p>
            <a:pPr lvl="2" eaLnBrk="1" hangingPunct="1">
              <a:lnSpc>
                <a:spcPct val="100000"/>
              </a:lnSpc>
            </a:pPr>
            <a:r>
              <a:rPr lang="en-US" altLang="en-US" sz="2400" dirty="0"/>
              <a:t>Two task rely on the same resource</a:t>
            </a:r>
          </a:p>
          <a:p>
            <a:pPr lvl="2" eaLnBrk="1" hangingPunct="1">
              <a:lnSpc>
                <a:spcPct val="100000"/>
              </a:lnSpc>
            </a:pPr>
            <a:r>
              <a:rPr lang="en-US" altLang="en-US" sz="2400" dirty="0"/>
              <a:t>Ex: You have only one DBA but multiple DB tasks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1800" dirty="0"/>
              <a:t>[Project Start]</a:t>
            </a:r>
          </a:p>
          <a:p>
            <a:pPr marL="0" indent="0">
              <a:buNone/>
            </a:pPr>
            <a:r>
              <a:rPr lang="en-US" sz="1800" dirty="0"/>
              <a:t>    ↓</a:t>
            </a:r>
          </a:p>
          <a:p>
            <a:pPr marL="0" indent="0">
              <a:buNone/>
            </a:pPr>
            <a:r>
              <a:rPr lang="en-US" sz="1800" dirty="0"/>
              <a:t>[Requirements Gathering] (5 days)</a:t>
            </a:r>
          </a:p>
          <a:p>
            <a:pPr marL="0" indent="0">
              <a:buNone/>
            </a:pPr>
            <a:r>
              <a:rPr lang="en-US" sz="1800" dirty="0"/>
              <a:t>    ↓</a:t>
            </a:r>
          </a:p>
          <a:p>
            <a:pPr marL="0" indent="0">
              <a:buNone/>
            </a:pPr>
            <a:r>
              <a:rPr lang="en-US" sz="1800" dirty="0"/>
              <a:t>[Design Database] (7 days) ← Mandatory dependency</a:t>
            </a:r>
          </a:p>
          <a:p>
            <a:pPr marL="0" indent="0">
              <a:buNone/>
            </a:pPr>
            <a:r>
              <a:rPr lang="en-US" sz="1800" dirty="0"/>
              <a:t>    ↓</a:t>
            </a:r>
          </a:p>
          <a:p>
            <a:pPr marL="0" indent="0">
              <a:buNone/>
            </a:pPr>
            <a:r>
              <a:rPr lang="en-US" sz="1800" dirty="0"/>
              <a:t>├─→ [Code Backend API] (10 days) ← Can start after DB design</a:t>
            </a:r>
          </a:p>
          <a:p>
            <a:pPr marL="0" indent="0">
              <a:buNone/>
            </a:pPr>
            <a:r>
              <a:rPr lang="en-US" sz="1800" dirty="0"/>
              <a:t>│</a:t>
            </a:r>
          </a:p>
          <a:p>
            <a:pPr marL="0" indent="0">
              <a:buNone/>
            </a:pPr>
            <a:r>
              <a:rPr lang="en-US" sz="1800" dirty="0"/>
              <a:t>├─→ [Design UI/UX] (8 days) ← Concurrent with backend</a:t>
            </a:r>
          </a:p>
          <a:p>
            <a:pPr marL="0" indent="0">
              <a:buNone/>
            </a:pPr>
            <a:r>
              <a:rPr lang="en-US" sz="1800" dirty="0"/>
              <a:t>│</a:t>
            </a:r>
          </a:p>
          <a:p>
            <a:pPr marL="0" indent="0">
              <a:buNone/>
            </a:pPr>
            <a:r>
              <a:rPr lang="en-US" sz="1800" dirty="0"/>
              <a:t>└─→ [Get API Key from Google] (1 day) ← External dependency</a:t>
            </a:r>
          </a:p>
          <a:p>
            <a:pPr marL="0" indent="0">
              <a:buNone/>
            </a:pPr>
            <a:r>
              <a:rPr lang="en-US" sz="1800" dirty="0"/>
              <a:t>    ↓</a:t>
            </a:r>
          </a:p>
          <a:p>
            <a:pPr marL="0" indent="0">
              <a:buNone/>
            </a:pPr>
            <a:r>
              <a:rPr lang="en-US" sz="1800" dirty="0"/>
              <a:t>[Code Frontend] (12 days) ← Needs UI design (mandatory)</a:t>
            </a:r>
          </a:p>
          <a:p>
            <a:pPr marL="0" indent="0">
              <a:buNone/>
            </a:pPr>
            <a:r>
              <a:rPr lang="en-US" sz="1800" dirty="0"/>
              <a:t>    ↓</a:t>
            </a:r>
          </a:p>
          <a:p>
            <a:pPr marL="0" indent="0">
              <a:buNone/>
            </a:pPr>
            <a:r>
              <a:rPr lang="en-US" sz="1800" dirty="0"/>
              <a:t>[Integration Testing] (5 days) ← Needs both frontend &amp; backend</a:t>
            </a:r>
          </a:p>
          <a:p>
            <a:pPr marL="0" indent="0">
              <a:buNone/>
            </a:pPr>
            <a:r>
              <a:rPr lang="en-US" sz="1800" dirty="0"/>
              <a:t>    ↓</a:t>
            </a:r>
          </a:p>
          <a:p>
            <a:pPr marL="0" indent="0">
              <a:buNone/>
            </a:pPr>
            <a:r>
              <a:rPr lang="en-US" sz="1800" dirty="0"/>
              <a:t>[Get Client Approval] (2 days) ← External dependency</a:t>
            </a:r>
          </a:p>
          <a:p>
            <a:pPr marL="0" indent="0">
              <a:buNone/>
            </a:pPr>
            <a:r>
              <a:rPr lang="en-US" sz="1800" dirty="0"/>
              <a:t>    ↓</a:t>
            </a:r>
          </a:p>
          <a:p>
            <a:pPr marL="0" indent="0">
              <a:buNone/>
            </a:pPr>
            <a:r>
              <a:rPr lang="en-US" sz="1800" dirty="0"/>
              <a:t>[Deploy to App Store] (1 day)</a:t>
            </a:r>
          </a:p>
          <a:p>
            <a:pPr marL="0" indent="0">
              <a:buNone/>
            </a:pPr>
            <a:r>
              <a:rPr lang="en-US" sz="1800" dirty="0"/>
              <a:t>    ↓</a:t>
            </a:r>
          </a:p>
          <a:p>
            <a:pPr marL="0" indent="0">
              <a:buNone/>
            </a:pPr>
            <a:r>
              <a:rPr lang="en-US" sz="1800" dirty="0"/>
              <a:t>[Project Complete]</a:t>
            </a:r>
          </a:p>
        </p:txBody>
      </p:sp>
      <p:sp>
        <p:nvSpPr>
          <p:cNvPr id="4" name="Slide Number Placeholder 3"/>
          <p:cNvSpPr>
            <a:spLocks noGrp="1"/>
          </p:cNvSpPr>
          <p:nvPr>
            <p:ph type="sldNum" sz="quarter" idx="12"/>
          </p:nvPr>
        </p:nvSpPr>
        <p:spPr/>
        <p:txBody>
          <a:bodyPr/>
          <a:lstStyle/>
          <a:p>
            <a:fld id="{60D6D740-8150-433F-9426-3FCFF681501A}" type="slidenum">
              <a:rPr lang="en-US" smtClean="0"/>
              <a:pPr/>
              <a:t>20</a:t>
            </a:fld>
            <a:endParaRPr lang="en-US" dirty="0"/>
          </a:p>
        </p:txBody>
      </p:sp>
    </p:spTree>
    <p:extLst>
      <p:ext uri="{BB962C8B-B14F-4D97-AF65-F5344CB8AC3E}">
        <p14:creationId xmlns:p14="http://schemas.microsoft.com/office/powerpoint/2010/main" val="792946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Dependencies identified:</a:t>
            </a:r>
            <a:endParaRPr lang="en-US" dirty="0"/>
          </a:p>
          <a:p>
            <a:r>
              <a:rPr lang="en-US" b="1" dirty="0"/>
              <a:t>Mandatory</a:t>
            </a:r>
            <a:r>
              <a:rPr lang="en-US" dirty="0"/>
              <a:t>: Database design before backend coding (can't code what doesn't exist)</a:t>
            </a:r>
          </a:p>
          <a:p>
            <a:r>
              <a:rPr lang="en-US" b="1" dirty="0"/>
              <a:t>Discretionary</a:t>
            </a:r>
            <a:r>
              <a:rPr lang="en-US" dirty="0"/>
              <a:t>: Could do UI design before or after database design (team choice)</a:t>
            </a:r>
          </a:p>
          <a:p>
            <a:r>
              <a:rPr lang="en-US" b="1" dirty="0"/>
              <a:t>External</a:t>
            </a:r>
            <a:r>
              <a:rPr lang="en-US" dirty="0"/>
              <a:t>: Waiting for Google API key approval</a:t>
            </a:r>
          </a:p>
          <a:p>
            <a:r>
              <a:rPr lang="en-US" b="1" dirty="0"/>
              <a:t>Resource</a:t>
            </a:r>
            <a:r>
              <a:rPr lang="en-US" dirty="0"/>
              <a:t>: If same developer does both frontend and backend, creates resource dependency</a:t>
            </a:r>
          </a:p>
          <a:p>
            <a:r>
              <a:rPr lang="en-US" b="1" dirty="0"/>
              <a:t>Concurrence</a:t>
            </a:r>
            <a:r>
              <a:rPr lang="en-US" dirty="0"/>
              <a:t>: UI design and backend coding happen in parallel</a:t>
            </a:r>
          </a:p>
          <a:p>
            <a:r>
              <a:rPr lang="en-US" b="1" dirty="0"/>
              <a:t>Lag time</a:t>
            </a:r>
            <a:r>
              <a:rPr lang="en-US" dirty="0"/>
              <a:t>: 2-day app store review time before public release</a:t>
            </a:r>
          </a:p>
          <a:p>
            <a:pPr marL="0" indent="0">
              <a:buNone/>
            </a:pPr>
            <a:endParaRPr lang="en-US" dirty="0"/>
          </a:p>
        </p:txBody>
      </p:sp>
      <p:sp>
        <p:nvSpPr>
          <p:cNvPr id="4" name="Slide Number Placeholder 3"/>
          <p:cNvSpPr>
            <a:spLocks noGrp="1"/>
          </p:cNvSpPr>
          <p:nvPr>
            <p:ph type="sldNum" sz="quarter" idx="12"/>
          </p:nvPr>
        </p:nvSpPr>
        <p:spPr/>
        <p:txBody>
          <a:bodyPr/>
          <a:lstStyle/>
          <a:p>
            <a:fld id="{60D6D740-8150-433F-9426-3FCFF681501A}" type="slidenum">
              <a:rPr lang="en-US" smtClean="0"/>
              <a:pPr/>
              <a:t>21</a:t>
            </a:fld>
            <a:endParaRPr lang="en-US" dirty="0"/>
          </a:p>
        </p:txBody>
      </p:sp>
    </p:spTree>
    <p:extLst>
      <p:ext uri="{BB962C8B-B14F-4D97-AF65-F5344CB8AC3E}">
        <p14:creationId xmlns:p14="http://schemas.microsoft.com/office/powerpoint/2010/main" val="1595785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Slide Number Placeholder 5">
            <a:extLst>
              <a:ext uri="{FF2B5EF4-FFF2-40B4-BE49-F238E27FC236}">
                <a16:creationId xmlns:a16="http://schemas.microsoft.com/office/drawing/2014/main" xmlns="" id="{8FB924B8-3AB5-42D5-B00D-4716AF7034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EF46F7F4-754C-4261-8F22-300BC7AF9424}" type="slidenum">
              <a:rPr lang="en-US" altLang="en-US" sz="1200"/>
              <a:pPr eaLnBrk="1" hangingPunct="1"/>
              <a:t>22</a:t>
            </a:fld>
            <a:endParaRPr lang="en-US" altLang="en-US" sz="1200"/>
          </a:p>
        </p:txBody>
      </p:sp>
      <p:sp>
        <p:nvSpPr>
          <p:cNvPr id="4103" name="Rectangle 2">
            <a:extLst>
              <a:ext uri="{FF2B5EF4-FFF2-40B4-BE49-F238E27FC236}">
                <a16:creationId xmlns:a16="http://schemas.microsoft.com/office/drawing/2014/main" xmlns="" id="{56F6A65F-CA46-4ECC-BCD7-F22C7CCF859F}"/>
              </a:ext>
            </a:extLst>
          </p:cNvPr>
          <p:cNvSpPr>
            <a:spLocks noGrp="1" noChangeArrowheads="1"/>
          </p:cNvSpPr>
          <p:nvPr>
            <p:ph type="title"/>
          </p:nvPr>
        </p:nvSpPr>
        <p:spPr/>
        <p:txBody>
          <a:bodyPr/>
          <a:lstStyle/>
          <a:p>
            <a:pPr eaLnBrk="1" hangingPunct="1"/>
            <a:r>
              <a:rPr lang="en-US" altLang="en-US"/>
              <a:t>Task Dependency Relationships</a:t>
            </a:r>
          </a:p>
        </p:txBody>
      </p:sp>
      <p:sp>
        <p:nvSpPr>
          <p:cNvPr id="4104" name="Rectangle 3">
            <a:extLst>
              <a:ext uri="{FF2B5EF4-FFF2-40B4-BE49-F238E27FC236}">
                <a16:creationId xmlns:a16="http://schemas.microsoft.com/office/drawing/2014/main" xmlns="" id="{63E45BA0-1787-4F97-840F-79CCDAE4A265}"/>
              </a:ext>
            </a:extLst>
          </p:cNvPr>
          <p:cNvSpPr>
            <a:spLocks noGrp="1" noChangeArrowheads="1"/>
          </p:cNvSpPr>
          <p:nvPr>
            <p:ph type="body" idx="1"/>
          </p:nvPr>
        </p:nvSpPr>
        <p:spPr/>
        <p:txBody>
          <a:bodyPr/>
          <a:lstStyle/>
          <a:p>
            <a:pPr eaLnBrk="1" hangingPunct="1">
              <a:lnSpc>
                <a:spcPct val="90000"/>
              </a:lnSpc>
            </a:pPr>
            <a:r>
              <a:rPr lang="en-US" altLang="en-US" sz="2800"/>
              <a:t>Finish-to-Start (FS)</a:t>
            </a:r>
          </a:p>
          <a:p>
            <a:pPr lvl="1" eaLnBrk="1" hangingPunct="1">
              <a:lnSpc>
                <a:spcPct val="90000"/>
              </a:lnSpc>
            </a:pPr>
            <a:r>
              <a:rPr lang="en-US" altLang="en-US" sz="1800"/>
              <a:t>B cannot start till A finishes</a:t>
            </a:r>
          </a:p>
          <a:p>
            <a:pPr lvl="1" eaLnBrk="1" hangingPunct="1">
              <a:lnSpc>
                <a:spcPct val="90000"/>
              </a:lnSpc>
            </a:pPr>
            <a:r>
              <a:rPr lang="en-US" altLang="en-US" sz="1800"/>
              <a:t>A: Construct fence; B: Paint Fence</a:t>
            </a:r>
          </a:p>
          <a:p>
            <a:pPr eaLnBrk="1" hangingPunct="1">
              <a:lnSpc>
                <a:spcPct val="90000"/>
              </a:lnSpc>
            </a:pPr>
            <a:r>
              <a:rPr lang="en-US" altLang="en-US" sz="2800"/>
              <a:t>Start-to-Start (SS)</a:t>
            </a:r>
          </a:p>
          <a:p>
            <a:pPr lvl="1" eaLnBrk="1" hangingPunct="1">
              <a:lnSpc>
                <a:spcPct val="90000"/>
              </a:lnSpc>
            </a:pPr>
            <a:r>
              <a:rPr lang="en-US" altLang="en-US" sz="1800"/>
              <a:t>B cannot start till A starts</a:t>
            </a:r>
          </a:p>
          <a:p>
            <a:pPr lvl="1" eaLnBrk="1" hangingPunct="1">
              <a:lnSpc>
                <a:spcPct val="90000"/>
              </a:lnSpc>
            </a:pPr>
            <a:r>
              <a:rPr lang="en-US" altLang="en-US" sz="1800"/>
              <a:t>A: Pour foundation; B: Level concrete</a:t>
            </a:r>
          </a:p>
          <a:p>
            <a:pPr eaLnBrk="1" hangingPunct="1">
              <a:lnSpc>
                <a:spcPct val="90000"/>
              </a:lnSpc>
            </a:pPr>
            <a:r>
              <a:rPr lang="en-US" altLang="en-US" sz="2800"/>
              <a:t>Finish-to-Finish (FF)</a:t>
            </a:r>
          </a:p>
          <a:p>
            <a:pPr lvl="1" eaLnBrk="1" hangingPunct="1">
              <a:lnSpc>
                <a:spcPct val="90000"/>
              </a:lnSpc>
            </a:pPr>
            <a:r>
              <a:rPr lang="en-US" altLang="en-US" sz="1800"/>
              <a:t>B cannot finish till A finishes</a:t>
            </a:r>
          </a:p>
          <a:p>
            <a:pPr lvl="1" eaLnBrk="1" hangingPunct="1">
              <a:lnSpc>
                <a:spcPct val="90000"/>
              </a:lnSpc>
            </a:pPr>
            <a:r>
              <a:rPr lang="en-US" altLang="en-US" sz="1800"/>
              <a:t>A: Add wiring; B: Inspect electrical</a:t>
            </a:r>
          </a:p>
          <a:p>
            <a:pPr eaLnBrk="1" hangingPunct="1">
              <a:lnSpc>
                <a:spcPct val="90000"/>
              </a:lnSpc>
            </a:pPr>
            <a:r>
              <a:rPr lang="en-US" altLang="en-US" sz="2800"/>
              <a:t>Start-to-Finish (SF)</a:t>
            </a:r>
          </a:p>
          <a:p>
            <a:pPr lvl="1" eaLnBrk="1" hangingPunct="1">
              <a:lnSpc>
                <a:spcPct val="90000"/>
              </a:lnSpc>
            </a:pPr>
            <a:r>
              <a:rPr lang="en-US" altLang="en-US" sz="1800"/>
              <a:t>B cannot finish till A starts (rare)</a:t>
            </a:r>
          </a:p>
        </p:txBody>
      </p:sp>
      <p:graphicFrame>
        <p:nvGraphicFramePr>
          <p:cNvPr id="4098" name="Object 4">
            <a:extLst>
              <a:ext uri="{FF2B5EF4-FFF2-40B4-BE49-F238E27FC236}">
                <a16:creationId xmlns:a16="http://schemas.microsoft.com/office/drawing/2014/main" xmlns="" id="{4CFA8D55-5A63-4BFB-B974-AAF28BC9DBCB}"/>
              </a:ext>
            </a:extLst>
          </p:cNvPr>
          <p:cNvGraphicFramePr>
            <a:graphicFrameLocks noChangeAspect="1"/>
          </p:cNvGraphicFramePr>
          <p:nvPr/>
        </p:nvGraphicFramePr>
        <p:xfrm>
          <a:off x="6248400" y="1981200"/>
          <a:ext cx="1333500" cy="714375"/>
        </p:xfrm>
        <a:graphic>
          <a:graphicData uri="http://schemas.openxmlformats.org/presentationml/2006/ole">
            <mc:AlternateContent xmlns:mc="http://schemas.openxmlformats.org/markup-compatibility/2006">
              <mc:Choice xmlns:v="urn:schemas-microsoft-com:vml" Requires="v">
                <p:oleObj spid="_x0000_s1026" name="Bitmap Image" r:id="rId4" imgW="1333333" imgH="714286" progId="Paint.Picture">
                  <p:embed/>
                </p:oleObj>
              </mc:Choice>
              <mc:Fallback>
                <p:oleObj name="Bitmap Image" r:id="rId4" imgW="1333333" imgH="714286" progId="Paint.Picture">
                  <p:embed/>
                  <p:pic>
                    <p:nvPicPr>
                      <p:cNvPr id="4098" name="Object 4">
                        <a:extLst>
                          <a:ext uri="{FF2B5EF4-FFF2-40B4-BE49-F238E27FC236}">
                            <a16:creationId xmlns:a16="http://schemas.microsoft.com/office/drawing/2014/main" xmlns="" id="{4CFA8D55-5A63-4BFB-B974-AAF28BC9DB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1981200"/>
                        <a:ext cx="1333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5">
            <a:extLst>
              <a:ext uri="{FF2B5EF4-FFF2-40B4-BE49-F238E27FC236}">
                <a16:creationId xmlns:a16="http://schemas.microsoft.com/office/drawing/2014/main" xmlns="" id="{EB8D6D42-CFFB-43B8-8742-32A2A9A9FCED}"/>
              </a:ext>
            </a:extLst>
          </p:cNvPr>
          <p:cNvGraphicFramePr>
            <a:graphicFrameLocks noChangeAspect="1"/>
          </p:cNvGraphicFramePr>
          <p:nvPr/>
        </p:nvGraphicFramePr>
        <p:xfrm>
          <a:off x="6248400" y="2971800"/>
          <a:ext cx="1352550" cy="714375"/>
        </p:xfrm>
        <a:graphic>
          <a:graphicData uri="http://schemas.openxmlformats.org/presentationml/2006/ole">
            <mc:AlternateContent xmlns:mc="http://schemas.openxmlformats.org/markup-compatibility/2006">
              <mc:Choice xmlns:v="urn:schemas-microsoft-com:vml" Requires="v">
                <p:oleObj spid="_x0000_s1027" name="Bitmap Image" r:id="rId6" imgW="1352381" imgH="714286" progId="Paint.Picture">
                  <p:embed/>
                </p:oleObj>
              </mc:Choice>
              <mc:Fallback>
                <p:oleObj name="Bitmap Image" r:id="rId6" imgW="1352381" imgH="714286" progId="Paint.Picture">
                  <p:embed/>
                  <p:pic>
                    <p:nvPicPr>
                      <p:cNvPr id="4099" name="Object 5">
                        <a:extLst>
                          <a:ext uri="{FF2B5EF4-FFF2-40B4-BE49-F238E27FC236}">
                            <a16:creationId xmlns:a16="http://schemas.microsoft.com/office/drawing/2014/main" xmlns="" id="{EB8D6D42-CFFB-43B8-8742-32A2A9A9FC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2971800"/>
                        <a:ext cx="13525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6">
            <a:extLst>
              <a:ext uri="{FF2B5EF4-FFF2-40B4-BE49-F238E27FC236}">
                <a16:creationId xmlns:a16="http://schemas.microsoft.com/office/drawing/2014/main" xmlns="" id="{AA36C9E4-38EA-4116-B640-F53DE790A7D4}"/>
              </a:ext>
            </a:extLst>
          </p:cNvPr>
          <p:cNvGraphicFramePr>
            <a:graphicFrameLocks noChangeAspect="1"/>
          </p:cNvGraphicFramePr>
          <p:nvPr/>
        </p:nvGraphicFramePr>
        <p:xfrm>
          <a:off x="6248400" y="4038600"/>
          <a:ext cx="1333500" cy="714375"/>
        </p:xfrm>
        <a:graphic>
          <a:graphicData uri="http://schemas.openxmlformats.org/presentationml/2006/ole">
            <mc:AlternateContent xmlns:mc="http://schemas.openxmlformats.org/markup-compatibility/2006">
              <mc:Choice xmlns:v="urn:schemas-microsoft-com:vml" Requires="v">
                <p:oleObj spid="_x0000_s1028" name="Bitmap Image" r:id="rId8" imgW="1333333" imgH="714286" progId="Paint.Picture">
                  <p:embed/>
                </p:oleObj>
              </mc:Choice>
              <mc:Fallback>
                <p:oleObj name="Bitmap Image" r:id="rId8" imgW="1333333" imgH="714286" progId="Paint.Picture">
                  <p:embed/>
                  <p:pic>
                    <p:nvPicPr>
                      <p:cNvPr id="4100" name="Object 6">
                        <a:extLst>
                          <a:ext uri="{FF2B5EF4-FFF2-40B4-BE49-F238E27FC236}">
                            <a16:creationId xmlns:a16="http://schemas.microsoft.com/office/drawing/2014/main" xmlns="" id="{AA36C9E4-38EA-4116-B640-F53DE790A7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8400" y="4038600"/>
                        <a:ext cx="1333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1" name="Object 7">
            <a:extLst>
              <a:ext uri="{FF2B5EF4-FFF2-40B4-BE49-F238E27FC236}">
                <a16:creationId xmlns:a16="http://schemas.microsoft.com/office/drawing/2014/main" xmlns="" id="{085F1CF5-8BBA-4E23-95EA-46D59DA4EEE5}"/>
              </a:ext>
            </a:extLst>
          </p:cNvPr>
          <p:cNvGraphicFramePr>
            <a:graphicFrameLocks noChangeAspect="1"/>
          </p:cNvGraphicFramePr>
          <p:nvPr/>
        </p:nvGraphicFramePr>
        <p:xfrm>
          <a:off x="6248400" y="5029200"/>
          <a:ext cx="1333500" cy="714375"/>
        </p:xfrm>
        <a:graphic>
          <a:graphicData uri="http://schemas.openxmlformats.org/presentationml/2006/ole">
            <mc:AlternateContent xmlns:mc="http://schemas.openxmlformats.org/markup-compatibility/2006">
              <mc:Choice xmlns:v="urn:schemas-microsoft-com:vml" Requires="v">
                <p:oleObj spid="_x0000_s1029" name="Bitmap Image" r:id="rId10" imgW="1333333" imgH="714286" progId="Paint.Picture">
                  <p:embed/>
                </p:oleObj>
              </mc:Choice>
              <mc:Fallback>
                <p:oleObj name="Bitmap Image" r:id="rId10" imgW="1333333" imgH="714286" progId="Paint.Picture">
                  <p:embed/>
                  <p:pic>
                    <p:nvPicPr>
                      <p:cNvPr id="4101" name="Object 7">
                        <a:extLst>
                          <a:ext uri="{FF2B5EF4-FFF2-40B4-BE49-F238E27FC236}">
                            <a16:creationId xmlns:a16="http://schemas.microsoft.com/office/drawing/2014/main" xmlns="" id="{085F1CF5-8BBA-4E23-95EA-46D59DA4EEE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48400" y="5029200"/>
                        <a:ext cx="13335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xmlns="" id="{9FABA6F2-DF43-4EE4-89EE-C3C4C1048EC6}"/>
              </a:ext>
            </a:extLst>
          </p:cNvPr>
          <p:cNvSpPr>
            <a:spLocks noGrp="1" noChangeArrowheads="1"/>
          </p:cNvSpPr>
          <p:nvPr>
            <p:ph type="title"/>
          </p:nvPr>
        </p:nvSpPr>
        <p:spPr>
          <a:xfrm>
            <a:off x="684213" y="603251"/>
            <a:ext cx="7772400" cy="1143000"/>
          </a:xfrm>
        </p:spPr>
        <p:txBody>
          <a:bodyPr/>
          <a:lstStyle/>
          <a:p>
            <a:pPr eaLnBrk="1" hangingPunct="1"/>
            <a:r>
              <a:rPr lang="en-GB" altLang="en-US" b="1" dirty="0"/>
              <a:t>Lagged activities</a:t>
            </a:r>
          </a:p>
        </p:txBody>
      </p:sp>
      <p:sp>
        <p:nvSpPr>
          <p:cNvPr id="28676" name="Rectangle 3">
            <a:extLst>
              <a:ext uri="{FF2B5EF4-FFF2-40B4-BE49-F238E27FC236}">
                <a16:creationId xmlns:a16="http://schemas.microsoft.com/office/drawing/2014/main" xmlns="" id="{AB70FCD2-0927-4BB6-88F9-C7A83A3113F8}"/>
              </a:ext>
            </a:extLst>
          </p:cNvPr>
          <p:cNvSpPr>
            <a:spLocks noGrp="1" noChangeArrowheads="1"/>
          </p:cNvSpPr>
          <p:nvPr>
            <p:ph type="body" idx="1"/>
          </p:nvPr>
        </p:nvSpPr>
        <p:spPr>
          <a:xfrm>
            <a:off x="684213" y="1557338"/>
            <a:ext cx="7772400" cy="2185987"/>
          </a:xfrm>
        </p:spPr>
        <p:txBody>
          <a:bodyPr/>
          <a:lstStyle/>
          <a:p>
            <a:pPr eaLnBrk="1" hangingPunct="1">
              <a:buFontTx/>
              <a:buNone/>
            </a:pPr>
            <a:r>
              <a:rPr lang="en-GB" altLang="en-US"/>
              <a:t>	Where there is a fixed delay between activities e.g. seven days notice has to be given to users that a new release has been signed off and is to be installed</a:t>
            </a:r>
          </a:p>
          <a:p>
            <a:pPr eaLnBrk="1" hangingPunct="1"/>
            <a:endParaRPr lang="en-GB" altLang="en-US"/>
          </a:p>
        </p:txBody>
      </p:sp>
      <p:sp>
        <p:nvSpPr>
          <p:cNvPr id="28677" name="Rectangle 4">
            <a:extLst>
              <a:ext uri="{FF2B5EF4-FFF2-40B4-BE49-F238E27FC236}">
                <a16:creationId xmlns:a16="http://schemas.microsoft.com/office/drawing/2014/main" xmlns="" id="{370CA077-4C5F-4100-AC12-5FCD4E7F2E92}"/>
              </a:ext>
            </a:extLst>
          </p:cNvPr>
          <p:cNvSpPr>
            <a:spLocks noChangeArrowheads="1"/>
          </p:cNvSpPr>
          <p:nvPr/>
        </p:nvSpPr>
        <p:spPr bwMode="auto">
          <a:xfrm>
            <a:off x="1258888" y="4508500"/>
            <a:ext cx="2017712" cy="1368425"/>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2400" dirty="0">
                <a:solidFill>
                  <a:schemeClr val="tx1"/>
                </a:solidFill>
                <a:latin typeface="Arial" panose="020B0604020202020204" pitchFamily="34" charset="0"/>
              </a:rPr>
              <a:t>Acceptance</a:t>
            </a:r>
          </a:p>
          <a:p>
            <a:pPr algn="ctr" eaLnBrk="1" hangingPunct="1">
              <a:spcBef>
                <a:spcPct val="0"/>
              </a:spcBef>
              <a:buFontTx/>
              <a:buNone/>
            </a:pPr>
            <a:r>
              <a:rPr lang="en-GB" altLang="en-US" sz="2400" dirty="0">
                <a:solidFill>
                  <a:schemeClr val="tx1"/>
                </a:solidFill>
                <a:latin typeface="Arial" panose="020B0604020202020204" pitchFamily="34" charset="0"/>
              </a:rPr>
              <a:t>testing </a:t>
            </a:r>
          </a:p>
        </p:txBody>
      </p:sp>
      <p:sp>
        <p:nvSpPr>
          <p:cNvPr id="28678" name="Rectangle 6">
            <a:extLst>
              <a:ext uri="{FF2B5EF4-FFF2-40B4-BE49-F238E27FC236}">
                <a16:creationId xmlns:a16="http://schemas.microsoft.com/office/drawing/2014/main" xmlns="" id="{A7132521-1E94-4D13-BF4A-A650ADDF758D}"/>
              </a:ext>
            </a:extLst>
          </p:cNvPr>
          <p:cNvSpPr>
            <a:spLocks noChangeArrowheads="1"/>
          </p:cNvSpPr>
          <p:nvPr/>
        </p:nvSpPr>
        <p:spPr bwMode="auto">
          <a:xfrm>
            <a:off x="4932363" y="4508500"/>
            <a:ext cx="2017712" cy="1296988"/>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2400" dirty="0">
                <a:solidFill>
                  <a:schemeClr val="tx1"/>
                </a:solidFill>
                <a:latin typeface="Arial" panose="020B0604020202020204" pitchFamily="34" charset="0"/>
              </a:rPr>
              <a:t>Install new </a:t>
            </a:r>
          </a:p>
          <a:p>
            <a:pPr algn="ctr" eaLnBrk="1" hangingPunct="1">
              <a:spcBef>
                <a:spcPct val="0"/>
              </a:spcBef>
              <a:buFontTx/>
              <a:buNone/>
            </a:pPr>
            <a:r>
              <a:rPr lang="en-GB" altLang="en-US" sz="2400" dirty="0">
                <a:solidFill>
                  <a:schemeClr val="tx1"/>
                </a:solidFill>
                <a:latin typeface="Arial" panose="020B0604020202020204" pitchFamily="34" charset="0"/>
              </a:rPr>
              <a:t>release </a:t>
            </a:r>
          </a:p>
        </p:txBody>
      </p:sp>
      <p:sp>
        <p:nvSpPr>
          <p:cNvPr id="28679" name="Line 7">
            <a:extLst>
              <a:ext uri="{FF2B5EF4-FFF2-40B4-BE49-F238E27FC236}">
                <a16:creationId xmlns:a16="http://schemas.microsoft.com/office/drawing/2014/main" xmlns="" id="{53415E73-D828-4891-B8FB-D7568E66C759}"/>
              </a:ext>
            </a:extLst>
          </p:cNvPr>
          <p:cNvSpPr>
            <a:spLocks noChangeShapeType="1"/>
          </p:cNvSpPr>
          <p:nvPr/>
        </p:nvSpPr>
        <p:spPr bwMode="auto">
          <a:xfrm>
            <a:off x="3276600" y="5084763"/>
            <a:ext cx="16557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0" name="Text Box 8">
            <a:extLst>
              <a:ext uri="{FF2B5EF4-FFF2-40B4-BE49-F238E27FC236}">
                <a16:creationId xmlns:a16="http://schemas.microsoft.com/office/drawing/2014/main" xmlns="" id="{4C456EEB-E4AB-49D6-95CF-B3D0D3E69151}"/>
              </a:ext>
            </a:extLst>
          </p:cNvPr>
          <p:cNvSpPr txBox="1">
            <a:spLocks noChangeArrowheads="1"/>
          </p:cNvSpPr>
          <p:nvPr/>
        </p:nvSpPr>
        <p:spPr bwMode="auto">
          <a:xfrm>
            <a:off x="3635375" y="4581525"/>
            <a:ext cx="793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r>
              <a:rPr lang="en-GB" altLang="en-US" sz="1800">
                <a:solidFill>
                  <a:schemeClr val="tx1"/>
                </a:solidFill>
                <a:latin typeface="Arial" panose="020B0604020202020204" pitchFamily="34" charset="0"/>
              </a:rPr>
              <a:t>7days</a:t>
            </a:r>
          </a:p>
        </p:txBody>
      </p:sp>
      <p:sp>
        <p:nvSpPr>
          <p:cNvPr id="28681" name="Text Box 9">
            <a:extLst>
              <a:ext uri="{FF2B5EF4-FFF2-40B4-BE49-F238E27FC236}">
                <a16:creationId xmlns:a16="http://schemas.microsoft.com/office/drawing/2014/main" xmlns="" id="{D9DBA881-6F94-41C9-8A94-0EFEA5283C71}"/>
              </a:ext>
            </a:extLst>
          </p:cNvPr>
          <p:cNvSpPr txBox="1">
            <a:spLocks noChangeArrowheads="1"/>
          </p:cNvSpPr>
          <p:nvPr/>
        </p:nvSpPr>
        <p:spPr bwMode="auto">
          <a:xfrm>
            <a:off x="2339975" y="5516563"/>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r>
              <a:rPr lang="en-GB" altLang="en-US" sz="1800">
                <a:solidFill>
                  <a:schemeClr val="tx1"/>
                </a:solidFill>
                <a:latin typeface="Arial" panose="020B0604020202020204" pitchFamily="34" charset="0"/>
              </a:rPr>
              <a:t>20 days</a:t>
            </a:r>
          </a:p>
        </p:txBody>
      </p:sp>
      <p:sp>
        <p:nvSpPr>
          <p:cNvPr id="28682" name="Text Box 10">
            <a:extLst>
              <a:ext uri="{FF2B5EF4-FFF2-40B4-BE49-F238E27FC236}">
                <a16:creationId xmlns:a16="http://schemas.microsoft.com/office/drawing/2014/main" xmlns="" id="{2B005566-1331-4F6F-BA2F-D3A441FCD0CD}"/>
              </a:ext>
            </a:extLst>
          </p:cNvPr>
          <p:cNvSpPr txBox="1">
            <a:spLocks noChangeArrowheads="1"/>
          </p:cNvSpPr>
          <p:nvPr/>
        </p:nvSpPr>
        <p:spPr bwMode="auto">
          <a:xfrm>
            <a:off x="6300788" y="5445125"/>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r>
              <a:rPr lang="en-GB" altLang="en-US" sz="1800">
                <a:solidFill>
                  <a:schemeClr val="tx1"/>
                </a:solidFill>
                <a:latin typeface="Arial" panose="020B0604020202020204" pitchFamily="34" charset="0"/>
              </a:rPr>
              <a:t>1day</a:t>
            </a:r>
          </a:p>
        </p:txBody>
      </p:sp>
      <p:sp>
        <p:nvSpPr>
          <p:cNvPr id="2" name="Slide Number Placeholder 1">
            <a:extLst>
              <a:ext uri="{FF2B5EF4-FFF2-40B4-BE49-F238E27FC236}">
                <a16:creationId xmlns:a16="http://schemas.microsoft.com/office/drawing/2014/main" xmlns="" id="{310F5653-368B-4EB9-B414-58A60781E654}"/>
              </a:ext>
            </a:extLst>
          </p:cNvPr>
          <p:cNvSpPr>
            <a:spLocks noGrp="1"/>
          </p:cNvSpPr>
          <p:nvPr>
            <p:ph type="sldNum" sz="quarter" idx="12"/>
          </p:nvPr>
        </p:nvSpPr>
        <p:spPr/>
        <p:txBody>
          <a:bodyPr/>
          <a:lstStyle/>
          <a:p>
            <a:fld id="{60D6D740-8150-433F-9426-3FCFF681501A}"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xmlns="" id="{F2DD89FD-C621-435D-BB3B-A5ADCD130F59}"/>
              </a:ext>
            </a:extLst>
          </p:cNvPr>
          <p:cNvSpPr>
            <a:spLocks noGrp="1" noChangeArrowheads="1"/>
          </p:cNvSpPr>
          <p:nvPr>
            <p:ph type="title"/>
          </p:nvPr>
        </p:nvSpPr>
        <p:spPr>
          <a:xfrm>
            <a:off x="323056" y="687388"/>
            <a:ext cx="8497888" cy="1143000"/>
          </a:xfrm>
        </p:spPr>
        <p:txBody>
          <a:bodyPr/>
          <a:lstStyle/>
          <a:p>
            <a:pPr eaLnBrk="1" hangingPunct="1"/>
            <a:r>
              <a:rPr lang="en-GB" altLang="en-US" b="1" dirty="0"/>
              <a:t>Types of links between activities</a:t>
            </a:r>
          </a:p>
        </p:txBody>
      </p:sp>
      <p:sp>
        <p:nvSpPr>
          <p:cNvPr id="29700" name="Rectangle 3">
            <a:extLst>
              <a:ext uri="{FF2B5EF4-FFF2-40B4-BE49-F238E27FC236}">
                <a16:creationId xmlns:a16="http://schemas.microsoft.com/office/drawing/2014/main" xmlns="" id="{DE9D56D4-5B9F-4B6E-AF60-219ABC8B3DEA}"/>
              </a:ext>
            </a:extLst>
          </p:cNvPr>
          <p:cNvSpPr>
            <a:spLocks noGrp="1" noChangeArrowheads="1"/>
          </p:cNvSpPr>
          <p:nvPr>
            <p:ph type="body" idx="1"/>
          </p:nvPr>
        </p:nvSpPr>
        <p:spPr>
          <a:xfrm>
            <a:off x="468313" y="1700213"/>
            <a:ext cx="7772400" cy="4114800"/>
          </a:xfrm>
        </p:spPr>
        <p:txBody>
          <a:bodyPr/>
          <a:lstStyle/>
          <a:p>
            <a:pPr eaLnBrk="1" hangingPunct="1">
              <a:buFontTx/>
              <a:buNone/>
            </a:pPr>
            <a:r>
              <a:rPr lang="en-GB" altLang="en-US" dirty="0"/>
              <a:t>Finish to start</a:t>
            </a:r>
          </a:p>
          <a:p>
            <a:pPr eaLnBrk="1" hangingPunct="1">
              <a:buFontTx/>
              <a:buNone/>
            </a:pPr>
            <a:endParaRPr lang="en-GB" altLang="en-US" dirty="0"/>
          </a:p>
          <a:p>
            <a:pPr eaLnBrk="1" hangingPunct="1">
              <a:buFontTx/>
              <a:buNone/>
            </a:pPr>
            <a:endParaRPr lang="en-GB" altLang="en-US" dirty="0"/>
          </a:p>
          <a:p>
            <a:pPr eaLnBrk="1" hangingPunct="1">
              <a:buFontTx/>
              <a:buNone/>
            </a:pPr>
            <a:r>
              <a:rPr lang="en-GB" altLang="en-US" dirty="0"/>
              <a:t>		</a:t>
            </a:r>
          </a:p>
          <a:p>
            <a:pPr eaLnBrk="1" hangingPunct="1">
              <a:buFontTx/>
              <a:buNone/>
            </a:pPr>
            <a:r>
              <a:rPr lang="en-GB" altLang="en-US" dirty="0"/>
              <a:t>Start to start/ Finish to finish</a:t>
            </a:r>
          </a:p>
          <a:p>
            <a:pPr eaLnBrk="1" hangingPunct="1">
              <a:buFontTx/>
              <a:buNone/>
            </a:pPr>
            <a:endParaRPr lang="en-GB" altLang="en-US" dirty="0"/>
          </a:p>
        </p:txBody>
      </p:sp>
      <p:sp>
        <p:nvSpPr>
          <p:cNvPr id="29701" name="Rectangle 4">
            <a:extLst>
              <a:ext uri="{FF2B5EF4-FFF2-40B4-BE49-F238E27FC236}">
                <a16:creationId xmlns:a16="http://schemas.microsoft.com/office/drawing/2014/main" xmlns="" id="{43B774CE-213A-42D6-9620-362956885F66}"/>
              </a:ext>
            </a:extLst>
          </p:cNvPr>
          <p:cNvSpPr>
            <a:spLocks noChangeArrowheads="1"/>
          </p:cNvSpPr>
          <p:nvPr/>
        </p:nvSpPr>
        <p:spPr bwMode="auto">
          <a:xfrm>
            <a:off x="900113" y="2492375"/>
            <a:ext cx="2087562" cy="865188"/>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Software</a:t>
            </a:r>
          </a:p>
          <a:p>
            <a:pPr algn="ctr" eaLnBrk="1" hangingPunct="1">
              <a:spcBef>
                <a:spcPct val="0"/>
              </a:spcBef>
              <a:buFontTx/>
              <a:buNone/>
            </a:pPr>
            <a:r>
              <a:rPr lang="en-GB" altLang="en-US" sz="1800">
                <a:solidFill>
                  <a:schemeClr val="tx1"/>
                </a:solidFill>
                <a:latin typeface="Arial" panose="020B0604020202020204" pitchFamily="34" charset="0"/>
              </a:rPr>
              <a:t>development</a:t>
            </a:r>
          </a:p>
        </p:txBody>
      </p:sp>
      <p:sp>
        <p:nvSpPr>
          <p:cNvPr id="29702" name="Rectangle 6">
            <a:extLst>
              <a:ext uri="{FF2B5EF4-FFF2-40B4-BE49-F238E27FC236}">
                <a16:creationId xmlns:a16="http://schemas.microsoft.com/office/drawing/2014/main" xmlns="" id="{87075FBF-AA1E-4EA9-B37B-4351B7AA0DF0}"/>
              </a:ext>
            </a:extLst>
          </p:cNvPr>
          <p:cNvSpPr>
            <a:spLocks noChangeArrowheads="1"/>
          </p:cNvSpPr>
          <p:nvPr/>
        </p:nvSpPr>
        <p:spPr bwMode="auto">
          <a:xfrm>
            <a:off x="4356100" y="2492375"/>
            <a:ext cx="2160588" cy="9144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Acceptance testing</a:t>
            </a:r>
          </a:p>
        </p:txBody>
      </p:sp>
      <p:sp>
        <p:nvSpPr>
          <p:cNvPr id="29703" name="Line 8">
            <a:extLst>
              <a:ext uri="{FF2B5EF4-FFF2-40B4-BE49-F238E27FC236}">
                <a16:creationId xmlns:a16="http://schemas.microsoft.com/office/drawing/2014/main" xmlns="" id="{A79238CB-78B3-4253-8FB5-051D25B5D50B}"/>
              </a:ext>
            </a:extLst>
          </p:cNvPr>
          <p:cNvSpPr>
            <a:spLocks noChangeShapeType="1"/>
          </p:cNvSpPr>
          <p:nvPr/>
        </p:nvSpPr>
        <p:spPr bwMode="auto">
          <a:xfrm>
            <a:off x="2987675" y="2924175"/>
            <a:ext cx="1368425"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4" name="Rectangle 9">
            <a:extLst>
              <a:ext uri="{FF2B5EF4-FFF2-40B4-BE49-F238E27FC236}">
                <a16:creationId xmlns:a16="http://schemas.microsoft.com/office/drawing/2014/main" xmlns="" id="{B1CECC18-C1EF-468F-B3DC-B7CCBD7B421C}"/>
              </a:ext>
            </a:extLst>
          </p:cNvPr>
          <p:cNvSpPr>
            <a:spLocks noChangeArrowheads="1"/>
          </p:cNvSpPr>
          <p:nvPr/>
        </p:nvSpPr>
        <p:spPr bwMode="auto">
          <a:xfrm>
            <a:off x="3203575" y="4292600"/>
            <a:ext cx="2016125" cy="936625"/>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Test prototype</a:t>
            </a:r>
          </a:p>
        </p:txBody>
      </p:sp>
      <p:sp>
        <p:nvSpPr>
          <p:cNvPr id="29705" name="Rectangle 11">
            <a:extLst>
              <a:ext uri="{FF2B5EF4-FFF2-40B4-BE49-F238E27FC236}">
                <a16:creationId xmlns:a16="http://schemas.microsoft.com/office/drawing/2014/main" xmlns="" id="{D8188D5F-CAE1-47BA-AEE4-5D4F578DA9CB}"/>
              </a:ext>
            </a:extLst>
          </p:cNvPr>
          <p:cNvSpPr>
            <a:spLocks noChangeArrowheads="1"/>
          </p:cNvSpPr>
          <p:nvPr/>
        </p:nvSpPr>
        <p:spPr bwMode="auto">
          <a:xfrm>
            <a:off x="3203575" y="5445125"/>
            <a:ext cx="2089150" cy="1008063"/>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eaLnBrk="1" hangingPunct="1">
              <a:spcBef>
                <a:spcPct val="0"/>
              </a:spcBef>
              <a:buFontTx/>
              <a:buNone/>
            </a:pPr>
            <a:r>
              <a:rPr lang="en-GB" altLang="en-US" sz="1800">
                <a:solidFill>
                  <a:schemeClr val="tx1"/>
                </a:solidFill>
                <a:latin typeface="Arial" panose="020B0604020202020204" pitchFamily="34" charset="0"/>
              </a:rPr>
              <a:t>Document</a:t>
            </a:r>
          </a:p>
          <a:p>
            <a:pPr algn="ctr" eaLnBrk="1" hangingPunct="1">
              <a:spcBef>
                <a:spcPct val="0"/>
              </a:spcBef>
              <a:buFontTx/>
              <a:buNone/>
            </a:pPr>
            <a:r>
              <a:rPr lang="en-GB" altLang="en-US" sz="1800">
                <a:solidFill>
                  <a:schemeClr val="tx1"/>
                </a:solidFill>
                <a:latin typeface="Arial" panose="020B0604020202020204" pitchFamily="34" charset="0"/>
              </a:rPr>
              <a:t>Amendments</a:t>
            </a:r>
          </a:p>
        </p:txBody>
      </p:sp>
      <p:sp>
        <p:nvSpPr>
          <p:cNvPr id="29706" name="Line 13">
            <a:extLst>
              <a:ext uri="{FF2B5EF4-FFF2-40B4-BE49-F238E27FC236}">
                <a16:creationId xmlns:a16="http://schemas.microsoft.com/office/drawing/2014/main" xmlns="" id="{E210395F-2C8C-4950-80EE-584867E9246D}"/>
              </a:ext>
            </a:extLst>
          </p:cNvPr>
          <p:cNvSpPr>
            <a:spLocks noChangeShapeType="1"/>
          </p:cNvSpPr>
          <p:nvPr/>
        </p:nvSpPr>
        <p:spPr bwMode="auto">
          <a:xfrm>
            <a:off x="2124075" y="4581525"/>
            <a:ext cx="10795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7" name="Line 14">
            <a:extLst>
              <a:ext uri="{FF2B5EF4-FFF2-40B4-BE49-F238E27FC236}">
                <a16:creationId xmlns:a16="http://schemas.microsoft.com/office/drawing/2014/main" xmlns="" id="{61FF53BE-C4D4-4B0F-BEE5-D00E924DEB83}"/>
              </a:ext>
            </a:extLst>
          </p:cNvPr>
          <p:cNvSpPr>
            <a:spLocks noChangeShapeType="1"/>
          </p:cNvSpPr>
          <p:nvPr/>
        </p:nvSpPr>
        <p:spPr bwMode="auto">
          <a:xfrm>
            <a:off x="2700338" y="4941888"/>
            <a:ext cx="0" cy="1008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8" name="Line 15">
            <a:extLst>
              <a:ext uri="{FF2B5EF4-FFF2-40B4-BE49-F238E27FC236}">
                <a16:creationId xmlns:a16="http://schemas.microsoft.com/office/drawing/2014/main" xmlns="" id="{D6B0CD95-1E78-43E5-9CD2-93D7EDC53439}"/>
              </a:ext>
            </a:extLst>
          </p:cNvPr>
          <p:cNvSpPr>
            <a:spLocks noChangeShapeType="1"/>
          </p:cNvSpPr>
          <p:nvPr/>
        </p:nvSpPr>
        <p:spPr bwMode="auto">
          <a:xfrm>
            <a:off x="2700338" y="5949950"/>
            <a:ext cx="503237"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09" name="Line 16">
            <a:extLst>
              <a:ext uri="{FF2B5EF4-FFF2-40B4-BE49-F238E27FC236}">
                <a16:creationId xmlns:a16="http://schemas.microsoft.com/office/drawing/2014/main" xmlns="" id="{49C6F1D4-1DC3-44C6-A53B-F7D937F7A556}"/>
              </a:ext>
            </a:extLst>
          </p:cNvPr>
          <p:cNvSpPr>
            <a:spLocks noChangeShapeType="1"/>
          </p:cNvSpPr>
          <p:nvPr/>
        </p:nvSpPr>
        <p:spPr bwMode="auto">
          <a:xfrm>
            <a:off x="2700338" y="4941888"/>
            <a:ext cx="503237"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0" name="Line 18">
            <a:extLst>
              <a:ext uri="{FF2B5EF4-FFF2-40B4-BE49-F238E27FC236}">
                <a16:creationId xmlns:a16="http://schemas.microsoft.com/office/drawing/2014/main" xmlns="" id="{6580C374-BCB5-411B-953E-1A203F1FF25D}"/>
              </a:ext>
            </a:extLst>
          </p:cNvPr>
          <p:cNvSpPr>
            <a:spLocks noChangeShapeType="1"/>
          </p:cNvSpPr>
          <p:nvPr/>
        </p:nvSpPr>
        <p:spPr bwMode="auto">
          <a:xfrm>
            <a:off x="5292725" y="5949950"/>
            <a:ext cx="358775" cy="0"/>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1" name="Line 19">
            <a:extLst>
              <a:ext uri="{FF2B5EF4-FFF2-40B4-BE49-F238E27FC236}">
                <a16:creationId xmlns:a16="http://schemas.microsoft.com/office/drawing/2014/main" xmlns="" id="{1BF6269C-1489-46D0-A513-E0E8DDDE4430}"/>
              </a:ext>
            </a:extLst>
          </p:cNvPr>
          <p:cNvSpPr>
            <a:spLocks noChangeShapeType="1"/>
          </p:cNvSpPr>
          <p:nvPr/>
        </p:nvSpPr>
        <p:spPr bwMode="auto">
          <a:xfrm flipV="1">
            <a:off x="5651500" y="4941888"/>
            <a:ext cx="0" cy="1008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2" name="Line 20">
            <a:extLst>
              <a:ext uri="{FF2B5EF4-FFF2-40B4-BE49-F238E27FC236}">
                <a16:creationId xmlns:a16="http://schemas.microsoft.com/office/drawing/2014/main" xmlns="" id="{50B6F10F-5D50-4A49-8EBC-0A7C30136B4B}"/>
              </a:ext>
            </a:extLst>
          </p:cNvPr>
          <p:cNvSpPr>
            <a:spLocks noChangeShapeType="1"/>
          </p:cNvSpPr>
          <p:nvPr/>
        </p:nvSpPr>
        <p:spPr bwMode="auto">
          <a:xfrm flipH="1">
            <a:off x="5219700" y="4941888"/>
            <a:ext cx="431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3" name="Line 21">
            <a:extLst>
              <a:ext uri="{FF2B5EF4-FFF2-40B4-BE49-F238E27FC236}">
                <a16:creationId xmlns:a16="http://schemas.microsoft.com/office/drawing/2014/main" xmlns="" id="{11D6AF96-4FBA-47B8-8C2E-3846B714057F}"/>
              </a:ext>
            </a:extLst>
          </p:cNvPr>
          <p:cNvSpPr>
            <a:spLocks noChangeShapeType="1"/>
          </p:cNvSpPr>
          <p:nvPr/>
        </p:nvSpPr>
        <p:spPr bwMode="auto">
          <a:xfrm>
            <a:off x="5219700" y="4581525"/>
            <a:ext cx="1368425"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4" name="Text Box 24">
            <a:extLst>
              <a:ext uri="{FF2B5EF4-FFF2-40B4-BE49-F238E27FC236}">
                <a16:creationId xmlns:a16="http://schemas.microsoft.com/office/drawing/2014/main" xmlns="" id="{BDE3886C-B59A-426E-A4AF-04E3F40FB91E}"/>
              </a:ext>
            </a:extLst>
          </p:cNvPr>
          <p:cNvSpPr txBox="1">
            <a:spLocks noChangeArrowheads="1"/>
          </p:cNvSpPr>
          <p:nvPr/>
        </p:nvSpPr>
        <p:spPr bwMode="auto">
          <a:xfrm>
            <a:off x="1403350" y="5589588"/>
            <a:ext cx="742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r>
              <a:rPr lang="en-GB" altLang="en-US" sz="1800">
                <a:solidFill>
                  <a:schemeClr val="tx1"/>
                </a:solidFill>
                <a:latin typeface="Arial" panose="020B0604020202020204" pitchFamily="34" charset="0"/>
              </a:rPr>
              <a:t>1 day</a:t>
            </a:r>
          </a:p>
        </p:txBody>
      </p:sp>
      <p:sp>
        <p:nvSpPr>
          <p:cNvPr id="29715" name="Text Box 25">
            <a:extLst>
              <a:ext uri="{FF2B5EF4-FFF2-40B4-BE49-F238E27FC236}">
                <a16:creationId xmlns:a16="http://schemas.microsoft.com/office/drawing/2014/main" xmlns="" id="{9546F20E-C33D-49E8-AF05-2E3C36210088}"/>
              </a:ext>
            </a:extLst>
          </p:cNvPr>
          <p:cNvSpPr txBox="1">
            <a:spLocks noChangeArrowheads="1"/>
          </p:cNvSpPr>
          <p:nvPr/>
        </p:nvSpPr>
        <p:spPr bwMode="auto">
          <a:xfrm>
            <a:off x="5992813" y="4889500"/>
            <a:ext cx="85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eaLnBrk="1" hangingPunct="1">
              <a:spcBef>
                <a:spcPct val="0"/>
              </a:spcBef>
              <a:buFontTx/>
              <a:buNone/>
            </a:pPr>
            <a:r>
              <a:rPr lang="en-GB" altLang="en-US" sz="1800">
                <a:solidFill>
                  <a:schemeClr val="tx1"/>
                </a:solidFill>
                <a:latin typeface="Arial" panose="020B0604020202020204" pitchFamily="34" charset="0"/>
              </a:rPr>
              <a:t>2 days</a:t>
            </a:r>
          </a:p>
        </p:txBody>
      </p:sp>
      <p:sp>
        <p:nvSpPr>
          <p:cNvPr id="2" name="Slide Number Placeholder 1">
            <a:extLst>
              <a:ext uri="{FF2B5EF4-FFF2-40B4-BE49-F238E27FC236}">
                <a16:creationId xmlns:a16="http://schemas.microsoft.com/office/drawing/2014/main" xmlns="" id="{64BC2EA8-32B6-4161-B31E-11A75ABF7323}"/>
              </a:ext>
            </a:extLst>
          </p:cNvPr>
          <p:cNvSpPr>
            <a:spLocks noGrp="1"/>
          </p:cNvSpPr>
          <p:nvPr>
            <p:ph type="sldNum" sz="quarter" idx="12"/>
          </p:nvPr>
        </p:nvSpPr>
        <p:spPr/>
        <p:txBody>
          <a:bodyPr/>
          <a:lstStyle/>
          <a:p>
            <a:fld id="{60D6D740-8150-433F-9426-3FCFF681501A}"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xmlns="" id="{CAFD4C13-A80C-4DCB-976D-EBE640831B00}"/>
              </a:ext>
            </a:extLst>
          </p:cNvPr>
          <p:cNvSpPr>
            <a:spLocks noGrp="1"/>
          </p:cNvSpPr>
          <p:nvPr>
            <p:ph type="sldNum" sz="quarter" idx="10"/>
          </p:nvPr>
        </p:nvSpPr>
        <p:spPr bwMode="auto">
          <a:xfrm>
            <a:off x="3352800" y="63246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fld id="{2851AD5A-0BEA-499E-ABCF-48584C4C6F86}" type="slidenum">
              <a:rPr lang="en-US" altLang="en-US" smtClean="0"/>
              <a:pPr>
                <a:spcBef>
                  <a:spcPct val="0"/>
                </a:spcBef>
                <a:buFontTx/>
                <a:buNone/>
              </a:pPr>
              <a:t>25</a:t>
            </a:fld>
            <a:endParaRPr lang="en-US" altLang="en-US" sz="1400"/>
          </a:p>
        </p:txBody>
      </p:sp>
      <p:sp>
        <p:nvSpPr>
          <p:cNvPr id="33795" name="Rectangle 2">
            <a:extLst>
              <a:ext uri="{FF2B5EF4-FFF2-40B4-BE49-F238E27FC236}">
                <a16:creationId xmlns:a16="http://schemas.microsoft.com/office/drawing/2014/main" xmlns="" id="{DBF26AB8-449E-4F66-8029-6FD39212CF66}"/>
              </a:ext>
            </a:extLst>
          </p:cNvPr>
          <p:cNvSpPr>
            <a:spLocks noGrp="1" noChangeArrowheads="1"/>
          </p:cNvSpPr>
          <p:nvPr>
            <p:ph type="title"/>
          </p:nvPr>
        </p:nvSpPr>
        <p:spPr>
          <a:xfrm>
            <a:off x="609600" y="709612"/>
            <a:ext cx="7772400" cy="685800"/>
          </a:xfrm>
        </p:spPr>
        <p:txBody>
          <a:bodyPr>
            <a:normAutofit fontScale="90000"/>
          </a:bodyPr>
          <a:lstStyle/>
          <a:p>
            <a:pPr eaLnBrk="1" hangingPunct="1"/>
            <a:r>
              <a:rPr lang="en-US" altLang="en-US" b="1" dirty="0"/>
              <a:t>Start and finish times</a:t>
            </a:r>
          </a:p>
        </p:txBody>
      </p:sp>
      <p:sp>
        <p:nvSpPr>
          <p:cNvPr id="33796" name="Rectangle 3">
            <a:extLst>
              <a:ext uri="{FF2B5EF4-FFF2-40B4-BE49-F238E27FC236}">
                <a16:creationId xmlns:a16="http://schemas.microsoft.com/office/drawing/2014/main" xmlns="" id="{2A775BE0-C9A4-4C12-8379-470056F02104}"/>
              </a:ext>
            </a:extLst>
          </p:cNvPr>
          <p:cNvSpPr>
            <a:spLocks noGrp="1" noChangeArrowheads="1"/>
          </p:cNvSpPr>
          <p:nvPr>
            <p:ph type="body" idx="1"/>
          </p:nvPr>
        </p:nvSpPr>
        <p:spPr>
          <a:xfrm>
            <a:off x="468313" y="3284538"/>
            <a:ext cx="8229600" cy="3436937"/>
          </a:xfrm>
        </p:spPr>
        <p:txBody>
          <a:bodyPr/>
          <a:lstStyle/>
          <a:p>
            <a:pPr eaLnBrk="1" hangingPunct="1"/>
            <a:r>
              <a:rPr lang="en-US" altLang="en-US" sz="3000"/>
              <a:t>Activity ‘write report software’</a:t>
            </a:r>
          </a:p>
          <a:p>
            <a:pPr eaLnBrk="1" hangingPunct="1"/>
            <a:r>
              <a:rPr lang="en-US" altLang="en-US" sz="3000"/>
              <a:t>Earliest start (ES)</a:t>
            </a:r>
          </a:p>
          <a:p>
            <a:pPr eaLnBrk="1" hangingPunct="1"/>
            <a:r>
              <a:rPr lang="en-US" altLang="en-US" sz="3000"/>
              <a:t>Earliest finish (EF) = ES + duration</a:t>
            </a:r>
          </a:p>
          <a:p>
            <a:pPr eaLnBrk="1" hangingPunct="1"/>
            <a:r>
              <a:rPr lang="en-US" altLang="en-US" sz="3000"/>
              <a:t>Latest finish (LF) = latest task can be completed without affecting project end Latest start = LF - duration</a:t>
            </a:r>
          </a:p>
        </p:txBody>
      </p:sp>
      <p:sp>
        <p:nvSpPr>
          <p:cNvPr id="33797" name="Line 4">
            <a:extLst>
              <a:ext uri="{FF2B5EF4-FFF2-40B4-BE49-F238E27FC236}">
                <a16:creationId xmlns:a16="http://schemas.microsoft.com/office/drawing/2014/main" xmlns="" id="{C31BCBB9-0A4A-4DA8-A49B-C651C20DACAD}"/>
              </a:ext>
            </a:extLst>
          </p:cNvPr>
          <p:cNvSpPr>
            <a:spLocks noChangeShapeType="1"/>
          </p:cNvSpPr>
          <p:nvPr/>
        </p:nvSpPr>
        <p:spPr bwMode="auto">
          <a:xfrm flipV="1">
            <a:off x="1371600" y="2449513"/>
            <a:ext cx="6858000" cy="0"/>
          </a:xfrm>
          <a:prstGeom prst="line">
            <a:avLst/>
          </a:prstGeom>
          <a:noFill/>
          <a:ln w="571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Line 5">
            <a:extLst>
              <a:ext uri="{FF2B5EF4-FFF2-40B4-BE49-F238E27FC236}">
                <a16:creationId xmlns:a16="http://schemas.microsoft.com/office/drawing/2014/main" xmlns="" id="{71C38804-6725-42B6-86E9-B87F8095EE45}"/>
              </a:ext>
            </a:extLst>
          </p:cNvPr>
          <p:cNvSpPr>
            <a:spLocks noChangeShapeType="1"/>
          </p:cNvSpPr>
          <p:nvPr/>
        </p:nvSpPr>
        <p:spPr bwMode="auto">
          <a:xfrm>
            <a:off x="1371600" y="1839913"/>
            <a:ext cx="0" cy="6096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9" name="Text Box 6">
            <a:extLst>
              <a:ext uri="{FF2B5EF4-FFF2-40B4-BE49-F238E27FC236}">
                <a16:creationId xmlns:a16="http://schemas.microsoft.com/office/drawing/2014/main" xmlns="" id="{4E038DAC-C8F6-484F-A773-5FFE6F4F69C0}"/>
              </a:ext>
            </a:extLst>
          </p:cNvPr>
          <p:cNvSpPr txBox="1">
            <a:spLocks noChangeArrowheads="1"/>
          </p:cNvSpPr>
          <p:nvPr/>
        </p:nvSpPr>
        <p:spPr bwMode="auto">
          <a:xfrm>
            <a:off x="1143000" y="1458913"/>
            <a:ext cx="1878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Earliest start</a:t>
            </a:r>
          </a:p>
        </p:txBody>
      </p:sp>
      <p:sp>
        <p:nvSpPr>
          <p:cNvPr id="33800" name="Line 7">
            <a:extLst>
              <a:ext uri="{FF2B5EF4-FFF2-40B4-BE49-F238E27FC236}">
                <a16:creationId xmlns:a16="http://schemas.microsoft.com/office/drawing/2014/main" xmlns="" id="{15908059-C6C2-4BAE-9C8D-E386220C70F8}"/>
              </a:ext>
            </a:extLst>
          </p:cNvPr>
          <p:cNvSpPr>
            <a:spLocks noChangeShapeType="1"/>
          </p:cNvSpPr>
          <p:nvPr/>
        </p:nvSpPr>
        <p:spPr bwMode="auto">
          <a:xfrm>
            <a:off x="2339975" y="2492375"/>
            <a:ext cx="0" cy="762000"/>
          </a:xfrm>
          <a:prstGeom prst="line">
            <a:avLst/>
          </a:prstGeom>
          <a:noFill/>
          <a:ln w="9525">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1" name="Text Box 8">
            <a:extLst>
              <a:ext uri="{FF2B5EF4-FFF2-40B4-BE49-F238E27FC236}">
                <a16:creationId xmlns:a16="http://schemas.microsoft.com/office/drawing/2014/main" xmlns="" id="{35B77AB2-BEF1-4A0E-9BD2-D41110E8CB68}"/>
              </a:ext>
            </a:extLst>
          </p:cNvPr>
          <p:cNvSpPr txBox="1">
            <a:spLocks noChangeArrowheads="1"/>
          </p:cNvSpPr>
          <p:nvPr/>
        </p:nvSpPr>
        <p:spPr bwMode="auto">
          <a:xfrm>
            <a:off x="2411413" y="2708275"/>
            <a:ext cx="169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Latest start</a:t>
            </a:r>
          </a:p>
        </p:txBody>
      </p:sp>
      <p:sp>
        <p:nvSpPr>
          <p:cNvPr id="33802" name="Line 9">
            <a:extLst>
              <a:ext uri="{FF2B5EF4-FFF2-40B4-BE49-F238E27FC236}">
                <a16:creationId xmlns:a16="http://schemas.microsoft.com/office/drawing/2014/main" xmlns="" id="{D09A0DC4-0AF3-4690-9055-56C843115E6E}"/>
              </a:ext>
            </a:extLst>
          </p:cNvPr>
          <p:cNvSpPr>
            <a:spLocks noChangeShapeType="1"/>
          </p:cNvSpPr>
          <p:nvPr/>
        </p:nvSpPr>
        <p:spPr bwMode="auto">
          <a:xfrm flipV="1">
            <a:off x="8229600" y="1916113"/>
            <a:ext cx="0" cy="533400"/>
          </a:xfrm>
          <a:prstGeom prst="line">
            <a:avLst/>
          </a:prstGeom>
          <a:noFill/>
          <a:ln w="9525">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3" name="Text Box 10">
            <a:extLst>
              <a:ext uri="{FF2B5EF4-FFF2-40B4-BE49-F238E27FC236}">
                <a16:creationId xmlns:a16="http://schemas.microsoft.com/office/drawing/2014/main" xmlns="" id="{1D11164A-751C-4699-AD4C-89DE1A7C4BCD}"/>
              </a:ext>
            </a:extLst>
          </p:cNvPr>
          <p:cNvSpPr txBox="1">
            <a:spLocks noChangeArrowheads="1"/>
          </p:cNvSpPr>
          <p:nvPr/>
        </p:nvSpPr>
        <p:spPr bwMode="auto">
          <a:xfrm>
            <a:off x="7524750" y="1052513"/>
            <a:ext cx="10230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Latest</a:t>
            </a:r>
          </a:p>
          <a:p>
            <a:pPr>
              <a:spcBef>
                <a:spcPct val="0"/>
              </a:spcBef>
              <a:buFontTx/>
              <a:buNone/>
            </a:pPr>
            <a:r>
              <a:rPr lang="en-US" altLang="en-US" sz="2400">
                <a:solidFill>
                  <a:schemeClr val="tx1"/>
                </a:solidFill>
                <a:latin typeface="Arial" panose="020B0604020202020204" pitchFamily="34" charset="0"/>
              </a:rPr>
              <a:t>finish</a:t>
            </a:r>
          </a:p>
        </p:txBody>
      </p:sp>
      <p:sp>
        <p:nvSpPr>
          <p:cNvPr id="33804" name="Line 11">
            <a:extLst>
              <a:ext uri="{FF2B5EF4-FFF2-40B4-BE49-F238E27FC236}">
                <a16:creationId xmlns:a16="http://schemas.microsoft.com/office/drawing/2014/main" xmlns="" id="{0B5D41B1-1F01-4B2E-B47F-19AF8009B0FF}"/>
              </a:ext>
            </a:extLst>
          </p:cNvPr>
          <p:cNvSpPr>
            <a:spLocks noChangeShapeType="1"/>
          </p:cNvSpPr>
          <p:nvPr/>
        </p:nvSpPr>
        <p:spPr bwMode="auto">
          <a:xfrm>
            <a:off x="7086600" y="2449513"/>
            <a:ext cx="0" cy="762000"/>
          </a:xfrm>
          <a:prstGeom prst="line">
            <a:avLst/>
          </a:prstGeom>
          <a:noFill/>
          <a:ln w="9525">
            <a:solidFill>
              <a:srgbClr val="CC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05" name="Text Box 12">
            <a:extLst>
              <a:ext uri="{FF2B5EF4-FFF2-40B4-BE49-F238E27FC236}">
                <a16:creationId xmlns:a16="http://schemas.microsoft.com/office/drawing/2014/main" xmlns="" id="{7E9C3B22-6BC9-422F-9C57-09C33455BCA3}"/>
              </a:ext>
            </a:extLst>
          </p:cNvPr>
          <p:cNvSpPr txBox="1">
            <a:spLocks noChangeArrowheads="1"/>
          </p:cNvSpPr>
          <p:nvPr/>
        </p:nvSpPr>
        <p:spPr bwMode="auto">
          <a:xfrm>
            <a:off x="7145338" y="2678113"/>
            <a:ext cx="1998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400">
                <a:solidFill>
                  <a:schemeClr val="tx1"/>
                </a:solidFill>
                <a:latin typeface="Arial" panose="020B0604020202020204" pitchFamily="34" charset="0"/>
              </a:rPr>
              <a:t>Earliest finish</a:t>
            </a:r>
          </a:p>
        </p:txBody>
      </p:sp>
      <p:sp>
        <p:nvSpPr>
          <p:cNvPr id="33806" name="Rectangle 13">
            <a:extLst>
              <a:ext uri="{FF2B5EF4-FFF2-40B4-BE49-F238E27FC236}">
                <a16:creationId xmlns:a16="http://schemas.microsoft.com/office/drawing/2014/main" xmlns="" id="{76C19B7C-04A1-49C5-A094-93024FF00E98}"/>
              </a:ext>
            </a:extLst>
          </p:cNvPr>
          <p:cNvSpPr>
            <a:spLocks noChangeArrowheads="1"/>
          </p:cNvSpPr>
          <p:nvPr/>
        </p:nvSpPr>
        <p:spPr bwMode="auto">
          <a:xfrm>
            <a:off x="1828800" y="1916113"/>
            <a:ext cx="5715000" cy="381000"/>
          </a:xfrm>
          <a:prstGeom prst="rect">
            <a:avLst/>
          </a:prstGeom>
          <a:solidFill>
            <a:srgbClr val="99CC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lgn="ctr">
              <a:spcBef>
                <a:spcPct val="0"/>
              </a:spcBef>
              <a:buFontTx/>
              <a:buNone/>
            </a:pPr>
            <a:r>
              <a:rPr lang="en-US" altLang="en-US" sz="2400">
                <a:solidFill>
                  <a:schemeClr val="tx1"/>
                </a:solidFill>
                <a:latin typeface="Arial" panose="020B0604020202020204" pitchFamily="34" charset="0"/>
              </a:rPr>
              <a:t>activity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xmlns="" id="{FB962F85-1201-46C0-9415-95EE61AE5B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2D3398E1-57A5-4073-AB1A-85020CE8BE9C}" type="slidenum">
              <a:rPr lang="en-US" altLang="en-US" sz="1200"/>
              <a:pPr eaLnBrk="1" hangingPunct="1"/>
              <a:t>26</a:t>
            </a:fld>
            <a:endParaRPr lang="en-US" altLang="en-US" sz="1200"/>
          </a:p>
        </p:txBody>
      </p:sp>
      <p:sp>
        <p:nvSpPr>
          <p:cNvPr id="25603" name="Rectangle 2">
            <a:extLst>
              <a:ext uri="{FF2B5EF4-FFF2-40B4-BE49-F238E27FC236}">
                <a16:creationId xmlns:a16="http://schemas.microsoft.com/office/drawing/2014/main" xmlns="" id="{B1664949-60BB-4EC7-88B1-050871C6849B}"/>
              </a:ext>
            </a:extLst>
          </p:cNvPr>
          <p:cNvSpPr>
            <a:spLocks noGrp="1" noChangeArrowheads="1"/>
          </p:cNvSpPr>
          <p:nvPr>
            <p:ph type="title"/>
          </p:nvPr>
        </p:nvSpPr>
        <p:spPr/>
        <p:txBody>
          <a:bodyPr/>
          <a:lstStyle/>
          <a:p>
            <a:pPr eaLnBrk="1" hangingPunct="1"/>
            <a:r>
              <a:rPr lang="en-US" altLang="en-US"/>
              <a:t>Terminology</a:t>
            </a:r>
          </a:p>
        </p:txBody>
      </p:sp>
      <p:sp>
        <p:nvSpPr>
          <p:cNvPr id="25604" name="Rectangle 3">
            <a:extLst>
              <a:ext uri="{FF2B5EF4-FFF2-40B4-BE49-F238E27FC236}">
                <a16:creationId xmlns:a16="http://schemas.microsoft.com/office/drawing/2014/main" xmlns="" id="{F704F618-5A39-4EC4-8E9D-B6AFB6E3F91B}"/>
              </a:ext>
            </a:extLst>
          </p:cNvPr>
          <p:cNvSpPr>
            <a:spLocks noGrp="1" noChangeArrowheads="1"/>
          </p:cNvSpPr>
          <p:nvPr>
            <p:ph type="body" idx="1"/>
          </p:nvPr>
        </p:nvSpPr>
        <p:spPr/>
        <p:txBody>
          <a:bodyPr>
            <a:normAutofit/>
          </a:bodyPr>
          <a:lstStyle/>
          <a:p>
            <a:pPr eaLnBrk="1" hangingPunct="1">
              <a:lnSpc>
                <a:spcPct val="90000"/>
              </a:lnSpc>
            </a:pPr>
            <a:r>
              <a:rPr lang="en-US" altLang="en-US" sz="3200" dirty="0"/>
              <a:t>Slack &amp; Float</a:t>
            </a:r>
          </a:p>
          <a:p>
            <a:pPr lvl="1" eaLnBrk="1" hangingPunct="1">
              <a:lnSpc>
                <a:spcPct val="90000"/>
              </a:lnSpc>
            </a:pPr>
            <a:r>
              <a:rPr lang="en-US" altLang="en-US" sz="2800" dirty="0"/>
              <a:t>Float &amp; Slack: synonymous terms</a:t>
            </a:r>
          </a:p>
          <a:p>
            <a:pPr lvl="1" eaLnBrk="1" hangingPunct="1">
              <a:lnSpc>
                <a:spcPct val="90000"/>
              </a:lnSpc>
            </a:pPr>
            <a:r>
              <a:rPr lang="en-US" altLang="en-US" sz="2800" dirty="0"/>
              <a:t>Free Slack</a:t>
            </a:r>
          </a:p>
          <a:p>
            <a:pPr lvl="3" eaLnBrk="1" hangingPunct="1">
              <a:lnSpc>
                <a:spcPct val="90000"/>
              </a:lnSpc>
            </a:pPr>
            <a:r>
              <a:rPr lang="en-US" altLang="en-US" sz="2000" dirty="0"/>
              <a:t>Slack an activity has before it delays next task</a:t>
            </a:r>
          </a:p>
          <a:p>
            <a:pPr lvl="1" eaLnBrk="1" hangingPunct="1">
              <a:lnSpc>
                <a:spcPct val="90000"/>
              </a:lnSpc>
            </a:pPr>
            <a:r>
              <a:rPr lang="en-US" altLang="en-US" sz="2800" dirty="0"/>
              <a:t>Total Slack</a:t>
            </a:r>
          </a:p>
          <a:p>
            <a:pPr lvl="3" eaLnBrk="1" hangingPunct="1">
              <a:lnSpc>
                <a:spcPct val="90000"/>
              </a:lnSpc>
            </a:pPr>
            <a:r>
              <a:rPr lang="en-US" altLang="en-US" sz="2000" dirty="0"/>
              <a:t>Slack an activity has before delaying whole project</a:t>
            </a:r>
          </a:p>
        </p:txBody>
      </p:sp>
    </p:spTree>
    <p:extLst>
      <p:ext uri="{BB962C8B-B14F-4D97-AF65-F5344CB8AC3E}">
        <p14:creationId xmlns:p14="http://schemas.microsoft.com/office/powerpoint/2010/main" val="4134628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xmlns="" id="{6CF564A1-A366-44E2-8B59-10534E849662}"/>
              </a:ext>
            </a:extLst>
          </p:cNvPr>
          <p:cNvSpPr>
            <a:spLocks noGrp="1" noChangeArrowheads="1"/>
          </p:cNvSpPr>
          <p:nvPr>
            <p:ph type="title"/>
          </p:nvPr>
        </p:nvSpPr>
        <p:spPr>
          <a:xfrm>
            <a:off x="539750" y="333375"/>
            <a:ext cx="7772400" cy="1143000"/>
          </a:xfrm>
        </p:spPr>
        <p:txBody>
          <a:bodyPr/>
          <a:lstStyle/>
          <a:p>
            <a:pPr eaLnBrk="1" hangingPunct="1"/>
            <a:r>
              <a:rPr lang="en-US" altLang="en-US" b="1"/>
              <a:t>Example</a:t>
            </a:r>
          </a:p>
        </p:txBody>
      </p:sp>
      <p:sp>
        <p:nvSpPr>
          <p:cNvPr id="35844" name="Rectangle 3">
            <a:extLst>
              <a:ext uri="{FF2B5EF4-FFF2-40B4-BE49-F238E27FC236}">
                <a16:creationId xmlns:a16="http://schemas.microsoft.com/office/drawing/2014/main" xmlns="" id="{EFC05CB7-1924-498C-A53D-CB885AEE9A72}"/>
              </a:ext>
            </a:extLst>
          </p:cNvPr>
          <p:cNvSpPr>
            <a:spLocks noGrp="1" noChangeArrowheads="1"/>
          </p:cNvSpPr>
          <p:nvPr>
            <p:ph type="body" sz="half" idx="1"/>
          </p:nvPr>
        </p:nvSpPr>
        <p:spPr>
          <a:xfrm>
            <a:off x="685800" y="1981200"/>
            <a:ext cx="3810000" cy="1447800"/>
          </a:xfrm>
        </p:spPr>
        <p:txBody>
          <a:bodyPr>
            <a:normAutofit lnSpcReduction="10000"/>
          </a:bodyPr>
          <a:lstStyle/>
          <a:p>
            <a:pPr eaLnBrk="1" hangingPunct="1"/>
            <a:r>
              <a:rPr lang="en-US" altLang="en-US" sz="2800"/>
              <a:t>earliest start = day 5</a:t>
            </a:r>
          </a:p>
          <a:p>
            <a:pPr eaLnBrk="1" hangingPunct="1"/>
            <a:r>
              <a:rPr lang="en-US" altLang="en-US" sz="2800"/>
              <a:t>latest finish = day 30</a:t>
            </a:r>
          </a:p>
          <a:p>
            <a:pPr eaLnBrk="1" hangingPunct="1"/>
            <a:r>
              <a:rPr lang="en-US" altLang="en-US" sz="2800"/>
              <a:t>duration = 10 days</a:t>
            </a:r>
          </a:p>
          <a:p>
            <a:pPr eaLnBrk="1" hangingPunct="1"/>
            <a:endParaRPr lang="en-US" altLang="en-US" sz="2800"/>
          </a:p>
        </p:txBody>
      </p:sp>
      <p:sp>
        <p:nvSpPr>
          <p:cNvPr id="35845" name="Rectangle 4">
            <a:extLst>
              <a:ext uri="{FF2B5EF4-FFF2-40B4-BE49-F238E27FC236}">
                <a16:creationId xmlns:a16="http://schemas.microsoft.com/office/drawing/2014/main" xmlns="" id="{FFF3A9B6-614E-4A72-9505-AC8EE9F7A47E}"/>
              </a:ext>
            </a:extLst>
          </p:cNvPr>
          <p:cNvSpPr>
            <a:spLocks noGrp="1" noChangeArrowheads="1"/>
          </p:cNvSpPr>
          <p:nvPr>
            <p:ph type="body" sz="half" idx="2"/>
          </p:nvPr>
        </p:nvSpPr>
        <p:spPr>
          <a:xfrm>
            <a:off x="4705350" y="631070"/>
            <a:ext cx="3810000" cy="1981200"/>
          </a:xfrm>
          <a:ln>
            <a:solidFill>
              <a:srgbClr val="CC0000"/>
            </a:solidFill>
            <a:miter lim="800000"/>
            <a:headEnd/>
            <a:tailEnd/>
          </a:ln>
        </p:spPr>
        <p:txBody>
          <a:bodyPr/>
          <a:lstStyle/>
          <a:p>
            <a:pPr eaLnBrk="1" hangingPunct="1"/>
            <a:r>
              <a:rPr lang="en-US" altLang="en-US" sz="2800">
                <a:solidFill>
                  <a:srgbClr val="CC0000"/>
                </a:solidFill>
              </a:rPr>
              <a:t>earliest finish = ?</a:t>
            </a:r>
          </a:p>
          <a:p>
            <a:pPr eaLnBrk="1" hangingPunct="1"/>
            <a:r>
              <a:rPr lang="en-US" altLang="en-US" sz="2800">
                <a:solidFill>
                  <a:srgbClr val="CC0000"/>
                </a:solidFill>
              </a:rPr>
              <a:t>latest start = ?  </a:t>
            </a:r>
          </a:p>
        </p:txBody>
      </p:sp>
      <p:sp>
        <p:nvSpPr>
          <p:cNvPr id="35846" name="Text Box 6">
            <a:extLst>
              <a:ext uri="{FF2B5EF4-FFF2-40B4-BE49-F238E27FC236}">
                <a16:creationId xmlns:a16="http://schemas.microsoft.com/office/drawing/2014/main" xmlns="" id="{0DFA2BFC-AA6C-4D00-94D7-0B301BB0946C}"/>
              </a:ext>
            </a:extLst>
          </p:cNvPr>
          <p:cNvSpPr txBox="1">
            <a:spLocks noChangeArrowheads="1"/>
          </p:cNvSpPr>
          <p:nvPr/>
        </p:nvSpPr>
        <p:spPr bwMode="auto">
          <a:xfrm>
            <a:off x="539750" y="3594955"/>
            <a:ext cx="5403850" cy="263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marL="457200" indent="-457200">
              <a:spcBef>
                <a:spcPct val="0"/>
              </a:spcBef>
            </a:pPr>
            <a:r>
              <a:rPr lang="en-US" altLang="en-US" sz="2800" b="1" dirty="0">
                <a:solidFill>
                  <a:schemeClr val="tx1"/>
                </a:solidFill>
                <a:latin typeface="Arial" panose="020B0604020202020204" pitchFamily="34" charset="0"/>
              </a:rPr>
              <a:t>EF</a:t>
            </a:r>
            <a:r>
              <a:rPr lang="en-US" altLang="en-US" sz="2800" dirty="0">
                <a:solidFill>
                  <a:schemeClr val="tx1"/>
                </a:solidFill>
                <a:latin typeface="Arial" panose="020B0604020202020204" pitchFamily="34" charset="0"/>
              </a:rPr>
              <a:t>=ES + Duration</a:t>
            </a:r>
          </a:p>
          <a:p>
            <a:pPr marL="457200" indent="-457200">
              <a:spcBef>
                <a:spcPct val="0"/>
              </a:spcBef>
            </a:pPr>
            <a:r>
              <a:rPr lang="en-US" altLang="en-US" sz="2800" b="1" dirty="0">
                <a:solidFill>
                  <a:schemeClr val="tx1"/>
                </a:solidFill>
                <a:latin typeface="Arial" panose="020B0604020202020204" pitchFamily="34" charset="0"/>
              </a:rPr>
              <a:t>LS</a:t>
            </a:r>
            <a:r>
              <a:rPr lang="en-US" altLang="en-US" sz="2800" dirty="0">
                <a:solidFill>
                  <a:schemeClr val="tx1"/>
                </a:solidFill>
                <a:latin typeface="Arial" panose="020B0604020202020204" pitchFamily="34" charset="0"/>
              </a:rPr>
              <a:t>= LF- Duration</a:t>
            </a:r>
          </a:p>
          <a:p>
            <a:pPr marL="457200" indent="-457200">
              <a:spcBef>
                <a:spcPct val="0"/>
              </a:spcBef>
            </a:pPr>
            <a:r>
              <a:rPr lang="en-US" altLang="en-US" sz="2800" b="1" dirty="0">
                <a:solidFill>
                  <a:schemeClr val="tx1"/>
                </a:solidFill>
                <a:latin typeface="Arial" panose="020B0604020202020204" pitchFamily="34" charset="0"/>
              </a:rPr>
              <a:t>Float</a:t>
            </a:r>
            <a:r>
              <a:rPr lang="en-US" altLang="en-US" sz="2800" dirty="0">
                <a:solidFill>
                  <a:schemeClr val="tx1"/>
                </a:solidFill>
                <a:latin typeface="Arial" panose="020B0604020202020204" pitchFamily="34" charset="0"/>
              </a:rPr>
              <a:t> = LF - ES – duration</a:t>
            </a:r>
          </a:p>
          <a:p>
            <a:pPr>
              <a:spcBef>
                <a:spcPct val="0"/>
              </a:spcBef>
              <a:buFontTx/>
              <a:buNone/>
            </a:pPr>
            <a:r>
              <a:rPr lang="en-US" altLang="en-US" sz="2800" dirty="0">
                <a:solidFill>
                  <a:schemeClr val="tx1"/>
                </a:solidFill>
                <a:latin typeface="Arial" panose="020B0604020202020204" pitchFamily="34" charset="0"/>
              </a:rPr>
              <a:t>					</a:t>
            </a:r>
            <a:r>
              <a:rPr lang="en-US" altLang="en-US" sz="2800" b="1" dirty="0">
                <a:solidFill>
                  <a:schemeClr val="tx1"/>
                </a:solidFill>
                <a:highlight>
                  <a:srgbClr val="FFFF00"/>
                </a:highlight>
                <a:latin typeface="Arial" panose="020B0604020202020204" pitchFamily="34" charset="0"/>
              </a:rPr>
              <a:t>OR</a:t>
            </a:r>
          </a:p>
          <a:p>
            <a:pPr>
              <a:spcBef>
                <a:spcPct val="0"/>
              </a:spcBef>
              <a:buFontTx/>
              <a:buNone/>
            </a:pPr>
            <a:r>
              <a:rPr lang="en-US" altLang="en-US" sz="2800" dirty="0">
                <a:solidFill>
                  <a:schemeClr val="tx1"/>
                </a:solidFill>
                <a:latin typeface="Arial" panose="020B0604020202020204" pitchFamily="34" charset="0"/>
              </a:rPr>
              <a:t>		</a:t>
            </a:r>
            <a:r>
              <a:rPr lang="en-US" altLang="en-US" sz="2800" b="1" dirty="0">
                <a:solidFill>
                  <a:schemeClr val="tx1"/>
                </a:solidFill>
                <a:latin typeface="Arial" panose="020B0604020202020204" pitchFamily="34" charset="0"/>
              </a:rPr>
              <a:t>Float</a:t>
            </a:r>
            <a:r>
              <a:rPr lang="en-US" altLang="en-US" sz="2800" dirty="0">
                <a:solidFill>
                  <a:schemeClr val="tx1"/>
                </a:solidFill>
                <a:latin typeface="Arial" panose="020B0604020202020204" pitchFamily="34" charset="0"/>
              </a:rPr>
              <a:t>= LF -  EF</a:t>
            </a:r>
          </a:p>
          <a:p>
            <a:pPr>
              <a:spcBef>
                <a:spcPct val="0"/>
              </a:spcBef>
              <a:buFontTx/>
              <a:buNone/>
            </a:pPr>
            <a:endParaRPr lang="en-US" altLang="en-US" sz="2400" dirty="0">
              <a:solidFill>
                <a:schemeClr val="tx1"/>
              </a:solidFill>
              <a:latin typeface="Arial" panose="020B0604020202020204" pitchFamily="34" charset="0"/>
            </a:endParaRPr>
          </a:p>
        </p:txBody>
      </p:sp>
      <p:sp>
        <p:nvSpPr>
          <p:cNvPr id="35847" name="Text Box 7">
            <a:extLst>
              <a:ext uri="{FF2B5EF4-FFF2-40B4-BE49-F238E27FC236}">
                <a16:creationId xmlns:a16="http://schemas.microsoft.com/office/drawing/2014/main" xmlns="" id="{4818C13F-8EBD-4B9A-97BB-EE2E51BE9DFC}"/>
              </a:ext>
            </a:extLst>
          </p:cNvPr>
          <p:cNvSpPr txBox="1">
            <a:spLocks noChangeArrowheads="1"/>
          </p:cNvSpPr>
          <p:nvPr/>
        </p:nvSpPr>
        <p:spPr bwMode="auto">
          <a:xfrm>
            <a:off x="4743450" y="3144103"/>
            <a:ext cx="3733800" cy="528638"/>
          </a:xfrm>
          <a:prstGeom prst="rect">
            <a:avLst/>
          </a:prstGeom>
          <a:noFill/>
          <a:ln w="9525">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r>
              <a:rPr lang="en-US" altLang="en-US" sz="2800" dirty="0">
                <a:solidFill>
                  <a:srgbClr val="CC0000"/>
                </a:solidFill>
                <a:latin typeface="Arial" panose="020B0604020202020204" pitchFamily="34" charset="0"/>
              </a:rPr>
              <a:t>What is it in this case?</a:t>
            </a:r>
            <a:endParaRPr lang="en-US" altLang="en-US" sz="2400" dirty="0">
              <a:solidFill>
                <a:schemeClr val="tx1"/>
              </a:solidFill>
              <a:latin typeface="Arial" panose="020B0604020202020204" pitchFamily="34" charset="0"/>
            </a:endParaRPr>
          </a:p>
        </p:txBody>
      </p:sp>
      <p:sp>
        <p:nvSpPr>
          <p:cNvPr id="3" name="Slide Number Placeholder 2">
            <a:extLst>
              <a:ext uri="{FF2B5EF4-FFF2-40B4-BE49-F238E27FC236}">
                <a16:creationId xmlns:a16="http://schemas.microsoft.com/office/drawing/2014/main" xmlns="" id="{F5C8A9A8-C41F-4379-B4E2-F87362E3C180}"/>
              </a:ext>
            </a:extLst>
          </p:cNvPr>
          <p:cNvSpPr>
            <a:spLocks noGrp="1"/>
          </p:cNvSpPr>
          <p:nvPr>
            <p:ph type="sldNum" sz="quarter" idx="12"/>
          </p:nvPr>
        </p:nvSpPr>
        <p:spPr/>
        <p:txBody>
          <a:bodyPr/>
          <a:lstStyle/>
          <a:p>
            <a:fld id="{CDE4BBE6-ABD8-4AAC-A679-4F37D73C8978}"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a:extLst>
              <a:ext uri="{FF2B5EF4-FFF2-40B4-BE49-F238E27FC236}">
                <a16:creationId xmlns:a16="http://schemas.microsoft.com/office/drawing/2014/main" xmlns="" id="{4B574D72-E819-42C6-B65E-63623BB47132}"/>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28</a:t>
            </a:fld>
            <a:endParaRPr lang="en-US" altLang="en-US" sz="1400">
              <a:solidFill>
                <a:schemeClr val="bg1"/>
              </a:solidFill>
            </a:endParaRPr>
          </a:p>
        </p:txBody>
      </p:sp>
      <p:sp>
        <p:nvSpPr>
          <p:cNvPr id="48131" name="Rectangle 2">
            <a:extLst>
              <a:ext uri="{FF2B5EF4-FFF2-40B4-BE49-F238E27FC236}">
                <a16:creationId xmlns:a16="http://schemas.microsoft.com/office/drawing/2014/main" xmlns="" id="{E9FC617B-9F00-423E-9C6D-FEFC5D384A3D}"/>
              </a:ext>
            </a:extLst>
          </p:cNvPr>
          <p:cNvSpPr>
            <a:spLocks noGrp="1" noChangeAspect="1" noChangeArrowheads="1"/>
          </p:cNvSpPr>
          <p:nvPr>
            <p:ph type="title"/>
          </p:nvPr>
        </p:nvSpPr>
        <p:spPr/>
        <p:txBody>
          <a:bodyPr>
            <a:normAutofit fontScale="90000"/>
          </a:bodyPr>
          <a:lstStyle/>
          <a:p>
            <a:r>
              <a:rPr lang="en-US" altLang="en-US" dirty="0"/>
              <a:t>Formulating A Network Model</a:t>
            </a:r>
            <a:r>
              <a:rPr lang="en-US" altLang="en-US" sz="3200" dirty="0"/>
              <a:t/>
            </a:r>
            <a:br>
              <a:rPr lang="en-US" altLang="en-US" sz="3200" dirty="0"/>
            </a:br>
            <a:r>
              <a:rPr lang="en-US" altLang="en-US" sz="3200" dirty="0"/>
              <a:t>Labelling Convention</a:t>
            </a:r>
          </a:p>
        </p:txBody>
      </p:sp>
      <p:sp>
        <p:nvSpPr>
          <p:cNvPr id="48132" name="Rectangle 3">
            <a:extLst>
              <a:ext uri="{FF2B5EF4-FFF2-40B4-BE49-F238E27FC236}">
                <a16:creationId xmlns:a16="http://schemas.microsoft.com/office/drawing/2014/main" xmlns="" id="{6355174E-4421-46EE-8005-7459175D8CF4}"/>
              </a:ext>
            </a:extLst>
          </p:cNvPr>
          <p:cNvSpPr>
            <a:spLocks noGrp="1" noChangeArrowheads="1"/>
          </p:cNvSpPr>
          <p:nvPr>
            <p:ph type="body" idx="1"/>
          </p:nvPr>
        </p:nvSpPr>
        <p:spPr/>
        <p:txBody>
          <a:bodyPr/>
          <a:lstStyle/>
          <a:p>
            <a:r>
              <a:rPr lang="en-US" altLang="en-US" sz="2800"/>
              <a:t>There are a number of differing conventions that have been adopted</a:t>
            </a:r>
          </a:p>
          <a:p>
            <a:r>
              <a:rPr lang="en-US" altLang="en-US" sz="2800"/>
              <a:t>Example</a:t>
            </a:r>
          </a:p>
        </p:txBody>
      </p:sp>
      <p:pic>
        <p:nvPicPr>
          <p:cNvPr id="7" name="Picture 1">
            <a:extLst>
              <a:ext uri="{FF2B5EF4-FFF2-40B4-BE49-F238E27FC236}">
                <a16:creationId xmlns:a16="http://schemas.microsoft.com/office/drawing/2014/main" xmlns="" id="{EC91C297-6B01-4CDF-B9B9-D0E0BA330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368710"/>
            <a:ext cx="4191000"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a:extLst>
              <a:ext uri="{FF2B5EF4-FFF2-40B4-BE49-F238E27FC236}">
                <a16:creationId xmlns:a16="http://schemas.microsoft.com/office/drawing/2014/main" xmlns="" id="{66FC5363-8789-4801-8107-12C76E747905}"/>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29</a:t>
            </a:fld>
            <a:endParaRPr lang="en-US" altLang="en-US" sz="1400">
              <a:solidFill>
                <a:schemeClr val="bg1"/>
              </a:solidFill>
            </a:endParaRPr>
          </a:p>
        </p:txBody>
      </p:sp>
      <p:sp>
        <p:nvSpPr>
          <p:cNvPr id="49155" name="Rectangle 2">
            <a:extLst>
              <a:ext uri="{FF2B5EF4-FFF2-40B4-BE49-F238E27FC236}">
                <a16:creationId xmlns:a16="http://schemas.microsoft.com/office/drawing/2014/main" xmlns="" id="{100AD3D7-1635-47A5-9C68-FE4AB5A651BF}"/>
              </a:ext>
            </a:extLst>
          </p:cNvPr>
          <p:cNvSpPr>
            <a:spLocks noGrp="1" noChangeAspect="1" noChangeArrowheads="1"/>
          </p:cNvSpPr>
          <p:nvPr>
            <p:ph type="title"/>
          </p:nvPr>
        </p:nvSpPr>
        <p:spPr/>
        <p:txBody>
          <a:bodyPr/>
          <a:lstStyle/>
          <a:p>
            <a:r>
              <a:rPr lang="en-US" altLang="en-US" dirty="0"/>
              <a:t>Adding The Time Dimension</a:t>
            </a:r>
          </a:p>
        </p:txBody>
      </p:sp>
      <p:sp>
        <p:nvSpPr>
          <p:cNvPr id="49156" name="Rectangle 3">
            <a:extLst>
              <a:ext uri="{FF2B5EF4-FFF2-40B4-BE49-F238E27FC236}">
                <a16:creationId xmlns:a16="http://schemas.microsoft.com/office/drawing/2014/main" xmlns="" id="{14A2061D-2038-48AD-B029-83721C13C69A}"/>
              </a:ext>
            </a:extLst>
          </p:cNvPr>
          <p:cNvSpPr>
            <a:spLocks noGrp="1" noChangeArrowheads="1"/>
          </p:cNvSpPr>
          <p:nvPr>
            <p:ph type="body" idx="1"/>
          </p:nvPr>
        </p:nvSpPr>
        <p:spPr/>
        <p:txBody>
          <a:bodyPr/>
          <a:lstStyle/>
          <a:p>
            <a:r>
              <a:rPr lang="en-US" altLang="en-US" sz="2800"/>
              <a:t>The critical path approach </a:t>
            </a:r>
          </a:p>
          <a:p>
            <a:pPr lvl="1"/>
            <a:r>
              <a:rPr lang="en-US" altLang="en-US" sz="2400"/>
              <a:t>Planning the project in such way that it is completed as quickly as possible</a:t>
            </a:r>
          </a:p>
          <a:p>
            <a:pPr lvl="1"/>
            <a:r>
              <a:rPr lang="en-US" altLang="en-US" sz="2400"/>
              <a:t>Identifying delayed activities </a:t>
            </a:r>
          </a:p>
          <a:p>
            <a:r>
              <a:rPr lang="en-US" altLang="en-US" sz="2800"/>
              <a:t>The method requires the estimation of duration of each activity</a:t>
            </a:r>
          </a:p>
          <a:p>
            <a:pPr lvl="1"/>
            <a:r>
              <a:rPr lang="en-US" altLang="en-US" sz="2400" i="1"/>
              <a:t>Forward pass</a:t>
            </a:r>
            <a:r>
              <a:rPr lang="en-US" altLang="en-US" sz="2400"/>
              <a:t>: calculate the earliest dates at which activities may commence and the project completed</a:t>
            </a:r>
          </a:p>
          <a:p>
            <a:pPr lvl="1"/>
            <a:r>
              <a:rPr lang="en-US" altLang="en-US" sz="2400" i="1"/>
              <a:t>Backward pass</a:t>
            </a:r>
            <a:r>
              <a:rPr lang="en-US" altLang="en-US" sz="2400"/>
              <a:t>: calculate the latest start dates for activities and the </a:t>
            </a:r>
            <a:r>
              <a:rPr lang="en-US" altLang="en-US" sz="2400" i="1"/>
              <a:t>critical path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a:extLst>
              <a:ext uri="{FF2B5EF4-FFF2-40B4-BE49-F238E27FC236}">
                <a16:creationId xmlns:a16="http://schemas.microsoft.com/office/drawing/2014/main" xmlns="" id="{B2F79749-DD2F-427E-AAC2-62038D732DD6}"/>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3399"/>
                </a:solidFill>
                <a:latin typeface="Trebuchet MS" panose="020B0603020202020204" pitchFamily="34" charset="0"/>
                <a:cs typeface="Tahoma" panose="020B0604030504040204" pitchFamily="34" charset="0"/>
              </a:defRPr>
            </a:lvl1pPr>
            <a:lvl2pPr marL="742950" indent="-285750">
              <a:spcBef>
                <a:spcPct val="20000"/>
              </a:spcBef>
              <a:buChar char="–"/>
              <a:defRPr sz="2800">
                <a:solidFill>
                  <a:srgbClr val="003399"/>
                </a:solidFill>
                <a:latin typeface="Trebuchet MS" panose="020B0603020202020204" pitchFamily="34" charset="0"/>
                <a:cs typeface="Tahoma" panose="020B0604030504040204" pitchFamily="34" charset="0"/>
              </a:defRPr>
            </a:lvl2pPr>
            <a:lvl3pPr marL="1143000" indent="-228600">
              <a:spcBef>
                <a:spcPct val="20000"/>
              </a:spcBef>
              <a:buChar char="•"/>
              <a:defRPr sz="2400">
                <a:solidFill>
                  <a:srgbClr val="003399"/>
                </a:solidFill>
                <a:latin typeface="Trebuchet MS" panose="020B0603020202020204" pitchFamily="34" charset="0"/>
                <a:cs typeface="Tahoma" panose="020B0604030504040204" pitchFamily="34" charset="0"/>
              </a:defRPr>
            </a:lvl3pPr>
            <a:lvl4pPr marL="1600200" indent="-228600">
              <a:spcBef>
                <a:spcPct val="20000"/>
              </a:spcBef>
              <a:buChar char="–"/>
              <a:defRPr sz="2000">
                <a:solidFill>
                  <a:srgbClr val="003399"/>
                </a:solidFill>
                <a:latin typeface="Trebuchet MS" panose="020B0603020202020204" pitchFamily="34" charset="0"/>
                <a:cs typeface="Tahoma" panose="020B0604030504040204" pitchFamily="34" charset="0"/>
              </a:defRPr>
            </a:lvl4pPr>
            <a:lvl5pPr marL="2057400" indent="-228600">
              <a:spcBef>
                <a:spcPct val="20000"/>
              </a:spcBef>
              <a:buChar char="»"/>
              <a:defRPr sz="2000">
                <a:solidFill>
                  <a:srgbClr val="003399"/>
                </a:solidFill>
                <a:latin typeface="Trebuchet MS" panose="020B0603020202020204" pitchFamily="34" charset="0"/>
                <a:cs typeface="Tahoma" panose="020B0604030504040204" pitchFamily="34" charset="0"/>
              </a:defRPr>
            </a:lvl5pPr>
            <a:lvl6pPr marL="25146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6pPr>
            <a:lvl7pPr marL="29718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7pPr>
            <a:lvl8pPr marL="34290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8pPr>
            <a:lvl9pPr marL="38862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9pPr>
          </a:lstStyle>
          <a:p>
            <a:pPr>
              <a:spcBef>
                <a:spcPct val="0"/>
              </a:spcBef>
              <a:buFontTx/>
              <a:buNone/>
            </a:pPr>
            <a:r>
              <a:rPr lang="en-US" altLang="en-US" sz="1400">
                <a:solidFill>
                  <a:schemeClr val="bg1"/>
                </a:solidFill>
              </a:rPr>
              <a:t>Chapter 6-</a:t>
            </a:r>
            <a:fld id="{B3303007-F69A-4CF1-8D23-923310FC54E6}" type="slidenum">
              <a:rPr lang="en-US" altLang="en-US" sz="1400">
                <a:solidFill>
                  <a:schemeClr val="bg1"/>
                </a:solidFill>
              </a:rPr>
              <a:pPr>
                <a:spcBef>
                  <a:spcPct val="0"/>
                </a:spcBef>
                <a:buFontTx/>
                <a:buNone/>
              </a:pPr>
              <a:t>30</a:t>
            </a:fld>
            <a:endParaRPr lang="en-US" altLang="en-US" sz="1400">
              <a:solidFill>
                <a:schemeClr val="bg1"/>
              </a:solidFill>
            </a:endParaRPr>
          </a:p>
        </p:txBody>
      </p:sp>
      <p:sp>
        <p:nvSpPr>
          <p:cNvPr id="50179" name="Rectangle 2">
            <a:extLst>
              <a:ext uri="{FF2B5EF4-FFF2-40B4-BE49-F238E27FC236}">
                <a16:creationId xmlns:a16="http://schemas.microsoft.com/office/drawing/2014/main" xmlns="" id="{2DD03B5B-E2B0-444D-B52B-0BFB450A401C}"/>
              </a:ext>
            </a:extLst>
          </p:cNvPr>
          <p:cNvSpPr>
            <a:spLocks noGrp="1" noChangeAspect="1" noChangeArrowheads="1"/>
          </p:cNvSpPr>
          <p:nvPr>
            <p:ph type="title"/>
          </p:nvPr>
        </p:nvSpPr>
        <p:spPr/>
        <p:txBody>
          <a:bodyPr/>
          <a:lstStyle/>
          <a:p>
            <a:r>
              <a:rPr lang="en-US" altLang="en-US" dirty="0"/>
              <a:t>Adding The Time Dimension</a:t>
            </a:r>
            <a:br>
              <a:rPr lang="en-US" altLang="en-US" dirty="0"/>
            </a:br>
            <a:r>
              <a:rPr lang="en-US" altLang="en-US" sz="2400" dirty="0"/>
              <a:t>Example of Estimated Activity Duration of A Project</a:t>
            </a:r>
          </a:p>
        </p:txBody>
      </p:sp>
      <p:graphicFrame>
        <p:nvGraphicFramePr>
          <p:cNvPr id="293013" name="Group 149">
            <a:extLst>
              <a:ext uri="{FF2B5EF4-FFF2-40B4-BE49-F238E27FC236}">
                <a16:creationId xmlns:a16="http://schemas.microsoft.com/office/drawing/2014/main" xmlns="" id="{74D29E1F-70C6-4D72-97E2-016E0EF38590}"/>
              </a:ext>
            </a:extLst>
          </p:cNvPr>
          <p:cNvGraphicFramePr>
            <a:graphicFrameLocks noGrp="1"/>
          </p:cNvGraphicFramePr>
          <p:nvPr>
            <p:ph idx="1"/>
          </p:nvPr>
        </p:nvGraphicFramePr>
        <p:xfrm>
          <a:off x="838200" y="1600200"/>
          <a:ext cx="7467600" cy="4064002"/>
        </p:xfrm>
        <a:graphic>
          <a:graphicData uri="http://schemas.openxmlformats.org/drawingml/2006/table">
            <a:tbl>
              <a:tblPr/>
              <a:tblGrid>
                <a:gridCol w="727075">
                  <a:extLst>
                    <a:ext uri="{9D8B030D-6E8A-4147-A177-3AD203B41FA5}">
                      <a16:colId xmlns:a16="http://schemas.microsoft.com/office/drawing/2014/main" xmlns="" val="20000"/>
                    </a:ext>
                  </a:extLst>
                </a:gridCol>
                <a:gridCol w="3197225">
                  <a:extLst>
                    <a:ext uri="{9D8B030D-6E8A-4147-A177-3AD203B41FA5}">
                      <a16:colId xmlns:a16="http://schemas.microsoft.com/office/drawing/2014/main" xmlns="" val="20001"/>
                    </a:ext>
                  </a:extLst>
                </a:gridCol>
                <a:gridCol w="1962150">
                  <a:extLst>
                    <a:ext uri="{9D8B030D-6E8A-4147-A177-3AD203B41FA5}">
                      <a16:colId xmlns:a16="http://schemas.microsoft.com/office/drawing/2014/main" xmlns="" val="20002"/>
                    </a:ext>
                  </a:extLst>
                </a:gridCol>
                <a:gridCol w="1581150">
                  <a:extLst>
                    <a:ext uri="{9D8B030D-6E8A-4147-A177-3AD203B41FA5}">
                      <a16:colId xmlns:a16="http://schemas.microsoft.com/office/drawing/2014/main" xmlns="" val="20003"/>
                    </a:ext>
                  </a:extLst>
                </a:gridCol>
              </a:tblGrid>
              <a:tr h="450850">
                <a:tc grid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rgbClr val="003399"/>
                          </a:solidFill>
                          <a:effectLst/>
                          <a:latin typeface="Trebuchet MS" pitchFamily="34" charset="0"/>
                          <a:cs typeface="Tahoma" pitchFamily="34" charset="0"/>
                        </a:rPr>
                        <a:t>Activity</a:t>
                      </a:r>
                    </a:p>
                  </a:txBody>
                  <a:tcP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rgbClr val="003399"/>
                          </a:solidFill>
                          <a:effectLst/>
                          <a:latin typeface="Trebuchet MS" pitchFamily="34" charset="0"/>
                          <a:cs typeface="Tahoma" pitchFamily="34" charset="0"/>
                        </a:rPr>
                        <a:t>Duration (weeks)</a:t>
                      </a:r>
                    </a:p>
                  </a:txBody>
                  <a:tcP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rgbClr val="003399"/>
                          </a:solidFill>
                          <a:effectLst/>
                          <a:latin typeface="Trebuchet MS" pitchFamily="34" charset="0"/>
                          <a:cs typeface="Tahoma" pitchFamily="34" charset="0"/>
                        </a:rPr>
                        <a:t>Precedents</a:t>
                      </a:r>
                    </a:p>
                  </a:txBody>
                  <a:tcP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A</a:t>
                      </a:r>
                    </a:p>
                  </a:txBody>
                  <a:tcP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Hardware selection</a:t>
                      </a: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6</a:t>
                      </a: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xmlns="" val="10001"/>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Software design</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2"/>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C</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Install hardware</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A</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3"/>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D</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Code &amp; test software</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4"/>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E</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File take-on</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B</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5"/>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F</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Write user manuals</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10</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0" i="0" u="none" strike="noStrike" cap="none" normalizeH="0" baseline="0">
                        <a:ln>
                          <a:noFill/>
                        </a:ln>
                        <a:solidFill>
                          <a:srgbClr val="003399"/>
                        </a:solidFill>
                        <a:effectLst/>
                        <a:latin typeface="Trebuchet MS" pitchFamily="34" charset="0"/>
                        <a:cs typeface="Tahoma" pitchFamily="34"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6"/>
                  </a:ext>
                </a:extLst>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G</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User training</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E, F</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7"/>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H</a:t>
                      </a:r>
                    </a:p>
                  </a:txBody>
                  <a:tcP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Install &amp; test system</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2</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rgbClr val="003399"/>
                          </a:solidFill>
                          <a:effectLst/>
                          <a:latin typeface="Trebuchet MS" pitchFamily="34" charset="0"/>
                          <a:cs typeface="Tahoma" pitchFamily="34" charset="0"/>
                        </a:rPr>
                        <a:t>C,D</a:t>
                      </a:r>
                    </a:p>
                  </a:txBody>
                  <a:tcP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a:extLst>
              <a:ext uri="{FF2B5EF4-FFF2-40B4-BE49-F238E27FC236}">
                <a16:creationId xmlns:a16="http://schemas.microsoft.com/office/drawing/2014/main" xmlns="" id="{27F5036A-A7E8-4E36-B1D6-15C2CA5E8A94}"/>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31</a:t>
            </a:fld>
            <a:endParaRPr lang="en-US" altLang="en-US" sz="1400">
              <a:solidFill>
                <a:schemeClr val="bg1"/>
              </a:solidFill>
            </a:endParaRPr>
          </a:p>
        </p:txBody>
      </p:sp>
      <p:sp>
        <p:nvSpPr>
          <p:cNvPr id="51203" name="Rectangle 2">
            <a:extLst>
              <a:ext uri="{FF2B5EF4-FFF2-40B4-BE49-F238E27FC236}">
                <a16:creationId xmlns:a16="http://schemas.microsoft.com/office/drawing/2014/main" xmlns="" id="{BB2B41B8-4B61-4F6F-A5DE-763BC939885F}"/>
              </a:ext>
            </a:extLst>
          </p:cNvPr>
          <p:cNvSpPr>
            <a:spLocks noGrp="1" noChangeAspect="1" noChangeArrowheads="1"/>
          </p:cNvSpPr>
          <p:nvPr>
            <p:ph type="title"/>
          </p:nvPr>
        </p:nvSpPr>
        <p:spPr/>
        <p:txBody>
          <a:bodyPr>
            <a:normAutofit fontScale="90000"/>
          </a:bodyPr>
          <a:lstStyle/>
          <a:p>
            <a:r>
              <a:rPr lang="en-US" altLang="en-US" dirty="0"/>
              <a:t>Adding The Time Dimension</a:t>
            </a:r>
            <a:br>
              <a:rPr lang="en-US" altLang="en-US" dirty="0"/>
            </a:br>
            <a:r>
              <a:rPr lang="en-US" altLang="en-US" sz="2400" dirty="0"/>
              <a:t>The Precedence Network of The Example Project</a:t>
            </a:r>
          </a:p>
        </p:txBody>
      </p:sp>
      <p:pic>
        <p:nvPicPr>
          <p:cNvPr id="3" name="Picture 2">
            <a:extLst>
              <a:ext uri="{FF2B5EF4-FFF2-40B4-BE49-F238E27FC236}">
                <a16:creationId xmlns:a16="http://schemas.microsoft.com/office/drawing/2014/main" xmlns="" id="{6AB33B6C-1D28-465F-BDB5-573F1B992E0A}"/>
              </a:ext>
            </a:extLst>
          </p:cNvPr>
          <p:cNvPicPr>
            <a:picLocks noChangeAspect="1"/>
          </p:cNvPicPr>
          <p:nvPr/>
        </p:nvPicPr>
        <p:blipFill>
          <a:blip r:embed="rId2"/>
          <a:stretch>
            <a:fillRect/>
          </a:stretch>
        </p:blipFill>
        <p:spPr>
          <a:xfrm>
            <a:off x="0" y="1748355"/>
            <a:ext cx="9144000" cy="5109645"/>
          </a:xfrm>
          <a:prstGeom prst="rect">
            <a:avLst/>
          </a:prstGeom>
        </p:spPr>
      </p:pic>
      <p:cxnSp>
        <p:nvCxnSpPr>
          <p:cNvPr id="5" name="Straight Connector 4">
            <a:extLst>
              <a:ext uri="{FF2B5EF4-FFF2-40B4-BE49-F238E27FC236}">
                <a16:creationId xmlns:a16="http://schemas.microsoft.com/office/drawing/2014/main" xmlns="" id="{DAA457DD-FE3F-4E4D-B9F7-D88E36586C94}"/>
              </a:ext>
            </a:extLst>
          </p:cNvPr>
          <p:cNvCxnSpPr/>
          <p:nvPr/>
        </p:nvCxnSpPr>
        <p:spPr>
          <a:xfrm>
            <a:off x="3312160" y="2570480"/>
            <a:ext cx="2743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xmlns="" id="{ECF1D89C-129D-480E-82DE-E6F092BB3C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F484A374-4FD8-4293-87AC-838D3E6C4FD4}" type="slidenum">
              <a:rPr lang="en-US" altLang="en-US" sz="1200"/>
              <a:pPr eaLnBrk="1" hangingPunct="1"/>
              <a:t>32</a:t>
            </a:fld>
            <a:endParaRPr lang="en-US" altLang="en-US" sz="1200"/>
          </a:p>
        </p:txBody>
      </p:sp>
      <p:sp>
        <p:nvSpPr>
          <p:cNvPr id="36868" name="Rectangle 2051">
            <a:extLst>
              <a:ext uri="{FF2B5EF4-FFF2-40B4-BE49-F238E27FC236}">
                <a16:creationId xmlns:a16="http://schemas.microsoft.com/office/drawing/2014/main" xmlns="" id="{36F8A315-7D9C-4EE4-85E7-57868D9305AA}"/>
              </a:ext>
            </a:extLst>
          </p:cNvPr>
          <p:cNvSpPr>
            <a:spLocks noGrp="1" noChangeArrowheads="1"/>
          </p:cNvSpPr>
          <p:nvPr>
            <p:ph type="body" idx="1"/>
          </p:nvPr>
        </p:nvSpPr>
        <p:spPr/>
        <p:txBody>
          <a:bodyPr/>
          <a:lstStyle/>
          <a:p>
            <a:pPr eaLnBrk="1" hangingPunct="1"/>
            <a:r>
              <a:rPr lang="en-US" altLang="en-US" sz="2400"/>
              <a:t>To determine early start (ES) and early finish (EF) times for each task</a:t>
            </a:r>
          </a:p>
          <a:p>
            <a:pPr eaLnBrk="1" hangingPunct="1"/>
            <a:r>
              <a:rPr lang="en-US" altLang="en-US" sz="2400"/>
              <a:t>Work from left to right</a:t>
            </a:r>
          </a:p>
          <a:p>
            <a:pPr eaLnBrk="1" hangingPunct="1"/>
            <a:r>
              <a:rPr lang="en-US" altLang="en-US" sz="2400"/>
              <a:t>Adding times in each path</a:t>
            </a:r>
          </a:p>
          <a:p>
            <a:pPr eaLnBrk="1" hangingPunct="1"/>
            <a:r>
              <a:rPr lang="en-US" altLang="en-US" sz="2400"/>
              <a:t>Rule: when several tasks converge, the ES for the next task is the largest of preceding EF times</a:t>
            </a:r>
          </a:p>
        </p:txBody>
      </p:sp>
      <p:sp>
        <p:nvSpPr>
          <p:cNvPr id="3" name="Title 2">
            <a:extLst>
              <a:ext uri="{FF2B5EF4-FFF2-40B4-BE49-F238E27FC236}">
                <a16:creationId xmlns:a16="http://schemas.microsoft.com/office/drawing/2014/main" xmlns="" id="{FB13329A-DEE9-42D6-AD0F-BBFAEAD9B4B7}"/>
              </a:ext>
            </a:extLst>
          </p:cNvPr>
          <p:cNvSpPr>
            <a:spLocks noGrp="1"/>
          </p:cNvSpPr>
          <p:nvPr>
            <p:ph type="title"/>
          </p:nvPr>
        </p:nvSpPr>
        <p:spPr/>
        <p:txBody>
          <a:bodyPr/>
          <a:lstStyle/>
          <a:p>
            <a:r>
              <a:rPr lang="en-US" dirty="0"/>
              <a:t>Forward Pass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a:extLst>
              <a:ext uri="{FF2B5EF4-FFF2-40B4-BE49-F238E27FC236}">
                <a16:creationId xmlns:a16="http://schemas.microsoft.com/office/drawing/2014/main" xmlns="" id="{93CF9205-52DE-4484-9B6E-1E75AFD3DAF2}"/>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33</a:t>
            </a:fld>
            <a:endParaRPr lang="en-US" altLang="en-US" sz="1400">
              <a:solidFill>
                <a:schemeClr val="bg1"/>
              </a:solidFill>
            </a:endParaRPr>
          </a:p>
        </p:txBody>
      </p:sp>
      <p:sp>
        <p:nvSpPr>
          <p:cNvPr id="56323" name="Rectangle 2">
            <a:extLst>
              <a:ext uri="{FF2B5EF4-FFF2-40B4-BE49-F238E27FC236}">
                <a16:creationId xmlns:a16="http://schemas.microsoft.com/office/drawing/2014/main" xmlns="" id="{D3F98CF5-5332-4668-B3EB-CDAD2FE6390E}"/>
              </a:ext>
            </a:extLst>
          </p:cNvPr>
          <p:cNvSpPr>
            <a:spLocks noGrp="1" noChangeAspect="1" noChangeArrowheads="1"/>
          </p:cNvSpPr>
          <p:nvPr>
            <p:ph type="title"/>
          </p:nvPr>
        </p:nvSpPr>
        <p:spPr/>
        <p:txBody>
          <a:bodyPr>
            <a:normAutofit fontScale="90000"/>
          </a:bodyPr>
          <a:lstStyle/>
          <a:p>
            <a:r>
              <a:rPr lang="en-US" altLang="en-US" dirty="0"/>
              <a:t>The Forward Pass</a:t>
            </a:r>
            <a:br>
              <a:rPr lang="en-US" altLang="en-US" dirty="0"/>
            </a:br>
            <a:r>
              <a:rPr lang="en-US" altLang="en-US" sz="3200" dirty="0"/>
              <a:t>The Network After The Forward Pass</a:t>
            </a:r>
          </a:p>
        </p:txBody>
      </p:sp>
      <p:pic>
        <p:nvPicPr>
          <p:cNvPr id="3" name="Picture 2">
            <a:extLst>
              <a:ext uri="{FF2B5EF4-FFF2-40B4-BE49-F238E27FC236}">
                <a16:creationId xmlns:a16="http://schemas.microsoft.com/office/drawing/2014/main" xmlns="" id="{F878F687-1F4D-4B8E-9BE3-B763A27789D6}"/>
              </a:ext>
            </a:extLst>
          </p:cNvPr>
          <p:cNvPicPr>
            <a:picLocks noChangeAspect="1"/>
          </p:cNvPicPr>
          <p:nvPr/>
        </p:nvPicPr>
        <p:blipFill>
          <a:blip r:embed="rId2"/>
          <a:stretch>
            <a:fillRect/>
          </a:stretch>
        </p:blipFill>
        <p:spPr>
          <a:xfrm>
            <a:off x="0" y="1799480"/>
            <a:ext cx="9144000" cy="50585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xmlns="" id="{16AF0A61-7110-4218-89F8-03DEA116CF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82BF35E9-7543-48F6-BCEA-69637D73B462}" type="slidenum">
              <a:rPr lang="en-US" altLang="en-US" sz="1200"/>
              <a:pPr eaLnBrk="1" hangingPunct="1"/>
              <a:t>34</a:t>
            </a:fld>
            <a:endParaRPr lang="en-US" altLang="en-US" sz="1200"/>
          </a:p>
        </p:txBody>
      </p:sp>
      <p:sp>
        <p:nvSpPr>
          <p:cNvPr id="37892" name="Rectangle 3">
            <a:extLst>
              <a:ext uri="{FF2B5EF4-FFF2-40B4-BE49-F238E27FC236}">
                <a16:creationId xmlns:a16="http://schemas.microsoft.com/office/drawing/2014/main" xmlns="" id="{5C6E22E9-C9BB-42A1-8415-670362CDBBA1}"/>
              </a:ext>
            </a:extLst>
          </p:cNvPr>
          <p:cNvSpPr>
            <a:spLocks noGrp="1" noChangeArrowheads="1"/>
          </p:cNvSpPr>
          <p:nvPr>
            <p:ph type="body" idx="1"/>
          </p:nvPr>
        </p:nvSpPr>
        <p:spPr/>
        <p:txBody>
          <a:bodyPr/>
          <a:lstStyle/>
          <a:p>
            <a:pPr eaLnBrk="1" hangingPunct="1"/>
            <a:r>
              <a:rPr lang="en-US" altLang="en-US" sz="2400"/>
              <a:t>To determine the last finish (LF) and last start (LS) times</a:t>
            </a:r>
          </a:p>
          <a:p>
            <a:pPr eaLnBrk="1" hangingPunct="1"/>
            <a:r>
              <a:rPr lang="en-US" altLang="en-US" sz="2400"/>
              <a:t>Start at the end node</a:t>
            </a:r>
          </a:p>
          <a:p>
            <a:pPr eaLnBrk="1" hangingPunct="1"/>
            <a:r>
              <a:rPr lang="en-US" altLang="en-US" sz="2400"/>
              <a:t>Compute the bottom pair of numbers</a:t>
            </a:r>
          </a:p>
          <a:p>
            <a:pPr eaLnBrk="1" hangingPunct="1"/>
            <a:r>
              <a:rPr lang="en-US" altLang="en-US" sz="2400"/>
              <a:t>Subtract duration from connecting node’s earliest start time</a:t>
            </a:r>
          </a:p>
        </p:txBody>
      </p:sp>
      <p:sp>
        <p:nvSpPr>
          <p:cNvPr id="3" name="Title 2">
            <a:extLst>
              <a:ext uri="{FF2B5EF4-FFF2-40B4-BE49-F238E27FC236}">
                <a16:creationId xmlns:a16="http://schemas.microsoft.com/office/drawing/2014/main" xmlns="" id="{13B248EB-A358-4938-9948-4E6A15434822}"/>
              </a:ext>
            </a:extLst>
          </p:cNvPr>
          <p:cNvSpPr>
            <a:spLocks noGrp="1"/>
          </p:cNvSpPr>
          <p:nvPr>
            <p:ph type="title"/>
          </p:nvPr>
        </p:nvSpPr>
        <p:spPr/>
        <p:txBody>
          <a:bodyPr/>
          <a:lstStyle/>
          <a:p>
            <a:r>
              <a:rPr lang="en-US" dirty="0"/>
              <a:t>Backward Pass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a:extLst>
              <a:ext uri="{FF2B5EF4-FFF2-40B4-BE49-F238E27FC236}">
                <a16:creationId xmlns:a16="http://schemas.microsoft.com/office/drawing/2014/main" xmlns="" id="{6D334621-2DBF-4A38-809D-42314C7D01EC}"/>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35</a:t>
            </a:fld>
            <a:endParaRPr lang="en-US" altLang="en-US" sz="1400">
              <a:solidFill>
                <a:schemeClr val="bg1"/>
              </a:solidFill>
            </a:endParaRPr>
          </a:p>
        </p:txBody>
      </p:sp>
      <p:sp>
        <p:nvSpPr>
          <p:cNvPr id="60419" name="Rectangle 2">
            <a:extLst>
              <a:ext uri="{FF2B5EF4-FFF2-40B4-BE49-F238E27FC236}">
                <a16:creationId xmlns:a16="http://schemas.microsoft.com/office/drawing/2014/main" xmlns="" id="{F5ED8F4F-4D22-4269-9DD2-8FA14A21294F}"/>
              </a:ext>
            </a:extLst>
          </p:cNvPr>
          <p:cNvSpPr>
            <a:spLocks noGrp="1" noChangeAspect="1" noChangeArrowheads="1"/>
          </p:cNvSpPr>
          <p:nvPr>
            <p:ph type="title"/>
          </p:nvPr>
        </p:nvSpPr>
        <p:spPr>
          <a:xfrm>
            <a:off x="381000" y="741042"/>
            <a:ext cx="8382000" cy="1143000"/>
          </a:xfrm>
        </p:spPr>
        <p:txBody>
          <a:bodyPr/>
          <a:lstStyle/>
          <a:p>
            <a:r>
              <a:rPr lang="en-US" altLang="en-US" dirty="0"/>
              <a:t>The Backward Pass</a:t>
            </a:r>
            <a:r>
              <a:rPr lang="en-US" altLang="en-US" sz="3200" dirty="0"/>
              <a:t/>
            </a:r>
            <a:br>
              <a:rPr lang="en-US" altLang="en-US" sz="3200" dirty="0"/>
            </a:br>
            <a:r>
              <a:rPr lang="en-US" altLang="en-US" sz="3200" dirty="0"/>
              <a:t>The Network After The Backward Pass</a:t>
            </a:r>
          </a:p>
        </p:txBody>
      </p:sp>
      <p:pic>
        <p:nvPicPr>
          <p:cNvPr id="3" name="Picture 2">
            <a:extLst>
              <a:ext uri="{FF2B5EF4-FFF2-40B4-BE49-F238E27FC236}">
                <a16:creationId xmlns:a16="http://schemas.microsoft.com/office/drawing/2014/main" xmlns="" id="{D24DB613-7A46-4E07-9CC0-E433DE49055F}"/>
              </a:ext>
            </a:extLst>
          </p:cNvPr>
          <p:cNvPicPr>
            <a:picLocks noChangeAspect="1"/>
          </p:cNvPicPr>
          <p:nvPr/>
        </p:nvPicPr>
        <p:blipFill>
          <a:blip r:embed="rId3"/>
          <a:stretch>
            <a:fillRect/>
          </a:stretch>
        </p:blipFill>
        <p:spPr>
          <a:xfrm>
            <a:off x="0" y="1884042"/>
            <a:ext cx="9144000" cy="4916808"/>
          </a:xfrm>
          <a:prstGeom prst="rect">
            <a:avLst/>
          </a:prstGeom>
        </p:spPr>
      </p:pic>
      <p:pic>
        <p:nvPicPr>
          <p:cNvPr id="5" name="Picture 4">
            <a:extLst>
              <a:ext uri="{FF2B5EF4-FFF2-40B4-BE49-F238E27FC236}">
                <a16:creationId xmlns:a16="http://schemas.microsoft.com/office/drawing/2014/main" xmlns="" id="{34307E57-0082-426A-8F28-E648F164E800}"/>
              </a:ext>
            </a:extLst>
          </p:cNvPr>
          <p:cNvPicPr>
            <a:picLocks noChangeAspect="1"/>
          </p:cNvPicPr>
          <p:nvPr/>
        </p:nvPicPr>
        <p:blipFill>
          <a:blip r:embed="rId4"/>
          <a:stretch>
            <a:fillRect/>
          </a:stretch>
        </p:blipFill>
        <p:spPr>
          <a:xfrm>
            <a:off x="3585543" y="5029200"/>
            <a:ext cx="2033874" cy="13258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xmlns="" id="{E5184CFA-D76F-4B84-9E23-61158384ABE9}"/>
              </a:ext>
            </a:extLst>
          </p:cNvPr>
          <p:cNvSpPr>
            <a:spLocks noGrp="1" noChangeArrowheads="1"/>
          </p:cNvSpPr>
          <p:nvPr>
            <p:ph type="title"/>
          </p:nvPr>
        </p:nvSpPr>
        <p:spPr/>
        <p:txBody>
          <a:bodyPr/>
          <a:lstStyle/>
          <a:p>
            <a:pPr eaLnBrk="1" fontAlgn="auto" hangingPunct="1">
              <a:spcAft>
                <a:spcPts val="0"/>
              </a:spcAft>
              <a:defRPr/>
            </a:pPr>
            <a:r>
              <a:rPr lang="en-US" altLang="en-US" dirty="0">
                <a:solidFill>
                  <a:schemeClr val="tx1">
                    <a:lumMod val="75000"/>
                    <a:lumOff val="25000"/>
                  </a:schemeClr>
                </a:solidFill>
              </a:rPr>
              <a:t>Critical Path Method (CPM)</a:t>
            </a:r>
          </a:p>
        </p:txBody>
      </p:sp>
      <p:sp>
        <p:nvSpPr>
          <p:cNvPr id="52227" name="Rectangle 3">
            <a:extLst>
              <a:ext uri="{FF2B5EF4-FFF2-40B4-BE49-F238E27FC236}">
                <a16:creationId xmlns:a16="http://schemas.microsoft.com/office/drawing/2014/main" xmlns="" id="{C17A941D-14AD-4376-9F3C-E732DA5A9C10}"/>
              </a:ext>
            </a:extLst>
          </p:cNvPr>
          <p:cNvSpPr>
            <a:spLocks noGrp="1" noChangeArrowheads="1"/>
          </p:cNvSpPr>
          <p:nvPr>
            <p:ph idx="1"/>
          </p:nvPr>
        </p:nvSpPr>
        <p:spPr>
          <a:xfrm>
            <a:off x="278780" y="1905000"/>
            <a:ext cx="8642195" cy="4729976"/>
          </a:xfrm>
        </p:spPr>
        <p:txBody>
          <a:bodyPr>
            <a:normAutofit fontScale="92500" lnSpcReduction="10000"/>
          </a:bodyPr>
          <a:lstStyle/>
          <a:p>
            <a:pPr lvl="1" algn="just" eaLnBrk="1" hangingPunct="1">
              <a:lnSpc>
                <a:spcPct val="110000"/>
              </a:lnSpc>
              <a:buFont typeface="Arial" panose="020B0604020202020204" pitchFamily="34" charset="0"/>
              <a:buChar char="•"/>
            </a:pPr>
            <a:r>
              <a:rPr lang="en-GB" altLang="en-US" sz="2800" dirty="0"/>
              <a:t>A critical path for a project is the </a:t>
            </a:r>
            <a:r>
              <a:rPr lang="en-GB" altLang="en-US" sz="2800" dirty="0">
                <a:solidFill>
                  <a:srgbClr val="C00000"/>
                </a:solidFill>
              </a:rPr>
              <a:t>series of activities that determine the earliest time by which the project can be completed.</a:t>
            </a:r>
            <a:endParaRPr lang="en-US" altLang="en-US" sz="2800" b="1" dirty="0">
              <a:solidFill>
                <a:srgbClr val="C00000"/>
              </a:solidFill>
            </a:endParaRPr>
          </a:p>
          <a:p>
            <a:pPr lvl="1" algn="just" eaLnBrk="1" hangingPunct="1">
              <a:lnSpc>
                <a:spcPct val="110000"/>
              </a:lnSpc>
              <a:spcBef>
                <a:spcPct val="50000"/>
              </a:spcBef>
              <a:buFont typeface="Arial" panose="020B0604020202020204" pitchFamily="34" charset="0"/>
              <a:buChar char="•"/>
            </a:pPr>
            <a:r>
              <a:rPr lang="en-US" altLang="en-US" sz="2800" b="1" dirty="0"/>
              <a:t>CPM</a:t>
            </a:r>
            <a:r>
              <a:rPr lang="en-US" altLang="en-US" sz="2800" dirty="0"/>
              <a:t> is a network diagramming technique used to predict total project duration.</a:t>
            </a:r>
          </a:p>
          <a:p>
            <a:pPr lvl="1" algn="just" eaLnBrk="1" hangingPunct="1">
              <a:lnSpc>
                <a:spcPct val="110000"/>
              </a:lnSpc>
              <a:spcBef>
                <a:spcPct val="50000"/>
              </a:spcBef>
              <a:buFont typeface="Arial" panose="020B0604020202020204" pitchFamily="34" charset="0"/>
              <a:buChar char="•"/>
            </a:pPr>
            <a:r>
              <a:rPr lang="en-US" altLang="en-US" sz="2800" dirty="0"/>
              <a:t>The critical path is the </a:t>
            </a:r>
            <a:r>
              <a:rPr lang="en-US" altLang="en-US" sz="2800" i="1" dirty="0"/>
              <a:t>longest path</a:t>
            </a:r>
            <a:r>
              <a:rPr lang="en-US" altLang="en-US" sz="2800" dirty="0"/>
              <a:t> through the network diagram and has the least amount of</a:t>
            </a:r>
            <a:r>
              <a:rPr lang="en-US" altLang="en-US" sz="2800" b="1" dirty="0"/>
              <a:t> </a:t>
            </a:r>
            <a:r>
              <a:rPr lang="en-US" altLang="en-US" sz="2800" dirty="0"/>
              <a:t>slack or float.</a:t>
            </a:r>
          </a:p>
          <a:p>
            <a:pPr lvl="1" algn="just" eaLnBrk="1" hangingPunct="1">
              <a:lnSpc>
                <a:spcPct val="110000"/>
              </a:lnSpc>
              <a:spcBef>
                <a:spcPct val="50000"/>
              </a:spcBef>
              <a:buFont typeface="Arial" panose="020B0604020202020204" pitchFamily="34" charset="0"/>
              <a:buChar char="•"/>
            </a:pPr>
            <a:r>
              <a:rPr lang="en-US" altLang="en-US" sz="2800" b="1" dirty="0"/>
              <a:t>Slack </a:t>
            </a:r>
            <a:r>
              <a:rPr lang="en-US" altLang="en-US" sz="2800" dirty="0"/>
              <a:t>or</a:t>
            </a:r>
            <a:r>
              <a:rPr lang="en-US" altLang="en-US" sz="2800" b="1" dirty="0"/>
              <a:t> float</a:t>
            </a:r>
            <a:r>
              <a:rPr lang="en-US" altLang="en-US" sz="2800" dirty="0"/>
              <a:t> is</a:t>
            </a:r>
            <a:r>
              <a:rPr lang="en-US" altLang="en-US" sz="2800" b="1" dirty="0"/>
              <a:t> </a:t>
            </a:r>
            <a:r>
              <a:rPr lang="en-US" altLang="en-US" sz="2800" dirty="0"/>
              <a:t>the </a:t>
            </a:r>
            <a:r>
              <a:rPr lang="en-US" altLang="en-US" sz="2800" dirty="0">
                <a:solidFill>
                  <a:srgbClr val="C00000"/>
                </a:solidFill>
              </a:rPr>
              <a:t>amount of time an activity can be delayed without delaying a succeeding activity or the project finish date.</a:t>
            </a:r>
          </a:p>
        </p:txBody>
      </p:sp>
      <p:sp>
        <p:nvSpPr>
          <p:cNvPr id="3" name="Slide Number Placeholder 2">
            <a:extLst>
              <a:ext uri="{FF2B5EF4-FFF2-40B4-BE49-F238E27FC236}">
                <a16:creationId xmlns:a16="http://schemas.microsoft.com/office/drawing/2014/main" xmlns="" id="{AFA5B637-A8FA-4218-A32C-C00E7688826B}"/>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A3D4322-F21B-45FC-A3CF-F82A5EF8AA3D}" type="slidenum">
              <a:rPr lang="en-US" altLang="en-US" sz="1000">
                <a:solidFill>
                  <a:srgbClr val="FFFFFF"/>
                </a:solidFill>
              </a:rPr>
              <a:pPr/>
              <a:t>36</a:t>
            </a:fld>
            <a:endParaRPr lang="en-US" altLang="en-US" sz="10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a:extLst>
              <a:ext uri="{FF2B5EF4-FFF2-40B4-BE49-F238E27FC236}">
                <a16:creationId xmlns:a16="http://schemas.microsoft.com/office/drawing/2014/main" xmlns="" id="{CAE3FC15-5D3B-41EA-AF0A-971967432A94}"/>
              </a:ext>
            </a:extLst>
          </p:cNvPr>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Calculating the Critical Path</a:t>
            </a:r>
          </a:p>
        </p:txBody>
      </p:sp>
      <p:sp>
        <p:nvSpPr>
          <p:cNvPr id="54275" name="Rectangle 3">
            <a:extLst>
              <a:ext uri="{FF2B5EF4-FFF2-40B4-BE49-F238E27FC236}">
                <a16:creationId xmlns:a16="http://schemas.microsoft.com/office/drawing/2014/main" xmlns="" id="{04F09EE8-A3EA-4687-9C1C-FA5C6EE1C286}"/>
              </a:ext>
            </a:extLst>
          </p:cNvPr>
          <p:cNvSpPr>
            <a:spLocks noGrp="1" noChangeArrowheads="1"/>
          </p:cNvSpPr>
          <p:nvPr>
            <p:ph idx="1"/>
          </p:nvPr>
        </p:nvSpPr>
        <p:spPr/>
        <p:txBody>
          <a:bodyPr/>
          <a:lstStyle/>
          <a:p>
            <a:pPr lvl="1" algn="just" eaLnBrk="1" hangingPunct="1">
              <a:spcBef>
                <a:spcPct val="100000"/>
              </a:spcBef>
              <a:buFont typeface="Arial" panose="020B0604020202020204" pitchFamily="34" charset="0"/>
              <a:buChar char="•"/>
            </a:pPr>
            <a:r>
              <a:rPr lang="en-US" altLang="en-US" sz="2400"/>
              <a:t>Develop a good network diagram.</a:t>
            </a:r>
          </a:p>
          <a:p>
            <a:pPr lvl="1" algn="just" eaLnBrk="1" hangingPunct="1">
              <a:spcBef>
                <a:spcPct val="100000"/>
              </a:spcBef>
              <a:buFont typeface="Arial" panose="020B0604020202020204" pitchFamily="34" charset="0"/>
              <a:buChar char="•"/>
            </a:pPr>
            <a:r>
              <a:rPr lang="en-US" altLang="en-US" sz="2400"/>
              <a:t>Add the duration estimates for all activities on each path through the network diagram.</a:t>
            </a:r>
          </a:p>
          <a:p>
            <a:pPr lvl="1" algn="just" eaLnBrk="1" hangingPunct="1">
              <a:spcBef>
                <a:spcPct val="100000"/>
              </a:spcBef>
              <a:buFont typeface="Arial" panose="020B0604020202020204" pitchFamily="34" charset="0"/>
              <a:buChar char="•"/>
            </a:pPr>
            <a:r>
              <a:rPr lang="en-US" altLang="en-US" sz="2400"/>
              <a:t>The longest path is the critical path.</a:t>
            </a:r>
          </a:p>
          <a:p>
            <a:pPr lvl="1" algn="just" eaLnBrk="1" hangingPunct="1">
              <a:spcBef>
                <a:spcPct val="100000"/>
              </a:spcBef>
              <a:buFont typeface="Arial" panose="020B0604020202020204" pitchFamily="34" charset="0"/>
              <a:buChar char="•"/>
            </a:pPr>
            <a:r>
              <a:rPr lang="en-US" altLang="en-US" sz="2400"/>
              <a:t>If one or more of the activities on the critical path takes longer than planned, the whole project schedule will slip </a:t>
            </a:r>
            <a:r>
              <a:rPr lang="en-US" altLang="en-US" sz="2400" i="1"/>
              <a:t>unless</a:t>
            </a:r>
            <a:r>
              <a:rPr lang="en-US" altLang="en-US" sz="2400"/>
              <a:t> the project manager takes corrective action.</a:t>
            </a:r>
          </a:p>
        </p:txBody>
      </p:sp>
      <p:sp>
        <p:nvSpPr>
          <p:cNvPr id="2" name="Slide Number Placeholder 1">
            <a:extLst>
              <a:ext uri="{FF2B5EF4-FFF2-40B4-BE49-F238E27FC236}">
                <a16:creationId xmlns:a16="http://schemas.microsoft.com/office/drawing/2014/main" xmlns="" id="{E089CE2E-A3D5-4C6B-99CE-EF7A476225A3}"/>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310299F-96A7-4F8A-95BD-AC10805AB730}" type="slidenum">
              <a:rPr lang="en-US" altLang="en-US" sz="1000">
                <a:solidFill>
                  <a:srgbClr val="FFFFFF"/>
                </a:solidFill>
              </a:rPr>
              <a:pPr/>
              <a:t>37</a:t>
            </a:fld>
            <a:endParaRPr lang="en-US" altLang="en-US" sz="10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xmlns="" id="{4A721513-0742-4047-947C-5432EBEB8966}"/>
              </a:ext>
            </a:extLst>
          </p:cNvPr>
          <p:cNvSpPr>
            <a:spLocks noGrp="1" noChangeArrowheads="1"/>
          </p:cNvSpPr>
          <p:nvPr>
            <p:ph type="title"/>
          </p:nvPr>
        </p:nvSpPr>
        <p:spPr>
          <a:xfrm>
            <a:off x="457200" y="228600"/>
            <a:ext cx="8075613" cy="784225"/>
          </a:xfrm>
        </p:spPr>
        <p:txBody>
          <a:bodyPr>
            <a:normAutofit fontScale="90000"/>
          </a:bodyPr>
          <a:lstStyle/>
          <a:p>
            <a:pPr eaLnBrk="1" fontAlgn="auto" hangingPunct="1">
              <a:spcAft>
                <a:spcPts val="0"/>
              </a:spcAft>
              <a:defRPr/>
            </a:pPr>
            <a:r>
              <a:rPr lang="en-US" altLang="en-US" sz="4000">
                <a:solidFill>
                  <a:schemeClr val="tx1">
                    <a:lumMod val="75000"/>
                    <a:lumOff val="25000"/>
                  </a:schemeClr>
                </a:solidFill>
              </a:rPr>
              <a:t>Figure 6-8. Determining the Critical Path for Project X</a:t>
            </a:r>
          </a:p>
        </p:txBody>
      </p:sp>
      <p:pic>
        <p:nvPicPr>
          <p:cNvPr id="55299" name="Picture 3">
            <a:extLst>
              <a:ext uri="{FF2B5EF4-FFF2-40B4-BE49-F238E27FC236}">
                <a16:creationId xmlns:a16="http://schemas.microsoft.com/office/drawing/2014/main" xmlns="" id="{321D8C46-14FF-40D2-9880-6939DCFF1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38" y="1143000"/>
            <a:ext cx="7543800"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xmlns="" id="{93E80679-830A-4204-B482-C863FCEC72BB}"/>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AA2276E-2417-4BEB-A990-8EF1DA2ACB5F}" type="slidenum">
              <a:rPr lang="en-US" altLang="en-US" sz="1000">
                <a:solidFill>
                  <a:srgbClr val="FFFFFF"/>
                </a:solidFill>
              </a:rPr>
              <a:pPr/>
              <a:t>38</a:t>
            </a:fld>
            <a:endParaRPr lang="en-US" altLang="en-US" sz="1000">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a:extLst>
              <a:ext uri="{FF2B5EF4-FFF2-40B4-BE49-F238E27FC236}">
                <a16:creationId xmlns:a16="http://schemas.microsoft.com/office/drawing/2014/main" xmlns="" id="{957AF9ED-C23A-409B-A480-C1FC2438D5CE}"/>
              </a:ext>
            </a:extLst>
          </p:cNvPr>
          <p:cNvSpPr>
            <a:spLocks noGrp="1" noChangeArrowheads="1"/>
          </p:cNvSpPr>
          <p:nvPr>
            <p:ph type="title"/>
          </p:nvPr>
        </p:nvSpPr>
        <p:spPr>
          <a:xfrm>
            <a:off x="885825" y="990600"/>
            <a:ext cx="7475538" cy="579438"/>
          </a:xfrm>
        </p:spPr>
        <p:txBody>
          <a:bodyPr>
            <a:normAutofit fontScale="90000"/>
          </a:bodyPr>
          <a:lstStyle/>
          <a:p>
            <a:pPr eaLnBrk="1" fontAlgn="auto" hangingPunct="1">
              <a:spcAft>
                <a:spcPts val="0"/>
              </a:spcAft>
              <a:defRPr/>
            </a:pPr>
            <a:r>
              <a:rPr lang="en-US" altLang="en-US" dirty="0">
                <a:solidFill>
                  <a:schemeClr val="tx1">
                    <a:lumMod val="75000"/>
                    <a:lumOff val="25000"/>
                  </a:schemeClr>
                </a:solidFill>
              </a:rPr>
              <a:t>More on the Critical Path</a:t>
            </a:r>
          </a:p>
        </p:txBody>
      </p:sp>
      <p:sp>
        <p:nvSpPr>
          <p:cNvPr id="56323" name="Rectangle 3">
            <a:extLst>
              <a:ext uri="{FF2B5EF4-FFF2-40B4-BE49-F238E27FC236}">
                <a16:creationId xmlns:a16="http://schemas.microsoft.com/office/drawing/2014/main" xmlns="" id="{FDBB5639-793A-4B58-A986-F525827EF815}"/>
              </a:ext>
            </a:extLst>
          </p:cNvPr>
          <p:cNvSpPr>
            <a:spLocks noGrp="1" noChangeArrowheads="1"/>
          </p:cNvSpPr>
          <p:nvPr>
            <p:ph idx="1"/>
          </p:nvPr>
        </p:nvSpPr>
        <p:spPr>
          <a:xfrm>
            <a:off x="838200" y="2079625"/>
            <a:ext cx="7523163" cy="4092575"/>
          </a:xfrm>
        </p:spPr>
        <p:txBody>
          <a:bodyPr/>
          <a:lstStyle/>
          <a:p>
            <a:pPr lvl="1" algn="just" eaLnBrk="1" hangingPunct="1">
              <a:lnSpc>
                <a:spcPct val="100000"/>
              </a:lnSpc>
              <a:spcBef>
                <a:spcPct val="40000"/>
              </a:spcBef>
              <a:buFont typeface="Arial" panose="020B0604020202020204" pitchFamily="34" charset="0"/>
              <a:buChar char="•"/>
            </a:pPr>
            <a:r>
              <a:rPr lang="en-US" altLang="en-US" sz="2400">
                <a:solidFill>
                  <a:srgbClr val="C00000"/>
                </a:solidFill>
              </a:rPr>
              <a:t>The critical path does </a:t>
            </a:r>
            <a:r>
              <a:rPr lang="en-US" altLang="en-US" sz="2400" i="1">
                <a:solidFill>
                  <a:srgbClr val="C00000"/>
                </a:solidFill>
              </a:rPr>
              <a:t>not</a:t>
            </a:r>
            <a:r>
              <a:rPr lang="en-US" altLang="en-US" sz="2400">
                <a:solidFill>
                  <a:srgbClr val="C00000"/>
                </a:solidFill>
              </a:rPr>
              <a:t> necessarily contain all the critical activities; it only accounts for time.</a:t>
            </a:r>
          </a:p>
          <a:p>
            <a:pPr lvl="1" algn="just" eaLnBrk="1" hangingPunct="1">
              <a:lnSpc>
                <a:spcPct val="100000"/>
              </a:lnSpc>
              <a:spcBef>
                <a:spcPct val="40000"/>
              </a:spcBef>
              <a:buFont typeface="Arial" panose="020B0604020202020204" pitchFamily="34" charset="0"/>
              <a:buChar char="•"/>
            </a:pPr>
            <a:r>
              <a:rPr lang="en-US" altLang="en-US" sz="2400"/>
              <a:t>There can be more than one critical path if the lengths of two or more paths are the same.</a:t>
            </a:r>
          </a:p>
          <a:p>
            <a:pPr lvl="1" algn="just" eaLnBrk="1" hangingPunct="1">
              <a:lnSpc>
                <a:spcPct val="100000"/>
              </a:lnSpc>
              <a:spcBef>
                <a:spcPct val="40000"/>
              </a:spcBef>
              <a:buFont typeface="Arial" panose="020B0604020202020204" pitchFamily="34" charset="0"/>
              <a:buChar char="•"/>
            </a:pPr>
            <a:r>
              <a:rPr lang="en-US" altLang="en-US" sz="2400"/>
              <a:t>The critical path can change as the project progresses.</a:t>
            </a:r>
          </a:p>
        </p:txBody>
      </p:sp>
      <p:sp>
        <p:nvSpPr>
          <p:cNvPr id="2" name="Slide Number Placeholder 1">
            <a:extLst>
              <a:ext uri="{FF2B5EF4-FFF2-40B4-BE49-F238E27FC236}">
                <a16:creationId xmlns:a16="http://schemas.microsoft.com/office/drawing/2014/main" xmlns="" id="{5FDDD894-E7FD-4988-B2C2-7F7E699EB012}"/>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3C3B63D-A0D2-455A-A5FC-A735CFE3874B}" type="slidenum">
              <a:rPr lang="en-US" altLang="en-US" sz="1000">
                <a:solidFill>
                  <a:srgbClr val="FFFFFF"/>
                </a:solidFill>
              </a:rPr>
              <a:pPr/>
              <a:t>39</a:t>
            </a:fld>
            <a:endParaRPr lang="en-US" altLang="en-US" sz="1000">
              <a:solidFill>
                <a:srgbClr val="FFFF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04E476-488C-3D96-DFAB-A1AB85FD59D7}"/>
              </a:ext>
            </a:extLst>
          </p:cNvPr>
          <p:cNvSpPr>
            <a:spLocks noGrp="1"/>
          </p:cNvSpPr>
          <p:nvPr>
            <p:ph type="title"/>
          </p:nvPr>
        </p:nvSpPr>
        <p:spPr>
          <a:xfrm>
            <a:off x="628650" y="498389"/>
            <a:ext cx="7886700" cy="735100"/>
          </a:xfrm>
        </p:spPr>
        <p:txBody>
          <a:bodyPr/>
          <a:lstStyle/>
          <a:p>
            <a:r>
              <a:rPr lang="en-IN" dirty="0"/>
              <a:t>Activity</a:t>
            </a:r>
            <a:endParaRPr lang="x-none" dirty="0"/>
          </a:p>
        </p:txBody>
      </p:sp>
      <p:graphicFrame>
        <p:nvGraphicFramePr>
          <p:cNvPr id="5" name="Content Placeholder 4">
            <a:extLst>
              <a:ext uri="{FF2B5EF4-FFF2-40B4-BE49-F238E27FC236}">
                <a16:creationId xmlns:a16="http://schemas.microsoft.com/office/drawing/2014/main" xmlns="" id="{07AD9A5E-02DE-03B2-FFFA-B63E1AD3228A}"/>
              </a:ext>
            </a:extLst>
          </p:cNvPr>
          <p:cNvGraphicFramePr>
            <a:graphicFrameLocks noGrp="1"/>
          </p:cNvGraphicFramePr>
          <p:nvPr>
            <p:ph idx="1"/>
            <p:extLst>
              <p:ext uri="{D42A27DB-BD31-4B8C-83A1-F6EECF244321}">
                <p14:modId xmlns:p14="http://schemas.microsoft.com/office/powerpoint/2010/main" val="3415715081"/>
              </p:ext>
            </p:extLst>
          </p:nvPr>
        </p:nvGraphicFramePr>
        <p:xfrm>
          <a:off x="777505" y="2955851"/>
          <a:ext cx="7886700" cy="3400502"/>
        </p:xfrm>
        <a:graphic>
          <a:graphicData uri="http://schemas.openxmlformats.org/drawingml/2006/table">
            <a:tbl>
              <a:tblPr/>
              <a:tblGrid>
                <a:gridCol w="1971675">
                  <a:extLst>
                    <a:ext uri="{9D8B030D-6E8A-4147-A177-3AD203B41FA5}">
                      <a16:colId xmlns:a16="http://schemas.microsoft.com/office/drawing/2014/main" xmlns="" val="3835739346"/>
                    </a:ext>
                  </a:extLst>
                </a:gridCol>
                <a:gridCol w="1971675">
                  <a:extLst>
                    <a:ext uri="{9D8B030D-6E8A-4147-A177-3AD203B41FA5}">
                      <a16:colId xmlns:a16="http://schemas.microsoft.com/office/drawing/2014/main" xmlns="" val="3527996733"/>
                    </a:ext>
                  </a:extLst>
                </a:gridCol>
                <a:gridCol w="1971675">
                  <a:extLst>
                    <a:ext uri="{9D8B030D-6E8A-4147-A177-3AD203B41FA5}">
                      <a16:colId xmlns:a16="http://schemas.microsoft.com/office/drawing/2014/main" xmlns="" val="689568152"/>
                    </a:ext>
                  </a:extLst>
                </a:gridCol>
                <a:gridCol w="1971675">
                  <a:extLst>
                    <a:ext uri="{9D8B030D-6E8A-4147-A177-3AD203B41FA5}">
                      <a16:colId xmlns:a16="http://schemas.microsoft.com/office/drawing/2014/main" xmlns="" val="1312598404"/>
                    </a:ext>
                  </a:extLst>
                </a:gridCol>
              </a:tblGrid>
              <a:tr h="485786">
                <a:tc>
                  <a:txBody>
                    <a:bodyPr/>
                    <a:lstStyle/>
                    <a:p>
                      <a:r>
                        <a:rPr lang="en-IN" dirty="0"/>
                        <a:t>Activity</a:t>
                      </a:r>
                    </a:p>
                  </a:txBody>
                  <a:tcPr anchor="ctr">
                    <a:lnL>
                      <a:noFill/>
                    </a:lnL>
                    <a:lnR>
                      <a:noFill/>
                    </a:lnR>
                    <a:lnT>
                      <a:noFill/>
                    </a:lnT>
                    <a:lnB>
                      <a:noFill/>
                    </a:lnB>
                    <a:noFill/>
                  </a:tcPr>
                </a:tc>
                <a:tc>
                  <a:txBody>
                    <a:bodyPr/>
                    <a:lstStyle/>
                    <a:p>
                      <a:r>
                        <a:rPr lang="en-IN"/>
                        <a:t>Description</a:t>
                      </a:r>
                    </a:p>
                  </a:txBody>
                  <a:tcPr anchor="ctr">
                    <a:lnL>
                      <a:noFill/>
                    </a:lnL>
                    <a:lnR>
                      <a:noFill/>
                    </a:lnR>
                    <a:lnT>
                      <a:noFill/>
                    </a:lnT>
                    <a:lnB>
                      <a:noFill/>
                    </a:lnB>
                    <a:noFill/>
                  </a:tcPr>
                </a:tc>
                <a:tc>
                  <a:txBody>
                    <a:bodyPr/>
                    <a:lstStyle/>
                    <a:p>
                      <a:r>
                        <a:rPr lang="en-IN"/>
                        <a:t>Predecessor(s)</a:t>
                      </a:r>
                    </a:p>
                  </a:txBody>
                  <a:tcPr anchor="ctr">
                    <a:lnL>
                      <a:noFill/>
                    </a:lnL>
                    <a:lnR>
                      <a:noFill/>
                    </a:lnR>
                    <a:lnT>
                      <a:noFill/>
                    </a:lnT>
                    <a:lnB>
                      <a:noFill/>
                    </a:lnB>
                    <a:noFill/>
                  </a:tcPr>
                </a:tc>
                <a:tc>
                  <a:txBody>
                    <a:bodyPr/>
                    <a:lstStyle/>
                    <a:p>
                      <a:r>
                        <a:rPr lang="en-IN"/>
                        <a:t>Duration (days)</a:t>
                      </a:r>
                    </a:p>
                  </a:txBody>
                  <a:tcPr anchor="ctr">
                    <a:lnL>
                      <a:noFill/>
                    </a:lnL>
                    <a:lnR>
                      <a:noFill/>
                    </a:lnR>
                    <a:lnT>
                      <a:noFill/>
                    </a:lnT>
                    <a:lnB>
                      <a:noFill/>
                    </a:lnB>
                    <a:noFill/>
                  </a:tcPr>
                </a:tc>
                <a:extLst>
                  <a:ext uri="{0D108BD9-81ED-4DB2-BD59-A6C34878D82A}">
                    <a16:rowId xmlns:a16="http://schemas.microsoft.com/office/drawing/2014/main" xmlns="" val="3064368383"/>
                  </a:ext>
                </a:extLst>
              </a:tr>
              <a:tr h="485786">
                <a:tc>
                  <a:txBody>
                    <a:bodyPr/>
                    <a:lstStyle/>
                    <a:p>
                      <a:r>
                        <a:rPr lang="en-IN" dirty="0"/>
                        <a:t>A</a:t>
                      </a:r>
                    </a:p>
                  </a:txBody>
                  <a:tcPr anchor="ctr">
                    <a:lnL>
                      <a:noFill/>
                    </a:lnL>
                    <a:lnR>
                      <a:noFill/>
                    </a:lnR>
                    <a:lnT>
                      <a:noFill/>
                    </a:lnT>
                    <a:lnB>
                      <a:noFill/>
                    </a:lnB>
                    <a:noFill/>
                  </a:tcPr>
                </a:tc>
                <a:tc>
                  <a:txBody>
                    <a:bodyPr/>
                    <a:lstStyle/>
                    <a:p>
                      <a:r>
                        <a:rPr lang="en-IN"/>
                        <a:t>Start Project</a:t>
                      </a:r>
                    </a:p>
                  </a:txBody>
                  <a:tcPr anchor="ctr">
                    <a:lnL>
                      <a:noFill/>
                    </a:lnL>
                    <a:lnR>
                      <a:noFill/>
                    </a:lnR>
                    <a:lnT>
                      <a:noFill/>
                    </a:lnT>
                    <a:lnB>
                      <a:noFill/>
                    </a:lnB>
                    <a:noFill/>
                  </a:tcPr>
                </a:tc>
                <a:tc>
                  <a:txBody>
                    <a:bodyPr/>
                    <a:lstStyle/>
                    <a:p>
                      <a:r>
                        <a:rPr lang="en-IN"/>
                        <a:t>None</a:t>
                      </a:r>
                    </a:p>
                  </a:txBody>
                  <a:tcPr anchor="ctr">
                    <a:lnL>
                      <a:noFill/>
                    </a:lnL>
                    <a:lnR>
                      <a:noFill/>
                    </a:lnR>
                    <a:lnT>
                      <a:noFill/>
                    </a:lnT>
                    <a:lnB>
                      <a:noFill/>
                    </a:lnB>
                    <a:noFill/>
                  </a:tcPr>
                </a:tc>
                <a:tc>
                  <a:txBody>
                    <a:bodyPr/>
                    <a:lstStyle/>
                    <a:p>
                      <a:r>
                        <a:rPr lang="x-none"/>
                        <a:t>3</a:t>
                      </a:r>
                    </a:p>
                  </a:txBody>
                  <a:tcPr anchor="ctr">
                    <a:lnL>
                      <a:noFill/>
                    </a:lnL>
                    <a:lnR>
                      <a:noFill/>
                    </a:lnR>
                    <a:lnT>
                      <a:noFill/>
                    </a:lnT>
                    <a:lnB>
                      <a:noFill/>
                    </a:lnB>
                    <a:noFill/>
                  </a:tcPr>
                </a:tc>
                <a:extLst>
                  <a:ext uri="{0D108BD9-81ED-4DB2-BD59-A6C34878D82A}">
                    <a16:rowId xmlns:a16="http://schemas.microsoft.com/office/drawing/2014/main" xmlns="" val="3876699946"/>
                  </a:ext>
                </a:extLst>
              </a:tr>
              <a:tr h="485786">
                <a:tc>
                  <a:txBody>
                    <a:bodyPr/>
                    <a:lstStyle/>
                    <a:p>
                      <a:r>
                        <a:rPr lang="en-IN" dirty="0"/>
                        <a:t>B</a:t>
                      </a:r>
                    </a:p>
                  </a:txBody>
                  <a:tcPr anchor="ctr">
                    <a:lnL>
                      <a:noFill/>
                    </a:lnL>
                    <a:lnR>
                      <a:noFill/>
                    </a:lnR>
                    <a:lnT>
                      <a:noFill/>
                    </a:lnT>
                    <a:lnB>
                      <a:noFill/>
                    </a:lnB>
                    <a:noFill/>
                  </a:tcPr>
                </a:tc>
                <a:tc>
                  <a:txBody>
                    <a:bodyPr/>
                    <a:lstStyle/>
                    <a:p>
                      <a:r>
                        <a:rPr lang="en-IN"/>
                        <a:t>Design Phase</a:t>
                      </a:r>
                    </a:p>
                  </a:txBody>
                  <a:tcPr anchor="ctr">
                    <a:lnL>
                      <a:noFill/>
                    </a:lnL>
                    <a:lnR>
                      <a:noFill/>
                    </a:lnR>
                    <a:lnT>
                      <a:noFill/>
                    </a:lnT>
                    <a:lnB>
                      <a:noFill/>
                    </a:lnB>
                    <a:noFill/>
                  </a:tcPr>
                </a:tc>
                <a:tc>
                  <a:txBody>
                    <a:bodyPr/>
                    <a:lstStyle/>
                    <a:p>
                      <a:r>
                        <a:rPr lang="en-IN"/>
                        <a:t>A</a:t>
                      </a:r>
                    </a:p>
                  </a:txBody>
                  <a:tcPr anchor="ctr">
                    <a:lnL>
                      <a:noFill/>
                    </a:lnL>
                    <a:lnR>
                      <a:noFill/>
                    </a:lnR>
                    <a:lnT>
                      <a:noFill/>
                    </a:lnT>
                    <a:lnB>
                      <a:noFill/>
                    </a:lnB>
                    <a:noFill/>
                  </a:tcPr>
                </a:tc>
                <a:tc>
                  <a:txBody>
                    <a:bodyPr/>
                    <a:lstStyle/>
                    <a:p>
                      <a:r>
                        <a:rPr lang="x-none"/>
                        <a:t>5</a:t>
                      </a:r>
                    </a:p>
                  </a:txBody>
                  <a:tcPr anchor="ctr">
                    <a:lnL>
                      <a:noFill/>
                    </a:lnL>
                    <a:lnR>
                      <a:noFill/>
                    </a:lnR>
                    <a:lnT>
                      <a:noFill/>
                    </a:lnT>
                    <a:lnB>
                      <a:noFill/>
                    </a:lnB>
                    <a:noFill/>
                  </a:tcPr>
                </a:tc>
                <a:extLst>
                  <a:ext uri="{0D108BD9-81ED-4DB2-BD59-A6C34878D82A}">
                    <a16:rowId xmlns:a16="http://schemas.microsoft.com/office/drawing/2014/main" xmlns="" val="3869657627"/>
                  </a:ext>
                </a:extLst>
              </a:tr>
              <a:tr h="485786">
                <a:tc>
                  <a:txBody>
                    <a:bodyPr/>
                    <a:lstStyle/>
                    <a:p>
                      <a:r>
                        <a:rPr lang="en-IN"/>
                        <a:t>C</a:t>
                      </a:r>
                    </a:p>
                  </a:txBody>
                  <a:tcPr anchor="ctr">
                    <a:lnL>
                      <a:noFill/>
                    </a:lnL>
                    <a:lnR>
                      <a:noFill/>
                    </a:lnR>
                    <a:lnT>
                      <a:noFill/>
                    </a:lnT>
                    <a:lnB>
                      <a:noFill/>
                    </a:lnB>
                    <a:noFill/>
                  </a:tcPr>
                </a:tc>
                <a:tc>
                  <a:txBody>
                    <a:bodyPr/>
                    <a:lstStyle/>
                    <a:p>
                      <a:r>
                        <a:rPr lang="en-IN"/>
                        <a:t>Development</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8</a:t>
                      </a:r>
                    </a:p>
                  </a:txBody>
                  <a:tcPr anchor="ctr">
                    <a:lnL>
                      <a:noFill/>
                    </a:lnL>
                    <a:lnR>
                      <a:noFill/>
                    </a:lnR>
                    <a:lnT>
                      <a:noFill/>
                    </a:lnT>
                    <a:lnB>
                      <a:noFill/>
                    </a:lnB>
                    <a:noFill/>
                  </a:tcPr>
                </a:tc>
                <a:extLst>
                  <a:ext uri="{0D108BD9-81ED-4DB2-BD59-A6C34878D82A}">
                    <a16:rowId xmlns:a16="http://schemas.microsoft.com/office/drawing/2014/main" xmlns="" val="1581751063"/>
                  </a:ext>
                </a:extLst>
              </a:tr>
              <a:tr h="485786">
                <a:tc>
                  <a:txBody>
                    <a:bodyPr/>
                    <a:lstStyle/>
                    <a:p>
                      <a:r>
                        <a:rPr lang="en-IN"/>
                        <a:t>D</a:t>
                      </a:r>
                    </a:p>
                  </a:txBody>
                  <a:tcPr anchor="ctr">
                    <a:lnL>
                      <a:noFill/>
                    </a:lnL>
                    <a:lnR>
                      <a:noFill/>
                    </a:lnR>
                    <a:lnT>
                      <a:noFill/>
                    </a:lnT>
                    <a:lnB>
                      <a:noFill/>
                    </a:lnB>
                    <a:noFill/>
                  </a:tcPr>
                </a:tc>
                <a:tc>
                  <a:txBody>
                    <a:bodyPr/>
                    <a:lstStyle/>
                    <a:p>
                      <a:r>
                        <a:rPr lang="en-IN" dirty="0"/>
                        <a:t>Testing</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6</a:t>
                      </a:r>
                    </a:p>
                  </a:txBody>
                  <a:tcPr anchor="ctr">
                    <a:lnL>
                      <a:noFill/>
                    </a:lnL>
                    <a:lnR>
                      <a:noFill/>
                    </a:lnR>
                    <a:lnT>
                      <a:noFill/>
                    </a:lnT>
                    <a:lnB>
                      <a:noFill/>
                    </a:lnB>
                    <a:noFill/>
                  </a:tcPr>
                </a:tc>
                <a:extLst>
                  <a:ext uri="{0D108BD9-81ED-4DB2-BD59-A6C34878D82A}">
                    <a16:rowId xmlns:a16="http://schemas.microsoft.com/office/drawing/2014/main" xmlns="" val="3186499536"/>
                  </a:ext>
                </a:extLst>
              </a:tr>
              <a:tr h="485786">
                <a:tc>
                  <a:txBody>
                    <a:bodyPr/>
                    <a:lstStyle/>
                    <a:p>
                      <a:r>
                        <a:rPr lang="en-IN"/>
                        <a:t>E</a:t>
                      </a:r>
                    </a:p>
                  </a:txBody>
                  <a:tcPr anchor="ctr">
                    <a:lnL>
                      <a:noFill/>
                    </a:lnL>
                    <a:lnR>
                      <a:noFill/>
                    </a:lnR>
                    <a:lnT>
                      <a:noFill/>
                    </a:lnT>
                    <a:lnB>
                      <a:noFill/>
                    </a:lnB>
                    <a:noFill/>
                  </a:tcPr>
                </a:tc>
                <a:tc>
                  <a:txBody>
                    <a:bodyPr/>
                    <a:lstStyle/>
                    <a:p>
                      <a:r>
                        <a:rPr lang="en-IN"/>
                        <a:t>Deployment</a:t>
                      </a:r>
                    </a:p>
                  </a:txBody>
                  <a:tcPr anchor="ctr">
                    <a:lnL>
                      <a:noFill/>
                    </a:lnL>
                    <a:lnR>
                      <a:noFill/>
                    </a:lnR>
                    <a:lnT>
                      <a:noFill/>
                    </a:lnT>
                    <a:lnB>
                      <a:noFill/>
                    </a:lnB>
                    <a:noFill/>
                  </a:tcPr>
                </a:tc>
                <a:tc>
                  <a:txBody>
                    <a:bodyPr/>
                    <a:lstStyle/>
                    <a:p>
                      <a:r>
                        <a:rPr lang="en-IN"/>
                        <a:t>C, D</a:t>
                      </a:r>
                    </a:p>
                  </a:txBody>
                  <a:tcPr anchor="ctr">
                    <a:lnL>
                      <a:noFill/>
                    </a:lnL>
                    <a:lnR>
                      <a:noFill/>
                    </a:lnR>
                    <a:lnT>
                      <a:noFill/>
                    </a:lnT>
                    <a:lnB>
                      <a:noFill/>
                    </a:lnB>
                    <a:noFill/>
                  </a:tcPr>
                </a:tc>
                <a:tc>
                  <a:txBody>
                    <a:bodyPr/>
                    <a:lstStyle/>
                    <a:p>
                      <a:r>
                        <a:rPr lang="x-none"/>
                        <a:t>4</a:t>
                      </a:r>
                    </a:p>
                  </a:txBody>
                  <a:tcPr anchor="ctr">
                    <a:lnL>
                      <a:noFill/>
                    </a:lnL>
                    <a:lnR>
                      <a:noFill/>
                    </a:lnR>
                    <a:lnT>
                      <a:noFill/>
                    </a:lnT>
                    <a:lnB>
                      <a:noFill/>
                    </a:lnB>
                    <a:noFill/>
                  </a:tcPr>
                </a:tc>
                <a:extLst>
                  <a:ext uri="{0D108BD9-81ED-4DB2-BD59-A6C34878D82A}">
                    <a16:rowId xmlns:a16="http://schemas.microsoft.com/office/drawing/2014/main" xmlns="" val="3399429975"/>
                  </a:ext>
                </a:extLst>
              </a:tr>
              <a:tr h="485786">
                <a:tc>
                  <a:txBody>
                    <a:bodyPr/>
                    <a:lstStyle/>
                    <a:p>
                      <a:r>
                        <a:rPr lang="en-IN"/>
                        <a:t>F</a:t>
                      </a:r>
                    </a:p>
                  </a:txBody>
                  <a:tcPr anchor="ctr">
                    <a:lnL>
                      <a:noFill/>
                    </a:lnL>
                    <a:lnR>
                      <a:noFill/>
                    </a:lnR>
                    <a:lnT>
                      <a:noFill/>
                    </a:lnT>
                    <a:lnB>
                      <a:noFill/>
                    </a:lnB>
                    <a:noFill/>
                  </a:tcPr>
                </a:tc>
                <a:tc>
                  <a:txBody>
                    <a:bodyPr/>
                    <a:lstStyle/>
                    <a:p>
                      <a:r>
                        <a:rPr lang="en-IN" dirty="0"/>
                        <a:t>Project Closure</a:t>
                      </a:r>
                    </a:p>
                  </a:txBody>
                  <a:tcPr anchor="ctr">
                    <a:lnL>
                      <a:noFill/>
                    </a:lnL>
                    <a:lnR>
                      <a:noFill/>
                    </a:lnR>
                    <a:lnT>
                      <a:noFill/>
                    </a:lnT>
                    <a:lnB>
                      <a:noFill/>
                    </a:lnB>
                    <a:noFill/>
                  </a:tcPr>
                </a:tc>
                <a:tc>
                  <a:txBody>
                    <a:bodyPr/>
                    <a:lstStyle/>
                    <a:p>
                      <a:r>
                        <a:rPr lang="en-IN"/>
                        <a:t>E</a:t>
                      </a:r>
                    </a:p>
                  </a:txBody>
                  <a:tcPr anchor="ctr">
                    <a:lnL>
                      <a:noFill/>
                    </a:lnL>
                    <a:lnR>
                      <a:noFill/>
                    </a:lnR>
                    <a:lnT>
                      <a:noFill/>
                    </a:lnT>
                    <a:lnB>
                      <a:noFill/>
                    </a:lnB>
                    <a:noFill/>
                  </a:tcPr>
                </a:tc>
                <a:tc>
                  <a:txBody>
                    <a:bodyPr/>
                    <a:lstStyle/>
                    <a:p>
                      <a:r>
                        <a:rPr lang="x-none" dirty="0"/>
                        <a:t>2</a:t>
                      </a:r>
                    </a:p>
                  </a:txBody>
                  <a:tcPr anchor="ctr">
                    <a:lnL>
                      <a:noFill/>
                    </a:lnL>
                    <a:lnR>
                      <a:noFill/>
                    </a:lnR>
                    <a:lnT>
                      <a:noFill/>
                    </a:lnT>
                    <a:lnB>
                      <a:noFill/>
                    </a:lnB>
                    <a:noFill/>
                  </a:tcPr>
                </a:tc>
                <a:extLst>
                  <a:ext uri="{0D108BD9-81ED-4DB2-BD59-A6C34878D82A}">
                    <a16:rowId xmlns:a16="http://schemas.microsoft.com/office/drawing/2014/main" xmlns="" val="1311907819"/>
                  </a:ext>
                </a:extLst>
              </a:tr>
            </a:tbl>
          </a:graphicData>
        </a:graphic>
      </p:graphicFrame>
      <p:sp>
        <p:nvSpPr>
          <p:cNvPr id="4" name="Slide Number Placeholder 3">
            <a:extLst>
              <a:ext uri="{FF2B5EF4-FFF2-40B4-BE49-F238E27FC236}">
                <a16:creationId xmlns:a16="http://schemas.microsoft.com/office/drawing/2014/main" xmlns="" id="{B3FD50CA-46EC-D5E2-3F21-8BDD31D151C5}"/>
              </a:ext>
            </a:extLst>
          </p:cNvPr>
          <p:cNvSpPr>
            <a:spLocks noGrp="1"/>
          </p:cNvSpPr>
          <p:nvPr>
            <p:ph type="sldNum" sz="quarter" idx="12"/>
          </p:nvPr>
        </p:nvSpPr>
        <p:spPr/>
        <p:txBody>
          <a:bodyPr/>
          <a:lstStyle/>
          <a:p>
            <a:fld id="{60D6D740-8150-433F-9426-3FCFF681501A}" type="slidenum">
              <a:rPr lang="en-US" smtClean="0"/>
              <a:pPr/>
              <a:t>40</a:t>
            </a:fld>
            <a:endParaRPr lang="en-US" dirty="0"/>
          </a:p>
        </p:txBody>
      </p:sp>
      <p:sp>
        <p:nvSpPr>
          <p:cNvPr id="8" name="TextBox 7">
            <a:extLst>
              <a:ext uri="{FF2B5EF4-FFF2-40B4-BE49-F238E27FC236}">
                <a16:creationId xmlns:a16="http://schemas.microsoft.com/office/drawing/2014/main" xmlns="" id="{76AE1218-561D-74C5-D74F-6FEAA0D4C46C}"/>
              </a:ext>
            </a:extLst>
          </p:cNvPr>
          <p:cNvSpPr txBox="1"/>
          <p:nvPr/>
        </p:nvSpPr>
        <p:spPr>
          <a:xfrm>
            <a:off x="372141" y="1350239"/>
            <a:ext cx="8506045"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800" b="0" i="0" u="none" strike="noStrike" cap="none" normalizeH="0" baseline="0" dirty="0">
                <a:ln>
                  <a:noFill/>
                </a:ln>
                <a:solidFill>
                  <a:schemeClr val="tx1"/>
                </a:solidFill>
                <a:effectLst/>
                <a:latin typeface="Arial" panose="020B0604020202020204" pitchFamily="34" charset="0"/>
              </a:rPr>
              <a:t>A project consists of the following activities, with their respective durations and dependencies:</a:t>
            </a:r>
          </a:p>
          <a:p>
            <a:pPr marL="800100" lvl="1" indent="-342900" defTabSz="914400" eaLnBrk="0" fontAlgn="base" hangingPunct="0">
              <a:spcBef>
                <a:spcPct val="0"/>
              </a:spcBef>
              <a:spcAft>
                <a:spcPct val="0"/>
              </a:spcAft>
              <a:buFont typeface="+mj-lt"/>
              <a:buAutoNum type="arabicPeriod"/>
            </a:pPr>
            <a:r>
              <a:rPr kumimoji="0" lang="x-none" altLang="x-none" b="0" i="0" u="none" strike="noStrike" cap="none" normalizeH="0" baseline="0" dirty="0">
                <a:ln>
                  <a:noFill/>
                </a:ln>
                <a:solidFill>
                  <a:schemeClr val="tx1"/>
                </a:solidFill>
                <a:effectLst/>
                <a:latin typeface="Arial" panose="020B0604020202020204" pitchFamily="34" charset="0"/>
              </a:rPr>
              <a:t>Draw the network diagram using the </a:t>
            </a:r>
            <a:r>
              <a:rPr kumimoji="0" lang="x-none" altLang="x-none" b="1" i="0" u="none" strike="noStrike" cap="none" normalizeH="0" baseline="0" dirty="0">
                <a:ln>
                  <a:noFill/>
                </a:ln>
                <a:solidFill>
                  <a:schemeClr val="tx1"/>
                </a:solidFill>
                <a:effectLst/>
                <a:latin typeface="Arial" panose="020B0604020202020204" pitchFamily="34" charset="0"/>
              </a:rPr>
              <a:t>Activity on Node (AON)</a:t>
            </a:r>
            <a:r>
              <a:rPr kumimoji="0" lang="x-none" altLang="x-none" b="0" i="0" u="none" strike="noStrike" cap="none" normalizeH="0" baseline="0" dirty="0">
                <a:ln>
                  <a:noFill/>
                </a:ln>
                <a:solidFill>
                  <a:schemeClr val="tx1"/>
                </a:solidFill>
                <a:effectLst/>
                <a:latin typeface="Arial" panose="020B0604020202020204" pitchFamily="34" charset="0"/>
              </a:rPr>
              <a:t> method.</a:t>
            </a:r>
          </a:p>
          <a:p>
            <a:pPr marL="800100" lvl="1" indent="-342900" defTabSz="914400" eaLnBrk="0" fontAlgn="base" hangingPunct="0">
              <a:spcBef>
                <a:spcPct val="0"/>
              </a:spcBef>
              <a:spcAft>
                <a:spcPct val="0"/>
              </a:spcAft>
              <a:buFont typeface="+mj-lt"/>
              <a:buAutoNum type="arabicPeriod"/>
            </a:pPr>
            <a:r>
              <a:rPr kumimoji="0" lang="x-none" altLang="x-none" b="0" i="0" u="none" strike="noStrike" cap="none" normalizeH="0" baseline="0" dirty="0">
                <a:ln>
                  <a:noFill/>
                </a:ln>
                <a:solidFill>
                  <a:schemeClr val="tx1"/>
                </a:solidFill>
                <a:effectLst/>
                <a:latin typeface="Arial" panose="020B0604020202020204" pitchFamily="34" charset="0"/>
              </a:rPr>
              <a:t>Determine the critical path and the total project duration.</a:t>
            </a:r>
          </a:p>
        </p:txBody>
      </p:sp>
    </p:spTree>
    <p:extLst>
      <p:ext uri="{BB962C8B-B14F-4D97-AF65-F5344CB8AC3E}">
        <p14:creationId xmlns:p14="http://schemas.microsoft.com/office/powerpoint/2010/main" val="504954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E32952-FEEE-A003-4186-79EE7561B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FB277D5-73EF-AE8D-2F51-134A685A1C4C}"/>
              </a:ext>
            </a:extLst>
          </p:cNvPr>
          <p:cNvSpPr>
            <a:spLocks noGrp="1"/>
          </p:cNvSpPr>
          <p:nvPr>
            <p:ph type="title"/>
          </p:nvPr>
        </p:nvSpPr>
        <p:spPr>
          <a:xfrm>
            <a:off x="372141" y="456706"/>
            <a:ext cx="7886700" cy="735100"/>
          </a:xfrm>
        </p:spPr>
        <p:txBody>
          <a:bodyPr/>
          <a:lstStyle/>
          <a:p>
            <a:r>
              <a:rPr lang="en-IN" dirty="0"/>
              <a:t>Activity</a:t>
            </a:r>
            <a:endParaRPr lang="x-none" dirty="0"/>
          </a:p>
        </p:txBody>
      </p:sp>
      <p:sp>
        <p:nvSpPr>
          <p:cNvPr id="4" name="Slide Number Placeholder 3">
            <a:extLst>
              <a:ext uri="{FF2B5EF4-FFF2-40B4-BE49-F238E27FC236}">
                <a16:creationId xmlns:a16="http://schemas.microsoft.com/office/drawing/2014/main" xmlns="" id="{03C397A8-BD4B-8E67-8150-87E220647904}"/>
              </a:ext>
            </a:extLst>
          </p:cNvPr>
          <p:cNvSpPr>
            <a:spLocks noGrp="1"/>
          </p:cNvSpPr>
          <p:nvPr>
            <p:ph type="sldNum" sz="quarter" idx="12"/>
          </p:nvPr>
        </p:nvSpPr>
        <p:spPr/>
        <p:txBody>
          <a:bodyPr/>
          <a:lstStyle/>
          <a:p>
            <a:fld id="{60D6D740-8150-433F-9426-3FCFF681501A}" type="slidenum">
              <a:rPr lang="en-US" smtClean="0"/>
              <a:pPr/>
              <a:t>41</a:t>
            </a:fld>
            <a:endParaRPr lang="en-US" dirty="0"/>
          </a:p>
        </p:txBody>
      </p:sp>
      <p:sp>
        <p:nvSpPr>
          <p:cNvPr id="8" name="TextBox 7">
            <a:extLst>
              <a:ext uri="{FF2B5EF4-FFF2-40B4-BE49-F238E27FC236}">
                <a16:creationId xmlns:a16="http://schemas.microsoft.com/office/drawing/2014/main" xmlns="" id="{EEDF8440-38D1-60D7-C18C-4FB732E3B89A}"/>
              </a:ext>
            </a:extLst>
          </p:cNvPr>
          <p:cNvSpPr txBox="1"/>
          <p:nvPr/>
        </p:nvSpPr>
        <p:spPr>
          <a:xfrm>
            <a:off x="265814" y="1064215"/>
            <a:ext cx="8506045"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800" b="0" i="0" u="none" strike="noStrike" cap="none" normalizeH="0" baseline="0" dirty="0">
                <a:ln>
                  <a:noFill/>
                </a:ln>
                <a:solidFill>
                  <a:schemeClr val="tx1"/>
                </a:solidFill>
                <a:effectLst/>
                <a:latin typeface="Arial" panose="020B0604020202020204" pitchFamily="34" charset="0"/>
              </a:rPr>
              <a:t>A project consists of the following activities, with their respective durations and dependencies:</a:t>
            </a:r>
          </a:p>
          <a:p>
            <a:pPr marL="800100" lvl="1" indent="-342900" defTabSz="914400" eaLnBrk="0" fontAlgn="base" hangingPunct="0">
              <a:spcBef>
                <a:spcPct val="0"/>
              </a:spcBef>
              <a:spcAft>
                <a:spcPct val="0"/>
              </a:spcAft>
              <a:buFont typeface="+mj-lt"/>
              <a:buAutoNum type="arabicPeriod"/>
            </a:pPr>
            <a:r>
              <a:rPr kumimoji="0" lang="x-none" altLang="x-none" b="0" i="0" u="none" strike="noStrike" cap="none" normalizeH="0" baseline="0" dirty="0">
                <a:ln>
                  <a:noFill/>
                </a:ln>
                <a:solidFill>
                  <a:schemeClr val="tx1"/>
                </a:solidFill>
                <a:effectLst/>
                <a:latin typeface="Arial" panose="020B0604020202020204" pitchFamily="34" charset="0"/>
              </a:rPr>
              <a:t>Draw the network diagram using the </a:t>
            </a:r>
            <a:r>
              <a:rPr kumimoji="0" lang="x-none" altLang="x-none" b="1" i="0" u="none" strike="noStrike" cap="none" normalizeH="0" baseline="0" dirty="0">
                <a:ln>
                  <a:noFill/>
                </a:ln>
                <a:solidFill>
                  <a:schemeClr val="tx1"/>
                </a:solidFill>
                <a:effectLst/>
                <a:latin typeface="Arial" panose="020B0604020202020204" pitchFamily="34" charset="0"/>
              </a:rPr>
              <a:t>Activity on Node (AON)</a:t>
            </a:r>
            <a:r>
              <a:rPr kumimoji="0" lang="x-none" altLang="x-none" b="0" i="0" u="none" strike="noStrike" cap="none" normalizeH="0" baseline="0" dirty="0">
                <a:ln>
                  <a:noFill/>
                </a:ln>
                <a:solidFill>
                  <a:schemeClr val="tx1"/>
                </a:solidFill>
                <a:effectLst/>
                <a:latin typeface="Arial" panose="020B0604020202020204" pitchFamily="34" charset="0"/>
              </a:rPr>
              <a:t> method.</a:t>
            </a:r>
          </a:p>
          <a:p>
            <a:pPr marL="800100" lvl="1" indent="-342900" defTabSz="914400" eaLnBrk="0" fontAlgn="base" hangingPunct="0">
              <a:spcBef>
                <a:spcPct val="0"/>
              </a:spcBef>
              <a:spcAft>
                <a:spcPct val="0"/>
              </a:spcAft>
              <a:buFont typeface="+mj-lt"/>
              <a:buAutoNum type="arabicPeriod"/>
            </a:pPr>
            <a:r>
              <a:rPr kumimoji="0" lang="x-none" altLang="x-none" b="0" i="0" u="none" strike="noStrike" cap="none" normalizeH="0" baseline="0" dirty="0">
                <a:ln>
                  <a:noFill/>
                </a:ln>
                <a:solidFill>
                  <a:schemeClr val="tx1"/>
                </a:solidFill>
                <a:effectLst/>
                <a:latin typeface="Arial" panose="020B0604020202020204" pitchFamily="34" charset="0"/>
              </a:rPr>
              <a:t>Determine the critical path and the total project duration.</a:t>
            </a:r>
          </a:p>
        </p:txBody>
      </p:sp>
      <p:graphicFrame>
        <p:nvGraphicFramePr>
          <p:cNvPr id="7" name="Content Placeholder 6">
            <a:extLst>
              <a:ext uri="{FF2B5EF4-FFF2-40B4-BE49-F238E27FC236}">
                <a16:creationId xmlns:a16="http://schemas.microsoft.com/office/drawing/2014/main" xmlns="" id="{2C661C33-1E0A-3477-BC75-CA8F1FAFA05E}"/>
              </a:ext>
            </a:extLst>
          </p:cNvPr>
          <p:cNvGraphicFramePr>
            <a:graphicFrameLocks noGrp="1"/>
          </p:cNvGraphicFramePr>
          <p:nvPr>
            <p:ph idx="1"/>
            <p:extLst>
              <p:ext uri="{D42A27DB-BD31-4B8C-83A1-F6EECF244321}">
                <p14:modId xmlns:p14="http://schemas.microsoft.com/office/powerpoint/2010/main" val="1731711493"/>
              </p:ext>
            </p:extLst>
          </p:nvPr>
        </p:nvGraphicFramePr>
        <p:xfrm>
          <a:off x="656561" y="2423796"/>
          <a:ext cx="7886700" cy="4297680"/>
        </p:xfrm>
        <a:graphic>
          <a:graphicData uri="http://schemas.openxmlformats.org/drawingml/2006/table">
            <a:tbl>
              <a:tblPr/>
              <a:tblGrid>
                <a:gridCol w="1971675">
                  <a:extLst>
                    <a:ext uri="{9D8B030D-6E8A-4147-A177-3AD203B41FA5}">
                      <a16:colId xmlns:a16="http://schemas.microsoft.com/office/drawing/2014/main" xmlns="" val="555481003"/>
                    </a:ext>
                  </a:extLst>
                </a:gridCol>
                <a:gridCol w="1971675">
                  <a:extLst>
                    <a:ext uri="{9D8B030D-6E8A-4147-A177-3AD203B41FA5}">
                      <a16:colId xmlns:a16="http://schemas.microsoft.com/office/drawing/2014/main" xmlns="" val="2802751758"/>
                    </a:ext>
                  </a:extLst>
                </a:gridCol>
                <a:gridCol w="1971675">
                  <a:extLst>
                    <a:ext uri="{9D8B030D-6E8A-4147-A177-3AD203B41FA5}">
                      <a16:colId xmlns:a16="http://schemas.microsoft.com/office/drawing/2014/main" xmlns="" val="659387205"/>
                    </a:ext>
                  </a:extLst>
                </a:gridCol>
                <a:gridCol w="1971675">
                  <a:extLst>
                    <a:ext uri="{9D8B030D-6E8A-4147-A177-3AD203B41FA5}">
                      <a16:colId xmlns:a16="http://schemas.microsoft.com/office/drawing/2014/main" xmlns="" val="4294333147"/>
                    </a:ext>
                  </a:extLst>
                </a:gridCol>
              </a:tblGrid>
              <a:tr h="0">
                <a:tc>
                  <a:txBody>
                    <a:bodyPr/>
                    <a:lstStyle/>
                    <a:p>
                      <a:r>
                        <a:rPr lang="en-IN"/>
                        <a:t>Activity</a:t>
                      </a:r>
                    </a:p>
                  </a:txBody>
                  <a:tcPr anchor="ctr">
                    <a:lnL>
                      <a:noFill/>
                    </a:lnL>
                    <a:lnR>
                      <a:noFill/>
                    </a:lnR>
                    <a:lnT>
                      <a:noFill/>
                    </a:lnT>
                    <a:lnB>
                      <a:noFill/>
                    </a:lnB>
                    <a:noFill/>
                  </a:tcPr>
                </a:tc>
                <a:tc>
                  <a:txBody>
                    <a:bodyPr/>
                    <a:lstStyle/>
                    <a:p>
                      <a:r>
                        <a:rPr lang="en-IN" dirty="0"/>
                        <a:t>Description</a:t>
                      </a:r>
                    </a:p>
                  </a:txBody>
                  <a:tcPr anchor="ctr">
                    <a:lnL>
                      <a:noFill/>
                    </a:lnL>
                    <a:lnR>
                      <a:noFill/>
                    </a:lnR>
                    <a:lnT>
                      <a:noFill/>
                    </a:lnT>
                    <a:lnB>
                      <a:noFill/>
                    </a:lnB>
                    <a:noFill/>
                  </a:tcPr>
                </a:tc>
                <a:tc>
                  <a:txBody>
                    <a:bodyPr/>
                    <a:lstStyle/>
                    <a:p>
                      <a:r>
                        <a:rPr lang="en-IN" dirty="0"/>
                        <a:t>Predecessor(s)</a:t>
                      </a:r>
                    </a:p>
                  </a:txBody>
                  <a:tcPr anchor="ctr">
                    <a:lnL>
                      <a:noFill/>
                    </a:lnL>
                    <a:lnR>
                      <a:noFill/>
                    </a:lnR>
                    <a:lnT>
                      <a:noFill/>
                    </a:lnT>
                    <a:lnB>
                      <a:noFill/>
                    </a:lnB>
                    <a:noFill/>
                  </a:tcPr>
                </a:tc>
                <a:tc>
                  <a:txBody>
                    <a:bodyPr/>
                    <a:lstStyle/>
                    <a:p>
                      <a:r>
                        <a:rPr lang="en-IN"/>
                        <a:t>Duration (days)</a:t>
                      </a:r>
                    </a:p>
                  </a:txBody>
                  <a:tcPr anchor="ctr">
                    <a:lnL>
                      <a:noFill/>
                    </a:lnL>
                    <a:lnR>
                      <a:noFill/>
                    </a:lnR>
                    <a:lnT>
                      <a:noFill/>
                    </a:lnT>
                    <a:lnB>
                      <a:noFill/>
                    </a:lnB>
                    <a:noFill/>
                  </a:tcPr>
                </a:tc>
                <a:extLst>
                  <a:ext uri="{0D108BD9-81ED-4DB2-BD59-A6C34878D82A}">
                    <a16:rowId xmlns:a16="http://schemas.microsoft.com/office/drawing/2014/main" xmlns="" val="1274091985"/>
                  </a:ext>
                </a:extLst>
              </a:tr>
              <a:tr h="0">
                <a:tc>
                  <a:txBody>
                    <a:bodyPr/>
                    <a:lstStyle/>
                    <a:p>
                      <a:r>
                        <a:rPr lang="en-IN"/>
                        <a:t>A</a:t>
                      </a:r>
                    </a:p>
                  </a:txBody>
                  <a:tcPr anchor="ctr">
                    <a:lnL>
                      <a:noFill/>
                    </a:lnL>
                    <a:lnR>
                      <a:noFill/>
                    </a:lnR>
                    <a:lnT>
                      <a:noFill/>
                    </a:lnT>
                    <a:lnB>
                      <a:noFill/>
                    </a:lnB>
                    <a:noFill/>
                  </a:tcPr>
                </a:tc>
                <a:tc>
                  <a:txBody>
                    <a:bodyPr/>
                    <a:lstStyle/>
                    <a:p>
                      <a:r>
                        <a:rPr lang="en-IN"/>
                        <a:t>Site Preparation</a:t>
                      </a:r>
                    </a:p>
                  </a:txBody>
                  <a:tcPr anchor="ctr">
                    <a:lnL>
                      <a:noFill/>
                    </a:lnL>
                    <a:lnR>
                      <a:noFill/>
                    </a:lnR>
                    <a:lnT>
                      <a:noFill/>
                    </a:lnT>
                    <a:lnB>
                      <a:noFill/>
                    </a:lnB>
                    <a:noFill/>
                  </a:tcPr>
                </a:tc>
                <a:tc>
                  <a:txBody>
                    <a:bodyPr/>
                    <a:lstStyle/>
                    <a:p>
                      <a:r>
                        <a:rPr lang="en-IN"/>
                        <a:t>None</a:t>
                      </a:r>
                    </a:p>
                  </a:txBody>
                  <a:tcPr anchor="ctr">
                    <a:lnL>
                      <a:noFill/>
                    </a:lnL>
                    <a:lnR>
                      <a:noFill/>
                    </a:lnR>
                    <a:lnT>
                      <a:noFill/>
                    </a:lnT>
                    <a:lnB>
                      <a:noFill/>
                    </a:lnB>
                    <a:noFill/>
                  </a:tcPr>
                </a:tc>
                <a:tc>
                  <a:txBody>
                    <a:bodyPr/>
                    <a:lstStyle/>
                    <a:p>
                      <a:r>
                        <a:rPr lang="x-none"/>
                        <a:t>4</a:t>
                      </a:r>
                    </a:p>
                  </a:txBody>
                  <a:tcPr anchor="ctr">
                    <a:lnL>
                      <a:noFill/>
                    </a:lnL>
                    <a:lnR>
                      <a:noFill/>
                    </a:lnR>
                    <a:lnT>
                      <a:noFill/>
                    </a:lnT>
                    <a:lnB>
                      <a:noFill/>
                    </a:lnB>
                    <a:noFill/>
                  </a:tcPr>
                </a:tc>
                <a:extLst>
                  <a:ext uri="{0D108BD9-81ED-4DB2-BD59-A6C34878D82A}">
                    <a16:rowId xmlns:a16="http://schemas.microsoft.com/office/drawing/2014/main" xmlns="" val="1692517452"/>
                  </a:ext>
                </a:extLst>
              </a:tr>
              <a:tr h="0">
                <a:tc>
                  <a:txBody>
                    <a:bodyPr/>
                    <a:lstStyle/>
                    <a:p>
                      <a:r>
                        <a:rPr lang="en-IN"/>
                        <a:t>B</a:t>
                      </a:r>
                    </a:p>
                  </a:txBody>
                  <a:tcPr anchor="ctr">
                    <a:lnL>
                      <a:noFill/>
                    </a:lnL>
                    <a:lnR>
                      <a:noFill/>
                    </a:lnR>
                    <a:lnT>
                      <a:noFill/>
                    </a:lnT>
                    <a:lnB>
                      <a:noFill/>
                    </a:lnB>
                    <a:noFill/>
                  </a:tcPr>
                </a:tc>
                <a:tc>
                  <a:txBody>
                    <a:bodyPr/>
                    <a:lstStyle/>
                    <a:p>
                      <a:r>
                        <a:rPr lang="en-IN"/>
                        <a:t>Foundation Work</a:t>
                      </a:r>
                    </a:p>
                  </a:txBody>
                  <a:tcPr anchor="ctr">
                    <a:lnL>
                      <a:noFill/>
                    </a:lnL>
                    <a:lnR>
                      <a:noFill/>
                    </a:lnR>
                    <a:lnT>
                      <a:noFill/>
                    </a:lnT>
                    <a:lnB>
                      <a:noFill/>
                    </a:lnB>
                    <a:noFill/>
                  </a:tcPr>
                </a:tc>
                <a:tc>
                  <a:txBody>
                    <a:bodyPr/>
                    <a:lstStyle/>
                    <a:p>
                      <a:r>
                        <a:rPr lang="en-IN"/>
                        <a:t>A</a:t>
                      </a:r>
                    </a:p>
                  </a:txBody>
                  <a:tcPr anchor="ctr">
                    <a:lnL>
                      <a:noFill/>
                    </a:lnL>
                    <a:lnR>
                      <a:noFill/>
                    </a:lnR>
                    <a:lnT>
                      <a:noFill/>
                    </a:lnT>
                    <a:lnB>
                      <a:noFill/>
                    </a:lnB>
                    <a:noFill/>
                  </a:tcPr>
                </a:tc>
                <a:tc>
                  <a:txBody>
                    <a:bodyPr/>
                    <a:lstStyle/>
                    <a:p>
                      <a:r>
                        <a:rPr lang="x-none"/>
                        <a:t>6</a:t>
                      </a:r>
                    </a:p>
                  </a:txBody>
                  <a:tcPr anchor="ctr">
                    <a:lnL>
                      <a:noFill/>
                    </a:lnL>
                    <a:lnR>
                      <a:noFill/>
                    </a:lnR>
                    <a:lnT>
                      <a:noFill/>
                    </a:lnT>
                    <a:lnB>
                      <a:noFill/>
                    </a:lnB>
                    <a:noFill/>
                  </a:tcPr>
                </a:tc>
                <a:extLst>
                  <a:ext uri="{0D108BD9-81ED-4DB2-BD59-A6C34878D82A}">
                    <a16:rowId xmlns:a16="http://schemas.microsoft.com/office/drawing/2014/main" xmlns="" val="2789691525"/>
                  </a:ext>
                </a:extLst>
              </a:tr>
              <a:tr h="0">
                <a:tc>
                  <a:txBody>
                    <a:bodyPr/>
                    <a:lstStyle/>
                    <a:p>
                      <a:r>
                        <a:rPr lang="en-IN"/>
                        <a:t>C</a:t>
                      </a:r>
                    </a:p>
                  </a:txBody>
                  <a:tcPr anchor="ctr">
                    <a:lnL>
                      <a:noFill/>
                    </a:lnL>
                    <a:lnR>
                      <a:noFill/>
                    </a:lnR>
                    <a:lnT>
                      <a:noFill/>
                    </a:lnT>
                    <a:lnB>
                      <a:noFill/>
                    </a:lnB>
                    <a:noFill/>
                  </a:tcPr>
                </a:tc>
                <a:tc>
                  <a:txBody>
                    <a:bodyPr/>
                    <a:lstStyle/>
                    <a:p>
                      <a:r>
                        <a:rPr lang="en-IN"/>
                        <a:t>Frame Construction</a:t>
                      </a:r>
                    </a:p>
                  </a:txBody>
                  <a:tcPr anchor="ctr">
                    <a:lnL>
                      <a:noFill/>
                    </a:lnL>
                    <a:lnR>
                      <a:noFill/>
                    </a:lnR>
                    <a:lnT>
                      <a:noFill/>
                    </a:lnT>
                    <a:lnB>
                      <a:noFill/>
                    </a:lnB>
                    <a:noFill/>
                  </a:tcPr>
                </a:tc>
                <a:tc>
                  <a:txBody>
                    <a:bodyPr/>
                    <a:lstStyle/>
                    <a:p>
                      <a:r>
                        <a:rPr lang="en-IN"/>
                        <a:t>A</a:t>
                      </a:r>
                    </a:p>
                  </a:txBody>
                  <a:tcPr anchor="ctr">
                    <a:lnL>
                      <a:noFill/>
                    </a:lnL>
                    <a:lnR>
                      <a:noFill/>
                    </a:lnR>
                    <a:lnT>
                      <a:noFill/>
                    </a:lnT>
                    <a:lnB>
                      <a:noFill/>
                    </a:lnB>
                    <a:noFill/>
                  </a:tcPr>
                </a:tc>
                <a:tc>
                  <a:txBody>
                    <a:bodyPr/>
                    <a:lstStyle/>
                    <a:p>
                      <a:r>
                        <a:rPr lang="x-none"/>
                        <a:t>8</a:t>
                      </a:r>
                    </a:p>
                  </a:txBody>
                  <a:tcPr anchor="ctr">
                    <a:lnL>
                      <a:noFill/>
                    </a:lnL>
                    <a:lnR>
                      <a:noFill/>
                    </a:lnR>
                    <a:lnT>
                      <a:noFill/>
                    </a:lnT>
                    <a:lnB>
                      <a:noFill/>
                    </a:lnB>
                    <a:noFill/>
                  </a:tcPr>
                </a:tc>
                <a:extLst>
                  <a:ext uri="{0D108BD9-81ED-4DB2-BD59-A6C34878D82A}">
                    <a16:rowId xmlns:a16="http://schemas.microsoft.com/office/drawing/2014/main" xmlns="" val="2944175837"/>
                  </a:ext>
                </a:extLst>
              </a:tr>
              <a:tr h="0">
                <a:tc>
                  <a:txBody>
                    <a:bodyPr/>
                    <a:lstStyle/>
                    <a:p>
                      <a:r>
                        <a:rPr lang="en-IN"/>
                        <a:t>D</a:t>
                      </a:r>
                    </a:p>
                  </a:txBody>
                  <a:tcPr anchor="ctr">
                    <a:lnL>
                      <a:noFill/>
                    </a:lnL>
                    <a:lnR>
                      <a:noFill/>
                    </a:lnR>
                    <a:lnT>
                      <a:noFill/>
                    </a:lnT>
                    <a:lnB>
                      <a:noFill/>
                    </a:lnB>
                    <a:noFill/>
                  </a:tcPr>
                </a:tc>
                <a:tc>
                  <a:txBody>
                    <a:bodyPr/>
                    <a:lstStyle/>
                    <a:p>
                      <a:r>
                        <a:rPr lang="en-IN"/>
                        <a:t>Electrical Wiring</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4</a:t>
                      </a:r>
                    </a:p>
                  </a:txBody>
                  <a:tcPr anchor="ctr">
                    <a:lnL>
                      <a:noFill/>
                    </a:lnL>
                    <a:lnR>
                      <a:noFill/>
                    </a:lnR>
                    <a:lnT>
                      <a:noFill/>
                    </a:lnT>
                    <a:lnB>
                      <a:noFill/>
                    </a:lnB>
                    <a:noFill/>
                  </a:tcPr>
                </a:tc>
                <a:extLst>
                  <a:ext uri="{0D108BD9-81ED-4DB2-BD59-A6C34878D82A}">
                    <a16:rowId xmlns:a16="http://schemas.microsoft.com/office/drawing/2014/main" xmlns="" val="3553117853"/>
                  </a:ext>
                </a:extLst>
              </a:tr>
              <a:tr h="0">
                <a:tc>
                  <a:txBody>
                    <a:bodyPr/>
                    <a:lstStyle/>
                    <a:p>
                      <a:r>
                        <a:rPr lang="en-IN"/>
                        <a:t>E</a:t>
                      </a:r>
                    </a:p>
                  </a:txBody>
                  <a:tcPr anchor="ctr">
                    <a:lnL>
                      <a:noFill/>
                    </a:lnL>
                    <a:lnR>
                      <a:noFill/>
                    </a:lnR>
                    <a:lnT>
                      <a:noFill/>
                    </a:lnT>
                    <a:lnB>
                      <a:noFill/>
                    </a:lnB>
                    <a:noFill/>
                  </a:tcPr>
                </a:tc>
                <a:tc>
                  <a:txBody>
                    <a:bodyPr/>
                    <a:lstStyle/>
                    <a:p>
                      <a:r>
                        <a:rPr lang="en-IN"/>
                        <a:t>Plumbing</a:t>
                      </a:r>
                    </a:p>
                  </a:txBody>
                  <a:tcPr anchor="ctr">
                    <a:lnL>
                      <a:noFill/>
                    </a:lnL>
                    <a:lnR>
                      <a:noFill/>
                    </a:lnR>
                    <a:lnT>
                      <a:noFill/>
                    </a:lnT>
                    <a:lnB>
                      <a:noFill/>
                    </a:lnB>
                    <a:noFill/>
                  </a:tcPr>
                </a:tc>
                <a:tc>
                  <a:txBody>
                    <a:bodyPr/>
                    <a:lstStyle/>
                    <a:p>
                      <a:r>
                        <a:rPr lang="en-IN"/>
                        <a:t>B</a:t>
                      </a:r>
                    </a:p>
                  </a:txBody>
                  <a:tcPr anchor="ctr">
                    <a:lnL>
                      <a:noFill/>
                    </a:lnL>
                    <a:lnR>
                      <a:noFill/>
                    </a:lnR>
                    <a:lnT>
                      <a:noFill/>
                    </a:lnT>
                    <a:lnB>
                      <a:noFill/>
                    </a:lnB>
                    <a:noFill/>
                  </a:tcPr>
                </a:tc>
                <a:tc>
                  <a:txBody>
                    <a:bodyPr/>
                    <a:lstStyle/>
                    <a:p>
                      <a:r>
                        <a:rPr lang="x-none"/>
                        <a:t>5</a:t>
                      </a:r>
                    </a:p>
                  </a:txBody>
                  <a:tcPr anchor="ctr">
                    <a:lnL>
                      <a:noFill/>
                    </a:lnL>
                    <a:lnR>
                      <a:noFill/>
                    </a:lnR>
                    <a:lnT>
                      <a:noFill/>
                    </a:lnT>
                    <a:lnB>
                      <a:noFill/>
                    </a:lnB>
                    <a:noFill/>
                  </a:tcPr>
                </a:tc>
                <a:extLst>
                  <a:ext uri="{0D108BD9-81ED-4DB2-BD59-A6C34878D82A}">
                    <a16:rowId xmlns:a16="http://schemas.microsoft.com/office/drawing/2014/main" xmlns="" val="2173761502"/>
                  </a:ext>
                </a:extLst>
              </a:tr>
              <a:tr h="0">
                <a:tc>
                  <a:txBody>
                    <a:bodyPr/>
                    <a:lstStyle/>
                    <a:p>
                      <a:r>
                        <a:rPr lang="en-IN"/>
                        <a:t>F</a:t>
                      </a:r>
                    </a:p>
                  </a:txBody>
                  <a:tcPr anchor="ctr">
                    <a:lnL>
                      <a:noFill/>
                    </a:lnL>
                    <a:lnR>
                      <a:noFill/>
                    </a:lnR>
                    <a:lnT>
                      <a:noFill/>
                    </a:lnT>
                    <a:lnB>
                      <a:noFill/>
                    </a:lnB>
                    <a:noFill/>
                  </a:tcPr>
                </a:tc>
                <a:tc>
                  <a:txBody>
                    <a:bodyPr/>
                    <a:lstStyle/>
                    <a:p>
                      <a:r>
                        <a:rPr lang="en-IN"/>
                        <a:t>Interior Finishing</a:t>
                      </a:r>
                    </a:p>
                  </a:txBody>
                  <a:tcPr anchor="ctr">
                    <a:lnL>
                      <a:noFill/>
                    </a:lnL>
                    <a:lnR>
                      <a:noFill/>
                    </a:lnR>
                    <a:lnT>
                      <a:noFill/>
                    </a:lnT>
                    <a:lnB>
                      <a:noFill/>
                    </a:lnB>
                    <a:noFill/>
                  </a:tcPr>
                </a:tc>
                <a:tc>
                  <a:txBody>
                    <a:bodyPr/>
                    <a:lstStyle/>
                    <a:p>
                      <a:r>
                        <a:rPr lang="en-IN" dirty="0"/>
                        <a:t>C, D</a:t>
                      </a:r>
                    </a:p>
                  </a:txBody>
                  <a:tcPr anchor="ctr">
                    <a:lnL>
                      <a:noFill/>
                    </a:lnL>
                    <a:lnR>
                      <a:noFill/>
                    </a:lnR>
                    <a:lnT>
                      <a:noFill/>
                    </a:lnT>
                    <a:lnB>
                      <a:noFill/>
                    </a:lnB>
                    <a:noFill/>
                  </a:tcPr>
                </a:tc>
                <a:tc>
                  <a:txBody>
                    <a:bodyPr/>
                    <a:lstStyle/>
                    <a:p>
                      <a:r>
                        <a:rPr lang="x-none"/>
                        <a:t>7</a:t>
                      </a:r>
                    </a:p>
                  </a:txBody>
                  <a:tcPr anchor="ctr">
                    <a:lnL>
                      <a:noFill/>
                    </a:lnL>
                    <a:lnR>
                      <a:noFill/>
                    </a:lnR>
                    <a:lnT>
                      <a:noFill/>
                    </a:lnT>
                    <a:lnB>
                      <a:noFill/>
                    </a:lnB>
                    <a:noFill/>
                  </a:tcPr>
                </a:tc>
                <a:extLst>
                  <a:ext uri="{0D108BD9-81ED-4DB2-BD59-A6C34878D82A}">
                    <a16:rowId xmlns:a16="http://schemas.microsoft.com/office/drawing/2014/main" xmlns="" val="2040662308"/>
                  </a:ext>
                </a:extLst>
              </a:tr>
              <a:tr h="0">
                <a:tc>
                  <a:txBody>
                    <a:bodyPr/>
                    <a:lstStyle/>
                    <a:p>
                      <a:r>
                        <a:rPr lang="en-IN"/>
                        <a:t>G</a:t>
                      </a:r>
                    </a:p>
                  </a:txBody>
                  <a:tcPr anchor="ctr">
                    <a:lnL>
                      <a:noFill/>
                    </a:lnL>
                    <a:lnR>
                      <a:noFill/>
                    </a:lnR>
                    <a:lnT>
                      <a:noFill/>
                    </a:lnT>
                    <a:lnB>
                      <a:noFill/>
                    </a:lnB>
                    <a:noFill/>
                  </a:tcPr>
                </a:tc>
                <a:tc>
                  <a:txBody>
                    <a:bodyPr/>
                    <a:lstStyle/>
                    <a:p>
                      <a:r>
                        <a:rPr lang="en-IN"/>
                        <a:t>Roofing</a:t>
                      </a:r>
                    </a:p>
                  </a:txBody>
                  <a:tcPr anchor="ctr">
                    <a:lnL>
                      <a:noFill/>
                    </a:lnL>
                    <a:lnR>
                      <a:noFill/>
                    </a:lnR>
                    <a:lnT>
                      <a:noFill/>
                    </a:lnT>
                    <a:lnB>
                      <a:noFill/>
                    </a:lnB>
                    <a:noFill/>
                  </a:tcPr>
                </a:tc>
                <a:tc>
                  <a:txBody>
                    <a:bodyPr/>
                    <a:lstStyle/>
                    <a:p>
                      <a:r>
                        <a:rPr lang="en-IN"/>
                        <a:t>C</a:t>
                      </a:r>
                    </a:p>
                  </a:txBody>
                  <a:tcPr anchor="ctr">
                    <a:lnL>
                      <a:noFill/>
                    </a:lnL>
                    <a:lnR>
                      <a:noFill/>
                    </a:lnR>
                    <a:lnT>
                      <a:noFill/>
                    </a:lnT>
                    <a:lnB>
                      <a:noFill/>
                    </a:lnB>
                    <a:noFill/>
                  </a:tcPr>
                </a:tc>
                <a:tc>
                  <a:txBody>
                    <a:bodyPr/>
                    <a:lstStyle/>
                    <a:p>
                      <a:r>
                        <a:rPr lang="x-none"/>
                        <a:t>6</a:t>
                      </a:r>
                    </a:p>
                  </a:txBody>
                  <a:tcPr anchor="ctr">
                    <a:lnL>
                      <a:noFill/>
                    </a:lnL>
                    <a:lnR>
                      <a:noFill/>
                    </a:lnR>
                    <a:lnT>
                      <a:noFill/>
                    </a:lnT>
                    <a:lnB>
                      <a:noFill/>
                    </a:lnB>
                    <a:noFill/>
                  </a:tcPr>
                </a:tc>
                <a:extLst>
                  <a:ext uri="{0D108BD9-81ED-4DB2-BD59-A6C34878D82A}">
                    <a16:rowId xmlns:a16="http://schemas.microsoft.com/office/drawing/2014/main" xmlns="" val="3381242666"/>
                  </a:ext>
                </a:extLst>
              </a:tr>
              <a:tr h="0">
                <a:tc>
                  <a:txBody>
                    <a:bodyPr/>
                    <a:lstStyle/>
                    <a:p>
                      <a:r>
                        <a:rPr lang="en-IN"/>
                        <a:t>H</a:t>
                      </a:r>
                    </a:p>
                  </a:txBody>
                  <a:tcPr anchor="ctr">
                    <a:lnL>
                      <a:noFill/>
                    </a:lnL>
                    <a:lnR>
                      <a:noFill/>
                    </a:lnR>
                    <a:lnT>
                      <a:noFill/>
                    </a:lnT>
                    <a:lnB>
                      <a:noFill/>
                    </a:lnB>
                    <a:noFill/>
                  </a:tcPr>
                </a:tc>
                <a:tc>
                  <a:txBody>
                    <a:bodyPr/>
                    <a:lstStyle/>
                    <a:p>
                      <a:r>
                        <a:rPr lang="en-IN"/>
                        <a:t>Landscaping</a:t>
                      </a:r>
                    </a:p>
                  </a:txBody>
                  <a:tcPr anchor="ctr">
                    <a:lnL>
                      <a:noFill/>
                    </a:lnL>
                    <a:lnR>
                      <a:noFill/>
                    </a:lnR>
                    <a:lnT>
                      <a:noFill/>
                    </a:lnT>
                    <a:lnB>
                      <a:noFill/>
                    </a:lnB>
                    <a:noFill/>
                  </a:tcPr>
                </a:tc>
                <a:tc>
                  <a:txBody>
                    <a:bodyPr/>
                    <a:lstStyle/>
                    <a:p>
                      <a:r>
                        <a:rPr lang="en-IN"/>
                        <a:t>G</a:t>
                      </a:r>
                    </a:p>
                  </a:txBody>
                  <a:tcPr anchor="ctr">
                    <a:lnL>
                      <a:noFill/>
                    </a:lnL>
                    <a:lnR>
                      <a:noFill/>
                    </a:lnR>
                    <a:lnT>
                      <a:noFill/>
                    </a:lnT>
                    <a:lnB>
                      <a:noFill/>
                    </a:lnB>
                    <a:noFill/>
                  </a:tcPr>
                </a:tc>
                <a:tc>
                  <a:txBody>
                    <a:bodyPr/>
                    <a:lstStyle/>
                    <a:p>
                      <a:r>
                        <a:rPr lang="x-none"/>
                        <a:t>5</a:t>
                      </a:r>
                    </a:p>
                  </a:txBody>
                  <a:tcPr anchor="ctr">
                    <a:lnL>
                      <a:noFill/>
                    </a:lnL>
                    <a:lnR>
                      <a:noFill/>
                    </a:lnR>
                    <a:lnT>
                      <a:noFill/>
                    </a:lnT>
                    <a:lnB>
                      <a:noFill/>
                    </a:lnB>
                    <a:noFill/>
                  </a:tcPr>
                </a:tc>
                <a:extLst>
                  <a:ext uri="{0D108BD9-81ED-4DB2-BD59-A6C34878D82A}">
                    <a16:rowId xmlns:a16="http://schemas.microsoft.com/office/drawing/2014/main" xmlns="" val="3890721090"/>
                  </a:ext>
                </a:extLst>
              </a:tr>
              <a:tr h="0">
                <a:tc>
                  <a:txBody>
                    <a:bodyPr/>
                    <a:lstStyle/>
                    <a:p>
                      <a:r>
                        <a:rPr lang="en-IN"/>
                        <a:t>I</a:t>
                      </a:r>
                    </a:p>
                  </a:txBody>
                  <a:tcPr anchor="ctr">
                    <a:lnL>
                      <a:noFill/>
                    </a:lnL>
                    <a:lnR>
                      <a:noFill/>
                    </a:lnR>
                    <a:lnT>
                      <a:noFill/>
                    </a:lnT>
                    <a:lnB>
                      <a:noFill/>
                    </a:lnB>
                    <a:noFill/>
                  </a:tcPr>
                </a:tc>
                <a:tc>
                  <a:txBody>
                    <a:bodyPr/>
                    <a:lstStyle/>
                    <a:p>
                      <a:r>
                        <a:rPr lang="en-IN"/>
                        <a:t>Inspection</a:t>
                      </a:r>
                    </a:p>
                  </a:txBody>
                  <a:tcPr anchor="ctr">
                    <a:lnL>
                      <a:noFill/>
                    </a:lnL>
                    <a:lnR>
                      <a:noFill/>
                    </a:lnR>
                    <a:lnT>
                      <a:noFill/>
                    </a:lnT>
                    <a:lnB>
                      <a:noFill/>
                    </a:lnB>
                    <a:noFill/>
                  </a:tcPr>
                </a:tc>
                <a:tc>
                  <a:txBody>
                    <a:bodyPr/>
                    <a:lstStyle/>
                    <a:p>
                      <a:r>
                        <a:rPr lang="en-IN"/>
                        <a:t>E, F, H</a:t>
                      </a:r>
                    </a:p>
                  </a:txBody>
                  <a:tcPr anchor="ctr">
                    <a:lnL>
                      <a:noFill/>
                    </a:lnL>
                    <a:lnR>
                      <a:noFill/>
                    </a:lnR>
                    <a:lnT>
                      <a:noFill/>
                    </a:lnT>
                    <a:lnB>
                      <a:noFill/>
                    </a:lnB>
                    <a:noFill/>
                  </a:tcPr>
                </a:tc>
                <a:tc>
                  <a:txBody>
                    <a:bodyPr/>
                    <a:lstStyle/>
                    <a:p>
                      <a:r>
                        <a:rPr lang="x-none"/>
                        <a:t>3</a:t>
                      </a:r>
                    </a:p>
                  </a:txBody>
                  <a:tcPr anchor="ctr">
                    <a:lnL>
                      <a:noFill/>
                    </a:lnL>
                    <a:lnR>
                      <a:noFill/>
                    </a:lnR>
                    <a:lnT>
                      <a:noFill/>
                    </a:lnT>
                    <a:lnB>
                      <a:noFill/>
                    </a:lnB>
                    <a:noFill/>
                  </a:tcPr>
                </a:tc>
                <a:extLst>
                  <a:ext uri="{0D108BD9-81ED-4DB2-BD59-A6C34878D82A}">
                    <a16:rowId xmlns:a16="http://schemas.microsoft.com/office/drawing/2014/main" xmlns="" val="987113084"/>
                  </a:ext>
                </a:extLst>
              </a:tr>
              <a:tr h="0">
                <a:tc>
                  <a:txBody>
                    <a:bodyPr/>
                    <a:lstStyle/>
                    <a:p>
                      <a:r>
                        <a:rPr lang="en-IN"/>
                        <a:t>J</a:t>
                      </a:r>
                    </a:p>
                  </a:txBody>
                  <a:tcPr anchor="ctr">
                    <a:lnL>
                      <a:noFill/>
                    </a:lnL>
                    <a:lnR>
                      <a:noFill/>
                    </a:lnR>
                    <a:lnT>
                      <a:noFill/>
                    </a:lnT>
                    <a:lnB>
                      <a:noFill/>
                    </a:lnB>
                    <a:noFill/>
                  </a:tcPr>
                </a:tc>
                <a:tc>
                  <a:txBody>
                    <a:bodyPr/>
                    <a:lstStyle/>
                    <a:p>
                      <a:r>
                        <a:rPr lang="en-IN" dirty="0"/>
                        <a:t>Final Touches</a:t>
                      </a:r>
                    </a:p>
                  </a:txBody>
                  <a:tcPr anchor="ctr">
                    <a:lnL>
                      <a:noFill/>
                    </a:lnL>
                    <a:lnR>
                      <a:noFill/>
                    </a:lnR>
                    <a:lnT>
                      <a:noFill/>
                    </a:lnT>
                    <a:lnB>
                      <a:noFill/>
                    </a:lnB>
                    <a:noFill/>
                  </a:tcPr>
                </a:tc>
                <a:tc>
                  <a:txBody>
                    <a:bodyPr/>
                    <a:lstStyle/>
                    <a:p>
                      <a:r>
                        <a:rPr lang="en-IN"/>
                        <a:t>I</a:t>
                      </a:r>
                    </a:p>
                  </a:txBody>
                  <a:tcPr anchor="ctr">
                    <a:lnL>
                      <a:noFill/>
                    </a:lnL>
                    <a:lnR>
                      <a:noFill/>
                    </a:lnR>
                    <a:lnT>
                      <a:noFill/>
                    </a:lnT>
                    <a:lnB>
                      <a:noFill/>
                    </a:lnB>
                    <a:noFill/>
                  </a:tcPr>
                </a:tc>
                <a:tc>
                  <a:txBody>
                    <a:bodyPr/>
                    <a:lstStyle/>
                    <a:p>
                      <a:r>
                        <a:rPr lang="x-none" dirty="0"/>
                        <a:t>2</a:t>
                      </a:r>
                    </a:p>
                  </a:txBody>
                  <a:tcPr anchor="ctr">
                    <a:lnL>
                      <a:noFill/>
                    </a:lnL>
                    <a:lnR>
                      <a:noFill/>
                    </a:lnR>
                    <a:lnT>
                      <a:noFill/>
                    </a:lnT>
                    <a:lnB>
                      <a:noFill/>
                    </a:lnB>
                    <a:noFill/>
                  </a:tcPr>
                </a:tc>
                <a:extLst>
                  <a:ext uri="{0D108BD9-81ED-4DB2-BD59-A6C34878D82A}">
                    <a16:rowId xmlns:a16="http://schemas.microsoft.com/office/drawing/2014/main" xmlns="" val="3656714757"/>
                  </a:ext>
                </a:extLst>
              </a:tr>
            </a:tbl>
          </a:graphicData>
        </a:graphic>
      </p:graphicFrame>
    </p:spTree>
    <p:extLst>
      <p:ext uri="{BB962C8B-B14F-4D97-AF65-F5344CB8AC3E}">
        <p14:creationId xmlns:p14="http://schemas.microsoft.com/office/powerpoint/2010/main" val="4098653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
            <a:extLst>
              <a:ext uri="{FF2B5EF4-FFF2-40B4-BE49-F238E27FC236}">
                <a16:creationId xmlns:a16="http://schemas.microsoft.com/office/drawing/2014/main" xmlns="" id="{B6A37A9E-7540-4C51-957C-9A1C3C1A9164}"/>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42</a:t>
            </a:fld>
            <a:endParaRPr lang="en-US" altLang="en-US" sz="1400">
              <a:solidFill>
                <a:schemeClr val="bg1"/>
              </a:solidFill>
            </a:endParaRPr>
          </a:p>
        </p:txBody>
      </p:sp>
      <p:sp>
        <p:nvSpPr>
          <p:cNvPr id="67587" name="Rectangle 2">
            <a:extLst>
              <a:ext uri="{FF2B5EF4-FFF2-40B4-BE49-F238E27FC236}">
                <a16:creationId xmlns:a16="http://schemas.microsoft.com/office/drawing/2014/main" xmlns="" id="{53E8000A-E39D-4903-AB82-3988077EA896}"/>
              </a:ext>
            </a:extLst>
          </p:cNvPr>
          <p:cNvSpPr>
            <a:spLocks noGrp="1" noChangeAspect="1" noChangeArrowheads="1"/>
          </p:cNvSpPr>
          <p:nvPr>
            <p:ph type="title"/>
          </p:nvPr>
        </p:nvSpPr>
        <p:spPr/>
        <p:txBody>
          <a:bodyPr/>
          <a:lstStyle/>
          <a:p>
            <a:r>
              <a:rPr lang="en-US" altLang="en-US" dirty="0"/>
              <a:t>Activity-On-Arrow Networks</a:t>
            </a:r>
          </a:p>
        </p:txBody>
      </p:sp>
      <p:sp>
        <p:nvSpPr>
          <p:cNvPr id="67588" name="Rectangle 3">
            <a:extLst>
              <a:ext uri="{FF2B5EF4-FFF2-40B4-BE49-F238E27FC236}">
                <a16:creationId xmlns:a16="http://schemas.microsoft.com/office/drawing/2014/main" xmlns="" id="{830B113C-D6C2-4E9A-B9A9-CFD21612AAFE}"/>
              </a:ext>
            </a:extLst>
          </p:cNvPr>
          <p:cNvSpPr>
            <a:spLocks noGrp="1" noChangeArrowheads="1"/>
          </p:cNvSpPr>
          <p:nvPr>
            <p:ph type="body" idx="1"/>
          </p:nvPr>
        </p:nvSpPr>
        <p:spPr/>
        <p:txBody>
          <a:bodyPr/>
          <a:lstStyle/>
          <a:p>
            <a:r>
              <a:rPr lang="en-US" altLang="en-US"/>
              <a:t>Originally used by CPM and PERT methods</a:t>
            </a:r>
          </a:p>
          <a:p>
            <a:r>
              <a:rPr lang="en-US" altLang="en-US"/>
              <a:t>Now less common than activity-on-node, still used and introduces an additional useful concept – that of </a:t>
            </a:r>
            <a:r>
              <a:rPr lang="en-US" altLang="en-US" i="1"/>
              <a:t>events</a:t>
            </a:r>
          </a:p>
          <a:p>
            <a:r>
              <a:rPr lang="en-US" altLang="en-US"/>
              <a:t>Activities are represented by links (or arrows) and the nodes represent events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a:extLst>
              <a:ext uri="{FF2B5EF4-FFF2-40B4-BE49-F238E27FC236}">
                <a16:creationId xmlns:a16="http://schemas.microsoft.com/office/drawing/2014/main" xmlns="" id="{94676F68-0837-4841-8D07-A7C87CFC3FDD}"/>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43</a:t>
            </a:fld>
            <a:endParaRPr lang="en-US" altLang="en-US" sz="1400">
              <a:solidFill>
                <a:schemeClr val="bg1"/>
              </a:solidFill>
            </a:endParaRPr>
          </a:p>
        </p:txBody>
      </p:sp>
      <p:sp>
        <p:nvSpPr>
          <p:cNvPr id="68611" name="Rectangle 2">
            <a:extLst>
              <a:ext uri="{FF2B5EF4-FFF2-40B4-BE49-F238E27FC236}">
                <a16:creationId xmlns:a16="http://schemas.microsoft.com/office/drawing/2014/main" xmlns="" id="{4419BB57-0839-4C71-8E3C-48A9974EA24F}"/>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2400" dirty="0"/>
              <a:t>Activity-On-Arrow Network of the Example Project</a:t>
            </a:r>
          </a:p>
        </p:txBody>
      </p:sp>
      <p:pic>
        <p:nvPicPr>
          <p:cNvPr id="68613" name="Picture 4" descr="smpfigure 6">
            <a:extLst>
              <a:ext uri="{FF2B5EF4-FFF2-40B4-BE49-F238E27FC236}">
                <a16:creationId xmlns:a16="http://schemas.microsoft.com/office/drawing/2014/main" xmlns="" id="{641CB428-2C79-4A7C-BEF5-7D82DBACA4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67" y="1991361"/>
            <a:ext cx="8805265" cy="455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5">
            <a:extLst>
              <a:ext uri="{FF2B5EF4-FFF2-40B4-BE49-F238E27FC236}">
                <a16:creationId xmlns:a16="http://schemas.microsoft.com/office/drawing/2014/main" xmlns="" id="{B8EB51AB-8C46-4E8D-9ABF-C64461356B7D}"/>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44</a:t>
            </a:fld>
            <a:endParaRPr lang="en-US" altLang="en-US" sz="1400">
              <a:solidFill>
                <a:schemeClr val="bg1"/>
              </a:solidFill>
            </a:endParaRPr>
          </a:p>
        </p:txBody>
      </p:sp>
      <p:sp>
        <p:nvSpPr>
          <p:cNvPr id="69635" name="Rectangle 2">
            <a:extLst>
              <a:ext uri="{FF2B5EF4-FFF2-40B4-BE49-F238E27FC236}">
                <a16:creationId xmlns:a16="http://schemas.microsoft.com/office/drawing/2014/main" xmlns="" id="{6B809A49-8C31-4FB6-8450-0264B3A6BC1D}"/>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2800" dirty="0"/>
              <a:t>Activity-On-Arrow Rules and Conventions [1/2]</a:t>
            </a:r>
            <a:endParaRPr lang="en-US" altLang="en-US" sz="2000" dirty="0"/>
          </a:p>
        </p:txBody>
      </p:sp>
      <p:sp>
        <p:nvSpPr>
          <p:cNvPr id="69636" name="Rectangle 3">
            <a:extLst>
              <a:ext uri="{FF2B5EF4-FFF2-40B4-BE49-F238E27FC236}">
                <a16:creationId xmlns:a16="http://schemas.microsoft.com/office/drawing/2014/main" xmlns="" id="{5E456507-8B75-48FD-B657-EBF875DAB2E1}"/>
              </a:ext>
            </a:extLst>
          </p:cNvPr>
          <p:cNvSpPr>
            <a:spLocks noGrp="1" noChangeArrowheads="1"/>
          </p:cNvSpPr>
          <p:nvPr>
            <p:ph type="body" idx="1"/>
          </p:nvPr>
        </p:nvSpPr>
        <p:spPr/>
        <p:txBody>
          <a:bodyPr/>
          <a:lstStyle/>
          <a:p>
            <a:r>
              <a:rPr lang="en-US" altLang="en-US"/>
              <a:t>A project network may have only one start node</a:t>
            </a:r>
          </a:p>
          <a:p>
            <a:r>
              <a:rPr lang="en-US" altLang="en-US"/>
              <a:t>A project network may have only one end node</a:t>
            </a:r>
          </a:p>
          <a:p>
            <a:r>
              <a:rPr lang="en-US" altLang="en-US"/>
              <a:t>A link has duration</a:t>
            </a:r>
          </a:p>
          <a:p>
            <a:r>
              <a:rPr lang="en-US" altLang="en-US"/>
              <a:t>Nodes have no duration</a:t>
            </a:r>
          </a:p>
          <a:p>
            <a:r>
              <a:rPr lang="en-US" altLang="en-US"/>
              <a:t>Time moves from left to right</a:t>
            </a:r>
          </a:p>
          <a:p>
            <a:r>
              <a:rPr lang="en-US" altLang="en-US"/>
              <a:t>Nodes are numbered sequentially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5">
            <a:extLst>
              <a:ext uri="{FF2B5EF4-FFF2-40B4-BE49-F238E27FC236}">
                <a16:creationId xmlns:a16="http://schemas.microsoft.com/office/drawing/2014/main" xmlns="" id="{39C93CF8-0E1C-43E0-9B28-830152EE271A}"/>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45</a:t>
            </a:fld>
            <a:endParaRPr lang="en-US" altLang="en-US" sz="1400">
              <a:solidFill>
                <a:schemeClr val="bg1"/>
              </a:solidFill>
            </a:endParaRPr>
          </a:p>
        </p:txBody>
      </p:sp>
      <p:sp>
        <p:nvSpPr>
          <p:cNvPr id="70659" name="Rectangle 2">
            <a:extLst>
              <a:ext uri="{FF2B5EF4-FFF2-40B4-BE49-F238E27FC236}">
                <a16:creationId xmlns:a16="http://schemas.microsoft.com/office/drawing/2014/main" xmlns="" id="{5C6FE74E-396E-4E1B-BCD9-933BAFAD40BC}"/>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2800" dirty="0"/>
              <a:t>Activity-On-Arrow Rules and Conventions [2/2]</a:t>
            </a:r>
            <a:endParaRPr lang="en-US" altLang="en-US" sz="2000" dirty="0"/>
          </a:p>
        </p:txBody>
      </p:sp>
      <p:sp>
        <p:nvSpPr>
          <p:cNvPr id="70660" name="Rectangle 3">
            <a:extLst>
              <a:ext uri="{FF2B5EF4-FFF2-40B4-BE49-F238E27FC236}">
                <a16:creationId xmlns:a16="http://schemas.microsoft.com/office/drawing/2014/main" xmlns="" id="{E54DBBDB-A022-487E-8CC9-8483639AA011}"/>
              </a:ext>
            </a:extLst>
          </p:cNvPr>
          <p:cNvSpPr>
            <a:spLocks noGrp="1" noChangeArrowheads="1"/>
          </p:cNvSpPr>
          <p:nvPr>
            <p:ph type="body" idx="1"/>
          </p:nvPr>
        </p:nvSpPr>
        <p:spPr/>
        <p:txBody>
          <a:bodyPr/>
          <a:lstStyle/>
          <a:p>
            <a:r>
              <a:rPr lang="en-US" altLang="en-US"/>
              <a:t>A network may not contain loop</a:t>
            </a:r>
          </a:p>
          <a:p>
            <a:endParaRPr lang="en-US" altLang="en-US"/>
          </a:p>
          <a:p>
            <a:endParaRPr lang="en-US" altLang="en-US"/>
          </a:p>
          <a:p>
            <a:endParaRPr lang="en-US" altLang="en-US"/>
          </a:p>
          <a:p>
            <a:r>
              <a:rPr lang="en-US" altLang="en-US"/>
              <a:t>A network may not contain dangle</a:t>
            </a:r>
          </a:p>
        </p:txBody>
      </p:sp>
      <p:pic>
        <p:nvPicPr>
          <p:cNvPr id="70661" name="Picture 4" descr="smpfigure 6">
            <a:extLst>
              <a:ext uri="{FF2B5EF4-FFF2-40B4-BE49-F238E27FC236}">
                <a16:creationId xmlns:a16="http://schemas.microsoft.com/office/drawing/2014/main" xmlns="" id="{36D2F3DB-E25D-4F4E-A766-BFA5E6124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572000"/>
            <a:ext cx="528637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6" descr="smpfigure 6">
            <a:extLst>
              <a:ext uri="{FF2B5EF4-FFF2-40B4-BE49-F238E27FC236}">
                <a16:creationId xmlns:a16="http://schemas.microsoft.com/office/drawing/2014/main" xmlns="" id="{DDD9ED4C-681D-4080-BEB6-945C64D22F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09800"/>
            <a:ext cx="51816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5">
            <a:extLst>
              <a:ext uri="{FF2B5EF4-FFF2-40B4-BE49-F238E27FC236}">
                <a16:creationId xmlns:a16="http://schemas.microsoft.com/office/drawing/2014/main" xmlns="" id="{BAA5B74D-472B-4F70-AA24-53B08FA4FA1A}"/>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46</a:t>
            </a:fld>
            <a:endParaRPr lang="en-US" altLang="en-US" sz="1400">
              <a:solidFill>
                <a:schemeClr val="bg1"/>
              </a:solidFill>
            </a:endParaRPr>
          </a:p>
        </p:txBody>
      </p:sp>
      <p:sp>
        <p:nvSpPr>
          <p:cNvPr id="72707" name="Rectangle 2">
            <a:extLst>
              <a:ext uri="{FF2B5EF4-FFF2-40B4-BE49-F238E27FC236}">
                <a16:creationId xmlns:a16="http://schemas.microsoft.com/office/drawing/2014/main" xmlns="" id="{47D17535-7531-4BB0-9471-3479864A563F}"/>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3200" dirty="0"/>
              <a:t>Using Dummy Activities [1/3]</a:t>
            </a:r>
            <a:endParaRPr lang="en-US" altLang="en-US" sz="2400" dirty="0"/>
          </a:p>
        </p:txBody>
      </p:sp>
      <p:sp>
        <p:nvSpPr>
          <p:cNvPr id="72708" name="Rectangle 3">
            <a:extLst>
              <a:ext uri="{FF2B5EF4-FFF2-40B4-BE49-F238E27FC236}">
                <a16:creationId xmlns:a16="http://schemas.microsoft.com/office/drawing/2014/main" xmlns="" id="{ABAB4FE4-8CB3-4232-983F-E9C42ED1BFBB}"/>
              </a:ext>
            </a:extLst>
          </p:cNvPr>
          <p:cNvSpPr>
            <a:spLocks noGrp="1" noChangeArrowheads="1"/>
          </p:cNvSpPr>
          <p:nvPr>
            <p:ph type="body" idx="1"/>
          </p:nvPr>
        </p:nvSpPr>
        <p:spPr/>
        <p:txBody>
          <a:bodyPr/>
          <a:lstStyle/>
          <a:p>
            <a:r>
              <a:rPr lang="en-US" altLang="en-US" sz="2800"/>
              <a:t>A logical error occurs when two paths (‘specify hardware’ and ‘design data structure’) within a network have a common event although they are independent</a:t>
            </a:r>
          </a:p>
        </p:txBody>
      </p:sp>
      <p:pic>
        <p:nvPicPr>
          <p:cNvPr id="72709" name="Picture 5" descr="smpfigure 6">
            <a:extLst>
              <a:ext uri="{FF2B5EF4-FFF2-40B4-BE49-F238E27FC236}">
                <a16:creationId xmlns:a16="http://schemas.microsoft.com/office/drawing/2014/main" xmlns="" id="{E5FE9669-56C4-4E1E-883F-C6286BFECF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429000"/>
            <a:ext cx="655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5">
            <a:extLst>
              <a:ext uri="{FF2B5EF4-FFF2-40B4-BE49-F238E27FC236}">
                <a16:creationId xmlns:a16="http://schemas.microsoft.com/office/drawing/2014/main" xmlns="" id="{956A8AA1-4841-4C9A-8616-B26850C07B9F}"/>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47</a:t>
            </a:fld>
            <a:endParaRPr lang="en-US" altLang="en-US" sz="1400">
              <a:solidFill>
                <a:schemeClr val="bg1"/>
              </a:solidFill>
            </a:endParaRPr>
          </a:p>
        </p:txBody>
      </p:sp>
      <p:sp>
        <p:nvSpPr>
          <p:cNvPr id="73731" name="Rectangle 2">
            <a:extLst>
              <a:ext uri="{FF2B5EF4-FFF2-40B4-BE49-F238E27FC236}">
                <a16:creationId xmlns:a16="http://schemas.microsoft.com/office/drawing/2014/main" xmlns="" id="{2DBBF3B4-EBF3-4CF1-9A24-0218809A182B}"/>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3200" dirty="0"/>
              <a:t>Using Dummy Activities [2/3]</a:t>
            </a:r>
            <a:endParaRPr lang="en-US" altLang="en-US" sz="2400" dirty="0"/>
          </a:p>
        </p:txBody>
      </p:sp>
      <p:sp>
        <p:nvSpPr>
          <p:cNvPr id="73732" name="Rectangle 3">
            <a:extLst>
              <a:ext uri="{FF2B5EF4-FFF2-40B4-BE49-F238E27FC236}">
                <a16:creationId xmlns:a16="http://schemas.microsoft.com/office/drawing/2014/main" xmlns="" id="{890857D6-2323-4267-88A9-FB14B4E8CCC8}"/>
              </a:ext>
            </a:extLst>
          </p:cNvPr>
          <p:cNvSpPr>
            <a:spLocks noGrp="1" noChangeArrowheads="1"/>
          </p:cNvSpPr>
          <p:nvPr>
            <p:ph type="body" idx="1"/>
          </p:nvPr>
        </p:nvSpPr>
        <p:spPr/>
        <p:txBody>
          <a:bodyPr/>
          <a:lstStyle/>
          <a:p>
            <a:r>
              <a:rPr lang="en-US" altLang="en-US" sz="2800"/>
              <a:t>Separating the two independent paths and introducing a dummy activity to link the completion of ‘specify hardware’ to the start of the activity ‘code software’</a:t>
            </a:r>
          </a:p>
        </p:txBody>
      </p:sp>
      <p:pic>
        <p:nvPicPr>
          <p:cNvPr id="73733" name="Picture 5" descr="smpfigure 6">
            <a:extLst>
              <a:ext uri="{FF2B5EF4-FFF2-40B4-BE49-F238E27FC236}">
                <a16:creationId xmlns:a16="http://schemas.microsoft.com/office/drawing/2014/main" xmlns="" id="{DC028628-1929-43E4-BB07-1248A8F606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657600"/>
            <a:ext cx="69342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a:extLst>
              <a:ext uri="{FF2B5EF4-FFF2-40B4-BE49-F238E27FC236}">
                <a16:creationId xmlns:a16="http://schemas.microsoft.com/office/drawing/2014/main" xmlns="" id="{0B956F42-4AF7-46EF-BC92-AE6BD9C358AE}"/>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48</a:t>
            </a:fld>
            <a:endParaRPr lang="en-US" altLang="en-US" sz="1400">
              <a:solidFill>
                <a:schemeClr val="bg1"/>
              </a:solidFill>
            </a:endParaRPr>
          </a:p>
        </p:txBody>
      </p:sp>
      <p:sp>
        <p:nvSpPr>
          <p:cNvPr id="74755" name="Rectangle 2">
            <a:extLst>
              <a:ext uri="{FF2B5EF4-FFF2-40B4-BE49-F238E27FC236}">
                <a16:creationId xmlns:a16="http://schemas.microsoft.com/office/drawing/2014/main" xmlns="" id="{29391446-AC4C-4711-ADEC-91BBB73CFC73}"/>
              </a:ext>
            </a:extLst>
          </p:cNvPr>
          <p:cNvSpPr>
            <a:spLocks noGrp="1" noChangeAspect="1" noChangeArrowheads="1"/>
          </p:cNvSpPr>
          <p:nvPr>
            <p:ph type="title"/>
          </p:nvPr>
        </p:nvSpPr>
        <p:spPr/>
        <p:txBody>
          <a:bodyPr>
            <a:normAutofit fontScale="90000"/>
          </a:bodyPr>
          <a:lstStyle/>
          <a:p>
            <a:r>
              <a:rPr lang="en-US" altLang="en-US" dirty="0"/>
              <a:t>Activity-On-Arrow Networks</a:t>
            </a:r>
            <a:r>
              <a:rPr lang="en-US" altLang="en-US" sz="3200" dirty="0"/>
              <a:t/>
            </a:r>
            <a:br>
              <a:rPr lang="en-US" altLang="en-US" sz="3200" dirty="0"/>
            </a:br>
            <a:r>
              <a:rPr lang="en-US" altLang="en-US" sz="3200" dirty="0"/>
              <a:t>Using Dummy Activities [3/3]</a:t>
            </a:r>
            <a:endParaRPr lang="en-US" altLang="en-US" sz="2400" dirty="0"/>
          </a:p>
        </p:txBody>
      </p:sp>
      <p:sp>
        <p:nvSpPr>
          <p:cNvPr id="74756" name="Rectangle 3">
            <a:extLst>
              <a:ext uri="{FF2B5EF4-FFF2-40B4-BE49-F238E27FC236}">
                <a16:creationId xmlns:a16="http://schemas.microsoft.com/office/drawing/2014/main" xmlns="" id="{32A0A43F-454E-4030-89F7-22724DD2F27B}"/>
              </a:ext>
            </a:extLst>
          </p:cNvPr>
          <p:cNvSpPr>
            <a:spLocks noGrp="1" noChangeArrowheads="1"/>
          </p:cNvSpPr>
          <p:nvPr>
            <p:ph type="body" idx="1"/>
          </p:nvPr>
        </p:nvSpPr>
        <p:spPr/>
        <p:txBody>
          <a:bodyPr/>
          <a:lstStyle/>
          <a:p>
            <a:r>
              <a:rPr lang="en-US" altLang="en-US" sz="2800"/>
              <a:t>Dummy activities, shown as dotted lines on the network diagram, have zero duration and use no resources</a:t>
            </a:r>
          </a:p>
          <a:p>
            <a:r>
              <a:rPr lang="en-US" altLang="en-US" sz="2800"/>
              <a:t>They are often used to aid in the layout of network</a:t>
            </a:r>
          </a:p>
        </p:txBody>
      </p:sp>
      <p:pic>
        <p:nvPicPr>
          <p:cNvPr id="74757" name="Picture 5" descr="smpfigure 6">
            <a:extLst>
              <a:ext uri="{FF2B5EF4-FFF2-40B4-BE49-F238E27FC236}">
                <a16:creationId xmlns:a16="http://schemas.microsoft.com/office/drawing/2014/main" xmlns="" id="{987441FA-F78E-47F9-8E57-D31361D3E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962400"/>
            <a:ext cx="61722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5">
            <a:extLst>
              <a:ext uri="{FF2B5EF4-FFF2-40B4-BE49-F238E27FC236}">
                <a16:creationId xmlns:a16="http://schemas.microsoft.com/office/drawing/2014/main" xmlns="" id="{456AB05A-BA06-484A-ABB0-09033A06BAD1}"/>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49</a:t>
            </a:fld>
            <a:endParaRPr lang="en-US" altLang="en-US" sz="1400">
              <a:solidFill>
                <a:schemeClr val="bg1"/>
              </a:solidFill>
            </a:endParaRPr>
          </a:p>
        </p:txBody>
      </p:sp>
      <p:sp>
        <p:nvSpPr>
          <p:cNvPr id="76803" name="Rectangle 2">
            <a:extLst>
              <a:ext uri="{FF2B5EF4-FFF2-40B4-BE49-F238E27FC236}">
                <a16:creationId xmlns:a16="http://schemas.microsoft.com/office/drawing/2014/main" xmlns="" id="{9A6CF8FA-B65F-4EC4-AA66-17971108FB48}"/>
              </a:ext>
            </a:extLst>
          </p:cNvPr>
          <p:cNvSpPr>
            <a:spLocks noGrp="1" noChangeAspect="1" noChangeArrowheads="1"/>
          </p:cNvSpPr>
          <p:nvPr>
            <p:ph type="title"/>
          </p:nvPr>
        </p:nvSpPr>
        <p:spPr/>
        <p:txBody>
          <a:bodyPr>
            <a:normAutofit fontScale="90000"/>
          </a:bodyPr>
          <a:lstStyle/>
          <a:p>
            <a:r>
              <a:rPr lang="en-US" altLang="en-US" dirty="0"/>
              <a:t>Activity-On-Arrow Networks</a:t>
            </a:r>
            <a:br>
              <a:rPr lang="en-US" altLang="en-US" dirty="0"/>
            </a:br>
            <a:r>
              <a:rPr lang="en-US" altLang="en-US" sz="3200" dirty="0"/>
              <a:t>Activity Labelling</a:t>
            </a:r>
          </a:p>
        </p:txBody>
      </p:sp>
      <p:sp>
        <p:nvSpPr>
          <p:cNvPr id="76804" name="Rectangle 3">
            <a:extLst>
              <a:ext uri="{FF2B5EF4-FFF2-40B4-BE49-F238E27FC236}">
                <a16:creationId xmlns:a16="http://schemas.microsoft.com/office/drawing/2014/main" xmlns="" id="{2F2EF384-F521-4FC6-9BB7-E5102255DB95}"/>
              </a:ext>
            </a:extLst>
          </p:cNvPr>
          <p:cNvSpPr>
            <a:spLocks noGrp="1" noChangeArrowheads="1"/>
          </p:cNvSpPr>
          <p:nvPr>
            <p:ph type="body" idx="1"/>
          </p:nvPr>
        </p:nvSpPr>
        <p:spPr/>
        <p:txBody>
          <a:bodyPr/>
          <a:lstStyle/>
          <a:p>
            <a:r>
              <a:rPr lang="en-US" altLang="en-US"/>
              <a:t>Typically the diagram is used to record information about the events rather than activities</a:t>
            </a:r>
          </a:p>
          <a:p>
            <a:r>
              <a:rPr lang="en-US" altLang="en-US"/>
              <a:t>One of the more common is to divide the node circle in quadrants</a:t>
            </a:r>
          </a:p>
        </p:txBody>
      </p:sp>
      <p:pic>
        <p:nvPicPr>
          <p:cNvPr id="76805" name="Picture 5" descr="spmlabel2">
            <a:extLst>
              <a:ext uri="{FF2B5EF4-FFF2-40B4-BE49-F238E27FC236}">
                <a16:creationId xmlns:a16="http://schemas.microsoft.com/office/drawing/2014/main" xmlns="" id="{0277268D-D93F-48B7-A172-E2C0DCBD7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2057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a:extLst>
              <a:ext uri="{FF2B5EF4-FFF2-40B4-BE49-F238E27FC236}">
                <a16:creationId xmlns:a16="http://schemas.microsoft.com/office/drawing/2014/main" xmlns="" id="{4319E276-87DD-413E-88E5-35025BCB90C2}"/>
              </a:ext>
            </a:extLst>
          </p:cNvPr>
          <p:cNvSpPr>
            <a:spLocks noGrp="1" noChangeAspect="1" noChangeArrowheads="1"/>
          </p:cNvSpPr>
          <p:nvPr>
            <p:ph type="title"/>
          </p:nvPr>
        </p:nvSpPr>
        <p:spPr>
          <a:xfrm>
            <a:off x="457200" y="701040"/>
            <a:ext cx="8382000" cy="1143000"/>
          </a:xfrm>
        </p:spPr>
        <p:txBody>
          <a:bodyPr/>
          <a:lstStyle/>
          <a:p>
            <a:r>
              <a:rPr lang="en-US" altLang="en-US" dirty="0"/>
              <a:t>Activity-On-Arrow Networks</a:t>
            </a:r>
            <a:br>
              <a:rPr lang="en-US" altLang="en-US" dirty="0"/>
            </a:br>
            <a:r>
              <a:rPr lang="en-US" altLang="en-US" sz="3200" dirty="0"/>
              <a:t>Network Analysis</a:t>
            </a:r>
          </a:p>
        </p:txBody>
      </p:sp>
      <p:sp>
        <p:nvSpPr>
          <p:cNvPr id="77828" name="Rectangle 3">
            <a:extLst>
              <a:ext uri="{FF2B5EF4-FFF2-40B4-BE49-F238E27FC236}">
                <a16:creationId xmlns:a16="http://schemas.microsoft.com/office/drawing/2014/main" xmlns="" id="{7CDA86B4-D3C4-4C43-BC0F-CA15CEC47A60}"/>
              </a:ext>
            </a:extLst>
          </p:cNvPr>
          <p:cNvSpPr>
            <a:spLocks noGrp="1" noChangeArrowheads="1"/>
          </p:cNvSpPr>
          <p:nvPr>
            <p:ph type="body" idx="1"/>
          </p:nvPr>
        </p:nvSpPr>
        <p:spPr>
          <a:xfrm>
            <a:off x="457200" y="2148840"/>
            <a:ext cx="8458200" cy="4525963"/>
          </a:xfrm>
        </p:spPr>
        <p:txBody>
          <a:bodyPr/>
          <a:lstStyle/>
          <a:p>
            <a:r>
              <a:rPr lang="en-US" altLang="en-US" dirty="0"/>
              <a:t>Analysis proceeds in the same way as with activity-on-node networks</a:t>
            </a:r>
          </a:p>
          <a:p>
            <a:pPr lvl="1"/>
            <a:r>
              <a:rPr lang="en-US" altLang="en-US" dirty="0"/>
              <a:t>The discussion places emphasis on the events rather than activity start and completion time</a:t>
            </a:r>
          </a:p>
          <a:p>
            <a:r>
              <a:rPr lang="en-US" altLang="en-US" dirty="0"/>
              <a:t>Stages</a:t>
            </a:r>
          </a:p>
          <a:p>
            <a:pPr lvl="1"/>
            <a:r>
              <a:rPr lang="en-US" altLang="en-US" dirty="0"/>
              <a:t>The forward pass</a:t>
            </a:r>
          </a:p>
          <a:p>
            <a:pPr lvl="1"/>
            <a:r>
              <a:rPr lang="en-US" altLang="en-US" dirty="0"/>
              <a:t>The backward pass</a:t>
            </a:r>
          </a:p>
          <a:p>
            <a:pPr lvl="1"/>
            <a:r>
              <a:rPr lang="en-US" altLang="en-US" dirty="0"/>
              <a:t>Identifying the critical path</a:t>
            </a:r>
          </a:p>
        </p:txBody>
      </p:sp>
      <p:sp>
        <p:nvSpPr>
          <p:cNvPr id="2" name="Slide Number Placeholder 1">
            <a:extLst>
              <a:ext uri="{FF2B5EF4-FFF2-40B4-BE49-F238E27FC236}">
                <a16:creationId xmlns:a16="http://schemas.microsoft.com/office/drawing/2014/main" xmlns="" id="{BCA7BDEA-5763-4CF1-8852-C45C4887B0C9}"/>
              </a:ext>
            </a:extLst>
          </p:cNvPr>
          <p:cNvSpPr>
            <a:spLocks noGrp="1"/>
          </p:cNvSpPr>
          <p:nvPr>
            <p:ph type="sldNum" sz="quarter" idx="12"/>
          </p:nvPr>
        </p:nvSpPr>
        <p:spPr/>
        <p:txBody>
          <a:bodyPr/>
          <a:lstStyle/>
          <a:p>
            <a:fld id="{60D6D740-8150-433F-9426-3FCFF681501A}"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xmlns="" id="{B74B4949-13C5-448B-87C4-4DC7161E5F5B}"/>
              </a:ext>
            </a:extLst>
          </p:cNvPr>
          <p:cNvSpPr>
            <a:spLocks noGrp="1" noChangeAspect="1" noChangeArrowheads="1"/>
          </p:cNvSpPr>
          <p:nvPr>
            <p:ph type="title"/>
          </p:nvPr>
        </p:nvSpPr>
        <p:spPr>
          <a:xfrm>
            <a:off x="457200" y="802640"/>
            <a:ext cx="8382000" cy="1143000"/>
          </a:xfrm>
        </p:spPr>
        <p:txBody>
          <a:bodyPr>
            <a:normAutofit fontScale="90000"/>
          </a:bodyPr>
          <a:lstStyle/>
          <a:p>
            <a:r>
              <a:rPr lang="en-US" altLang="en-US" dirty="0"/>
              <a:t>Activity-On-Arrow Networks</a:t>
            </a:r>
            <a:br>
              <a:rPr lang="en-US" altLang="en-US" dirty="0"/>
            </a:br>
            <a:r>
              <a:rPr lang="en-US" altLang="en-US" dirty="0"/>
              <a:t>The CPM </a:t>
            </a:r>
            <a:r>
              <a:rPr lang="en-US" altLang="en-US" sz="3200" dirty="0"/>
              <a:t>Network After The Forward Pass </a:t>
            </a:r>
          </a:p>
        </p:txBody>
      </p:sp>
      <p:pic>
        <p:nvPicPr>
          <p:cNvPr id="82949" name="Picture 4" descr="smpfigure 6">
            <a:extLst>
              <a:ext uri="{FF2B5EF4-FFF2-40B4-BE49-F238E27FC236}">
                <a16:creationId xmlns:a16="http://schemas.microsoft.com/office/drawing/2014/main" xmlns="" id="{5509BA4D-8BC1-4807-B7CE-33994336D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312391"/>
            <a:ext cx="7620000" cy="427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xmlns="" id="{4D1B7B75-D0B4-4EE3-965C-E5D5337D87B3}"/>
              </a:ext>
            </a:extLst>
          </p:cNvPr>
          <p:cNvSpPr>
            <a:spLocks noGrp="1"/>
          </p:cNvSpPr>
          <p:nvPr>
            <p:ph type="sldNum" sz="quarter" idx="12"/>
          </p:nvPr>
        </p:nvSpPr>
        <p:spPr/>
        <p:txBody>
          <a:bodyPr/>
          <a:lstStyle/>
          <a:p>
            <a:fld id="{60D6D740-8150-433F-9426-3FCFF681501A}"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5">
            <a:extLst>
              <a:ext uri="{FF2B5EF4-FFF2-40B4-BE49-F238E27FC236}">
                <a16:creationId xmlns:a16="http://schemas.microsoft.com/office/drawing/2014/main" xmlns="" id="{93A12202-65C2-40A9-A390-3B4A56BEDD1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3399"/>
                </a:solidFill>
                <a:latin typeface="Trebuchet MS" panose="020B0603020202020204" pitchFamily="34" charset="0"/>
                <a:cs typeface="Tahoma" panose="020B0604030504040204" pitchFamily="34" charset="0"/>
              </a:defRPr>
            </a:lvl1pPr>
            <a:lvl2pPr marL="742950" indent="-285750">
              <a:spcBef>
                <a:spcPct val="20000"/>
              </a:spcBef>
              <a:buChar char="–"/>
              <a:defRPr sz="2800">
                <a:solidFill>
                  <a:srgbClr val="003399"/>
                </a:solidFill>
                <a:latin typeface="Trebuchet MS" panose="020B0603020202020204" pitchFamily="34" charset="0"/>
                <a:cs typeface="Tahoma" panose="020B0604030504040204" pitchFamily="34" charset="0"/>
              </a:defRPr>
            </a:lvl2pPr>
            <a:lvl3pPr marL="1143000" indent="-228600">
              <a:spcBef>
                <a:spcPct val="20000"/>
              </a:spcBef>
              <a:buChar char="•"/>
              <a:defRPr sz="2400">
                <a:solidFill>
                  <a:srgbClr val="003399"/>
                </a:solidFill>
                <a:latin typeface="Trebuchet MS" panose="020B0603020202020204" pitchFamily="34" charset="0"/>
                <a:cs typeface="Tahoma" panose="020B0604030504040204" pitchFamily="34" charset="0"/>
              </a:defRPr>
            </a:lvl3pPr>
            <a:lvl4pPr marL="1600200" indent="-228600">
              <a:spcBef>
                <a:spcPct val="20000"/>
              </a:spcBef>
              <a:buChar char="–"/>
              <a:defRPr sz="2000">
                <a:solidFill>
                  <a:srgbClr val="003399"/>
                </a:solidFill>
                <a:latin typeface="Trebuchet MS" panose="020B0603020202020204" pitchFamily="34" charset="0"/>
                <a:cs typeface="Tahoma" panose="020B0604030504040204" pitchFamily="34" charset="0"/>
              </a:defRPr>
            </a:lvl4pPr>
            <a:lvl5pPr marL="2057400" indent="-228600">
              <a:spcBef>
                <a:spcPct val="20000"/>
              </a:spcBef>
              <a:buChar char="»"/>
              <a:defRPr sz="2000">
                <a:solidFill>
                  <a:srgbClr val="003399"/>
                </a:solidFill>
                <a:latin typeface="Trebuchet MS" panose="020B0603020202020204" pitchFamily="34" charset="0"/>
                <a:cs typeface="Tahoma" panose="020B0604030504040204" pitchFamily="34" charset="0"/>
              </a:defRPr>
            </a:lvl5pPr>
            <a:lvl6pPr marL="25146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6pPr>
            <a:lvl7pPr marL="29718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7pPr>
            <a:lvl8pPr marL="34290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8pPr>
            <a:lvl9pPr marL="38862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9pPr>
          </a:lstStyle>
          <a:p>
            <a:pPr>
              <a:spcBef>
                <a:spcPct val="0"/>
              </a:spcBef>
              <a:buFontTx/>
              <a:buNone/>
            </a:pPr>
            <a:r>
              <a:rPr lang="en-US" altLang="en-US" sz="1400">
                <a:solidFill>
                  <a:schemeClr val="bg1"/>
                </a:solidFill>
              </a:rPr>
              <a:t>Chapter 6-</a:t>
            </a:r>
            <a:fld id="{D79D2AA7-F757-4234-B392-1303B58D7250}" type="slidenum">
              <a:rPr lang="en-US" altLang="en-US" sz="1400">
                <a:solidFill>
                  <a:schemeClr val="bg1"/>
                </a:solidFill>
              </a:rPr>
              <a:pPr>
                <a:spcBef>
                  <a:spcPct val="0"/>
                </a:spcBef>
                <a:buFontTx/>
                <a:buNone/>
              </a:pPr>
              <a:t>52</a:t>
            </a:fld>
            <a:endParaRPr lang="en-US" altLang="en-US" sz="1400">
              <a:solidFill>
                <a:schemeClr val="bg1"/>
              </a:solidFill>
            </a:endParaRPr>
          </a:p>
        </p:txBody>
      </p:sp>
      <p:sp>
        <p:nvSpPr>
          <p:cNvPr id="83971" name="Rectangle 2">
            <a:extLst>
              <a:ext uri="{FF2B5EF4-FFF2-40B4-BE49-F238E27FC236}">
                <a16:creationId xmlns:a16="http://schemas.microsoft.com/office/drawing/2014/main" xmlns="" id="{988FC6B7-836F-45F1-AB0B-1E3828D3D95D}"/>
              </a:ext>
            </a:extLst>
          </p:cNvPr>
          <p:cNvSpPr>
            <a:spLocks noGrp="1" noChangeAspect="1" noChangeArrowheads="1"/>
          </p:cNvSpPr>
          <p:nvPr>
            <p:ph type="title"/>
          </p:nvPr>
        </p:nvSpPr>
        <p:spPr>
          <a:xfrm>
            <a:off x="457200" y="152400"/>
            <a:ext cx="8382000" cy="1143000"/>
          </a:xfrm>
        </p:spPr>
        <p:txBody>
          <a:bodyPr/>
          <a:lstStyle/>
          <a:p>
            <a:r>
              <a:rPr lang="en-US" altLang="en-US" dirty="0"/>
              <a:t>Activity-On-Arrow Networks</a:t>
            </a:r>
            <a:br>
              <a:rPr lang="en-US" altLang="en-US" dirty="0"/>
            </a:br>
            <a:r>
              <a:rPr lang="en-US" altLang="en-US" sz="3200" dirty="0"/>
              <a:t>The Activity Table After The Forward Pass </a:t>
            </a:r>
          </a:p>
        </p:txBody>
      </p:sp>
      <p:graphicFrame>
        <p:nvGraphicFramePr>
          <p:cNvPr id="329974" name="Group 246">
            <a:extLst>
              <a:ext uri="{FF2B5EF4-FFF2-40B4-BE49-F238E27FC236}">
                <a16:creationId xmlns:a16="http://schemas.microsoft.com/office/drawing/2014/main" xmlns="" id="{C18BEB1C-F87B-4E8C-A0A9-6DE1C422C9CB}"/>
              </a:ext>
            </a:extLst>
          </p:cNvPr>
          <p:cNvGraphicFramePr>
            <a:graphicFrameLocks noGrp="1"/>
          </p:cNvGraphicFramePr>
          <p:nvPr>
            <p:ph idx="1"/>
          </p:nvPr>
        </p:nvGraphicFramePr>
        <p:xfrm>
          <a:off x="609600" y="1600200"/>
          <a:ext cx="7924800" cy="4192588"/>
        </p:xfrm>
        <a:graphic>
          <a:graphicData uri="http://schemas.openxmlformats.org/drawingml/2006/table">
            <a:tbl>
              <a:tblPr/>
              <a:tblGrid>
                <a:gridCol w="914400">
                  <a:extLst>
                    <a:ext uri="{9D8B030D-6E8A-4147-A177-3AD203B41FA5}">
                      <a16:colId xmlns:a16="http://schemas.microsoft.com/office/drawing/2014/main" xmlns="" val="20000"/>
                    </a:ext>
                  </a:extLst>
                </a:gridCol>
                <a:gridCol w="1066800">
                  <a:extLst>
                    <a:ext uri="{9D8B030D-6E8A-4147-A177-3AD203B41FA5}">
                      <a16:colId xmlns:a16="http://schemas.microsoft.com/office/drawing/2014/main" xmlns="" val="20001"/>
                    </a:ext>
                  </a:extLst>
                </a:gridCol>
                <a:gridCol w="1219200">
                  <a:extLst>
                    <a:ext uri="{9D8B030D-6E8A-4147-A177-3AD203B41FA5}">
                      <a16:colId xmlns:a16="http://schemas.microsoft.com/office/drawing/2014/main" xmlns="" val="20002"/>
                    </a:ext>
                  </a:extLst>
                </a:gridCol>
                <a:gridCol w="1219200">
                  <a:extLst>
                    <a:ext uri="{9D8B030D-6E8A-4147-A177-3AD203B41FA5}">
                      <a16:colId xmlns:a16="http://schemas.microsoft.com/office/drawing/2014/main" xmlns="" val="20003"/>
                    </a:ext>
                  </a:extLst>
                </a:gridCol>
                <a:gridCol w="1219200">
                  <a:extLst>
                    <a:ext uri="{9D8B030D-6E8A-4147-A177-3AD203B41FA5}">
                      <a16:colId xmlns:a16="http://schemas.microsoft.com/office/drawing/2014/main" xmlns="" val="20004"/>
                    </a:ext>
                  </a:extLst>
                </a:gridCol>
                <a:gridCol w="1219200">
                  <a:extLst>
                    <a:ext uri="{9D8B030D-6E8A-4147-A177-3AD203B41FA5}">
                      <a16:colId xmlns:a16="http://schemas.microsoft.com/office/drawing/2014/main" xmlns="" val="20005"/>
                    </a:ext>
                  </a:extLst>
                </a:gridCol>
                <a:gridCol w="1066800">
                  <a:extLst>
                    <a:ext uri="{9D8B030D-6E8A-4147-A177-3AD203B41FA5}">
                      <a16:colId xmlns:a16="http://schemas.microsoft.com/office/drawing/2014/main" xmlns="" val="20006"/>
                    </a:ext>
                  </a:extLst>
                </a:gridCol>
              </a:tblGrid>
              <a:tr h="57916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Activity</a:t>
                      </a:r>
                    </a:p>
                  </a:txBody>
                  <a:tcPr marT="45723" marB="45723"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Duration (week)</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Earliest start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Latest start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Earliest finish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Latest finish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Total float</a:t>
                      </a:r>
                    </a:p>
                  </a:txBody>
                  <a:tcPr marT="45723" marB="45723"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A</a:t>
                      </a:r>
                    </a:p>
                  </a:txBody>
                  <a:tcPr marT="45723" marB="45723"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xmlns="" val="10001"/>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B</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2"/>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9</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3"/>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4"/>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5"/>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6"/>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G</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7"/>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H</a:t>
                      </a:r>
                    </a:p>
                  </a:txBody>
                  <a:tcPr marT="45723" marB="45723"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2</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9</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11</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5">
            <a:extLst>
              <a:ext uri="{FF2B5EF4-FFF2-40B4-BE49-F238E27FC236}">
                <a16:creationId xmlns:a16="http://schemas.microsoft.com/office/drawing/2014/main" xmlns="" id="{E9AEA76F-C97D-4716-9E0D-24954D7714B3}"/>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53</a:t>
            </a:fld>
            <a:endParaRPr lang="en-US" altLang="en-US" sz="1400">
              <a:solidFill>
                <a:schemeClr val="bg1"/>
              </a:solidFill>
            </a:endParaRPr>
          </a:p>
        </p:txBody>
      </p:sp>
      <p:sp>
        <p:nvSpPr>
          <p:cNvPr id="84995" name="Rectangle 2">
            <a:extLst>
              <a:ext uri="{FF2B5EF4-FFF2-40B4-BE49-F238E27FC236}">
                <a16:creationId xmlns:a16="http://schemas.microsoft.com/office/drawing/2014/main" xmlns="" id="{6194C4B0-B9C7-4C28-B3E6-FA2EA37123B6}"/>
              </a:ext>
            </a:extLst>
          </p:cNvPr>
          <p:cNvSpPr>
            <a:spLocks noGrp="1" noChangeAspect="1" noChangeArrowheads="1"/>
          </p:cNvSpPr>
          <p:nvPr>
            <p:ph type="title"/>
          </p:nvPr>
        </p:nvSpPr>
        <p:spPr/>
        <p:txBody>
          <a:bodyPr>
            <a:normAutofit fontScale="90000"/>
          </a:bodyPr>
          <a:lstStyle/>
          <a:p>
            <a:r>
              <a:rPr lang="en-US" altLang="en-US" dirty="0"/>
              <a:t>Activity-On-Arrow Networks</a:t>
            </a:r>
            <a:br>
              <a:rPr lang="en-US" altLang="en-US" dirty="0"/>
            </a:br>
            <a:r>
              <a:rPr lang="en-US" altLang="en-US" sz="3200" dirty="0"/>
              <a:t>The Backward Pass </a:t>
            </a:r>
          </a:p>
        </p:txBody>
      </p:sp>
      <p:sp>
        <p:nvSpPr>
          <p:cNvPr id="84996" name="Rectangle 3">
            <a:extLst>
              <a:ext uri="{FF2B5EF4-FFF2-40B4-BE49-F238E27FC236}">
                <a16:creationId xmlns:a16="http://schemas.microsoft.com/office/drawing/2014/main" xmlns="" id="{788AC588-CBA4-4303-90C7-2DDC7A8BD83C}"/>
              </a:ext>
            </a:extLst>
          </p:cNvPr>
          <p:cNvSpPr>
            <a:spLocks noGrp="1" noChangeArrowheads="1"/>
          </p:cNvSpPr>
          <p:nvPr>
            <p:ph type="body" idx="1"/>
          </p:nvPr>
        </p:nvSpPr>
        <p:spPr/>
        <p:txBody>
          <a:bodyPr/>
          <a:lstStyle/>
          <a:p>
            <a:r>
              <a:rPr lang="en-US" altLang="en-US"/>
              <a:t>Calculate the latest date at which each event may be achieved, each activity started and finished, without delaying the end of the project</a:t>
            </a:r>
          </a:p>
          <a:p>
            <a:r>
              <a:rPr lang="en-US" altLang="en-US"/>
              <a:t>The latest date for an event is the latest date by which all immediately following activities must be started for the project to be completed on time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a:extLst>
              <a:ext uri="{FF2B5EF4-FFF2-40B4-BE49-F238E27FC236}">
                <a16:creationId xmlns:a16="http://schemas.microsoft.com/office/drawing/2014/main" xmlns="" id="{FB24C518-164E-4659-9E89-0F6DD709FE73}"/>
              </a:ext>
            </a:extLst>
          </p:cNvPr>
          <p:cNvSpPr>
            <a:spLocks noGrp="1" noChangeAspect="1" noChangeArrowheads="1"/>
          </p:cNvSpPr>
          <p:nvPr>
            <p:ph type="title"/>
          </p:nvPr>
        </p:nvSpPr>
        <p:spPr>
          <a:xfrm>
            <a:off x="457200" y="762000"/>
            <a:ext cx="8458200" cy="1143000"/>
          </a:xfrm>
        </p:spPr>
        <p:txBody>
          <a:bodyPr>
            <a:normAutofit fontScale="90000"/>
          </a:bodyPr>
          <a:lstStyle/>
          <a:p>
            <a:r>
              <a:rPr lang="en-US" altLang="en-US" dirty="0"/>
              <a:t>Activity-On-Arrow Networks</a:t>
            </a:r>
            <a:br>
              <a:rPr lang="en-US" altLang="en-US" dirty="0"/>
            </a:br>
            <a:r>
              <a:rPr lang="en-US" altLang="en-US" sz="3200" dirty="0"/>
              <a:t>The CPM Network After</a:t>
            </a:r>
            <a:r>
              <a:rPr lang="en-US" altLang="en-US" dirty="0"/>
              <a:t> </a:t>
            </a:r>
            <a:r>
              <a:rPr lang="en-US" altLang="en-US" sz="3200" dirty="0"/>
              <a:t>the Backward Pass</a:t>
            </a:r>
          </a:p>
        </p:txBody>
      </p:sp>
      <p:pic>
        <p:nvPicPr>
          <p:cNvPr id="86021" name="Picture 4" descr="smpfigure 6">
            <a:extLst>
              <a:ext uri="{FF2B5EF4-FFF2-40B4-BE49-F238E27FC236}">
                <a16:creationId xmlns:a16="http://schemas.microsoft.com/office/drawing/2014/main" xmlns="" id="{EC7B4285-A85E-4A56-A392-4F1355C08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7391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xmlns="" id="{98843074-9A71-425F-A5AE-12D35703833C}"/>
              </a:ext>
            </a:extLst>
          </p:cNvPr>
          <p:cNvSpPr>
            <a:spLocks noGrp="1"/>
          </p:cNvSpPr>
          <p:nvPr>
            <p:ph type="sldNum" sz="quarter" idx="12"/>
          </p:nvPr>
        </p:nvSpPr>
        <p:spPr/>
        <p:txBody>
          <a:bodyPr/>
          <a:lstStyle/>
          <a:p>
            <a:fld id="{60D6D740-8150-433F-9426-3FCFF681501A}" type="slidenum">
              <a:rPr lang="en-US" smtClean="0"/>
              <a:pPr/>
              <a:t>54</a:t>
            </a:fld>
            <a:endParaRPr lang="en-US" dirty="0"/>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xmlns="" id="{84FE0B03-FFF7-ECAB-C9C1-60BC7C0D639C}"/>
                  </a:ext>
                </a:extLst>
              </p14:cNvPr>
              <p14:cNvContentPartPr/>
              <p14:nvPr/>
            </p14:nvContentPartPr>
            <p14:xfrm>
              <a:off x="5686051" y="4448968"/>
              <a:ext cx="21240" cy="184320"/>
            </p14:xfrm>
          </p:contentPart>
        </mc:Choice>
        <mc:Fallback xmlns="">
          <p:pic>
            <p:nvPicPr>
              <p:cNvPr id="3" name="Ink 2">
                <a:extLst>
                  <a:ext uri="{FF2B5EF4-FFF2-40B4-BE49-F238E27FC236}">
                    <a16:creationId xmlns:a16="http://schemas.microsoft.com/office/drawing/2014/main" id="{84FE0B03-FFF7-ECAB-C9C1-60BC7C0D639C}"/>
                  </a:ext>
                </a:extLst>
              </p:cNvPr>
              <p:cNvPicPr/>
              <p:nvPr/>
            </p:nvPicPr>
            <p:blipFill>
              <a:blip r:embed="rId5"/>
              <a:stretch>
                <a:fillRect/>
              </a:stretch>
            </p:blipFill>
            <p:spPr>
              <a:xfrm>
                <a:off x="5681731" y="4444648"/>
                <a:ext cx="298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xmlns="" id="{3430E427-BCE9-E727-0767-EEB44C291042}"/>
                  </a:ext>
                </a:extLst>
              </p14:cNvPr>
              <p14:cNvContentPartPr/>
              <p14:nvPr/>
            </p14:nvContentPartPr>
            <p14:xfrm>
              <a:off x="-201029" y="4717168"/>
              <a:ext cx="360" cy="360"/>
            </p14:xfrm>
          </p:contentPart>
        </mc:Choice>
        <mc:Fallback xmlns="">
          <p:pic>
            <p:nvPicPr>
              <p:cNvPr id="4" name="Ink 3">
                <a:extLst>
                  <a:ext uri="{FF2B5EF4-FFF2-40B4-BE49-F238E27FC236}">
                    <a16:creationId xmlns:a16="http://schemas.microsoft.com/office/drawing/2014/main" id="{3430E427-BCE9-E727-0767-EEB44C291042}"/>
                  </a:ext>
                </a:extLst>
              </p:cNvPr>
              <p:cNvPicPr/>
              <p:nvPr/>
            </p:nvPicPr>
            <p:blipFill>
              <a:blip r:embed="rId7"/>
              <a:stretch>
                <a:fillRect/>
              </a:stretch>
            </p:blipFill>
            <p:spPr>
              <a:xfrm>
                <a:off x="-205349" y="4712848"/>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xmlns="" id="{93099367-8E9A-690D-A0D9-65F53E0798F3}"/>
                  </a:ext>
                </a:extLst>
              </p14:cNvPr>
              <p14:cNvContentPartPr/>
              <p14:nvPr/>
            </p14:nvContentPartPr>
            <p14:xfrm>
              <a:off x="1714171" y="4705288"/>
              <a:ext cx="136800" cy="121320"/>
            </p14:xfrm>
          </p:contentPart>
        </mc:Choice>
        <mc:Fallback xmlns="">
          <p:pic>
            <p:nvPicPr>
              <p:cNvPr id="5" name="Ink 4">
                <a:extLst>
                  <a:ext uri="{FF2B5EF4-FFF2-40B4-BE49-F238E27FC236}">
                    <a16:creationId xmlns:a16="http://schemas.microsoft.com/office/drawing/2014/main" id="{93099367-8E9A-690D-A0D9-65F53E0798F3}"/>
                  </a:ext>
                </a:extLst>
              </p:cNvPr>
              <p:cNvPicPr/>
              <p:nvPr/>
            </p:nvPicPr>
            <p:blipFill>
              <a:blip r:embed="rId9"/>
              <a:stretch>
                <a:fillRect/>
              </a:stretch>
            </p:blipFill>
            <p:spPr>
              <a:xfrm>
                <a:off x="1709851" y="4700968"/>
                <a:ext cx="145440" cy="129960"/>
              </a:xfrm>
              <a:prstGeom prst="rect">
                <a:avLst/>
              </a:prstGeom>
            </p:spPr>
          </p:pic>
        </mc:Fallback>
      </mc:AlternateContent>
      <p:grpSp>
        <p:nvGrpSpPr>
          <p:cNvPr id="8" name="Group 7">
            <a:extLst>
              <a:ext uri="{FF2B5EF4-FFF2-40B4-BE49-F238E27FC236}">
                <a16:creationId xmlns:a16="http://schemas.microsoft.com/office/drawing/2014/main" xmlns="" id="{AB5572D6-697A-4115-6775-9E27679B49B2}"/>
              </a:ext>
            </a:extLst>
          </p:cNvPr>
          <p:cNvGrpSpPr/>
          <p:nvPr/>
        </p:nvGrpSpPr>
        <p:grpSpPr>
          <a:xfrm>
            <a:off x="3623971" y="2988808"/>
            <a:ext cx="132840" cy="133200"/>
            <a:chOff x="3623971" y="2988808"/>
            <a:chExt cx="132840" cy="13320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xmlns="" id="{66C11864-3170-2672-8CF2-4BCA00C5E3E1}"/>
                    </a:ext>
                  </a:extLst>
                </p14:cNvPr>
                <p14:cNvContentPartPr/>
                <p14:nvPr/>
              </p14:nvContentPartPr>
              <p14:xfrm>
                <a:off x="3635851" y="2988808"/>
                <a:ext cx="120960" cy="133200"/>
              </p14:xfrm>
            </p:contentPart>
          </mc:Choice>
          <mc:Fallback xmlns="">
            <p:pic>
              <p:nvPicPr>
                <p:cNvPr id="6" name="Ink 5">
                  <a:extLst>
                    <a:ext uri="{FF2B5EF4-FFF2-40B4-BE49-F238E27FC236}">
                      <a16:creationId xmlns:a16="http://schemas.microsoft.com/office/drawing/2014/main" id="{66C11864-3170-2672-8CF2-4BCA00C5E3E1}"/>
                    </a:ext>
                  </a:extLst>
                </p:cNvPr>
                <p:cNvPicPr/>
                <p:nvPr/>
              </p:nvPicPr>
              <p:blipFill>
                <a:blip r:embed="rId11"/>
                <a:stretch>
                  <a:fillRect/>
                </a:stretch>
              </p:blipFill>
              <p:spPr>
                <a:xfrm>
                  <a:off x="3631531" y="2984488"/>
                  <a:ext cx="1296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xmlns="" id="{983BA86E-A9FA-0B7E-E50C-68BA466DD0C6}"/>
                    </a:ext>
                  </a:extLst>
                </p14:cNvPr>
                <p14:cNvContentPartPr/>
                <p14:nvPr/>
              </p14:nvContentPartPr>
              <p14:xfrm>
                <a:off x="3623971" y="3011848"/>
                <a:ext cx="30600" cy="10080"/>
              </p14:xfrm>
            </p:contentPart>
          </mc:Choice>
          <mc:Fallback xmlns="">
            <p:pic>
              <p:nvPicPr>
                <p:cNvPr id="7" name="Ink 6">
                  <a:extLst>
                    <a:ext uri="{FF2B5EF4-FFF2-40B4-BE49-F238E27FC236}">
                      <a16:creationId xmlns:a16="http://schemas.microsoft.com/office/drawing/2014/main" id="{983BA86E-A9FA-0B7E-E50C-68BA466DD0C6}"/>
                    </a:ext>
                  </a:extLst>
                </p:cNvPr>
                <p:cNvPicPr/>
                <p:nvPr/>
              </p:nvPicPr>
              <p:blipFill>
                <a:blip r:embed="rId13"/>
                <a:stretch>
                  <a:fillRect/>
                </a:stretch>
              </p:blipFill>
              <p:spPr>
                <a:xfrm>
                  <a:off x="3619651" y="3007528"/>
                  <a:ext cx="39240" cy="18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xmlns="" id="{0E491D5F-3F90-CF54-13F0-E28F36DFF0A1}"/>
                  </a:ext>
                </a:extLst>
              </p14:cNvPr>
              <p14:cNvContentPartPr/>
              <p14:nvPr/>
            </p14:nvContentPartPr>
            <p14:xfrm>
              <a:off x="3607411" y="4637968"/>
              <a:ext cx="207360" cy="214560"/>
            </p14:xfrm>
          </p:contentPart>
        </mc:Choice>
        <mc:Fallback xmlns="">
          <p:pic>
            <p:nvPicPr>
              <p:cNvPr id="9" name="Ink 8">
                <a:extLst>
                  <a:ext uri="{FF2B5EF4-FFF2-40B4-BE49-F238E27FC236}">
                    <a16:creationId xmlns:a16="http://schemas.microsoft.com/office/drawing/2014/main" id="{0E491D5F-3F90-CF54-13F0-E28F36DFF0A1}"/>
                  </a:ext>
                </a:extLst>
              </p:cNvPr>
              <p:cNvPicPr/>
              <p:nvPr/>
            </p:nvPicPr>
            <p:blipFill>
              <a:blip r:embed="rId15"/>
              <a:stretch>
                <a:fillRect/>
              </a:stretch>
            </p:blipFill>
            <p:spPr>
              <a:xfrm>
                <a:off x="3603091" y="4633648"/>
                <a:ext cx="2160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xmlns="" id="{82767DA6-E811-5313-10A2-2B019133B1D0}"/>
                  </a:ext>
                </a:extLst>
              </p14:cNvPr>
              <p14:cNvContentPartPr/>
              <p14:nvPr/>
            </p14:nvContentPartPr>
            <p14:xfrm>
              <a:off x="5481931" y="4621408"/>
              <a:ext cx="115200" cy="136800"/>
            </p14:xfrm>
          </p:contentPart>
        </mc:Choice>
        <mc:Fallback xmlns="">
          <p:pic>
            <p:nvPicPr>
              <p:cNvPr id="10" name="Ink 9">
                <a:extLst>
                  <a:ext uri="{FF2B5EF4-FFF2-40B4-BE49-F238E27FC236}">
                    <a16:creationId xmlns:a16="http://schemas.microsoft.com/office/drawing/2014/main" id="{82767DA6-E811-5313-10A2-2B019133B1D0}"/>
                  </a:ext>
                </a:extLst>
              </p:cNvPr>
              <p:cNvPicPr/>
              <p:nvPr/>
            </p:nvPicPr>
            <p:blipFill>
              <a:blip r:embed="rId17"/>
              <a:stretch>
                <a:fillRect/>
              </a:stretch>
            </p:blipFill>
            <p:spPr>
              <a:xfrm>
                <a:off x="5477611" y="4617088"/>
                <a:ext cx="123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xmlns="" id="{6EC7A26E-DC3A-02BB-48D6-09D062BD5362}"/>
                  </a:ext>
                </a:extLst>
              </p14:cNvPr>
              <p14:cNvContentPartPr/>
              <p14:nvPr/>
            </p14:nvContentPartPr>
            <p14:xfrm>
              <a:off x="7423771" y="4696648"/>
              <a:ext cx="151560" cy="99360"/>
            </p14:xfrm>
          </p:contentPart>
        </mc:Choice>
        <mc:Fallback xmlns="">
          <p:pic>
            <p:nvPicPr>
              <p:cNvPr id="11" name="Ink 10">
                <a:extLst>
                  <a:ext uri="{FF2B5EF4-FFF2-40B4-BE49-F238E27FC236}">
                    <a16:creationId xmlns:a16="http://schemas.microsoft.com/office/drawing/2014/main" id="{6EC7A26E-DC3A-02BB-48D6-09D062BD5362}"/>
                  </a:ext>
                </a:extLst>
              </p:cNvPr>
              <p:cNvPicPr/>
              <p:nvPr/>
            </p:nvPicPr>
            <p:blipFill>
              <a:blip r:embed="rId19"/>
              <a:stretch>
                <a:fillRect/>
              </a:stretch>
            </p:blipFill>
            <p:spPr>
              <a:xfrm>
                <a:off x="7419451" y="4692328"/>
                <a:ext cx="1602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xmlns="" id="{E4AEEB5E-30E8-17D9-7CEE-A3BAA25B3D94}"/>
                  </a:ext>
                </a:extLst>
              </p14:cNvPr>
              <p14:cNvContentPartPr/>
              <p14:nvPr/>
            </p14:nvContentPartPr>
            <p14:xfrm>
              <a:off x="5611891" y="6210808"/>
              <a:ext cx="123120" cy="95400"/>
            </p14:xfrm>
          </p:contentPart>
        </mc:Choice>
        <mc:Fallback xmlns="">
          <p:pic>
            <p:nvPicPr>
              <p:cNvPr id="12" name="Ink 11">
                <a:extLst>
                  <a:ext uri="{FF2B5EF4-FFF2-40B4-BE49-F238E27FC236}">
                    <a16:creationId xmlns:a16="http://schemas.microsoft.com/office/drawing/2014/main" id="{E4AEEB5E-30E8-17D9-7CEE-A3BAA25B3D94}"/>
                  </a:ext>
                </a:extLst>
              </p:cNvPr>
              <p:cNvPicPr/>
              <p:nvPr/>
            </p:nvPicPr>
            <p:blipFill>
              <a:blip r:embed="rId21"/>
              <a:stretch>
                <a:fillRect/>
              </a:stretch>
            </p:blipFill>
            <p:spPr>
              <a:xfrm>
                <a:off x="5607571" y="6206488"/>
                <a:ext cx="131760" cy="104040"/>
              </a:xfrm>
              <a:prstGeom prst="rect">
                <a:avLst/>
              </a:prstGeom>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a:extLst>
              <a:ext uri="{FF2B5EF4-FFF2-40B4-BE49-F238E27FC236}">
                <a16:creationId xmlns:a16="http://schemas.microsoft.com/office/drawing/2014/main" xmlns="" id="{221331FE-E519-4D7F-B2DE-37C3294EBB22}"/>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3399"/>
                </a:solidFill>
                <a:latin typeface="Trebuchet MS" panose="020B0603020202020204" pitchFamily="34" charset="0"/>
                <a:cs typeface="Tahoma" panose="020B0604030504040204" pitchFamily="34" charset="0"/>
              </a:defRPr>
            </a:lvl1pPr>
            <a:lvl2pPr marL="742950" indent="-285750">
              <a:spcBef>
                <a:spcPct val="20000"/>
              </a:spcBef>
              <a:buChar char="–"/>
              <a:defRPr sz="2800">
                <a:solidFill>
                  <a:srgbClr val="003399"/>
                </a:solidFill>
                <a:latin typeface="Trebuchet MS" panose="020B0603020202020204" pitchFamily="34" charset="0"/>
                <a:cs typeface="Tahoma" panose="020B0604030504040204" pitchFamily="34" charset="0"/>
              </a:defRPr>
            </a:lvl2pPr>
            <a:lvl3pPr marL="1143000" indent="-228600">
              <a:spcBef>
                <a:spcPct val="20000"/>
              </a:spcBef>
              <a:buChar char="•"/>
              <a:defRPr sz="2400">
                <a:solidFill>
                  <a:srgbClr val="003399"/>
                </a:solidFill>
                <a:latin typeface="Trebuchet MS" panose="020B0603020202020204" pitchFamily="34" charset="0"/>
                <a:cs typeface="Tahoma" panose="020B0604030504040204" pitchFamily="34" charset="0"/>
              </a:defRPr>
            </a:lvl3pPr>
            <a:lvl4pPr marL="1600200" indent="-228600">
              <a:spcBef>
                <a:spcPct val="20000"/>
              </a:spcBef>
              <a:buChar char="–"/>
              <a:defRPr sz="2000">
                <a:solidFill>
                  <a:srgbClr val="003399"/>
                </a:solidFill>
                <a:latin typeface="Trebuchet MS" panose="020B0603020202020204" pitchFamily="34" charset="0"/>
                <a:cs typeface="Tahoma" panose="020B0604030504040204" pitchFamily="34" charset="0"/>
              </a:defRPr>
            </a:lvl4pPr>
            <a:lvl5pPr marL="2057400" indent="-228600">
              <a:spcBef>
                <a:spcPct val="20000"/>
              </a:spcBef>
              <a:buChar char="»"/>
              <a:defRPr sz="2000">
                <a:solidFill>
                  <a:srgbClr val="003399"/>
                </a:solidFill>
                <a:latin typeface="Trebuchet MS" panose="020B0603020202020204" pitchFamily="34" charset="0"/>
                <a:cs typeface="Tahoma" panose="020B0604030504040204" pitchFamily="34" charset="0"/>
              </a:defRPr>
            </a:lvl5pPr>
            <a:lvl6pPr marL="25146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6pPr>
            <a:lvl7pPr marL="29718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7pPr>
            <a:lvl8pPr marL="34290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8pPr>
            <a:lvl9pPr marL="3886200" indent="-228600" eaLnBrk="0" fontAlgn="base" hangingPunct="0">
              <a:spcBef>
                <a:spcPct val="20000"/>
              </a:spcBef>
              <a:spcAft>
                <a:spcPct val="0"/>
              </a:spcAft>
              <a:buChar char="»"/>
              <a:defRPr sz="2000">
                <a:solidFill>
                  <a:srgbClr val="003399"/>
                </a:solidFill>
                <a:latin typeface="Trebuchet MS" panose="020B0603020202020204" pitchFamily="34" charset="0"/>
                <a:cs typeface="Tahoma" panose="020B0604030504040204" pitchFamily="34" charset="0"/>
              </a:defRPr>
            </a:lvl9pPr>
          </a:lstStyle>
          <a:p>
            <a:pPr>
              <a:spcBef>
                <a:spcPct val="0"/>
              </a:spcBef>
              <a:buFontTx/>
              <a:buNone/>
            </a:pPr>
            <a:r>
              <a:rPr lang="en-US" altLang="en-US" sz="1400">
                <a:solidFill>
                  <a:schemeClr val="bg1"/>
                </a:solidFill>
              </a:rPr>
              <a:t>Chapter 6-</a:t>
            </a:r>
            <a:fld id="{091133D3-E613-4114-85F7-E91349C4E81F}" type="slidenum">
              <a:rPr lang="en-US" altLang="en-US" sz="1400">
                <a:solidFill>
                  <a:schemeClr val="bg1"/>
                </a:solidFill>
              </a:rPr>
              <a:pPr>
                <a:spcBef>
                  <a:spcPct val="0"/>
                </a:spcBef>
                <a:buFontTx/>
                <a:buNone/>
              </a:pPr>
              <a:t>55</a:t>
            </a:fld>
            <a:endParaRPr lang="en-US" altLang="en-US" sz="1400">
              <a:solidFill>
                <a:schemeClr val="bg1"/>
              </a:solidFill>
            </a:endParaRPr>
          </a:p>
        </p:txBody>
      </p:sp>
      <p:sp>
        <p:nvSpPr>
          <p:cNvPr id="87043" name="Rectangle 2">
            <a:extLst>
              <a:ext uri="{FF2B5EF4-FFF2-40B4-BE49-F238E27FC236}">
                <a16:creationId xmlns:a16="http://schemas.microsoft.com/office/drawing/2014/main" xmlns="" id="{FEA831EE-F41A-4AC4-8B7D-E65E964DA818}"/>
              </a:ext>
            </a:extLst>
          </p:cNvPr>
          <p:cNvSpPr>
            <a:spLocks noGrp="1" noChangeAspect="1" noChangeArrowheads="1"/>
          </p:cNvSpPr>
          <p:nvPr>
            <p:ph type="title"/>
          </p:nvPr>
        </p:nvSpPr>
        <p:spPr>
          <a:xfrm>
            <a:off x="457200" y="152400"/>
            <a:ext cx="8686800" cy="1143000"/>
          </a:xfrm>
        </p:spPr>
        <p:txBody>
          <a:bodyPr/>
          <a:lstStyle/>
          <a:p>
            <a:r>
              <a:rPr lang="en-US" altLang="en-US" dirty="0"/>
              <a:t>Activity-On-Arrow Networks</a:t>
            </a:r>
            <a:br>
              <a:rPr lang="en-US" altLang="en-US" dirty="0"/>
            </a:br>
            <a:r>
              <a:rPr lang="en-US" altLang="en-US" sz="3200" dirty="0"/>
              <a:t>The Activity Table After the Backward Pass </a:t>
            </a:r>
          </a:p>
        </p:txBody>
      </p:sp>
      <p:graphicFrame>
        <p:nvGraphicFramePr>
          <p:cNvPr id="334851" name="Group 3">
            <a:extLst>
              <a:ext uri="{FF2B5EF4-FFF2-40B4-BE49-F238E27FC236}">
                <a16:creationId xmlns:a16="http://schemas.microsoft.com/office/drawing/2014/main" xmlns="" id="{8B79D901-2DDB-4686-AA9E-6CD7365E7872}"/>
              </a:ext>
            </a:extLst>
          </p:cNvPr>
          <p:cNvGraphicFramePr>
            <a:graphicFrameLocks noGrp="1"/>
          </p:cNvGraphicFramePr>
          <p:nvPr>
            <p:ph idx="1"/>
          </p:nvPr>
        </p:nvGraphicFramePr>
        <p:xfrm>
          <a:off x="609600" y="1600200"/>
          <a:ext cx="7924800" cy="4192588"/>
        </p:xfrm>
        <a:graphic>
          <a:graphicData uri="http://schemas.openxmlformats.org/drawingml/2006/table">
            <a:tbl>
              <a:tblPr/>
              <a:tblGrid>
                <a:gridCol w="914400">
                  <a:extLst>
                    <a:ext uri="{9D8B030D-6E8A-4147-A177-3AD203B41FA5}">
                      <a16:colId xmlns:a16="http://schemas.microsoft.com/office/drawing/2014/main" xmlns="" val="20000"/>
                    </a:ext>
                  </a:extLst>
                </a:gridCol>
                <a:gridCol w="1066800">
                  <a:extLst>
                    <a:ext uri="{9D8B030D-6E8A-4147-A177-3AD203B41FA5}">
                      <a16:colId xmlns:a16="http://schemas.microsoft.com/office/drawing/2014/main" xmlns="" val="20001"/>
                    </a:ext>
                  </a:extLst>
                </a:gridCol>
                <a:gridCol w="1219200">
                  <a:extLst>
                    <a:ext uri="{9D8B030D-6E8A-4147-A177-3AD203B41FA5}">
                      <a16:colId xmlns:a16="http://schemas.microsoft.com/office/drawing/2014/main" xmlns="" val="20002"/>
                    </a:ext>
                  </a:extLst>
                </a:gridCol>
                <a:gridCol w="1219200">
                  <a:extLst>
                    <a:ext uri="{9D8B030D-6E8A-4147-A177-3AD203B41FA5}">
                      <a16:colId xmlns:a16="http://schemas.microsoft.com/office/drawing/2014/main" xmlns="" val="20003"/>
                    </a:ext>
                  </a:extLst>
                </a:gridCol>
                <a:gridCol w="1219200">
                  <a:extLst>
                    <a:ext uri="{9D8B030D-6E8A-4147-A177-3AD203B41FA5}">
                      <a16:colId xmlns:a16="http://schemas.microsoft.com/office/drawing/2014/main" xmlns="" val="20004"/>
                    </a:ext>
                  </a:extLst>
                </a:gridCol>
                <a:gridCol w="1219200">
                  <a:extLst>
                    <a:ext uri="{9D8B030D-6E8A-4147-A177-3AD203B41FA5}">
                      <a16:colId xmlns:a16="http://schemas.microsoft.com/office/drawing/2014/main" xmlns="" val="20005"/>
                    </a:ext>
                  </a:extLst>
                </a:gridCol>
                <a:gridCol w="1066800">
                  <a:extLst>
                    <a:ext uri="{9D8B030D-6E8A-4147-A177-3AD203B41FA5}">
                      <a16:colId xmlns:a16="http://schemas.microsoft.com/office/drawing/2014/main" xmlns="" val="20006"/>
                    </a:ext>
                  </a:extLst>
                </a:gridCol>
              </a:tblGrid>
              <a:tr h="57916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Activity</a:t>
                      </a:r>
                    </a:p>
                  </a:txBody>
                  <a:tcPr marT="45723" marB="45723"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dirty="0">
                          <a:ln>
                            <a:noFill/>
                          </a:ln>
                          <a:solidFill>
                            <a:srgbClr val="003399"/>
                          </a:solidFill>
                          <a:effectLst/>
                          <a:latin typeface="Trebuchet MS" pitchFamily="34" charset="0"/>
                          <a:cs typeface="Tahoma" pitchFamily="34" charset="0"/>
                        </a:rPr>
                        <a:t>Duration (week)</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Earliest start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Latest start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Earliest finish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Latest finish date</a:t>
                      </a:r>
                    </a:p>
                  </a:txBody>
                  <a:tcPr marT="45723" marB="45723"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1" u="none" strike="noStrike" cap="none" normalizeH="0" baseline="0">
                          <a:ln>
                            <a:noFill/>
                          </a:ln>
                          <a:solidFill>
                            <a:srgbClr val="003399"/>
                          </a:solidFill>
                          <a:effectLst/>
                          <a:latin typeface="Trebuchet MS" pitchFamily="34" charset="0"/>
                          <a:cs typeface="Tahoma" pitchFamily="34" charset="0"/>
                        </a:rPr>
                        <a:t>Total float</a:t>
                      </a:r>
                    </a:p>
                  </a:txBody>
                  <a:tcPr marT="45723" marB="45723"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A</a:t>
                      </a:r>
                    </a:p>
                  </a:txBody>
                  <a:tcPr marT="45723" marB="45723"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2</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8</a:t>
                      </a:r>
                    </a:p>
                  </a:txBody>
                  <a:tcPr marT="45723" marB="4572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xmlns="" val="10001"/>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B</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2"/>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C</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9</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3"/>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a:ln>
                            <a:noFill/>
                          </a:ln>
                          <a:solidFill>
                            <a:srgbClr val="003399"/>
                          </a:solidFill>
                          <a:effectLst/>
                          <a:latin typeface="Trebuchet MS" pitchFamily="34" charset="0"/>
                          <a:cs typeface="Tahoma" pitchFamily="34" charset="0"/>
                        </a:rPr>
                        <a:t>D</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4"/>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E</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5"/>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F</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6"/>
                  </a:ext>
                </a:extLst>
              </a:tr>
              <a:tr h="45247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G</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xmlns="" val="10007"/>
                  </a:ext>
                </a:extLst>
              </a:tr>
              <a:tr h="4508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H</a:t>
                      </a:r>
                    </a:p>
                  </a:txBody>
                  <a:tcPr marT="45723" marB="45723"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2</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9</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11</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11</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a:ln>
                            <a:noFill/>
                          </a:ln>
                          <a:solidFill>
                            <a:srgbClr val="003399"/>
                          </a:solidFill>
                          <a:effectLst/>
                          <a:latin typeface="Trebuchet MS" pitchFamily="34" charset="0"/>
                          <a:cs typeface="Tahoma" pitchFamily="34" charset="0"/>
                        </a:rPr>
                        <a:t>13</a:t>
                      </a:r>
                    </a:p>
                  </a:txBody>
                  <a:tcPr marT="45723" marB="45723"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dirty="0">
                        <a:ln>
                          <a:noFill/>
                        </a:ln>
                        <a:solidFill>
                          <a:srgbClr val="003399"/>
                        </a:solidFill>
                        <a:effectLst/>
                        <a:latin typeface="Trebuchet MS" pitchFamily="34" charset="0"/>
                        <a:cs typeface="Tahoma" pitchFamily="34" charset="0"/>
                      </a:endParaRPr>
                    </a:p>
                  </a:txBody>
                  <a:tcPr marT="45723" marB="45723"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a:extLst>
              <a:ext uri="{FF2B5EF4-FFF2-40B4-BE49-F238E27FC236}">
                <a16:creationId xmlns:a16="http://schemas.microsoft.com/office/drawing/2014/main" xmlns="" id="{81A40316-CA99-40F4-A89E-1CEC02F14847}"/>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56</a:t>
            </a:fld>
            <a:endParaRPr lang="en-US" altLang="en-US" sz="1400">
              <a:solidFill>
                <a:schemeClr val="bg1"/>
              </a:solidFill>
            </a:endParaRPr>
          </a:p>
        </p:txBody>
      </p:sp>
      <p:sp>
        <p:nvSpPr>
          <p:cNvPr id="88067" name="Rectangle 2">
            <a:extLst>
              <a:ext uri="{FF2B5EF4-FFF2-40B4-BE49-F238E27FC236}">
                <a16:creationId xmlns:a16="http://schemas.microsoft.com/office/drawing/2014/main" xmlns="" id="{56E574D8-306C-48ED-8C5B-536B83C4101B}"/>
              </a:ext>
            </a:extLst>
          </p:cNvPr>
          <p:cNvSpPr>
            <a:spLocks noGrp="1" noChangeAspect="1" noChangeArrowheads="1"/>
          </p:cNvSpPr>
          <p:nvPr>
            <p:ph type="title"/>
          </p:nvPr>
        </p:nvSpPr>
        <p:spPr/>
        <p:txBody>
          <a:bodyPr>
            <a:normAutofit fontScale="90000"/>
          </a:bodyPr>
          <a:lstStyle/>
          <a:p>
            <a:r>
              <a:rPr lang="en-US" altLang="en-US" dirty="0"/>
              <a:t>Activity-On-Arrow Networks</a:t>
            </a:r>
            <a:br>
              <a:rPr lang="en-US" altLang="en-US" dirty="0"/>
            </a:br>
            <a:r>
              <a:rPr lang="en-US" altLang="en-US" sz="3200" dirty="0"/>
              <a:t>Identifying</a:t>
            </a:r>
            <a:r>
              <a:rPr lang="en-US" altLang="en-US" dirty="0"/>
              <a:t> </a:t>
            </a:r>
            <a:r>
              <a:rPr lang="en-US" altLang="en-US" sz="3200" dirty="0"/>
              <a:t>The Critical Path </a:t>
            </a:r>
          </a:p>
        </p:txBody>
      </p:sp>
      <p:sp>
        <p:nvSpPr>
          <p:cNvPr id="88068" name="Rectangle 3">
            <a:extLst>
              <a:ext uri="{FF2B5EF4-FFF2-40B4-BE49-F238E27FC236}">
                <a16:creationId xmlns:a16="http://schemas.microsoft.com/office/drawing/2014/main" xmlns="" id="{08AB2C9F-C7AF-4E50-AB73-558DE441A3D7}"/>
              </a:ext>
            </a:extLst>
          </p:cNvPr>
          <p:cNvSpPr>
            <a:spLocks noGrp="1" noChangeArrowheads="1"/>
          </p:cNvSpPr>
          <p:nvPr>
            <p:ph type="body" idx="1"/>
          </p:nvPr>
        </p:nvSpPr>
        <p:spPr/>
        <p:txBody>
          <a:bodyPr/>
          <a:lstStyle/>
          <a:p>
            <a:pPr>
              <a:lnSpc>
                <a:spcPct val="90000"/>
              </a:lnSpc>
            </a:pPr>
            <a:r>
              <a:rPr lang="en-US" altLang="en-US"/>
              <a:t>The critical path is identified in a way similar to that used in activity-on-node networks</a:t>
            </a:r>
          </a:p>
          <a:p>
            <a:pPr>
              <a:lnSpc>
                <a:spcPct val="90000"/>
              </a:lnSpc>
            </a:pPr>
            <a:r>
              <a:rPr lang="en-US" altLang="en-US"/>
              <a:t>A different concept is used: </a:t>
            </a:r>
            <a:r>
              <a:rPr lang="en-US" altLang="en-US" i="1"/>
              <a:t>slack</a:t>
            </a:r>
          </a:p>
          <a:p>
            <a:pPr>
              <a:lnSpc>
                <a:spcPct val="90000"/>
              </a:lnSpc>
            </a:pPr>
            <a:r>
              <a:rPr lang="en-US" altLang="en-US"/>
              <a:t>A </a:t>
            </a:r>
            <a:r>
              <a:rPr lang="en-US" altLang="en-US" i="1"/>
              <a:t>slack</a:t>
            </a:r>
            <a:r>
              <a:rPr lang="en-US" altLang="en-US"/>
              <a:t> is the difference between the earliest date and the latest date for an event</a:t>
            </a:r>
          </a:p>
          <a:p>
            <a:pPr lvl="1">
              <a:lnSpc>
                <a:spcPct val="90000"/>
              </a:lnSpc>
            </a:pPr>
            <a:r>
              <a:rPr lang="en-US" altLang="en-US"/>
              <a:t>It is a measure of how late an event may be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5">
            <a:extLst>
              <a:ext uri="{FF2B5EF4-FFF2-40B4-BE49-F238E27FC236}">
                <a16:creationId xmlns:a16="http://schemas.microsoft.com/office/drawing/2014/main" xmlns="" id="{3A02F7A6-DF7D-41D0-92B1-C60649FF6421}"/>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57</a:t>
            </a:fld>
            <a:endParaRPr lang="en-US" altLang="en-US" sz="1400">
              <a:solidFill>
                <a:schemeClr val="bg1"/>
              </a:solidFill>
            </a:endParaRPr>
          </a:p>
        </p:txBody>
      </p:sp>
      <p:sp>
        <p:nvSpPr>
          <p:cNvPr id="89091" name="Rectangle 2">
            <a:extLst>
              <a:ext uri="{FF2B5EF4-FFF2-40B4-BE49-F238E27FC236}">
                <a16:creationId xmlns:a16="http://schemas.microsoft.com/office/drawing/2014/main" xmlns="" id="{F840CC65-2FEC-49E2-9497-1DA2854AE600}"/>
              </a:ext>
            </a:extLst>
          </p:cNvPr>
          <p:cNvSpPr>
            <a:spLocks noGrp="1" noChangeAspect="1" noChangeArrowheads="1"/>
          </p:cNvSpPr>
          <p:nvPr>
            <p:ph type="title"/>
          </p:nvPr>
        </p:nvSpPr>
        <p:spPr/>
        <p:txBody>
          <a:bodyPr>
            <a:normAutofit fontScale="90000"/>
          </a:bodyPr>
          <a:lstStyle/>
          <a:p>
            <a:r>
              <a:rPr lang="en-US" altLang="en-US" dirty="0"/>
              <a:t>Activity-On-Arrow Networks</a:t>
            </a:r>
            <a:br>
              <a:rPr lang="en-US" altLang="en-US" dirty="0"/>
            </a:br>
            <a:r>
              <a:rPr lang="en-US" altLang="en-US" sz="3200" dirty="0"/>
              <a:t>The Critical Path </a:t>
            </a:r>
          </a:p>
        </p:txBody>
      </p:sp>
      <p:sp>
        <p:nvSpPr>
          <p:cNvPr id="89092" name="Rectangle 3">
            <a:extLst>
              <a:ext uri="{FF2B5EF4-FFF2-40B4-BE49-F238E27FC236}">
                <a16:creationId xmlns:a16="http://schemas.microsoft.com/office/drawing/2014/main" xmlns="" id="{4B49A2A8-BD23-4C02-B0B6-5BF8DCA45353}"/>
              </a:ext>
            </a:extLst>
          </p:cNvPr>
          <p:cNvSpPr>
            <a:spLocks noGrp="1" noChangeArrowheads="1"/>
          </p:cNvSpPr>
          <p:nvPr>
            <p:ph type="body" idx="1"/>
          </p:nvPr>
        </p:nvSpPr>
        <p:spPr/>
        <p:txBody>
          <a:bodyPr/>
          <a:lstStyle/>
          <a:p>
            <a:r>
              <a:rPr lang="en-US" altLang="en-US"/>
              <a:t>The critical path is the path joining all nodes with a zero slack</a:t>
            </a:r>
          </a:p>
        </p:txBody>
      </p:sp>
      <p:grpSp>
        <p:nvGrpSpPr>
          <p:cNvPr id="89093" name="Group 8">
            <a:extLst>
              <a:ext uri="{FF2B5EF4-FFF2-40B4-BE49-F238E27FC236}">
                <a16:creationId xmlns:a16="http://schemas.microsoft.com/office/drawing/2014/main" xmlns="" id="{8EB3C44E-6622-487A-B53E-EE3D3057E7AF}"/>
              </a:ext>
            </a:extLst>
          </p:cNvPr>
          <p:cNvGrpSpPr>
            <a:grpSpLocks/>
          </p:cNvGrpSpPr>
          <p:nvPr/>
        </p:nvGrpSpPr>
        <p:grpSpPr bwMode="auto">
          <a:xfrm>
            <a:off x="914400" y="2743200"/>
            <a:ext cx="6629400" cy="3352800"/>
            <a:chOff x="576" y="1728"/>
            <a:chExt cx="4176" cy="2112"/>
          </a:xfrm>
        </p:grpSpPr>
        <p:pic>
          <p:nvPicPr>
            <p:cNvPr id="89095" name="Picture 4" descr="smpfigure 6">
              <a:extLst>
                <a:ext uri="{FF2B5EF4-FFF2-40B4-BE49-F238E27FC236}">
                  <a16:creationId xmlns:a16="http://schemas.microsoft.com/office/drawing/2014/main" xmlns="" id="{D4293D5A-154F-4644-85F7-5B8CFB91E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1728"/>
              <a:ext cx="4176"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6" name="Line 5">
              <a:extLst>
                <a:ext uri="{FF2B5EF4-FFF2-40B4-BE49-F238E27FC236}">
                  <a16:creationId xmlns:a16="http://schemas.microsoft.com/office/drawing/2014/main" xmlns="" id="{48864BA6-C570-4454-B1C7-DAF6D9287AAD}"/>
                </a:ext>
              </a:extLst>
            </p:cNvPr>
            <p:cNvSpPr>
              <a:spLocks noChangeShapeType="1"/>
            </p:cNvSpPr>
            <p:nvPr/>
          </p:nvSpPr>
          <p:spPr bwMode="auto">
            <a:xfrm>
              <a:off x="1152" y="2880"/>
              <a:ext cx="864" cy="672"/>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9097" name="Line 6">
              <a:extLst>
                <a:ext uri="{FF2B5EF4-FFF2-40B4-BE49-F238E27FC236}">
                  <a16:creationId xmlns:a16="http://schemas.microsoft.com/office/drawing/2014/main" xmlns="" id="{7249F22E-78D8-4330-99C2-0B731D23BBD4}"/>
                </a:ext>
              </a:extLst>
            </p:cNvPr>
            <p:cNvSpPr>
              <a:spLocks noChangeShapeType="1"/>
            </p:cNvSpPr>
            <p:nvPr/>
          </p:nvSpPr>
          <p:spPr bwMode="auto">
            <a:xfrm flipV="1">
              <a:off x="2016" y="3552"/>
              <a:ext cx="91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89098" name="Line 7">
              <a:extLst>
                <a:ext uri="{FF2B5EF4-FFF2-40B4-BE49-F238E27FC236}">
                  <a16:creationId xmlns:a16="http://schemas.microsoft.com/office/drawing/2014/main" xmlns="" id="{CD745B02-93BB-4D54-8275-B2E63812C2F9}"/>
                </a:ext>
              </a:extLst>
            </p:cNvPr>
            <p:cNvSpPr>
              <a:spLocks noChangeShapeType="1"/>
            </p:cNvSpPr>
            <p:nvPr/>
          </p:nvSpPr>
          <p:spPr bwMode="auto">
            <a:xfrm flipV="1">
              <a:off x="3408" y="2928"/>
              <a:ext cx="672" cy="52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en-US"/>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xmlns="" id="{38ACE5CE-F668-4F5A-8304-FB33D81986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65C2260C-ED8E-4536-9F65-D0E0DEA87567}" type="slidenum">
              <a:rPr lang="en-US" altLang="en-US" sz="1200"/>
              <a:pPr eaLnBrk="1" hangingPunct="1"/>
              <a:t>58</a:t>
            </a:fld>
            <a:endParaRPr lang="en-US" altLang="en-US" sz="1200"/>
          </a:p>
        </p:txBody>
      </p:sp>
      <p:sp>
        <p:nvSpPr>
          <p:cNvPr id="40963" name="Rectangle 2">
            <a:extLst>
              <a:ext uri="{FF2B5EF4-FFF2-40B4-BE49-F238E27FC236}">
                <a16:creationId xmlns:a16="http://schemas.microsoft.com/office/drawing/2014/main" xmlns="" id="{DBFCF9C1-610F-4431-ADD2-B5364207103C}"/>
              </a:ext>
            </a:extLst>
          </p:cNvPr>
          <p:cNvSpPr>
            <a:spLocks noGrp="1" noChangeArrowheads="1"/>
          </p:cNvSpPr>
          <p:nvPr>
            <p:ph type="title"/>
          </p:nvPr>
        </p:nvSpPr>
        <p:spPr/>
        <p:txBody>
          <a:bodyPr/>
          <a:lstStyle/>
          <a:p>
            <a:pPr eaLnBrk="1" hangingPunct="1"/>
            <a:r>
              <a:rPr lang="en-US" altLang="en-US"/>
              <a:t>Network Diagrams</a:t>
            </a:r>
          </a:p>
        </p:txBody>
      </p:sp>
      <p:sp>
        <p:nvSpPr>
          <p:cNvPr id="40964" name="Rectangle 3">
            <a:extLst>
              <a:ext uri="{FF2B5EF4-FFF2-40B4-BE49-F238E27FC236}">
                <a16:creationId xmlns:a16="http://schemas.microsoft.com/office/drawing/2014/main" xmlns="" id="{F5E04065-B071-48F1-BB2F-E8E0A488B95F}"/>
              </a:ext>
            </a:extLst>
          </p:cNvPr>
          <p:cNvSpPr>
            <a:spLocks noGrp="1" noChangeArrowheads="1"/>
          </p:cNvSpPr>
          <p:nvPr>
            <p:ph type="body" idx="1"/>
          </p:nvPr>
        </p:nvSpPr>
        <p:spPr/>
        <p:txBody>
          <a:bodyPr/>
          <a:lstStyle/>
          <a:p>
            <a:pPr eaLnBrk="1" hangingPunct="1">
              <a:lnSpc>
                <a:spcPct val="90000"/>
              </a:lnSpc>
            </a:pPr>
            <a:r>
              <a:rPr lang="en-US" altLang="en-US" sz="2800"/>
              <a:t>Advantages</a:t>
            </a:r>
          </a:p>
          <a:p>
            <a:pPr lvl="1" eaLnBrk="1" hangingPunct="1">
              <a:lnSpc>
                <a:spcPct val="90000"/>
              </a:lnSpc>
            </a:pPr>
            <a:r>
              <a:rPr lang="en-US" altLang="en-US" sz="2400"/>
              <a:t>Show precedence well</a:t>
            </a:r>
          </a:p>
          <a:p>
            <a:pPr lvl="1" eaLnBrk="1" hangingPunct="1">
              <a:lnSpc>
                <a:spcPct val="90000"/>
              </a:lnSpc>
            </a:pPr>
            <a:r>
              <a:rPr lang="en-US" altLang="en-US" sz="2400"/>
              <a:t>Reveal interdependencies not shown in other techniques</a:t>
            </a:r>
          </a:p>
          <a:p>
            <a:pPr lvl="1" eaLnBrk="1" hangingPunct="1">
              <a:lnSpc>
                <a:spcPct val="90000"/>
              </a:lnSpc>
            </a:pPr>
            <a:r>
              <a:rPr lang="en-US" altLang="en-US" sz="2400"/>
              <a:t>Ability to calculate critical path</a:t>
            </a:r>
          </a:p>
          <a:p>
            <a:pPr lvl="1" eaLnBrk="1" hangingPunct="1">
              <a:lnSpc>
                <a:spcPct val="90000"/>
              </a:lnSpc>
            </a:pPr>
            <a:r>
              <a:rPr lang="en-US" altLang="en-US" sz="2400"/>
              <a:t>Ability to perform “what if” exercises</a:t>
            </a:r>
          </a:p>
          <a:p>
            <a:pPr eaLnBrk="1" hangingPunct="1">
              <a:lnSpc>
                <a:spcPct val="90000"/>
              </a:lnSpc>
            </a:pPr>
            <a:r>
              <a:rPr lang="en-US" altLang="en-US" sz="2800"/>
              <a:t>Disadvantages</a:t>
            </a:r>
          </a:p>
          <a:p>
            <a:pPr lvl="1" eaLnBrk="1" hangingPunct="1">
              <a:lnSpc>
                <a:spcPct val="90000"/>
              </a:lnSpc>
            </a:pPr>
            <a:r>
              <a:rPr lang="en-US" altLang="en-US" sz="2400"/>
              <a:t>Default model assumes resources are unlimited</a:t>
            </a:r>
          </a:p>
          <a:p>
            <a:pPr lvl="2" eaLnBrk="1" hangingPunct="1">
              <a:lnSpc>
                <a:spcPct val="90000"/>
              </a:lnSpc>
            </a:pPr>
            <a:r>
              <a:rPr lang="en-US" altLang="en-US" sz="2000"/>
              <a:t>You need to incorporate this yourself (Resource Dependencies) when determining the “real” Critical Path</a:t>
            </a:r>
          </a:p>
          <a:p>
            <a:pPr lvl="1" eaLnBrk="1" hangingPunct="1">
              <a:lnSpc>
                <a:spcPct val="90000"/>
              </a:lnSpc>
            </a:pPr>
            <a:r>
              <a:rPr lang="en-US" altLang="en-US" sz="2400"/>
              <a:t>Difficult to follow on large projects</a:t>
            </a:r>
          </a:p>
        </p:txBody>
      </p:sp>
    </p:spTree>
    <p:extLst>
      <p:ext uri="{BB962C8B-B14F-4D97-AF65-F5344CB8AC3E}">
        <p14:creationId xmlns:p14="http://schemas.microsoft.com/office/powerpoint/2010/main" val="29081127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a:extLst>
              <a:ext uri="{FF2B5EF4-FFF2-40B4-BE49-F238E27FC236}">
                <a16:creationId xmlns:a16="http://schemas.microsoft.com/office/drawing/2014/main" xmlns="" id="{B18ADEC9-72F8-47CC-AE00-9EB9DBB6338C}"/>
              </a:ext>
            </a:extLst>
          </p:cNvPr>
          <p:cNvSpPr>
            <a:spLocks noGrp="1" noChangeArrowheads="1"/>
          </p:cNvSpPr>
          <p:nvPr>
            <p:ph type="title"/>
          </p:nvPr>
        </p:nvSpPr>
        <p:spPr>
          <a:xfrm>
            <a:off x="850900" y="304800"/>
            <a:ext cx="8305800" cy="1295400"/>
          </a:xfrm>
        </p:spPr>
        <p:txBody>
          <a:bodyPr>
            <a:normAutofit fontScale="90000"/>
          </a:bodyPr>
          <a:lstStyle/>
          <a:p>
            <a:pPr eaLnBrk="1" fontAlgn="auto" hangingPunct="1">
              <a:spcAft>
                <a:spcPts val="0"/>
              </a:spcAft>
              <a:defRPr/>
            </a:pPr>
            <a:r>
              <a:rPr lang="en-US" altLang="en-US" dirty="0">
                <a:solidFill>
                  <a:schemeClr val="tx1">
                    <a:lumMod val="75000"/>
                    <a:lumOff val="25000"/>
                  </a:schemeClr>
                </a:solidFill>
              </a:rPr>
              <a:t>Program Evaluation and Review Technique (PERT)</a:t>
            </a:r>
          </a:p>
        </p:txBody>
      </p:sp>
      <p:sp>
        <p:nvSpPr>
          <p:cNvPr id="66563" name="Rectangle 3">
            <a:extLst>
              <a:ext uri="{FF2B5EF4-FFF2-40B4-BE49-F238E27FC236}">
                <a16:creationId xmlns:a16="http://schemas.microsoft.com/office/drawing/2014/main" xmlns="" id="{E5E9082A-2FA5-4790-A9DC-29357050C03B}"/>
              </a:ext>
            </a:extLst>
          </p:cNvPr>
          <p:cNvSpPr>
            <a:spLocks noGrp="1" noChangeArrowheads="1"/>
          </p:cNvSpPr>
          <p:nvPr>
            <p:ph idx="1"/>
          </p:nvPr>
        </p:nvSpPr>
        <p:spPr>
          <a:xfrm>
            <a:off x="762000" y="1858963"/>
            <a:ext cx="7418388" cy="4343400"/>
          </a:xfrm>
        </p:spPr>
        <p:txBody>
          <a:bodyPr/>
          <a:lstStyle/>
          <a:p>
            <a:pPr lvl="1" algn="just" eaLnBrk="1" hangingPunct="1">
              <a:spcBef>
                <a:spcPct val="80000"/>
              </a:spcBef>
              <a:buFont typeface="Arial" panose="020B0604020202020204" pitchFamily="34" charset="0"/>
              <a:buChar char="•"/>
            </a:pPr>
            <a:r>
              <a:rPr lang="en-US" altLang="en-US" sz="2800"/>
              <a:t>PERT is a network analysis technique used to estimate project duration when there is a high degree of uncertainty about the individual activity duration estimates.</a:t>
            </a:r>
          </a:p>
          <a:p>
            <a:pPr lvl="1" algn="just" eaLnBrk="1" hangingPunct="1">
              <a:spcBef>
                <a:spcPct val="80000"/>
              </a:spcBef>
              <a:buFont typeface="Arial" panose="020B0604020202020204" pitchFamily="34" charset="0"/>
              <a:buChar char="•"/>
            </a:pPr>
            <a:r>
              <a:rPr lang="en-US" altLang="en-US" sz="2800"/>
              <a:t>PERT uses </a:t>
            </a:r>
            <a:r>
              <a:rPr lang="en-US" altLang="en-US" sz="2800" b="1"/>
              <a:t>probabilistic time estimates</a:t>
            </a:r>
            <a:r>
              <a:rPr lang="en-US" altLang="en-US" sz="2800"/>
              <a:t>:</a:t>
            </a:r>
            <a:endParaRPr lang="en-US" altLang="en-US" sz="2800" b="1"/>
          </a:p>
          <a:p>
            <a:pPr lvl="3" algn="just" eaLnBrk="1" hangingPunct="1">
              <a:spcBef>
                <a:spcPct val="80000"/>
              </a:spcBef>
              <a:buFont typeface="Courier New" panose="02070309020205020404" pitchFamily="49" charset="0"/>
              <a:buChar char="o"/>
            </a:pPr>
            <a:r>
              <a:rPr lang="en-US" altLang="en-US" sz="2000">
                <a:solidFill>
                  <a:srgbClr val="C00000"/>
                </a:solidFill>
              </a:rPr>
              <a:t>Duration estimates based on using optimistic, most likely, and pessimistic estimates of activity durations, or a three-point estimate.</a:t>
            </a:r>
          </a:p>
        </p:txBody>
      </p:sp>
      <p:sp>
        <p:nvSpPr>
          <p:cNvPr id="2" name="Slide Number Placeholder 1">
            <a:extLst>
              <a:ext uri="{FF2B5EF4-FFF2-40B4-BE49-F238E27FC236}">
                <a16:creationId xmlns:a16="http://schemas.microsoft.com/office/drawing/2014/main" xmlns="" id="{FF365D70-5787-4AB3-9231-6DD7736AAD02}"/>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ACAB09F-9A0F-4CA7-B0E1-F45CC5F30A20}" type="slidenum">
              <a:rPr lang="en-US" altLang="en-US" sz="1000">
                <a:solidFill>
                  <a:srgbClr val="FFFFFF"/>
                </a:solidFill>
              </a:rPr>
              <a:pPr/>
              <a:t>59</a:t>
            </a:fld>
            <a:endParaRPr lang="en-US" altLang="en-US" sz="1000">
              <a:solidFill>
                <a:srgbClr val="FFFF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xmlns="" id="{0D37C426-CD2D-434C-9569-DFB708C73C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5006494A-34BF-42C7-89EA-359FDFB382EA}" type="slidenum">
              <a:rPr lang="en-US" altLang="en-US" sz="1200"/>
              <a:pPr eaLnBrk="1" hangingPunct="1"/>
              <a:t>60</a:t>
            </a:fld>
            <a:endParaRPr lang="en-US" altLang="en-US" sz="1200"/>
          </a:p>
        </p:txBody>
      </p:sp>
      <p:sp>
        <p:nvSpPr>
          <p:cNvPr id="41987" name="Rectangle 2">
            <a:extLst>
              <a:ext uri="{FF2B5EF4-FFF2-40B4-BE49-F238E27FC236}">
                <a16:creationId xmlns:a16="http://schemas.microsoft.com/office/drawing/2014/main" xmlns="" id="{A702AEE8-906F-4B6E-9E2A-BE44116B511E}"/>
              </a:ext>
            </a:extLst>
          </p:cNvPr>
          <p:cNvSpPr>
            <a:spLocks noGrp="1" noChangeArrowheads="1"/>
          </p:cNvSpPr>
          <p:nvPr>
            <p:ph type="title"/>
          </p:nvPr>
        </p:nvSpPr>
        <p:spPr/>
        <p:txBody>
          <a:bodyPr/>
          <a:lstStyle/>
          <a:p>
            <a:pPr eaLnBrk="1" hangingPunct="1"/>
            <a:r>
              <a:rPr lang="en-US" altLang="en-US"/>
              <a:t>PERT</a:t>
            </a:r>
          </a:p>
        </p:txBody>
      </p:sp>
      <p:sp>
        <p:nvSpPr>
          <p:cNvPr id="41988" name="Rectangle 3">
            <a:extLst>
              <a:ext uri="{FF2B5EF4-FFF2-40B4-BE49-F238E27FC236}">
                <a16:creationId xmlns:a16="http://schemas.microsoft.com/office/drawing/2014/main" xmlns="" id="{65ED628D-7865-4335-9517-46C03214A63B}"/>
              </a:ext>
            </a:extLst>
          </p:cNvPr>
          <p:cNvSpPr>
            <a:spLocks noGrp="1" noChangeArrowheads="1"/>
          </p:cNvSpPr>
          <p:nvPr>
            <p:ph type="body" idx="1"/>
          </p:nvPr>
        </p:nvSpPr>
        <p:spPr/>
        <p:txBody>
          <a:bodyPr/>
          <a:lstStyle/>
          <a:p>
            <a:pPr eaLnBrk="1" hangingPunct="1"/>
            <a:r>
              <a:rPr lang="en-US" altLang="en-US" sz="2800" b="1" dirty="0"/>
              <a:t>P</a:t>
            </a:r>
            <a:r>
              <a:rPr lang="en-US" altLang="en-US" sz="2800" dirty="0"/>
              <a:t>rogram </a:t>
            </a:r>
            <a:r>
              <a:rPr lang="en-US" altLang="en-US" sz="2800" b="1" dirty="0"/>
              <a:t>E</a:t>
            </a:r>
            <a:r>
              <a:rPr lang="en-US" altLang="en-US" sz="2800" dirty="0"/>
              <a:t>valuation and </a:t>
            </a:r>
            <a:r>
              <a:rPr lang="en-US" altLang="en-US" sz="2800" b="1" dirty="0"/>
              <a:t>R</a:t>
            </a:r>
            <a:r>
              <a:rPr lang="en-US" altLang="en-US" sz="2800" dirty="0"/>
              <a:t>eview </a:t>
            </a:r>
            <a:r>
              <a:rPr lang="en-US" altLang="en-US" sz="2800" b="1" dirty="0"/>
              <a:t>T</a:t>
            </a:r>
            <a:r>
              <a:rPr lang="en-US" altLang="en-US" sz="2800" dirty="0"/>
              <a:t>echnique</a:t>
            </a:r>
          </a:p>
          <a:p>
            <a:pPr eaLnBrk="1" hangingPunct="1"/>
            <a:r>
              <a:rPr lang="en-US" altLang="en-US" sz="2800" dirty="0"/>
              <a:t>Based on idea that estimates are uncertain</a:t>
            </a:r>
          </a:p>
          <a:p>
            <a:pPr lvl="1" eaLnBrk="1" hangingPunct="1"/>
            <a:r>
              <a:rPr lang="en-US" altLang="en-US" sz="2400" dirty="0"/>
              <a:t>Therefore uses duration </a:t>
            </a:r>
            <a:r>
              <a:rPr lang="en-US" altLang="en-US" sz="2400" b="1" dirty="0"/>
              <a:t>ranges</a:t>
            </a:r>
          </a:p>
          <a:p>
            <a:pPr lvl="1" eaLnBrk="1" hangingPunct="1"/>
            <a:r>
              <a:rPr lang="en-US" altLang="en-US" sz="2400" dirty="0"/>
              <a:t>And the </a:t>
            </a:r>
            <a:r>
              <a:rPr lang="en-US" altLang="en-US" sz="2400" b="1" dirty="0"/>
              <a:t>probability</a:t>
            </a:r>
            <a:r>
              <a:rPr lang="en-US" altLang="en-US" sz="2400" dirty="0"/>
              <a:t> of falling to a given range</a:t>
            </a:r>
          </a:p>
          <a:p>
            <a:pPr eaLnBrk="1" hangingPunct="1"/>
            <a:r>
              <a:rPr lang="en-US" altLang="en-US" sz="2800" dirty="0"/>
              <a:t>Uses an “expected value” (or weighted average) to determine durations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a:extLst>
              <a:ext uri="{FF2B5EF4-FFF2-40B4-BE49-F238E27FC236}">
                <a16:creationId xmlns:a16="http://schemas.microsoft.com/office/drawing/2014/main" xmlns="" id="{30BD7F0F-CA0C-4ECD-91F5-C4940069F9BE}"/>
              </a:ext>
            </a:extLst>
          </p:cNvPr>
          <p:cNvSpPr>
            <a:spLocks noGrp="1" noChangeArrowheads="1"/>
          </p:cNvSpPr>
          <p:nvPr>
            <p:ph type="title"/>
          </p:nvPr>
        </p:nvSpPr>
        <p:spPr/>
        <p:txBody>
          <a:bodyPr/>
          <a:lstStyle/>
          <a:p>
            <a:pPr eaLnBrk="1" fontAlgn="auto" hangingPunct="1">
              <a:spcAft>
                <a:spcPts val="0"/>
              </a:spcAft>
              <a:defRPr/>
            </a:pPr>
            <a:r>
              <a:rPr lang="en-US" altLang="en-US">
                <a:solidFill>
                  <a:schemeClr val="tx1">
                    <a:lumMod val="75000"/>
                    <a:lumOff val="25000"/>
                  </a:schemeClr>
                </a:solidFill>
              </a:rPr>
              <a:t>PERT Formula and Example</a:t>
            </a:r>
          </a:p>
        </p:txBody>
      </p:sp>
      <p:sp>
        <p:nvSpPr>
          <p:cNvPr id="67587" name="Rectangle 3">
            <a:extLst>
              <a:ext uri="{FF2B5EF4-FFF2-40B4-BE49-F238E27FC236}">
                <a16:creationId xmlns:a16="http://schemas.microsoft.com/office/drawing/2014/main" xmlns="" id="{B12A3692-BA49-42EC-87A1-A5170BC79CDF}"/>
              </a:ext>
            </a:extLst>
          </p:cNvPr>
          <p:cNvSpPr>
            <a:spLocks noGrp="1" noChangeArrowheads="1"/>
          </p:cNvSpPr>
          <p:nvPr>
            <p:ph idx="1"/>
          </p:nvPr>
        </p:nvSpPr>
        <p:spPr>
          <a:xfrm>
            <a:off x="688975" y="1751013"/>
            <a:ext cx="8458200" cy="4708525"/>
          </a:xfrm>
        </p:spPr>
        <p:txBody>
          <a:bodyPr>
            <a:normAutofit lnSpcReduction="10000"/>
          </a:bodyPr>
          <a:lstStyle/>
          <a:p>
            <a:pPr eaLnBrk="1" hangingPunct="1"/>
            <a:r>
              <a:rPr lang="en-US" altLang="en-US" sz="2400" dirty="0"/>
              <a:t>PERT weighted average</a:t>
            </a:r>
            <a:r>
              <a:rPr lang="en-US" altLang="en-US" sz="2400" b="1" dirty="0"/>
              <a:t> =</a:t>
            </a:r>
            <a:r>
              <a:rPr lang="en-US" altLang="en-US" sz="2400" b="1" u="sng" dirty="0"/>
              <a:t> </a:t>
            </a:r>
          </a:p>
          <a:p>
            <a:pPr lvl="1" eaLnBrk="1" hangingPunct="1">
              <a:buFont typeface="Wingdings" panose="05000000000000000000" pitchFamily="2" charset="2"/>
              <a:buNone/>
            </a:pPr>
            <a:endParaRPr lang="en-US" altLang="en-US" sz="1000" u="sng" dirty="0"/>
          </a:p>
          <a:p>
            <a:pPr lvl="1" algn="ctr" eaLnBrk="1" hangingPunct="1">
              <a:buFont typeface="Wingdings" panose="05000000000000000000" pitchFamily="2" charset="2"/>
              <a:buNone/>
            </a:pPr>
            <a:r>
              <a:rPr lang="en-US" altLang="en-US" sz="2000" u="sng" dirty="0">
                <a:solidFill>
                  <a:srgbClr val="C00000"/>
                </a:solidFill>
              </a:rPr>
              <a:t>optimistic time + 4X most likely time + pessimistic time</a:t>
            </a:r>
            <a:endParaRPr lang="en-US" altLang="en-US" dirty="0">
              <a:solidFill>
                <a:srgbClr val="C00000"/>
              </a:solidFill>
            </a:endParaRPr>
          </a:p>
          <a:p>
            <a:pPr lvl="1" algn="ctr" eaLnBrk="1" hangingPunct="1">
              <a:buFont typeface="Wingdings" panose="05000000000000000000" pitchFamily="2" charset="2"/>
              <a:buNone/>
            </a:pPr>
            <a:r>
              <a:rPr lang="en-US" altLang="en-US" dirty="0">
                <a:solidFill>
                  <a:srgbClr val="C00000"/>
                </a:solidFill>
              </a:rPr>
              <a:t>	</a:t>
            </a:r>
            <a:r>
              <a:rPr lang="en-US" altLang="en-US" sz="2000" dirty="0">
                <a:solidFill>
                  <a:srgbClr val="C00000"/>
                </a:solidFill>
              </a:rPr>
              <a:t>6</a:t>
            </a:r>
          </a:p>
          <a:p>
            <a:pPr eaLnBrk="1" hangingPunct="1"/>
            <a:r>
              <a:rPr lang="en-US" altLang="en-US" sz="2400" dirty="0"/>
              <a:t>Example:</a:t>
            </a:r>
            <a:endParaRPr lang="en-US" altLang="en-US" sz="1000" dirty="0"/>
          </a:p>
          <a:p>
            <a:pPr lvl="1" eaLnBrk="1" hangingPunct="1">
              <a:buFont typeface="Wingdings" panose="05000000000000000000" pitchFamily="2" charset="2"/>
              <a:buNone/>
            </a:pPr>
            <a:r>
              <a:rPr lang="en-US" altLang="en-US" sz="2000" dirty="0"/>
              <a:t>PERT weighted average =</a:t>
            </a:r>
          </a:p>
          <a:p>
            <a:pPr lvl="1" eaLnBrk="1" hangingPunct="1">
              <a:buFont typeface="Wingdings" panose="05000000000000000000" pitchFamily="2" charset="2"/>
              <a:buNone/>
            </a:pPr>
            <a:r>
              <a:rPr lang="en-US" altLang="en-US" sz="2000" b="1" dirty="0">
                <a:solidFill>
                  <a:srgbClr val="C00000"/>
                </a:solidFill>
              </a:rPr>
              <a:t> </a:t>
            </a:r>
            <a:r>
              <a:rPr lang="en-US" altLang="en-US" sz="2000" u="sng" dirty="0">
                <a:solidFill>
                  <a:srgbClr val="C00000"/>
                </a:solidFill>
              </a:rPr>
              <a:t>8 workdays + 4 X 10 workdays + 24 workdays</a:t>
            </a:r>
            <a:r>
              <a:rPr lang="en-US" altLang="en-US" sz="2000" dirty="0">
                <a:solidFill>
                  <a:srgbClr val="C00000"/>
                </a:solidFill>
              </a:rPr>
              <a:t> 	= </a:t>
            </a:r>
            <a:r>
              <a:rPr lang="en-US" altLang="en-US" sz="2000" b="1" dirty="0">
                <a:solidFill>
                  <a:srgbClr val="C00000"/>
                </a:solidFill>
              </a:rPr>
              <a:t>12 days</a:t>
            </a:r>
            <a:r>
              <a:rPr lang="en-US" altLang="en-US" dirty="0">
                <a:solidFill>
                  <a:srgbClr val="C00000"/>
                </a:solidFill>
              </a:rPr>
              <a:t>					</a:t>
            </a:r>
            <a:r>
              <a:rPr lang="en-US" altLang="en-US" sz="2000" dirty="0">
                <a:solidFill>
                  <a:srgbClr val="C00000"/>
                </a:solidFill>
              </a:rPr>
              <a:t>6</a:t>
            </a:r>
          </a:p>
          <a:p>
            <a:pPr lvl="1" eaLnBrk="1" hangingPunct="1">
              <a:buFont typeface="Wingdings" panose="05000000000000000000" pitchFamily="2" charset="2"/>
              <a:buNone/>
            </a:pPr>
            <a:r>
              <a:rPr lang="en-US" altLang="en-US" dirty="0"/>
              <a:t>where: </a:t>
            </a:r>
          </a:p>
          <a:p>
            <a:pPr lvl="1" eaLnBrk="1" hangingPunct="1">
              <a:buFont typeface="Wingdings" panose="05000000000000000000" pitchFamily="2" charset="2"/>
              <a:buNone/>
            </a:pPr>
            <a:r>
              <a:rPr lang="en-US" altLang="en-US" dirty="0"/>
              <a:t>optimistic time= 8 days</a:t>
            </a:r>
          </a:p>
          <a:p>
            <a:pPr lvl="1" eaLnBrk="1" hangingPunct="1">
              <a:buFont typeface="Wingdings" panose="05000000000000000000" pitchFamily="2" charset="2"/>
              <a:buNone/>
            </a:pPr>
            <a:r>
              <a:rPr lang="en-US" altLang="en-US" dirty="0"/>
              <a:t>most likely time = </a:t>
            </a:r>
            <a:r>
              <a:rPr lang="en-US" altLang="en-US" b="1" dirty="0"/>
              <a:t>10 days</a:t>
            </a:r>
            <a:endParaRPr lang="en-US" altLang="en-US" dirty="0"/>
          </a:p>
          <a:p>
            <a:pPr lvl="1" eaLnBrk="1" hangingPunct="1">
              <a:buFont typeface="Wingdings" panose="05000000000000000000" pitchFamily="2" charset="2"/>
              <a:buNone/>
            </a:pPr>
            <a:r>
              <a:rPr lang="en-US" altLang="en-US" dirty="0"/>
              <a:t>pessimistic time = 24 days</a:t>
            </a:r>
          </a:p>
          <a:p>
            <a:pPr lvl="1" eaLnBrk="1" hangingPunct="1">
              <a:buFont typeface="Wingdings" panose="05000000000000000000" pitchFamily="2" charset="2"/>
              <a:buNone/>
            </a:pPr>
            <a:r>
              <a:rPr lang="en-US" altLang="en-US" dirty="0"/>
              <a:t>    Therefore, you’d use </a:t>
            </a:r>
            <a:r>
              <a:rPr lang="en-US" altLang="en-US" b="1" dirty="0"/>
              <a:t>12 days</a:t>
            </a:r>
            <a:r>
              <a:rPr lang="en-US" altLang="en-US" dirty="0"/>
              <a:t> on the network diagram instead of 10 when using PERT for the above example.</a:t>
            </a:r>
          </a:p>
        </p:txBody>
      </p:sp>
      <p:sp>
        <p:nvSpPr>
          <p:cNvPr id="2" name="Slide Number Placeholder 1">
            <a:extLst>
              <a:ext uri="{FF2B5EF4-FFF2-40B4-BE49-F238E27FC236}">
                <a16:creationId xmlns:a16="http://schemas.microsoft.com/office/drawing/2014/main" xmlns="" id="{3E5671D8-F093-4487-B663-1192C0EF1D31}"/>
              </a:ext>
            </a:extLst>
          </p:cNvPr>
          <p:cNvSpPr>
            <a:spLocks noGrp="1"/>
          </p:cNvSpPr>
          <p:nvPr>
            <p:ph type="sldNum" sz="quarter" idx="12"/>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D2A1C2C-4B8F-4F2A-9CCE-7A9FFA9B49ED}" type="slidenum">
              <a:rPr lang="en-US" altLang="en-US" sz="1000">
                <a:solidFill>
                  <a:srgbClr val="FFFFFF"/>
                </a:solidFill>
              </a:rPr>
              <a:pPr/>
              <a:t>61</a:t>
            </a:fld>
            <a:endParaRPr lang="en-US" altLang="en-US" sz="1000">
              <a:solidFill>
                <a:srgbClr val="FFFF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B299769-0381-9F1C-4966-F12DFBE1C03B}"/>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b="1" kern="1200" dirty="0">
                <a:solidFill>
                  <a:schemeClr val="bg1"/>
                </a:solidFill>
                <a:latin typeface="+mj-lt"/>
                <a:ea typeface="+mj-ea"/>
                <a:cs typeface="+mj-cs"/>
              </a:rPr>
              <a:t>Example-Solved</a:t>
            </a:r>
          </a:p>
        </p:txBody>
      </p:sp>
      <p:pic>
        <p:nvPicPr>
          <p:cNvPr id="6" name="Content Placeholder 5" descr="A screenshot of a test&#10;&#10;Description automatically generated">
            <a:extLst>
              <a:ext uri="{FF2B5EF4-FFF2-40B4-BE49-F238E27FC236}">
                <a16:creationId xmlns:a16="http://schemas.microsoft.com/office/drawing/2014/main" xmlns="" id="{CC1E90A3-4194-ED95-1C0D-F82DF14612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280" y="1612870"/>
            <a:ext cx="8802043" cy="4445030"/>
          </a:xfrm>
          <a:prstGeom prst="rect">
            <a:avLst/>
          </a:prstGeom>
        </p:spPr>
      </p:pic>
      <p:sp>
        <p:nvSpPr>
          <p:cNvPr id="4" name="Slide Number Placeholder 3">
            <a:extLst>
              <a:ext uri="{FF2B5EF4-FFF2-40B4-BE49-F238E27FC236}">
                <a16:creationId xmlns:a16="http://schemas.microsoft.com/office/drawing/2014/main" xmlns="" id="{3DB2CB2F-E197-ADD1-8BE1-89BF8D25A665}"/>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62</a:t>
            </a:fld>
            <a:endParaRPr lang="en-US">
              <a:solidFill>
                <a:schemeClr val="tx1">
                  <a:tint val="75000"/>
                </a:schemeClr>
              </a:solidFill>
            </a:endParaRPr>
          </a:p>
        </p:txBody>
      </p:sp>
      <p:sp>
        <p:nvSpPr>
          <p:cNvPr id="7" name="TextBox 6">
            <a:extLst>
              <a:ext uri="{FF2B5EF4-FFF2-40B4-BE49-F238E27FC236}">
                <a16:creationId xmlns:a16="http://schemas.microsoft.com/office/drawing/2014/main" xmlns="" id="{E7ADD997-DDE1-2293-2156-6038B515ED77}"/>
              </a:ext>
            </a:extLst>
          </p:cNvPr>
          <p:cNvSpPr txBox="1"/>
          <p:nvPr/>
        </p:nvSpPr>
        <p:spPr>
          <a:xfrm>
            <a:off x="5058047" y="2572838"/>
            <a:ext cx="3647802" cy="523220"/>
          </a:xfrm>
          <a:prstGeom prst="rect">
            <a:avLst/>
          </a:prstGeom>
          <a:noFill/>
        </p:spPr>
        <p:txBody>
          <a:bodyPr wrap="square" rtlCol="0">
            <a:spAutoFit/>
          </a:bodyPr>
          <a:lstStyle/>
          <a:p>
            <a:pPr algn="ctr"/>
            <a:r>
              <a:rPr lang="en-US" sz="2800" b="1" dirty="0">
                <a:highlight>
                  <a:srgbClr val="FF00FF"/>
                </a:highlight>
              </a:rPr>
              <a:t>Steps to solve PERT</a:t>
            </a:r>
          </a:p>
        </p:txBody>
      </p:sp>
    </p:spTree>
    <p:extLst>
      <p:ext uri="{BB962C8B-B14F-4D97-AF65-F5344CB8AC3E}">
        <p14:creationId xmlns:p14="http://schemas.microsoft.com/office/powerpoint/2010/main" val="5525103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1221DB5-7285-30C9-3EA3-632B8887E04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Step1: Calculate Estimated Time</a:t>
            </a:r>
          </a:p>
        </p:txBody>
      </p:sp>
      <p:pic>
        <p:nvPicPr>
          <p:cNvPr id="6" name="Content Placeholder 5" descr="A table with numbers and text&#10;&#10;Description automatically generated">
            <a:extLst>
              <a:ext uri="{FF2B5EF4-FFF2-40B4-BE49-F238E27FC236}">
                <a16:creationId xmlns:a16="http://schemas.microsoft.com/office/drawing/2014/main" xmlns="" id="{514791D8-CA54-4B5D-FFFF-EAFF05F62D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9337" y="1286656"/>
            <a:ext cx="6005325" cy="5434819"/>
          </a:xfrm>
          <a:prstGeom prst="rect">
            <a:avLst/>
          </a:prstGeom>
        </p:spPr>
      </p:pic>
      <p:sp>
        <p:nvSpPr>
          <p:cNvPr id="4" name="Slide Number Placeholder 3">
            <a:extLst>
              <a:ext uri="{FF2B5EF4-FFF2-40B4-BE49-F238E27FC236}">
                <a16:creationId xmlns:a16="http://schemas.microsoft.com/office/drawing/2014/main" xmlns="" id="{05350B1E-D12C-255C-4E90-2D6D38B8A36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63</a:t>
            </a:fld>
            <a:endParaRPr lang="en-US">
              <a:solidFill>
                <a:schemeClr val="tx1">
                  <a:tint val="75000"/>
                </a:schemeClr>
              </a:solidFill>
            </a:endParaRPr>
          </a:p>
        </p:txBody>
      </p:sp>
    </p:spTree>
    <p:extLst>
      <p:ext uri="{BB962C8B-B14F-4D97-AF65-F5344CB8AC3E}">
        <p14:creationId xmlns:p14="http://schemas.microsoft.com/office/powerpoint/2010/main" val="21650127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ECA3216-F2A4-2919-058B-3C6925AFE13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Step2- Identify Critical Path</a:t>
            </a:r>
          </a:p>
        </p:txBody>
      </p:sp>
      <p:pic>
        <p:nvPicPr>
          <p:cNvPr id="6" name="Content Placeholder 5" descr="A diagram of a network diagram&#10;&#10;Description automatically generated">
            <a:extLst>
              <a:ext uri="{FF2B5EF4-FFF2-40B4-BE49-F238E27FC236}">
                <a16:creationId xmlns:a16="http://schemas.microsoft.com/office/drawing/2014/main" xmlns="" id="{D56B7F4F-E4D2-F03E-798B-68D464B804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2046" y="1675227"/>
            <a:ext cx="8099906" cy="4394199"/>
          </a:xfrm>
          <a:prstGeom prst="rect">
            <a:avLst/>
          </a:prstGeom>
        </p:spPr>
      </p:pic>
      <p:sp>
        <p:nvSpPr>
          <p:cNvPr id="4" name="Slide Number Placeholder 3">
            <a:extLst>
              <a:ext uri="{FF2B5EF4-FFF2-40B4-BE49-F238E27FC236}">
                <a16:creationId xmlns:a16="http://schemas.microsoft.com/office/drawing/2014/main" xmlns="" id="{0660862E-59C6-3AAF-C00C-5A308F1E01FA}"/>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64</a:t>
            </a:fld>
            <a:endParaRPr lang="en-US">
              <a:solidFill>
                <a:schemeClr val="tx1">
                  <a:tint val="75000"/>
                </a:schemeClr>
              </a:solidFill>
            </a:endParaRPr>
          </a:p>
        </p:txBody>
      </p:sp>
    </p:spTree>
    <p:extLst>
      <p:ext uri="{BB962C8B-B14F-4D97-AF65-F5344CB8AC3E}">
        <p14:creationId xmlns:p14="http://schemas.microsoft.com/office/powerpoint/2010/main" val="6102668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8F61FCE-064D-4F35-DEE8-4934BC3C4B56}"/>
              </a:ext>
            </a:extLst>
          </p:cNvPr>
          <p:cNvSpPr>
            <a:spLocks noGrp="1"/>
          </p:cNvSpPr>
          <p:nvPr>
            <p:ph type="title"/>
          </p:nvPr>
        </p:nvSpPr>
        <p:spPr>
          <a:xfrm>
            <a:off x="417399" y="643467"/>
            <a:ext cx="8408193" cy="744836"/>
          </a:xfrm>
        </p:spPr>
        <p:txBody>
          <a:bodyPr vert="horz" lIns="91440" tIns="45720" rIns="91440" bIns="45720" rtlCol="0" anchor="ctr">
            <a:normAutofit fontScale="90000"/>
          </a:bodyPr>
          <a:lstStyle/>
          <a:p>
            <a:pPr algn="ctr"/>
            <a:r>
              <a:rPr lang="en-US" sz="2800" dirty="0">
                <a:solidFill>
                  <a:schemeClr val="bg1"/>
                </a:solidFill>
              </a:rPr>
              <a:t>Step 3: Use critical path activities to Calculate SD and Variance</a:t>
            </a:r>
            <a:endParaRPr lang="en-US" sz="2800" kern="1200" dirty="0">
              <a:solidFill>
                <a:schemeClr val="bg1"/>
              </a:solidFill>
              <a:latin typeface="+mj-lt"/>
              <a:ea typeface="+mj-ea"/>
              <a:cs typeface="+mj-cs"/>
            </a:endParaRPr>
          </a:p>
        </p:txBody>
      </p:sp>
      <p:pic>
        <p:nvPicPr>
          <p:cNvPr id="10" name="Content Placeholder 9" descr="A diagram of a network diagram&#10;&#10;Description automatically generated">
            <a:extLst>
              <a:ext uri="{FF2B5EF4-FFF2-40B4-BE49-F238E27FC236}">
                <a16:creationId xmlns:a16="http://schemas.microsoft.com/office/drawing/2014/main" xmlns="" id="{C3225789-9FCC-FA57-6E6E-167529F96F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600" y="1715168"/>
            <a:ext cx="8178799" cy="4314316"/>
          </a:xfrm>
          <a:prstGeom prst="rect">
            <a:avLst/>
          </a:prstGeom>
        </p:spPr>
      </p:pic>
      <p:sp>
        <p:nvSpPr>
          <p:cNvPr id="4" name="Slide Number Placeholder 3">
            <a:extLst>
              <a:ext uri="{FF2B5EF4-FFF2-40B4-BE49-F238E27FC236}">
                <a16:creationId xmlns:a16="http://schemas.microsoft.com/office/drawing/2014/main" xmlns="" id="{219E0CF5-F32B-D53B-BC5E-31AFEBBBB84C}"/>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65</a:t>
            </a:fld>
            <a:endParaRPr lang="en-US">
              <a:solidFill>
                <a:schemeClr val="tx1">
                  <a:tint val="75000"/>
                </a:schemeClr>
              </a:solidFill>
            </a:endParaRPr>
          </a:p>
        </p:txBody>
      </p:sp>
    </p:spTree>
    <p:extLst>
      <p:ext uri="{BB962C8B-B14F-4D97-AF65-F5344CB8AC3E}">
        <p14:creationId xmlns:p14="http://schemas.microsoft.com/office/powerpoint/2010/main" val="15827499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3322842-6CDE-0250-839D-0B546814184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 3: Continue…</a:t>
            </a:r>
          </a:p>
        </p:txBody>
      </p:sp>
      <p:pic>
        <p:nvPicPr>
          <p:cNvPr id="6" name="Content Placeholder 5" descr="A close-up of a math table&#10;&#10;Description automatically generated">
            <a:extLst>
              <a:ext uri="{FF2B5EF4-FFF2-40B4-BE49-F238E27FC236}">
                <a16:creationId xmlns:a16="http://schemas.microsoft.com/office/drawing/2014/main" xmlns="" id="{6D572423-E4B7-A368-1D63-E1E199887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600" y="1786732"/>
            <a:ext cx="8178799" cy="4171188"/>
          </a:xfrm>
          <a:prstGeom prst="rect">
            <a:avLst/>
          </a:prstGeom>
        </p:spPr>
      </p:pic>
      <p:sp>
        <p:nvSpPr>
          <p:cNvPr id="4" name="Slide Number Placeholder 3">
            <a:extLst>
              <a:ext uri="{FF2B5EF4-FFF2-40B4-BE49-F238E27FC236}">
                <a16:creationId xmlns:a16="http://schemas.microsoft.com/office/drawing/2014/main" xmlns="" id="{B92BE2CB-9560-E364-BEFA-9B502A82B58C}"/>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66</a:t>
            </a:fld>
            <a:endParaRPr lang="en-US">
              <a:solidFill>
                <a:schemeClr val="tx1">
                  <a:tint val="75000"/>
                </a:schemeClr>
              </a:solidFill>
            </a:endParaRPr>
          </a:p>
        </p:txBody>
      </p:sp>
    </p:spTree>
    <p:extLst>
      <p:ext uri="{BB962C8B-B14F-4D97-AF65-F5344CB8AC3E}">
        <p14:creationId xmlns:p14="http://schemas.microsoft.com/office/powerpoint/2010/main" val="8431464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7B0E88A-FD4B-497B-30ED-90360CDA517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 3: Continue…</a:t>
            </a:r>
          </a:p>
        </p:txBody>
      </p:sp>
      <p:pic>
        <p:nvPicPr>
          <p:cNvPr id="6" name="Content Placeholder 5" descr="A whiteboard with a diagram and numbers&#10;&#10;Description automatically generated with medium confidence">
            <a:extLst>
              <a:ext uri="{FF2B5EF4-FFF2-40B4-BE49-F238E27FC236}">
                <a16:creationId xmlns:a16="http://schemas.microsoft.com/office/drawing/2014/main" xmlns="" id="{D5FD898E-F752-BAFD-EA99-6EE132A19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600" y="1991203"/>
            <a:ext cx="8178799" cy="3762246"/>
          </a:xfrm>
          <a:prstGeom prst="rect">
            <a:avLst/>
          </a:prstGeom>
        </p:spPr>
      </p:pic>
      <p:sp>
        <p:nvSpPr>
          <p:cNvPr id="4" name="Slide Number Placeholder 3">
            <a:extLst>
              <a:ext uri="{FF2B5EF4-FFF2-40B4-BE49-F238E27FC236}">
                <a16:creationId xmlns:a16="http://schemas.microsoft.com/office/drawing/2014/main" xmlns="" id="{98560547-2F55-C76E-21D0-F6E43F5F49F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67</a:t>
            </a:fld>
            <a:endParaRPr lang="en-US">
              <a:solidFill>
                <a:schemeClr val="tx1">
                  <a:tint val="75000"/>
                </a:schemeClr>
              </a:solidFill>
            </a:endParaRPr>
          </a:p>
        </p:txBody>
      </p:sp>
    </p:spTree>
    <p:extLst>
      <p:ext uri="{BB962C8B-B14F-4D97-AF65-F5344CB8AC3E}">
        <p14:creationId xmlns:p14="http://schemas.microsoft.com/office/powerpoint/2010/main" val="1517696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E426511-D04F-16C1-F4CE-FCFDCEE1E67A}"/>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Step3 (Continue): </a:t>
            </a:r>
            <a:r>
              <a:rPr lang="en-US" sz="2800" kern="1200" dirty="0">
                <a:solidFill>
                  <a:schemeClr val="bg1"/>
                </a:solidFill>
                <a:highlight>
                  <a:srgbClr val="FF00FF"/>
                </a:highlight>
                <a:latin typeface="+mj-lt"/>
                <a:ea typeface="+mj-ea"/>
                <a:cs typeface="+mj-cs"/>
              </a:rPr>
              <a:t>Variance and SD of Project Time</a:t>
            </a:r>
          </a:p>
        </p:txBody>
      </p:sp>
      <p:pic>
        <p:nvPicPr>
          <p:cNvPr id="6" name="Content Placeholder 5" descr="A white board with numbers and symbols&#10;&#10;Description automatically generated">
            <a:extLst>
              <a:ext uri="{FF2B5EF4-FFF2-40B4-BE49-F238E27FC236}">
                <a16:creationId xmlns:a16="http://schemas.microsoft.com/office/drawing/2014/main" xmlns="" id="{A1DAB08E-2987-53C7-ABB9-DF5759B9A6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0472" y="1675227"/>
            <a:ext cx="6103055" cy="4394199"/>
          </a:xfrm>
          <a:prstGeom prst="rect">
            <a:avLst/>
          </a:prstGeom>
        </p:spPr>
      </p:pic>
      <p:sp>
        <p:nvSpPr>
          <p:cNvPr id="4" name="Slide Number Placeholder 3">
            <a:extLst>
              <a:ext uri="{FF2B5EF4-FFF2-40B4-BE49-F238E27FC236}">
                <a16:creationId xmlns:a16="http://schemas.microsoft.com/office/drawing/2014/main" xmlns="" id="{DA26C0A5-4884-CE3F-B2D2-FB383C25EBE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68</a:t>
            </a:fld>
            <a:endParaRPr lang="en-US">
              <a:solidFill>
                <a:schemeClr val="tx1">
                  <a:tint val="75000"/>
                </a:schemeClr>
              </a:solidFill>
            </a:endParaRPr>
          </a:p>
        </p:txBody>
      </p:sp>
    </p:spTree>
    <p:extLst>
      <p:ext uri="{BB962C8B-B14F-4D97-AF65-F5344CB8AC3E}">
        <p14:creationId xmlns:p14="http://schemas.microsoft.com/office/powerpoint/2010/main" val="2537813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64CEC6D-49C1-6E85-E9FD-D43943F8F5C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 4: Calculate Probability </a:t>
            </a:r>
          </a:p>
        </p:txBody>
      </p:sp>
      <p:pic>
        <p:nvPicPr>
          <p:cNvPr id="6" name="Content Placeholder 5" descr="A table of numbers with red text&#10;&#10;Description automatically generated">
            <a:extLst>
              <a:ext uri="{FF2B5EF4-FFF2-40B4-BE49-F238E27FC236}">
                <a16:creationId xmlns:a16="http://schemas.microsoft.com/office/drawing/2014/main" xmlns="" id="{8F2F424F-EFB0-4C1D-D574-52AAD5EAE83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330" r="65233"/>
          <a:stretch/>
        </p:blipFill>
        <p:spPr>
          <a:xfrm>
            <a:off x="2639660" y="1388303"/>
            <a:ext cx="3963669" cy="5426944"/>
          </a:xfrm>
          <a:prstGeom prst="rect">
            <a:avLst/>
          </a:prstGeom>
        </p:spPr>
      </p:pic>
      <p:sp>
        <p:nvSpPr>
          <p:cNvPr id="4" name="Slide Number Placeholder 3">
            <a:extLst>
              <a:ext uri="{FF2B5EF4-FFF2-40B4-BE49-F238E27FC236}">
                <a16:creationId xmlns:a16="http://schemas.microsoft.com/office/drawing/2014/main" xmlns="" id="{BAA4AE5E-6A96-3289-4131-800E51D0DCF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69</a:t>
            </a:fld>
            <a:endParaRPr lang="en-US">
              <a:solidFill>
                <a:schemeClr val="tx1">
                  <a:tint val="75000"/>
                </a:schemeClr>
              </a:solidFill>
            </a:endParaRPr>
          </a:p>
        </p:txBody>
      </p:sp>
    </p:spTree>
    <p:extLst>
      <p:ext uri="{BB962C8B-B14F-4D97-AF65-F5344CB8AC3E}">
        <p14:creationId xmlns:p14="http://schemas.microsoft.com/office/powerpoint/2010/main" val="3177311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2FBF445-9D02-87CF-2D6F-78369597174E}"/>
              </a:ext>
            </a:extLst>
          </p:cNvPr>
          <p:cNvSpPr>
            <a:spLocks noGrp="1"/>
          </p:cNvSpPr>
          <p:nvPr>
            <p:ph type="title"/>
          </p:nvPr>
        </p:nvSpPr>
        <p:spPr>
          <a:xfrm>
            <a:off x="417399" y="643467"/>
            <a:ext cx="8408193" cy="744836"/>
          </a:xfrm>
        </p:spPr>
        <p:txBody>
          <a:bodyPr vert="horz" lIns="91440" tIns="45720" rIns="91440" bIns="45720" rtlCol="0" anchor="ctr">
            <a:normAutofit fontScale="90000"/>
          </a:bodyPr>
          <a:lstStyle/>
          <a:p>
            <a:pPr algn="ctr"/>
            <a:r>
              <a:rPr lang="en-US" sz="2800" kern="1200" dirty="0">
                <a:solidFill>
                  <a:schemeClr val="bg1"/>
                </a:solidFill>
                <a:latin typeface="+mj-lt"/>
                <a:ea typeface="+mj-ea"/>
                <a:cs typeface="+mj-cs"/>
              </a:rPr>
              <a:t>Step 4 (Continue): </a:t>
            </a:r>
            <a:r>
              <a:rPr lang="en-US" sz="2800" kern="1200" dirty="0">
                <a:solidFill>
                  <a:schemeClr val="bg1"/>
                </a:solidFill>
                <a:highlight>
                  <a:srgbClr val="FF00FF"/>
                </a:highlight>
                <a:latin typeface="+mj-lt"/>
                <a:ea typeface="+mj-ea"/>
                <a:cs typeface="+mj-cs"/>
              </a:rPr>
              <a:t>Finalize Probability through Z-Table/Standard Normal Table</a:t>
            </a:r>
          </a:p>
        </p:txBody>
      </p:sp>
      <p:pic>
        <p:nvPicPr>
          <p:cNvPr id="6" name="Content Placeholder 5" descr="A table with numbers and a red line&#10;&#10;Description automatically generated">
            <a:extLst>
              <a:ext uri="{FF2B5EF4-FFF2-40B4-BE49-F238E27FC236}">
                <a16:creationId xmlns:a16="http://schemas.microsoft.com/office/drawing/2014/main" xmlns="" id="{D6B4DAAB-477F-D0AD-E0D2-E867147B5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2600" y="1715168"/>
            <a:ext cx="8178799" cy="4314316"/>
          </a:xfrm>
          <a:prstGeom prst="rect">
            <a:avLst/>
          </a:prstGeom>
        </p:spPr>
      </p:pic>
      <p:sp>
        <p:nvSpPr>
          <p:cNvPr id="4" name="Slide Number Placeholder 3">
            <a:extLst>
              <a:ext uri="{FF2B5EF4-FFF2-40B4-BE49-F238E27FC236}">
                <a16:creationId xmlns:a16="http://schemas.microsoft.com/office/drawing/2014/main" xmlns="" id="{DFFCF6DF-CA6D-FF6C-9EE6-D985F42EA2E1}"/>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70</a:t>
            </a:fld>
            <a:endParaRPr lang="en-US">
              <a:solidFill>
                <a:schemeClr val="tx1">
                  <a:tint val="75000"/>
                </a:schemeClr>
              </a:solidFill>
            </a:endParaRPr>
          </a:p>
        </p:txBody>
      </p:sp>
    </p:spTree>
    <p:extLst>
      <p:ext uri="{BB962C8B-B14F-4D97-AF65-F5344CB8AC3E}">
        <p14:creationId xmlns:p14="http://schemas.microsoft.com/office/powerpoint/2010/main" val="26121912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A4AC5506-6312-4701-8D3C-40187889A94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D3BA031-FABD-75B3-9975-D74B0B4944F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dirty="0">
                <a:solidFill>
                  <a:schemeClr val="bg1"/>
                </a:solidFill>
                <a:latin typeface="+mj-lt"/>
                <a:ea typeface="+mj-ea"/>
                <a:cs typeface="+mj-cs"/>
              </a:rPr>
              <a:t>Step 4 (Continue): Final Probability</a:t>
            </a:r>
          </a:p>
        </p:txBody>
      </p:sp>
      <p:pic>
        <p:nvPicPr>
          <p:cNvPr id="6" name="Content Placeholder 5" descr="A white board with black text and numbers&#10;&#10;Description automatically generated">
            <a:extLst>
              <a:ext uri="{FF2B5EF4-FFF2-40B4-BE49-F238E27FC236}">
                <a16:creationId xmlns:a16="http://schemas.microsoft.com/office/drawing/2014/main" xmlns="" id="{0A5F7A38-2276-C0ED-DF0E-5789E9407C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4271" y="1675227"/>
            <a:ext cx="7675456" cy="4394199"/>
          </a:xfrm>
          <a:prstGeom prst="rect">
            <a:avLst/>
          </a:prstGeom>
        </p:spPr>
      </p:pic>
      <p:sp>
        <p:nvSpPr>
          <p:cNvPr id="4" name="Slide Number Placeholder 3">
            <a:extLst>
              <a:ext uri="{FF2B5EF4-FFF2-40B4-BE49-F238E27FC236}">
                <a16:creationId xmlns:a16="http://schemas.microsoft.com/office/drawing/2014/main" xmlns="" id="{C137B195-4A67-BB06-9891-2F3FC611924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71</a:t>
            </a:fld>
            <a:endParaRPr lang="en-US">
              <a:solidFill>
                <a:schemeClr val="tx1">
                  <a:tint val="75000"/>
                </a:schemeClr>
              </a:solidFill>
            </a:endParaRPr>
          </a:p>
        </p:txBody>
      </p:sp>
    </p:spTree>
    <p:extLst>
      <p:ext uri="{BB962C8B-B14F-4D97-AF65-F5344CB8AC3E}">
        <p14:creationId xmlns:p14="http://schemas.microsoft.com/office/powerpoint/2010/main" val="7729852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xmlns="" id="{C8E4BB52-9FD4-4EF7-9F2A-83B8324063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67F9CB23-C916-4C75-9C31-E145DCC86CE1}" type="slidenum">
              <a:rPr lang="en-US" altLang="en-US" sz="1200"/>
              <a:pPr eaLnBrk="1" hangingPunct="1"/>
              <a:t>72</a:t>
            </a:fld>
            <a:endParaRPr lang="en-US" altLang="en-US" sz="1200"/>
          </a:p>
        </p:txBody>
      </p:sp>
      <p:sp>
        <p:nvSpPr>
          <p:cNvPr id="46083" name="Rectangle 2">
            <a:extLst>
              <a:ext uri="{FF2B5EF4-FFF2-40B4-BE49-F238E27FC236}">
                <a16:creationId xmlns:a16="http://schemas.microsoft.com/office/drawing/2014/main" xmlns="" id="{D6E07930-95FE-4D63-BCCB-EA0F46873D57}"/>
              </a:ext>
            </a:extLst>
          </p:cNvPr>
          <p:cNvSpPr>
            <a:spLocks noGrp="1" noChangeArrowheads="1"/>
          </p:cNvSpPr>
          <p:nvPr>
            <p:ph type="title"/>
          </p:nvPr>
        </p:nvSpPr>
        <p:spPr/>
        <p:txBody>
          <a:bodyPr/>
          <a:lstStyle/>
          <a:p>
            <a:pPr eaLnBrk="1" hangingPunct="1"/>
            <a:r>
              <a:rPr lang="en-US" altLang="en-US"/>
              <a:t>CPM vs. PERT</a:t>
            </a:r>
          </a:p>
        </p:txBody>
      </p:sp>
      <p:sp>
        <p:nvSpPr>
          <p:cNvPr id="46084" name="Rectangle 3">
            <a:extLst>
              <a:ext uri="{FF2B5EF4-FFF2-40B4-BE49-F238E27FC236}">
                <a16:creationId xmlns:a16="http://schemas.microsoft.com/office/drawing/2014/main" xmlns="" id="{EBF1A540-B949-418C-BB11-776140869F3D}"/>
              </a:ext>
            </a:extLst>
          </p:cNvPr>
          <p:cNvSpPr>
            <a:spLocks noGrp="1" noChangeArrowheads="1"/>
          </p:cNvSpPr>
          <p:nvPr>
            <p:ph type="body" idx="1"/>
          </p:nvPr>
        </p:nvSpPr>
        <p:spPr/>
        <p:txBody>
          <a:bodyPr/>
          <a:lstStyle/>
          <a:p>
            <a:pPr eaLnBrk="1" hangingPunct="1"/>
            <a:r>
              <a:rPr lang="en-US" altLang="en-US"/>
              <a:t>Both use Network Diagrams</a:t>
            </a:r>
          </a:p>
          <a:p>
            <a:pPr eaLnBrk="1" hangingPunct="1"/>
            <a:r>
              <a:rPr lang="en-US" altLang="en-US"/>
              <a:t>CPM: deterministic</a:t>
            </a:r>
          </a:p>
          <a:p>
            <a:pPr eaLnBrk="1" hangingPunct="1"/>
            <a:r>
              <a:rPr lang="en-US" altLang="en-US"/>
              <a:t>PERT: probabilistic </a:t>
            </a:r>
          </a:p>
          <a:p>
            <a:pPr eaLnBrk="1" hangingPunct="1"/>
            <a:r>
              <a:rPr lang="en-US" altLang="en-US"/>
              <a:t>CPM: one estimate, PERT, three estimates</a:t>
            </a:r>
          </a:p>
          <a:p>
            <a:pPr eaLnBrk="1" hangingPunct="1"/>
            <a:r>
              <a:rPr lang="en-US" altLang="en-US"/>
              <a:t>PERT is infrequently used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xmlns="" id="{4883641A-74A8-4D1A-BC31-BC18B11AEE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23CE5CF3-3A94-4F24-9D07-B9D345FF0EA0}" type="slidenum">
              <a:rPr lang="en-US" altLang="en-US" sz="1200"/>
              <a:pPr eaLnBrk="1" hangingPunct="1"/>
              <a:t>73</a:t>
            </a:fld>
            <a:endParaRPr lang="en-US" altLang="en-US" sz="1200"/>
          </a:p>
        </p:txBody>
      </p:sp>
      <p:sp>
        <p:nvSpPr>
          <p:cNvPr id="47107" name="Rectangle 2">
            <a:extLst>
              <a:ext uri="{FF2B5EF4-FFF2-40B4-BE49-F238E27FC236}">
                <a16:creationId xmlns:a16="http://schemas.microsoft.com/office/drawing/2014/main" xmlns="" id="{B100D2E0-EC35-47B5-AD99-51ADE1CEB3C4}"/>
              </a:ext>
            </a:extLst>
          </p:cNvPr>
          <p:cNvSpPr>
            <a:spLocks noGrp="1" noChangeArrowheads="1"/>
          </p:cNvSpPr>
          <p:nvPr>
            <p:ph type="title"/>
          </p:nvPr>
        </p:nvSpPr>
        <p:spPr/>
        <p:txBody>
          <a:bodyPr/>
          <a:lstStyle/>
          <a:p>
            <a:pPr eaLnBrk="1" hangingPunct="1"/>
            <a:r>
              <a:rPr lang="en-US" altLang="en-US"/>
              <a:t>Milestone Chart</a:t>
            </a:r>
          </a:p>
        </p:txBody>
      </p:sp>
      <p:sp>
        <p:nvSpPr>
          <p:cNvPr id="47108" name="Rectangle 3">
            <a:extLst>
              <a:ext uri="{FF2B5EF4-FFF2-40B4-BE49-F238E27FC236}">
                <a16:creationId xmlns:a16="http://schemas.microsoft.com/office/drawing/2014/main" xmlns="" id="{A05592B8-835F-4BC7-B044-DAF74CB22857}"/>
              </a:ext>
            </a:extLst>
          </p:cNvPr>
          <p:cNvSpPr>
            <a:spLocks noGrp="1" noChangeArrowheads="1"/>
          </p:cNvSpPr>
          <p:nvPr>
            <p:ph type="body" idx="1"/>
          </p:nvPr>
        </p:nvSpPr>
        <p:spPr/>
        <p:txBody>
          <a:bodyPr/>
          <a:lstStyle/>
          <a:p>
            <a:pPr eaLnBrk="1" hangingPunct="1"/>
            <a:r>
              <a:rPr lang="en-US" altLang="en-US"/>
              <a:t>Sometimes called a “bar charts”</a:t>
            </a:r>
          </a:p>
          <a:p>
            <a:pPr eaLnBrk="1" hangingPunct="1"/>
            <a:r>
              <a:rPr lang="en-US" altLang="en-US"/>
              <a:t>Simple Gantt chart</a:t>
            </a:r>
          </a:p>
          <a:p>
            <a:pPr lvl="1" eaLnBrk="1" hangingPunct="1"/>
            <a:r>
              <a:rPr lang="en-US" altLang="en-US"/>
              <a:t>Either showing just highest summary bars</a:t>
            </a:r>
          </a:p>
          <a:p>
            <a:pPr lvl="1" eaLnBrk="1" hangingPunct="1"/>
            <a:r>
              <a:rPr lang="en-US" altLang="en-US"/>
              <a:t>Or milestones only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5">
            <a:extLst>
              <a:ext uri="{FF2B5EF4-FFF2-40B4-BE49-F238E27FC236}">
                <a16:creationId xmlns:a16="http://schemas.microsoft.com/office/drawing/2014/main" xmlns="" id="{9243CE2A-D91E-4BCF-97BF-746FEDD86D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B4811E90-CE05-4A13-8A3D-3EB6564EF3B3}" type="slidenum">
              <a:rPr lang="en-US" altLang="en-US" sz="1200"/>
              <a:pPr eaLnBrk="1" hangingPunct="1"/>
              <a:t>74</a:t>
            </a:fld>
            <a:endParaRPr lang="en-US" altLang="en-US" sz="1200"/>
          </a:p>
        </p:txBody>
      </p:sp>
      <p:sp>
        <p:nvSpPr>
          <p:cNvPr id="12292" name="Rectangle 1026">
            <a:extLst>
              <a:ext uri="{FF2B5EF4-FFF2-40B4-BE49-F238E27FC236}">
                <a16:creationId xmlns:a16="http://schemas.microsoft.com/office/drawing/2014/main" xmlns="" id="{09B9631A-73BE-4660-AC42-AA28AAC5A0DF}"/>
              </a:ext>
            </a:extLst>
          </p:cNvPr>
          <p:cNvSpPr>
            <a:spLocks noGrp="1" noChangeArrowheads="1"/>
          </p:cNvSpPr>
          <p:nvPr>
            <p:ph type="title"/>
          </p:nvPr>
        </p:nvSpPr>
        <p:spPr/>
        <p:txBody>
          <a:bodyPr/>
          <a:lstStyle/>
          <a:p>
            <a:pPr eaLnBrk="1" hangingPunct="1"/>
            <a:r>
              <a:rPr lang="en-US" altLang="en-US"/>
              <a:t>Bar Chart</a:t>
            </a:r>
          </a:p>
        </p:txBody>
      </p:sp>
      <p:graphicFrame>
        <p:nvGraphicFramePr>
          <p:cNvPr id="12290" name="Object 1028">
            <a:extLst>
              <a:ext uri="{FF2B5EF4-FFF2-40B4-BE49-F238E27FC236}">
                <a16:creationId xmlns:a16="http://schemas.microsoft.com/office/drawing/2014/main" xmlns="" id="{D8DE438B-BC6C-4536-B40B-DC1453230BD7}"/>
              </a:ext>
            </a:extLst>
          </p:cNvPr>
          <p:cNvGraphicFramePr>
            <a:graphicFrameLocks noChangeAspect="1"/>
          </p:cNvGraphicFramePr>
          <p:nvPr/>
        </p:nvGraphicFramePr>
        <p:xfrm>
          <a:off x="481013" y="1752600"/>
          <a:ext cx="8205787" cy="3967163"/>
        </p:xfrm>
        <a:graphic>
          <a:graphicData uri="http://schemas.openxmlformats.org/presentationml/2006/ole">
            <mc:AlternateContent xmlns:mc="http://schemas.openxmlformats.org/markup-compatibility/2006">
              <mc:Choice xmlns:v="urn:schemas-microsoft-com:vml" Requires="v">
                <p:oleObj spid="_x0000_s2050" name="Bitmap Image" r:id="rId3" imgW="5439534" imgH="2629267" progId="Paint.Picture">
                  <p:embed/>
                </p:oleObj>
              </mc:Choice>
              <mc:Fallback>
                <p:oleObj name="Bitmap Image" r:id="rId3" imgW="5439534" imgH="2629267" progId="Paint.Picture">
                  <p:embed/>
                  <p:pic>
                    <p:nvPicPr>
                      <p:cNvPr id="12290" name="Object 1028">
                        <a:extLst>
                          <a:ext uri="{FF2B5EF4-FFF2-40B4-BE49-F238E27FC236}">
                            <a16:creationId xmlns:a16="http://schemas.microsoft.com/office/drawing/2014/main" xmlns="" id="{D8DE438B-BC6C-4536-B40B-DC1453230B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3" y="1752600"/>
                        <a:ext cx="8205787"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xmlns="" id="{BB21F347-44B4-49F5-82B3-631E162768F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7888AD07-96FE-4F53-B14A-620252E2C1F8}" type="slidenum">
              <a:rPr lang="en-US" altLang="en-US" sz="1200"/>
              <a:pPr eaLnBrk="1" hangingPunct="1"/>
              <a:t>75</a:t>
            </a:fld>
            <a:endParaRPr lang="en-US" altLang="en-US" sz="1200"/>
          </a:p>
        </p:txBody>
      </p:sp>
      <p:sp>
        <p:nvSpPr>
          <p:cNvPr id="48131" name="Rectangle 2">
            <a:extLst>
              <a:ext uri="{FF2B5EF4-FFF2-40B4-BE49-F238E27FC236}">
                <a16:creationId xmlns:a16="http://schemas.microsoft.com/office/drawing/2014/main" xmlns="" id="{8FA09E3A-5B1F-4C3D-98BC-4D49961F06FE}"/>
              </a:ext>
            </a:extLst>
          </p:cNvPr>
          <p:cNvSpPr>
            <a:spLocks noGrp="1" noChangeArrowheads="1"/>
          </p:cNvSpPr>
          <p:nvPr>
            <p:ph type="title"/>
          </p:nvPr>
        </p:nvSpPr>
        <p:spPr/>
        <p:txBody>
          <a:bodyPr/>
          <a:lstStyle/>
          <a:p>
            <a:pPr eaLnBrk="1" hangingPunct="1"/>
            <a:r>
              <a:rPr lang="en-US" altLang="en-US"/>
              <a:t>Gantt Chart</a:t>
            </a:r>
          </a:p>
        </p:txBody>
      </p:sp>
      <p:pic>
        <p:nvPicPr>
          <p:cNvPr id="48132" name="Picture 3">
            <a:extLst>
              <a:ext uri="{FF2B5EF4-FFF2-40B4-BE49-F238E27FC236}">
                <a16:creationId xmlns:a16="http://schemas.microsoft.com/office/drawing/2014/main" xmlns="" id="{63E6455F-4758-4D9B-B6B8-0F21A1F45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20" y="1690689"/>
            <a:ext cx="8300720" cy="463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xmlns="" id="{075010AE-F981-4723-ACCF-F86D1D900C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D1754034-E090-4CD1-8958-058B05CCF22F}" type="slidenum">
              <a:rPr lang="en-US" altLang="en-US" sz="1200"/>
              <a:pPr eaLnBrk="1" hangingPunct="1"/>
              <a:t>76</a:t>
            </a:fld>
            <a:endParaRPr lang="en-US" altLang="en-US" sz="1200"/>
          </a:p>
        </p:txBody>
      </p:sp>
      <p:sp>
        <p:nvSpPr>
          <p:cNvPr id="49155" name="Rectangle 2">
            <a:extLst>
              <a:ext uri="{FF2B5EF4-FFF2-40B4-BE49-F238E27FC236}">
                <a16:creationId xmlns:a16="http://schemas.microsoft.com/office/drawing/2014/main" xmlns="" id="{04E6381A-EACC-44E2-B4E7-9DE6E9878C01}"/>
              </a:ext>
            </a:extLst>
          </p:cNvPr>
          <p:cNvSpPr>
            <a:spLocks noGrp="1" noChangeArrowheads="1"/>
          </p:cNvSpPr>
          <p:nvPr>
            <p:ph type="title"/>
          </p:nvPr>
        </p:nvSpPr>
        <p:spPr/>
        <p:txBody>
          <a:bodyPr/>
          <a:lstStyle/>
          <a:p>
            <a:pPr eaLnBrk="1" hangingPunct="1"/>
            <a:r>
              <a:rPr lang="en-US" altLang="en-US"/>
              <a:t>Gantt Chart</a:t>
            </a:r>
          </a:p>
        </p:txBody>
      </p:sp>
      <p:sp>
        <p:nvSpPr>
          <p:cNvPr id="49156" name="Rectangle 3">
            <a:extLst>
              <a:ext uri="{FF2B5EF4-FFF2-40B4-BE49-F238E27FC236}">
                <a16:creationId xmlns:a16="http://schemas.microsoft.com/office/drawing/2014/main" xmlns="" id="{D6142DC1-2389-4BAD-9C98-99727D3C0B04}"/>
              </a:ext>
            </a:extLst>
          </p:cNvPr>
          <p:cNvSpPr>
            <a:spLocks noGrp="1" noChangeArrowheads="1"/>
          </p:cNvSpPr>
          <p:nvPr>
            <p:ph type="body" idx="1"/>
          </p:nvPr>
        </p:nvSpPr>
        <p:spPr/>
        <p:txBody>
          <a:bodyPr/>
          <a:lstStyle/>
          <a:p>
            <a:pPr eaLnBrk="1" hangingPunct="1">
              <a:lnSpc>
                <a:spcPct val="90000"/>
              </a:lnSpc>
            </a:pPr>
            <a:r>
              <a:rPr lang="en-US" altLang="en-US" sz="2800"/>
              <a:t>Disadvantages</a:t>
            </a:r>
          </a:p>
          <a:p>
            <a:pPr lvl="1" eaLnBrk="1" hangingPunct="1">
              <a:lnSpc>
                <a:spcPct val="90000"/>
              </a:lnSpc>
            </a:pPr>
            <a:r>
              <a:rPr lang="en-US" altLang="en-US" sz="2400"/>
              <a:t>Does not show interdependencies well</a:t>
            </a:r>
          </a:p>
          <a:p>
            <a:pPr lvl="1" eaLnBrk="1" hangingPunct="1">
              <a:lnSpc>
                <a:spcPct val="90000"/>
              </a:lnSpc>
            </a:pPr>
            <a:r>
              <a:rPr lang="en-US" altLang="en-US" sz="2400"/>
              <a:t>Does not uncertainty of a given activity (as does PERT)</a:t>
            </a:r>
          </a:p>
          <a:p>
            <a:pPr eaLnBrk="1" hangingPunct="1">
              <a:lnSpc>
                <a:spcPct val="90000"/>
              </a:lnSpc>
            </a:pPr>
            <a:r>
              <a:rPr lang="en-US" altLang="en-US" sz="2800"/>
              <a:t>Advantages</a:t>
            </a:r>
          </a:p>
          <a:p>
            <a:pPr lvl="1" eaLnBrk="1" hangingPunct="1">
              <a:lnSpc>
                <a:spcPct val="90000"/>
              </a:lnSpc>
            </a:pPr>
            <a:r>
              <a:rPr lang="en-US" altLang="en-US" sz="2400"/>
              <a:t>Easily understood</a:t>
            </a:r>
          </a:p>
          <a:p>
            <a:pPr lvl="1" eaLnBrk="1" hangingPunct="1">
              <a:lnSpc>
                <a:spcPct val="90000"/>
              </a:lnSpc>
            </a:pPr>
            <a:r>
              <a:rPr lang="en-US" altLang="en-US" sz="2400"/>
              <a:t>Easily created and maintained</a:t>
            </a:r>
          </a:p>
          <a:p>
            <a:pPr eaLnBrk="1" hangingPunct="1">
              <a:lnSpc>
                <a:spcPct val="90000"/>
              </a:lnSpc>
            </a:pPr>
            <a:r>
              <a:rPr lang="en-US" altLang="en-US" sz="2800"/>
              <a:t>Note: Software now shows dependencies among tasks in Gantt charts</a:t>
            </a:r>
          </a:p>
          <a:p>
            <a:pPr lvl="1" eaLnBrk="1" hangingPunct="1">
              <a:lnSpc>
                <a:spcPct val="90000"/>
              </a:lnSpc>
            </a:pPr>
            <a:r>
              <a:rPr lang="en-US" altLang="en-US" sz="2400"/>
              <a:t>In the “old” days Gantt charts did not show these dependencies, bar charts typically do not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xmlns="" id="{6B9DF374-95DD-4D64-97F5-DAEE2CFFE6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DAFDA948-1672-4A12-B230-4EE2D11D70E6}" type="slidenum">
              <a:rPr lang="en-US" altLang="en-US" sz="1200"/>
              <a:pPr eaLnBrk="1" hangingPunct="1"/>
              <a:t>77</a:t>
            </a:fld>
            <a:endParaRPr lang="en-US" altLang="en-US" sz="1200"/>
          </a:p>
        </p:txBody>
      </p:sp>
      <p:sp>
        <p:nvSpPr>
          <p:cNvPr id="50179" name="Rectangle 2">
            <a:extLst>
              <a:ext uri="{FF2B5EF4-FFF2-40B4-BE49-F238E27FC236}">
                <a16:creationId xmlns:a16="http://schemas.microsoft.com/office/drawing/2014/main" xmlns="" id="{4FBB6F25-1C08-4FB1-BF63-3095B31C76A0}"/>
              </a:ext>
            </a:extLst>
          </p:cNvPr>
          <p:cNvSpPr>
            <a:spLocks noGrp="1" noChangeArrowheads="1"/>
          </p:cNvSpPr>
          <p:nvPr>
            <p:ph type="title"/>
          </p:nvPr>
        </p:nvSpPr>
        <p:spPr/>
        <p:txBody>
          <a:bodyPr/>
          <a:lstStyle/>
          <a:p>
            <a:pPr eaLnBrk="1" hangingPunct="1"/>
            <a:r>
              <a:rPr lang="en-US" altLang="en-US"/>
              <a:t>Reducing Project Duration</a:t>
            </a:r>
          </a:p>
        </p:txBody>
      </p:sp>
      <p:sp>
        <p:nvSpPr>
          <p:cNvPr id="50180" name="Rectangle 3">
            <a:extLst>
              <a:ext uri="{FF2B5EF4-FFF2-40B4-BE49-F238E27FC236}">
                <a16:creationId xmlns:a16="http://schemas.microsoft.com/office/drawing/2014/main" xmlns="" id="{AA1B441F-F742-4765-B1B1-B9CFF4C0617C}"/>
              </a:ext>
            </a:extLst>
          </p:cNvPr>
          <p:cNvSpPr>
            <a:spLocks noGrp="1" noChangeArrowheads="1"/>
          </p:cNvSpPr>
          <p:nvPr>
            <p:ph type="body" idx="1"/>
          </p:nvPr>
        </p:nvSpPr>
        <p:spPr/>
        <p:txBody>
          <a:bodyPr/>
          <a:lstStyle/>
          <a:p>
            <a:pPr eaLnBrk="1" hangingPunct="1"/>
            <a:r>
              <a:rPr lang="en-US" altLang="en-US"/>
              <a:t>How can you shorten the schedule?</a:t>
            </a:r>
          </a:p>
          <a:p>
            <a:pPr eaLnBrk="1" hangingPunct="1"/>
            <a:r>
              <a:rPr lang="en-US" altLang="en-US"/>
              <a:t>Via</a:t>
            </a:r>
          </a:p>
          <a:p>
            <a:pPr lvl="1" eaLnBrk="1" hangingPunct="1"/>
            <a:r>
              <a:rPr lang="en-US" altLang="en-US"/>
              <a:t>Reducing scope (or quality)</a:t>
            </a:r>
          </a:p>
          <a:p>
            <a:pPr lvl="1" eaLnBrk="1" hangingPunct="1"/>
            <a:r>
              <a:rPr lang="en-US" altLang="en-US"/>
              <a:t>Adding resources</a:t>
            </a:r>
          </a:p>
          <a:p>
            <a:pPr lvl="1" eaLnBrk="1" hangingPunct="1"/>
            <a:r>
              <a:rPr lang="en-US" altLang="en-US"/>
              <a:t>Concurrency (perform tasks in parallel)</a:t>
            </a:r>
          </a:p>
          <a:p>
            <a:pPr lvl="1" eaLnBrk="1" hangingPunct="1"/>
            <a:r>
              <a:rPr lang="en-US" altLang="en-US"/>
              <a:t>Substitution of activities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xmlns="" id="{610828AE-7798-4C68-A63D-3FD1EBC8F1C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EDB97F83-E88D-4D3C-81E8-E8765ABDE9D5}" type="slidenum">
              <a:rPr lang="en-US" altLang="en-US" sz="1200"/>
              <a:pPr eaLnBrk="1" hangingPunct="1"/>
              <a:t>78</a:t>
            </a:fld>
            <a:endParaRPr lang="en-US" altLang="en-US" sz="1200"/>
          </a:p>
        </p:txBody>
      </p:sp>
      <p:sp>
        <p:nvSpPr>
          <p:cNvPr id="51203" name="Rectangle 2">
            <a:extLst>
              <a:ext uri="{FF2B5EF4-FFF2-40B4-BE49-F238E27FC236}">
                <a16:creationId xmlns:a16="http://schemas.microsoft.com/office/drawing/2014/main" xmlns="" id="{F7FE58E5-CEDF-4F00-996D-9D88CF20C2C0}"/>
              </a:ext>
            </a:extLst>
          </p:cNvPr>
          <p:cNvSpPr>
            <a:spLocks noGrp="1" noChangeArrowheads="1"/>
          </p:cNvSpPr>
          <p:nvPr>
            <p:ph type="title"/>
          </p:nvPr>
        </p:nvSpPr>
        <p:spPr/>
        <p:txBody>
          <a:bodyPr/>
          <a:lstStyle/>
          <a:p>
            <a:pPr eaLnBrk="1" hangingPunct="1"/>
            <a:r>
              <a:rPr lang="en-US" altLang="en-US"/>
              <a:t>Compression Techniques</a:t>
            </a:r>
          </a:p>
        </p:txBody>
      </p:sp>
      <p:sp>
        <p:nvSpPr>
          <p:cNvPr id="51204" name="Rectangle 3">
            <a:extLst>
              <a:ext uri="{FF2B5EF4-FFF2-40B4-BE49-F238E27FC236}">
                <a16:creationId xmlns:a16="http://schemas.microsoft.com/office/drawing/2014/main" xmlns="" id="{ACEDC583-825D-49F2-9F48-12E317E069F9}"/>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sz="2800"/>
              <a:t>Shorten the overall duration of the project</a:t>
            </a:r>
          </a:p>
          <a:p>
            <a:pPr eaLnBrk="1" hangingPunct="1">
              <a:lnSpc>
                <a:spcPct val="90000"/>
              </a:lnSpc>
            </a:pPr>
            <a:r>
              <a:rPr lang="en-US" altLang="en-US" sz="2800"/>
              <a:t>Crashing</a:t>
            </a:r>
          </a:p>
          <a:p>
            <a:pPr lvl="2" eaLnBrk="1" hangingPunct="1">
              <a:lnSpc>
                <a:spcPct val="90000"/>
              </a:lnSpc>
            </a:pPr>
            <a:r>
              <a:rPr lang="en-US" altLang="en-US" sz="2000"/>
              <a:t>Looks at cost and schedule tradeoffs</a:t>
            </a:r>
          </a:p>
          <a:p>
            <a:pPr lvl="2" eaLnBrk="1" hangingPunct="1">
              <a:lnSpc>
                <a:spcPct val="90000"/>
              </a:lnSpc>
            </a:pPr>
            <a:r>
              <a:rPr lang="en-US" altLang="en-US" sz="2000"/>
              <a:t>Gain greatest compression with least cost</a:t>
            </a:r>
          </a:p>
          <a:p>
            <a:pPr lvl="2" eaLnBrk="1" hangingPunct="1">
              <a:lnSpc>
                <a:spcPct val="90000"/>
              </a:lnSpc>
            </a:pPr>
            <a:r>
              <a:rPr lang="en-US" altLang="en-US" sz="2000"/>
              <a:t>Add resources to critical path tasks</a:t>
            </a:r>
          </a:p>
          <a:p>
            <a:pPr lvl="2" eaLnBrk="1" hangingPunct="1">
              <a:lnSpc>
                <a:spcPct val="90000"/>
              </a:lnSpc>
            </a:pPr>
            <a:r>
              <a:rPr lang="en-US" altLang="en-US" sz="2000"/>
              <a:t>Limit or reduce requirements (scope)</a:t>
            </a:r>
          </a:p>
          <a:p>
            <a:pPr lvl="2" eaLnBrk="1" hangingPunct="1">
              <a:lnSpc>
                <a:spcPct val="90000"/>
              </a:lnSpc>
            </a:pPr>
            <a:r>
              <a:rPr lang="en-US" altLang="en-US" sz="2000"/>
              <a:t>Changing the sequence of tasks</a:t>
            </a:r>
          </a:p>
          <a:p>
            <a:pPr eaLnBrk="1" hangingPunct="1">
              <a:lnSpc>
                <a:spcPct val="90000"/>
              </a:lnSpc>
            </a:pPr>
            <a:r>
              <a:rPr lang="en-US" altLang="en-US" sz="2800"/>
              <a:t>Fast Tracking</a:t>
            </a:r>
          </a:p>
          <a:p>
            <a:pPr lvl="2" eaLnBrk="1" hangingPunct="1">
              <a:lnSpc>
                <a:spcPct val="90000"/>
              </a:lnSpc>
            </a:pPr>
            <a:r>
              <a:rPr lang="en-US" altLang="en-US" sz="2000"/>
              <a:t>Overlapping of phases, activities or tasks that would otherwise be sequential</a:t>
            </a:r>
          </a:p>
          <a:p>
            <a:pPr lvl="2" eaLnBrk="1" hangingPunct="1">
              <a:lnSpc>
                <a:spcPct val="90000"/>
              </a:lnSpc>
            </a:pPr>
            <a:r>
              <a:rPr lang="en-US" altLang="en-US" sz="2000"/>
              <a:t>Involves some risk</a:t>
            </a:r>
          </a:p>
          <a:p>
            <a:pPr lvl="2" eaLnBrk="1" hangingPunct="1">
              <a:lnSpc>
                <a:spcPct val="90000"/>
              </a:lnSpc>
            </a:pPr>
            <a:r>
              <a:rPr lang="en-US" altLang="en-US" sz="2000"/>
              <a:t>May cause rework</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5">
            <a:extLst>
              <a:ext uri="{FF2B5EF4-FFF2-40B4-BE49-F238E27FC236}">
                <a16:creationId xmlns:a16="http://schemas.microsoft.com/office/drawing/2014/main" xmlns="" id="{A37CBBE6-A2F3-4309-93BE-A42B02E2EAE4}"/>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79</a:t>
            </a:fld>
            <a:endParaRPr lang="en-US" altLang="en-US" sz="1400">
              <a:solidFill>
                <a:schemeClr val="bg1"/>
              </a:solidFill>
            </a:endParaRPr>
          </a:p>
        </p:txBody>
      </p:sp>
      <p:sp>
        <p:nvSpPr>
          <p:cNvPr id="90115" name="Rectangle 2">
            <a:extLst>
              <a:ext uri="{FF2B5EF4-FFF2-40B4-BE49-F238E27FC236}">
                <a16:creationId xmlns:a16="http://schemas.microsoft.com/office/drawing/2014/main" xmlns="" id="{3AADC180-5172-4DB4-945C-61AF7A7C7939}"/>
              </a:ext>
            </a:extLst>
          </p:cNvPr>
          <p:cNvSpPr>
            <a:spLocks noGrp="1" noChangeAspect="1" noChangeArrowheads="1"/>
          </p:cNvSpPr>
          <p:nvPr>
            <p:ph type="title"/>
          </p:nvPr>
        </p:nvSpPr>
        <p:spPr/>
        <p:txBody>
          <a:bodyPr/>
          <a:lstStyle/>
          <a:p>
            <a:r>
              <a:rPr lang="en-US" altLang="en-US" dirty="0"/>
              <a:t>Conclusion [1/3]</a:t>
            </a:r>
          </a:p>
        </p:txBody>
      </p:sp>
      <p:sp>
        <p:nvSpPr>
          <p:cNvPr id="90116" name="Rectangle 3">
            <a:extLst>
              <a:ext uri="{FF2B5EF4-FFF2-40B4-BE49-F238E27FC236}">
                <a16:creationId xmlns:a16="http://schemas.microsoft.com/office/drawing/2014/main" xmlns="" id="{FB5694CE-9B5A-46BB-AE5E-3D5056D744FB}"/>
              </a:ext>
            </a:extLst>
          </p:cNvPr>
          <p:cNvSpPr>
            <a:spLocks noGrp="1" noChangeArrowheads="1"/>
          </p:cNvSpPr>
          <p:nvPr>
            <p:ph type="body" idx="1"/>
          </p:nvPr>
        </p:nvSpPr>
        <p:spPr/>
        <p:txBody>
          <a:bodyPr>
            <a:normAutofit/>
          </a:bodyPr>
          <a:lstStyle/>
          <a:p>
            <a:r>
              <a:rPr lang="en-US" altLang="en-US" sz="3200" dirty="0"/>
              <a:t>Activity plan tells us the order in which we should execute activities and the earliest and latest we can start and finish them</a:t>
            </a:r>
          </a:p>
          <a:p>
            <a:r>
              <a:rPr lang="en-US" altLang="en-US" sz="3200" dirty="0"/>
              <a:t>The critical path method and precedence networks can be used to obtain an ideal activity plan</a:t>
            </a:r>
          </a:p>
          <a:p>
            <a:endParaRPr lang="en-US" altLang="en-US" sz="3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5">
            <a:extLst>
              <a:ext uri="{FF2B5EF4-FFF2-40B4-BE49-F238E27FC236}">
                <a16:creationId xmlns:a16="http://schemas.microsoft.com/office/drawing/2014/main" xmlns="" id="{909F8C43-1FF8-4619-AB48-80507F2F7221}"/>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80</a:t>
            </a:fld>
            <a:endParaRPr lang="en-US" altLang="en-US" sz="1400">
              <a:solidFill>
                <a:schemeClr val="bg1"/>
              </a:solidFill>
            </a:endParaRPr>
          </a:p>
        </p:txBody>
      </p:sp>
      <p:sp>
        <p:nvSpPr>
          <p:cNvPr id="91139" name="Rectangle 2">
            <a:extLst>
              <a:ext uri="{FF2B5EF4-FFF2-40B4-BE49-F238E27FC236}">
                <a16:creationId xmlns:a16="http://schemas.microsoft.com/office/drawing/2014/main" xmlns="" id="{04D62821-A3CC-46DC-8EEB-D856A4A26542}"/>
              </a:ext>
            </a:extLst>
          </p:cNvPr>
          <p:cNvSpPr>
            <a:spLocks noGrp="1" noChangeAspect="1" noChangeArrowheads="1"/>
          </p:cNvSpPr>
          <p:nvPr>
            <p:ph type="title"/>
          </p:nvPr>
        </p:nvSpPr>
        <p:spPr/>
        <p:txBody>
          <a:bodyPr/>
          <a:lstStyle/>
          <a:p>
            <a:r>
              <a:rPr lang="en-US" altLang="en-US" dirty="0"/>
              <a:t>Conclusion [2/3]</a:t>
            </a:r>
          </a:p>
        </p:txBody>
      </p:sp>
      <p:sp>
        <p:nvSpPr>
          <p:cNvPr id="91140" name="Rectangle 3">
            <a:extLst>
              <a:ext uri="{FF2B5EF4-FFF2-40B4-BE49-F238E27FC236}">
                <a16:creationId xmlns:a16="http://schemas.microsoft.com/office/drawing/2014/main" xmlns="" id="{9700B3C3-90C5-49AD-AB82-D0BA54375308}"/>
              </a:ext>
            </a:extLst>
          </p:cNvPr>
          <p:cNvSpPr>
            <a:spLocks noGrp="1" noChangeArrowheads="1"/>
          </p:cNvSpPr>
          <p:nvPr>
            <p:ph type="body" idx="1"/>
          </p:nvPr>
        </p:nvSpPr>
        <p:spPr/>
        <p:txBody>
          <a:bodyPr>
            <a:normAutofit/>
          </a:bodyPr>
          <a:lstStyle/>
          <a:p>
            <a:r>
              <a:rPr lang="en-US" altLang="en-US" sz="3200" dirty="0"/>
              <a:t>The critical path method and precedence networks techniques helps us to identify which activities are critical to meeting a target completion date</a:t>
            </a:r>
          </a:p>
          <a:p>
            <a:r>
              <a:rPr lang="en-US" altLang="en-US" sz="3200" dirty="0"/>
              <a:t>In order to manage the project we need to turn the activity plan into schedule that will specify precisely when each activity is scheduled to start and finish</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a:extLst>
              <a:ext uri="{FF2B5EF4-FFF2-40B4-BE49-F238E27FC236}">
                <a16:creationId xmlns:a16="http://schemas.microsoft.com/office/drawing/2014/main" xmlns="" id="{DE0B7950-E7EE-45A0-BECC-2997A3E7BF7D}"/>
              </a:ext>
            </a:extLst>
          </p:cNvPr>
          <p:cNvSpPr>
            <a:spLocks noGrp="1" noChangeArrowheads="1"/>
          </p:cNvSpPr>
          <p:nvPr>
            <p:ph type="sldNum" sz="quarter" idx="11"/>
          </p:nvPr>
        </p:nvSpPr>
        <p:spPr bwMode="auto">
          <a:xfrm>
            <a:off x="6553200" y="6324600"/>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i="1" kern="1200">
                <a:solidFill>
                  <a:schemeClr val="bg1"/>
                </a:solidFill>
                <a:latin typeface="Trebuchet MS" panose="020B0603020202020204" pitchFamily="34" charset="0"/>
                <a:ea typeface="+mn-ea"/>
                <a:cs typeface="Tahoma" panose="020B0604030504040204" pitchFamily="34" charset="0"/>
              </a:defRPr>
            </a:lvl1pPr>
            <a:lvl2pPr marL="4572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2pPr>
            <a:lvl3pPr marL="9144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3pPr>
            <a:lvl4pPr marL="13716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4pPr>
            <a:lvl5pPr marL="1828800" algn="l" rtl="0" eaLnBrk="0" fontAlgn="base" hangingPunct="0">
              <a:spcBef>
                <a:spcPct val="0"/>
              </a:spcBef>
              <a:spcAft>
                <a:spcPct val="0"/>
              </a:spcAft>
              <a:defRPr kern="1200">
                <a:solidFill>
                  <a:srgbClr val="FF3300"/>
                </a:solidFill>
                <a:latin typeface="Tahoma" panose="020B0604030504040204" pitchFamily="34" charset="0"/>
                <a:ea typeface="+mn-ea"/>
                <a:cs typeface="Tahoma" panose="020B0604030504040204" pitchFamily="34" charset="0"/>
              </a:defRPr>
            </a:lvl5pPr>
            <a:lvl6pPr marL="22860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6pPr>
            <a:lvl7pPr marL="27432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7pPr>
            <a:lvl8pPr marL="32004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8pPr>
            <a:lvl9pPr marL="3657600" algn="l" defTabSz="914400" rtl="0" eaLnBrk="1" latinLnBrk="0" hangingPunct="1">
              <a:defRPr kern="1200">
                <a:solidFill>
                  <a:srgbClr val="FF3300"/>
                </a:solidFill>
                <a:latin typeface="Tahoma" panose="020B0604030504040204" pitchFamily="34" charset="0"/>
                <a:ea typeface="+mn-ea"/>
                <a:cs typeface="Tahoma" panose="020B0604030504040204" pitchFamily="34" charset="0"/>
              </a:defRPr>
            </a:lvl9pPr>
          </a:lstStyle>
          <a:p>
            <a:pPr>
              <a:spcBef>
                <a:spcPct val="0"/>
              </a:spcBef>
              <a:buFontTx/>
              <a:buNone/>
            </a:pPr>
            <a:r>
              <a:rPr lang="en-US" altLang="en-US"/>
              <a:t>Chapter 6-</a:t>
            </a:r>
            <a:fld id="{C0B04E61-CB3B-4604-86E7-0CC53DB18FA6}" type="slidenum">
              <a:rPr lang="en-US" altLang="en-US" smtClean="0"/>
              <a:pPr>
                <a:spcBef>
                  <a:spcPct val="0"/>
                </a:spcBef>
                <a:buFontTx/>
                <a:buNone/>
              </a:pPr>
              <a:t>81</a:t>
            </a:fld>
            <a:endParaRPr lang="en-US" altLang="en-US" sz="1400">
              <a:solidFill>
                <a:schemeClr val="bg1"/>
              </a:solidFill>
            </a:endParaRPr>
          </a:p>
        </p:txBody>
      </p:sp>
      <p:sp>
        <p:nvSpPr>
          <p:cNvPr id="92163" name="Rectangle 1026">
            <a:extLst>
              <a:ext uri="{FF2B5EF4-FFF2-40B4-BE49-F238E27FC236}">
                <a16:creationId xmlns:a16="http://schemas.microsoft.com/office/drawing/2014/main" xmlns="" id="{8AF1061D-0827-4F22-B99B-EFE9DFDFA46D}"/>
              </a:ext>
            </a:extLst>
          </p:cNvPr>
          <p:cNvSpPr>
            <a:spLocks noGrp="1" noChangeAspect="1" noChangeArrowheads="1"/>
          </p:cNvSpPr>
          <p:nvPr>
            <p:ph type="title"/>
          </p:nvPr>
        </p:nvSpPr>
        <p:spPr/>
        <p:txBody>
          <a:bodyPr/>
          <a:lstStyle/>
          <a:p>
            <a:r>
              <a:rPr lang="en-US" altLang="en-US" dirty="0"/>
              <a:t>Conclusion [3/3]</a:t>
            </a:r>
          </a:p>
        </p:txBody>
      </p:sp>
      <p:sp>
        <p:nvSpPr>
          <p:cNvPr id="92164" name="Rectangle 1027">
            <a:extLst>
              <a:ext uri="{FF2B5EF4-FFF2-40B4-BE49-F238E27FC236}">
                <a16:creationId xmlns:a16="http://schemas.microsoft.com/office/drawing/2014/main" xmlns="" id="{6124EC37-58F1-49B8-BBF4-A4933B02A616}"/>
              </a:ext>
            </a:extLst>
          </p:cNvPr>
          <p:cNvSpPr>
            <a:spLocks noGrp="1" noChangeArrowheads="1"/>
          </p:cNvSpPr>
          <p:nvPr>
            <p:ph type="body" idx="1"/>
          </p:nvPr>
        </p:nvSpPr>
        <p:spPr/>
        <p:txBody>
          <a:bodyPr>
            <a:normAutofit/>
          </a:bodyPr>
          <a:lstStyle/>
          <a:p>
            <a:r>
              <a:rPr lang="en-US" altLang="en-US" sz="3200" dirty="0"/>
              <a:t>Before we can do scheduling, we must consider what resources will be required and whether or not they will be available at appropriate times</a:t>
            </a:r>
          </a:p>
          <a:p>
            <a:r>
              <a:rPr lang="en-US" altLang="en-US" sz="3200" dirty="0"/>
              <a:t>The allocation of resources to an activity may be affected by how we view the importance of the task and the risks associated with it</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6954</TotalTime>
  <Words>3544</Words>
  <Application>Microsoft Office PowerPoint</Application>
  <PresentationFormat>On-screen Show (4:3)</PresentationFormat>
  <Paragraphs>731</Paragraphs>
  <Slides>81</Slides>
  <Notes>18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83" baseType="lpstr">
      <vt:lpstr>Office Theme</vt:lpstr>
      <vt:lpstr>Bitmap Image</vt:lpstr>
      <vt:lpstr>FUNDAMENTALS OF SOFTWARE PROJECT MANAGEMENT  Scheduling </vt:lpstr>
      <vt:lpstr>Today</vt:lpstr>
      <vt:lpstr>WBS</vt:lpstr>
      <vt:lpstr>Estimation</vt:lpstr>
      <vt:lpstr>Estimation</vt:lpstr>
      <vt:lpstr>Your Early Phase Processes</vt:lpstr>
      <vt:lpstr>Scheduling</vt:lpstr>
      <vt:lpstr>Scheduling Techniques</vt:lpstr>
      <vt:lpstr>Network Planning Models</vt:lpstr>
      <vt:lpstr>Network Planning Models</vt:lpstr>
      <vt:lpstr>Network Planning Models Activity-On-Arrow [1/2]</vt:lpstr>
      <vt:lpstr>Network Planning Models Activity-On-Arrow [2/2]</vt:lpstr>
      <vt:lpstr>Network Planning Models Activity-On-Node [1/2]</vt:lpstr>
      <vt:lpstr>Network Planning Models Activity-On-Node [2/2]</vt:lpstr>
      <vt:lpstr>Formulating A Network Model Constructing Precedence Network Rules [1/2]</vt:lpstr>
      <vt:lpstr>Formulating A Network Model Constructing Precedence Network Rules [2/2]</vt:lpstr>
      <vt:lpstr>Terminology</vt:lpstr>
      <vt:lpstr>4 Task Dependency Types</vt:lpstr>
      <vt:lpstr>4 Task Dependency Types</vt:lpstr>
      <vt:lpstr>PowerPoint Presentation</vt:lpstr>
      <vt:lpstr>PowerPoint Presentation</vt:lpstr>
      <vt:lpstr>Task Dependency Relationships</vt:lpstr>
      <vt:lpstr>Lagged activities</vt:lpstr>
      <vt:lpstr>Types of links between activities</vt:lpstr>
      <vt:lpstr>Start and finish times</vt:lpstr>
      <vt:lpstr>Terminology</vt:lpstr>
      <vt:lpstr>Example</vt:lpstr>
      <vt:lpstr>Formulating A Network Model Labelling Convention</vt:lpstr>
      <vt:lpstr>Adding The Time Dimension</vt:lpstr>
      <vt:lpstr>Adding The Time Dimension Example of Estimated Activity Duration of A Project</vt:lpstr>
      <vt:lpstr>Adding The Time Dimension The Precedence Network of The Example Project</vt:lpstr>
      <vt:lpstr>Forward Pass</vt:lpstr>
      <vt:lpstr>The Forward Pass The Network After The Forward Pass</vt:lpstr>
      <vt:lpstr>Backward Pass</vt:lpstr>
      <vt:lpstr>The Backward Pass The Network After The Backward Pass</vt:lpstr>
      <vt:lpstr>Critical Path Method (CPM)</vt:lpstr>
      <vt:lpstr>Calculating the Critical Path</vt:lpstr>
      <vt:lpstr>Figure 6-8. Determining the Critical Path for Project X</vt:lpstr>
      <vt:lpstr>More on the Critical Path</vt:lpstr>
      <vt:lpstr>Activity</vt:lpstr>
      <vt:lpstr>Activity</vt:lpstr>
      <vt:lpstr>Activity-On-Arrow Networks</vt:lpstr>
      <vt:lpstr>Activity-On-Arrow Networks Activity-On-Arrow Network of the Example Project</vt:lpstr>
      <vt:lpstr>Activity-On-Arrow Networks Activity-On-Arrow Rules and Conventions [1/2]</vt:lpstr>
      <vt:lpstr>Activity-On-Arrow Networks Activity-On-Arrow Rules and Conventions [2/2]</vt:lpstr>
      <vt:lpstr>Activity-On-Arrow Networks Using Dummy Activities [1/3]</vt:lpstr>
      <vt:lpstr>Activity-On-Arrow Networks Using Dummy Activities [2/3]</vt:lpstr>
      <vt:lpstr>Activity-On-Arrow Networks Using Dummy Activities [3/3]</vt:lpstr>
      <vt:lpstr>Activity-On-Arrow Networks Activity Labelling</vt:lpstr>
      <vt:lpstr>Activity-On-Arrow Networks Network Analysis</vt:lpstr>
      <vt:lpstr>Activity-On-Arrow Networks The CPM Network After The Forward Pass </vt:lpstr>
      <vt:lpstr>Activity-On-Arrow Networks The Activity Table After The Forward Pass </vt:lpstr>
      <vt:lpstr>Activity-On-Arrow Networks The Backward Pass </vt:lpstr>
      <vt:lpstr>Activity-On-Arrow Networks The CPM Network After the Backward Pass</vt:lpstr>
      <vt:lpstr>Activity-On-Arrow Networks The Activity Table After the Backward Pass </vt:lpstr>
      <vt:lpstr>Activity-On-Arrow Networks Identifying The Critical Path </vt:lpstr>
      <vt:lpstr>Activity-On-Arrow Networks The Critical Path </vt:lpstr>
      <vt:lpstr>Network Diagrams</vt:lpstr>
      <vt:lpstr>Program Evaluation and Review Technique (PERT)</vt:lpstr>
      <vt:lpstr>PERT</vt:lpstr>
      <vt:lpstr>PERT Formula and Example</vt:lpstr>
      <vt:lpstr>Example-Solved</vt:lpstr>
      <vt:lpstr>Step1: Calculate Estimated Time</vt:lpstr>
      <vt:lpstr>Step2- Identify Critical Path</vt:lpstr>
      <vt:lpstr>Step 3: Use critical path activities to Calculate SD and Variance</vt:lpstr>
      <vt:lpstr>Step 3: Continue…</vt:lpstr>
      <vt:lpstr>Step 3: Continue…</vt:lpstr>
      <vt:lpstr>Step3 (Continue): Variance and SD of Project Time</vt:lpstr>
      <vt:lpstr>Step 4: Calculate Probability </vt:lpstr>
      <vt:lpstr>Step 4 (Continue): Finalize Probability through Z-Table/Standard Normal Table</vt:lpstr>
      <vt:lpstr>Step 4 (Continue): Final Probability</vt:lpstr>
      <vt:lpstr>CPM vs. PERT</vt:lpstr>
      <vt:lpstr>Milestone Chart</vt:lpstr>
      <vt:lpstr>Bar Chart</vt:lpstr>
      <vt:lpstr>Gantt Chart</vt:lpstr>
      <vt:lpstr>Gantt Chart</vt:lpstr>
      <vt:lpstr>Reducing Project Duration</vt:lpstr>
      <vt:lpstr>Compression Techniques</vt:lpstr>
      <vt:lpstr>Conclusion [1/3]</vt:lpstr>
      <vt:lpstr>Conclusion [2/3]</vt:lpstr>
      <vt:lpstr>Conclusion [3/3]</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haadia</cp:lastModifiedBy>
  <cp:revision>431</cp:revision>
  <dcterms:created xsi:type="dcterms:W3CDTF">2021-08-26T07:43:58Z</dcterms:created>
  <dcterms:modified xsi:type="dcterms:W3CDTF">2025-10-20T04:32:39Z</dcterms:modified>
</cp:coreProperties>
</file>