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9"/>
  </p:notesMasterIdLst>
  <p:handoutMasterIdLst>
    <p:handoutMasterId r:id="rId40"/>
  </p:handoutMasterIdLst>
  <p:sldIdLst>
    <p:sldId id="295" r:id="rId2"/>
    <p:sldId id="257" r:id="rId3"/>
    <p:sldId id="258" r:id="rId4"/>
    <p:sldId id="259" r:id="rId5"/>
    <p:sldId id="285" r:id="rId6"/>
    <p:sldId id="262" r:id="rId7"/>
    <p:sldId id="263" r:id="rId8"/>
    <p:sldId id="265" r:id="rId9"/>
    <p:sldId id="266" r:id="rId10"/>
    <p:sldId id="269" r:id="rId11"/>
    <p:sldId id="270" r:id="rId12"/>
    <p:sldId id="271" r:id="rId13"/>
    <p:sldId id="272" r:id="rId14"/>
    <p:sldId id="899" r:id="rId15"/>
    <p:sldId id="900" r:id="rId16"/>
    <p:sldId id="273" r:id="rId17"/>
    <p:sldId id="844" r:id="rId18"/>
    <p:sldId id="274" r:id="rId19"/>
    <p:sldId id="275" r:id="rId20"/>
    <p:sldId id="284" r:id="rId21"/>
    <p:sldId id="276" r:id="rId22"/>
    <p:sldId id="277" r:id="rId23"/>
    <p:sldId id="278" r:id="rId24"/>
    <p:sldId id="279" r:id="rId25"/>
    <p:sldId id="280" r:id="rId26"/>
    <p:sldId id="281" r:id="rId27"/>
    <p:sldId id="282" r:id="rId28"/>
    <p:sldId id="836" r:id="rId29"/>
    <p:sldId id="837" r:id="rId30"/>
    <p:sldId id="839" r:id="rId31"/>
    <p:sldId id="838" r:id="rId32"/>
    <p:sldId id="845" r:id="rId33"/>
    <p:sldId id="846" r:id="rId34"/>
    <p:sldId id="840" r:id="rId35"/>
    <p:sldId id="843" r:id="rId36"/>
    <p:sldId id="847" r:id="rId37"/>
    <p:sldId id="898"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72954" autoAdjust="0"/>
  </p:normalViewPr>
  <p:slideViewPr>
    <p:cSldViewPr snapToGrid="0">
      <p:cViewPr varScale="1">
        <p:scale>
          <a:sx n="53" d="100"/>
          <a:sy n="53" d="100"/>
        </p:scale>
        <p:origin x="-1722" y="-84"/>
      </p:cViewPr>
      <p:guideLst>
        <p:guide orient="horz" pos="2160"/>
        <p:guide pos="288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11/11/2025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11/11/2025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68C5D26-D9CE-49B4-8A24-9C5C7281350F}" type="slidenum">
              <a:rPr lang="en-US" smtClean="0"/>
              <a:t>1</a:t>
            </a:fld>
            <a:endParaRPr lang="en-US"/>
          </a:p>
        </p:txBody>
      </p:sp>
    </p:spTree>
    <p:extLst>
      <p:ext uri="{BB962C8B-B14F-4D97-AF65-F5344CB8AC3E}">
        <p14:creationId xmlns:p14="http://schemas.microsoft.com/office/powerpoint/2010/main" val="186990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xmlns="" id="{456512DC-037E-4C8E-8222-CC9B51307429}"/>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xmlns="" id="{20335687-2DF4-43D2-BCEF-571F98755A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Key elements of risk are as follows:</a:t>
            </a:r>
          </a:p>
          <a:p>
            <a:r>
              <a:rPr lang="en-US" altLang="en-US" b="1" i="1"/>
              <a:t>It relates to the future: </a:t>
            </a:r>
            <a:r>
              <a:rPr lang="en-US" altLang="en-US"/>
              <a:t>The future inherently is uncertain. Something's which seems obvious when the project is over i.e. costs overrun, might not have been obvious during planning.</a:t>
            </a:r>
          </a:p>
          <a:p>
            <a:r>
              <a:rPr lang="en-US" altLang="en-US" b="1" i="1"/>
              <a:t>It involves cause and effect:</a:t>
            </a:r>
            <a:r>
              <a:rPr lang="en-US" altLang="en-US"/>
              <a:t> A “cost-overrun” might be described as a Risk, “cost-overrun” describes some damage, but does not says what causes it. It can be untrained staff, wrong effort estimation or poor specification. But both cause and effect has to be recorded for each Risk.</a:t>
            </a:r>
          </a:p>
          <a:p>
            <a:endParaRPr lang="en-US" altLang="en-US"/>
          </a:p>
          <a:p>
            <a:r>
              <a:rPr lang="en-US" altLang="en-US"/>
              <a:t>Refer to Excel example.</a:t>
            </a:r>
          </a:p>
        </p:txBody>
      </p:sp>
      <p:sp>
        <p:nvSpPr>
          <p:cNvPr id="7172" name="Slide Number Placeholder 3">
            <a:extLst>
              <a:ext uri="{FF2B5EF4-FFF2-40B4-BE49-F238E27FC236}">
                <a16:creationId xmlns:a16="http://schemas.microsoft.com/office/drawing/2014/main" xmlns="" id="{9B7A934E-7497-4178-B1F5-B12B5352A0F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C38B74-84FE-4FE1-AAB7-129FF9150249}" type="slidenum">
              <a:rPr lang="en-GB" altLang="en-US"/>
              <a:pPr/>
              <a:t>3</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xmlns="" id="{5C6AF8A6-DB65-43EB-B40E-B480134F2D39}"/>
              </a:ext>
            </a:extLst>
          </p:cNvPr>
          <p:cNvSpPr>
            <a:spLocks noGrp="1" noChangeArrowheads="1"/>
          </p:cNvSpPr>
          <p:nvPr>
            <p:ph type="sldNum" sz="quarter" idx="5"/>
          </p:nvPr>
        </p:nvSpPr>
        <p:spPr>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2B1B5A-A034-4A09-85F2-7ACF46DEAD2E}" type="slidenum">
              <a:rPr lang="en-GB" altLang="en-US"/>
              <a:pPr/>
              <a:t>4</a:t>
            </a:fld>
            <a:endParaRPr lang="en-GB" altLang="en-US"/>
          </a:p>
        </p:txBody>
      </p:sp>
      <p:sp>
        <p:nvSpPr>
          <p:cNvPr id="9219" name="Rectangle 2">
            <a:extLst>
              <a:ext uri="{FF2B5EF4-FFF2-40B4-BE49-F238E27FC236}">
                <a16:creationId xmlns:a16="http://schemas.microsoft.com/office/drawing/2014/main" xmlns="" id="{092C787F-C09C-4266-B4F4-506E02336898}"/>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xmlns="" id="{E4ADE39C-932A-4214-B035-02E1B20AF6C7}"/>
              </a:ext>
            </a:extLst>
          </p:cNvPr>
          <p:cNvSpPr>
            <a:spLocks noGrp="1" noChangeArrowheads="1"/>
          </p:cNvSpPr>
          <p:nvPr>
            <p:ph type="body" idx="1"/>
          </p:nvPr>
        </p:nvSpPr>
        <p:spPr>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GB" altLang="en-US" dirty="0"/>
              <a:t>This is based on Lyytinen’s sociotechnical model of risk</a:t>
            </a:r>
          </a:p>
          <a:p>
            <a:pPr eaLnBrk="1" hangingPunct="1">
              <a:buFontTx/>
              <a:buChar char="•"/>
            </a:pPr>
            <a:r>
              <a:rPr lang="en-GB" altLang="en-US" b="1" dirty="0"/>
              <a:t>Actors</a:t>
            </a:r>
            <a:r>
              <a:rPr lang="en-GB" altLang="en-US" dirty="0"/>
              <a:t> relate to all those involved in the project including both developers, users and managers e.g. a risk could be that high staff turnover leads to information of importance to the project being lost</a:t>
            </a:r>
          </a:p>
          <a:p>
            <a:pPr eaLnBrk="1" hangingPunct="1">
              <a:buFontTx/>
              <a:buChar char="•"/>
            </a:pPr>
            <a:r>
              <a:rPr lang="en-GB" altLang="en-US" b="1" dirty="0"/>
              <a:t>Technology</a:t>
            </a:r>
            <a:r>
              <a:rPr lang="en-GB" altLang="en-US" dirty="0"/>
              <a:t> – both that used to implement the project and that embedded in the project deliverables – risk could be that the technologies selected are not in fact appropriate.</a:t>
            </a:r>
          </a:p>
          <a:p>
            <a:pPr eaLnBrk="1" hangingPunct="1">
              <a:buFontTx/>
              <a:buChar char="•"/>
            </a:pPr>
            <a:r>
              <a:rPr lang="en-GB" altLang="en-US" b="1" dirty="0"/>
              <a:t>Structure</a:t>
            </a:r>
            <a:r>
              <a:rPr lang="en-GB" altLang="en-US" dirty="0"/>
              <a:t> – this includes management procedures, risk here is that a group who need to carry out a particular project task are not informed of this need because they are not part of the project communication network</a:t>
            </a:r>
          </a:p>
          <a:p>
            <a:pPr eaLnBrk="1" hangingPunct="1">
              <a:buFontTx/>
              <a:buChar char="•"/>
            </a:pPr>
            <a:r>
              <a:rPr lang="en-GB" altLang="en-US" b="1" dirty="0"/>
              <a:t>Tasks</a:t>
            </a:r>
            <a:r>
              <a:rPr lang="en-GB" altLang="en-US" dirty="0"/>
              <a:t> – the work to be carried out. A typical risk is that the amount of effort needed to carry out the task is underestimated.</a:t>
            </a:r>
          </a:p>
          <a:p>
            <a:pPr eaLnBrk="1" hangingPunct="1"/>
            <a:r>
              <a:rPr lang="en-GB" altLang="en-US" dirty="0"/>
              <a:t>A risk could be</a:t>
            </a:r>
            <a:r>
              <a:rPr lang="en-GB" altLang="en-US" b="1" dirty="0"/>
              <a:t> </a:t>
            </a:r>
            <a:r>
              <a:rPr lang="en-GB" altLang="en-US" dirty="0"/>
              <a:t>well belong to more than one of the four areas – for example, estimates being wrong could be influenced by problems with actors (e.g. lack of experience with a technical domain) or the structure (over optimism of managers keen to win work).</a:t>
            </a:r>
          </a:p>
          <a:p>
            <a:pPr eaLnBrk="1" hangingPunct="1"/>
            <a:r>
              <a:rPr lang="en-GB" altLang="en-US" dirty="0"/>
              <a:t>Exercise 7.2 in the text will be some practice in identifying and categorizing risks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68C5D26-D9CE-49B4-8A24-9C5C7281350F}" type="slidenum">
              <a:rPr lang="en-US" smtClean="0"/>
              <a:t>5</a:t>
            </a:fld>
            <a:endParaRPr lang="en-US"/>
          </a:p>
        </p:txBody>
      </p:sp>
    </p:spTree>
    <p:extLst>
      <p:ext uri="{BB962C8B-B14F-4D97-AF65-F5344CB8AC3E}">
        <p14:creationId xmlns:p14="http://schemas.microsoft.com/office/powerpoint/2010/main" val="4108274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xmlns="" id="{47C4D149-1C79-4F6F-8763-2138A502E4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C532505-22DF-4C2A-8CA4-804B8AB4425A}" type="slidenum">
              <a:rPr lang="en-GB" altLang="en-US"/>
              <a:pPr>
                <a:spcBef>
                  <a:spcPct val="0"/>
                </a:spcBef>
              </a:pPr>
              <a:t>8</a:t>
            </a:fld>
            <a:endParaRPr lang="en-GB" altLang="en-US"/>
          </a:p>
        </p:txBody>
      </p:sp>
      <p:sp>
        <p:nvSpPr>
          <p:cNvPr id="14339" name="Rectangle 2">
            <a:extLst>
              <a:ext uri="{FF2B5EF4-FFF2-40B4-BE49-F238E27FC236}">
                <a16:creationId xmlns:a16="http://schemas.microsoft.com/office/drawing/2014/main" xmlns="" id="{6ADC4350-1351-474C-9422-D9F80FFB3ADD}"/>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xmlns="" id="{C4323C07-A0B7-4873-90E0-86F18C0370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Barry Boehm surveyed software engineering project leaders to find out the main risks that they had experienced with their projects. For each risk, some risk reduction techniques has been suggested.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xmlns="" id="{60F6C1EF-F654-4B05-9A99-115458CCF9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2C6EF6E-7AD0-468A-9B2C-78746FC90BB1}" type="slidenum">
              <a:rPr lang="en-GB" altLang="en-US"/>
              <a:pPr>
                <a:spcBef>
                  <a:spcPct val="0"/>
                </a:spcBef>
              </a:pPr>
              <a:t>9</a:t>
            </a:fld>
            <a:endParaRPr lang="en-GB" altLang="en-US"/>
          </a:p>
        </p:txBody>
      </p:sp>
      <p:sp>
        <p:nvSpPr>
          <p:cNvPr id="16387" name="Rectangle 2">
            <a:extLst>
              <a:ext uri="{FF2B5EF4-FFF2-40B4-BE49-F238E27FC236}">
                <a16:creationId xmlns:a16="http://schemas.microsoft.com/office/drawing/2014/main" xmlns="" id="{19FE96B1-E059-4F87-97FB-0EDE5A82F742}"/>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xmlns="" id="{69ACC4F1-B1ED-46EC-B1D1-2B72DDCE60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t>‘Gold plating‘ refers to inclusion of features that in fact are unnecessary and which end up never actually being used.</a:t>
            </a:r>
          </a:p>
          <a:p>
            <a:pPr eaLnBrk="1" hangingPunct="1"/>
            <a:r>
              <a:rPr lang="en-US" b="0" i="0" dirty="0">
                <a:solidFill>
                  <a:srgbClr val="202124"/>
                </a:solidFill>
                <a:effectLst/>
                <a:latin typeface="arial" panose="020B0604020202020204" pitchFamily="34" charset="0"/>
              </a:rPr>
              <a:t>Requirements Scrubbing is </a:t>
            </a:r>
            <a:r>
              <a:rPr lang="en-US" b="1" i="0" dirty="0">
                <a:solidFill>
                  <a:srgbClr val="202124"/>
                </a:solidFill>
                <a:effectLst/>
                <a:latin typeface="arial" panose="020B0604020202020204" pitchFamily="34" charset="0"/>
              </a:rPr>
              <a:t>a practice in which a product specification is carefully examined for unnecessary or overly complex requirements, which are then removed</a:t>
            </a:r>
            <a:r>
              <a:rPr lang="en-US" b="0" i="0" dirty="0">
                <a:solidFill>
                  <a:srgbClr val="202124"/>
                </a:solidFill>
                <a:effectLst/>
                <a:latin typeface="arial" panose="020B0604020202020204" pitchFamily="34" charset="0"/>
              </a:rPr>
              <a:t>.</a:t>
            </a:r>
            <a:endParaRPr lang="en-GB"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xmlns="" id="{24E590AC-0923-416E-A045-DAD4AF73A4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E1AA3D8-DE01-4E6D-AB0B-FDB27F8DEF16}" type="slidenum">
              <a:rPr lang="en-GB" altLang="en-US"/>
              <a:pPr>
                <a:spcBef>
                  <a:spcPct val="0"/>
                </a:spcBef>
              </a:pPr>
              <a:t>10</a:t>
            </a:fld>
            <a:endParaRPr lang="en-GB" altLang="en-US"/>
          </a:p>
        </p:txBody>
      </p:sp>
      <p:sp>
        <p:nvSpPr>
          <p:cNvPr id="20483" name="Rectangle 2">
            <a:extLst>
              <a:ext uri="{FF2B5EF4-FFF2-40B4-BE49-F238E27FC236}">
                <a16:creationId xmlns:a16="http://schemas.microsoft.com/office/drawing/2014/main" xmlns="" id="{CB9EE0C0-0594-43C1-832D-3F085661F951}"/>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xmlns="" id="{2DD8C922-2F61-4EB1-A8C2-F8A9657836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t>If there were 100 people chipping in £5,000 each, there would be enough for the 1 in 100 chance of the flooding. If there were 2 floods then the system collapses! </a:t>
            </a:r>
          </a:p>
          <a:p>
            <a:pPr eaLnBrk="1" hangingPunct="1"/>
            <a:r>
              <a:rPr lang="en-GB" altLang="en-US" dirty="0"/>
              <a:t>Exercise 7.4 in the textbook is strongly recommended to explore these issues.</a:t>
            </a:r>
          </a:p>
          <a:p>
            <a:pPr eaLnBrk="1" hangingPunct="1"/>
            <a:r>
              <a:rPr lang="en-GB" altLang="en-US" dirty="0"/>
              <a:t>In practice, with project risks, these quantitative approaches are usually impractical and more qualitative approaches are used instead. See the next overhead.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xmlns="" id="{CF060AD6-7401-4195-B4A1-3C07F34FE3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DA4013F-F5F0-41C4-B0CD-D4A68FAE5573}" type="slidenum">
              <a:rPr lang="en-GB" altLang="en-US"/>
              <a:pPr>
                <a:spcBef>
                  <a:spcPct val="0"/>
                </a:spcBef>
              </a:pPr>
              <a:t>11</a:t>
            </a:fld>
            <a:endParaRPr lang="en-GB" altLang="en-US"/>
          </a:p>
        </p:txBody>
      </p:sp>
      <p:sp>
        <p:nvSpPr>
          <p:cNvPr id="22531" name="Rectangle 2">
            <a:extLst>
              <a:ext uri="{FF2B5EF4-FFF2-40B4-BE49-F238E27FC236}">
                <a16:creationId xmlns:a16="http://schemas.microsoft.com/office/drawing/2014/main" xmlns="" id="{E88FEDD6-3650-4D6F-95ED-7C9507A0025C}"/>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xmlns="" id="{414DAAAD-6F89-4C9B-89F9-373347FDD7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Managers would be happier identifying an approximate range rather than a precise probability.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xmlns="" id="{7B82EB6C-1FD4-47D0-8908-D1C85855DA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532E6E5-55BC-4B59-B35C-8D5666FE0A42}" type="slidenum">
              <a:rPr lang="en-GB" altLang="en-US"/>
              <a:pPr>
                <a:spcBef>
                  <a:spcPct val="0"/>
                </a:spcBef>
              </a:pPr>
              <a:t>12</a:t>
            </a:fld>
            <a:endParaRPr lang="en-GB" altLang="en-US"/>
          </a:p>
        </p:txBody>
      </p:sp>
      <p:sp>
        <p:nvSpPr>
          <p:cNvPr id="24579" name="Rectangle 2">
            <a:extLst>
              <a:ext uri="{FF2B5EF4-FFF2-40B4-BE49-F238E27FC236}">
                <a16:creationId xmlns:a16="http://schemas.microsoft.com/office/drawing/2014/main" xmlns="" id="{DDEC3339-2884-446C-9442-4A0277573346}"/>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xmlns="" id="{92B2DFA2-2A4A-4676-A9CA-3688796076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t>Similar tables can be produced for the impact on project duration and on the quality of project deliverables.</a:t>
            </a:r>
          </a:p>
          <a:p>
            <a:pPr eaLnBrk="1" hangingPunct="1"/>
            <a:r>
              <a:rPr lang="en-GB" altLang="en-US" dirty="0"/>
              <a:t>The problem with the qualitative approach is how do you combine the judgements about probability and impact – you can’t multiply them together.</a:t>
            </a:r>
          </a:p>
          <a:p>
            <a:pPr eaLnBrk="1" hangingPunct="1"/>
            <a:endParaRPr lang="en-GB"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xmlns="" id="{9E84B407-E4B6-4B24-8E88-7AA6EDBC93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7B7E402-9E34-492D-A9DC-7E8962AE99D5}" type="slidenum">
              <a:rPr lang="en-GB" altLang="en-US"/>
              <a:pPr>
                <a:spcBef>
                  <a:spcPct val="0"/>
                </a:spcBef>
              </a:pPr>
              <a:t>13</a:t>
            </a:fld>
            <a:endParaRPr lang="en-GB" altLang="en-US"/>
          </a:p>
        </p:txBody>
      </p:sp>
      <p:sp>
        <p:nvSpPr>
          <p:cNvPr id="26627" name="Rectangle 2">
            <a:extLst>
              <a:ext uri="{FF2B5EF4-FFF2-40B4-BE49-F238E27FC236}">
                <a16:creationId xmlns:a16="http://schemas.microsoft.com/office/drawing/2014/main" xmlns="" id="{A9C1DED5-F0D0-4DD2-93EB-B5950260C4E6}"/>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xmlns="" id="{6A421940-7FC1-4748-860A-A95AF155F7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t>R1, R2 </a:t>
            </a:r>
            <a:r>
              <a:rPr lang="en-GB" altLang="en-US" dirty="0" err="1"/>
              <a:t>etc</a:t>
            </a:r>
            <a:r>
              <a:rPr lang="en-GB" altLang="en-US" dirty="0"/>
              <a:t> refer to particular risks (See Table 7.4 in the textbook). They are located on the grid according to the likelihood and impact ratings that have been allocated to them. A zone around the top right hand corner of the grid can be designated and risks falling within that zone are treated as requiring urgent action.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xmlns="" id="{A8F17B0A-BEF6-43A1-ACF2-57EAB0778D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916622B-AD47-4FDA-9832-4D5E24E0D4BC}" type="slidenum">
              <a:rPr lang="en-GB" altLang="en-US"/>
              <a:pPr>
                <a:spcBef>
                  <a:spcPct val="0"/>
                </a:spcBef>
              </a:pPr>
              <a:t>16</a:t>
            </a:fld>
            <a:endParaRPr lang="en-GB" altLang="en-US"/>
          </a:p>
        </p:txBody>
      </p:sp>
      <p:sp>
        <p:nvSpPr>
          <p:cNvPr id="28675" name="Rectangle 2">
            <a:extLst>
              <a:ext uri="{FF2B5EF4-FFF2-40B4-BE49-F238E27FC236}">
                <a16:creationId xmlns:a16="http://schemas.microsoft.com/office/drawing/2014/main" xmlns="" id="{C20CB1B0-D0B9-4F7F-BCA1-A74585BE0919}"/>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xmlns="" id="{27AAE056-4E54-452B-B223-A77580ADE6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t>Risk acceptance – the cost of avoiding the risk may be greater than the actual cost of </a:t>
            </a:r>
            <a:r>
              <a:rPr lang="en-GB" altLang="en-US" dirty="0" smtClean="0"/>
              <a:t>the </a:t>
            </a:r>
            <a:r>
              <a:rPr lang="en-GB" altLang="en-US" dirty="0"/>
              <a:t>damage that might be inflicted</a:t>
            </a:r>
          </a:p>
          <a:p>
            <a:pPr eaLnBrk="1" hangingPunct="1"/>
            <a:r>
              <a:rPr lang="en-GB" altLang="en-US" dirty="0"/>
              <a:t>Risk avoidance – avoid the environment in which the risk occurs e.g. buying </a:t>
            </a:r>
            <a:r>
              <a:rPr lang="en-GB" altLang="en-US" dirty="0" smtClean="0"/>
              <a:t>an OTS application </a:t>
            </a:r>
            <a:r>
              <a:rPr lang="en-GB" altLang="en-US" dirty="0"/>
              <a:t>would avoid a lot of the risks associated with software development e.g. poor estimates of effort.</a:t>
            </a:r>
          </a:p>
          <a:p>
            <a:pPr eaLnBrk="1" hangingPunct="1"/>
            <a:r>
              <a:rPr lang="en-GB" altLang="en-US" dirty="0"/>
              <a:t>Risk reduction – the risk is accepted but actions are taken to reduce its likelihood e.g. prototypes ought to reduce the risk of incorrect requirements</a:t>
            </a:r>
          </a:p>
          <a:p>
            <a:pPr eaLnBrk="1" hangingPunct="1"/>
            <a:r>
              <a:rPr lang="en-GB" altLang="en-US" dirty="0"/>
              <a:t>Risk transfer – the risk is transferred to another person or organization. The risk of incorrect development estimates can be transferred by negotiating a fixed price contract with an outside software supplier.</a:t>
            </a:r>
          </a:p>
          <a:p>
            <a:pPr eaLnBrk="1" hangingPunct="1"/>
            <a:r>
              <a:rPr lang="en-GB" altLang="en-US" dirty="0"/>
              <a:t>Risk mitigation – tries to reduce the impact if the risk does occur e.g. taking backups to allow rapid recovery in the case of data corruption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latin typeface="Söhne"/>
              </a:rPr>
              <a:t>A higher RRL value indicates that the risk reduction measure provides greater risk reduction per unit of cost, making it more efficient or beneficial to implement. Conversely, a lower RRL value suggests that the risk reduction measure may not be as cost-effective.</a:t>
            </a:r>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17</a:t>
            </a:fld>
            <a:endParaRPr lang="en-US"/>
          </a:p>
        </p:txBody>
      </p:sp>
    </p:spTree>
    <p:extLst>
      <p:ext uri="{BB962C8B-B14F-4D97-AF65-F5344CB8AC3E}">
        <p14:creationId xmlns:p14="http://schemas.microsoft.com/office/powerpoint/2010/main" val="34660516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xmlns="" id="{6F795484-A6DA-46D5-A970-9ABE776587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8863E9-431B-40E9-9CFD-45D354E61C75}" type="slidenum">
              <a:rPr lang="en-GB" altLang="en-US"/>
              <a:pPr>
                <a:spcBef>
                  <a:spcPct val="0"/>
                </a:spcBef>
              </a:pPr>
              <a:t>18</a:t>
            </a:fld>
            <a:endParaRPr lang="en-GB" altLang="en-US"/>
          </a:p>
        </p:txBody>
      </p:sp>
      <p:sp>
        <p:nvSpPr>
          <p:cNvPr id="30723" name="Rectangle 2">
            <a:extLst>
              <a:ext uri="{FF2B5EF4-FFF2-40B4-BE49-F238E27FC236}">
                <a16:creationId xmlns:a16="http://schemas.microsoft.com/office/drawing/2014/main" xmlns="" id="{AFBD2CF6-CBDF-4FF7-A671-CA41B9CF4E1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xmlns="" id="{F1CFD55E-3FD5-467C-82BC-3F874B57BF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0" i="0" dirty="0">
                <a:solidFill>
                  <a:srgbClr val="0D0D0D"/>
                </a:solidFill>
                <a:effectLst/>
                <a:latin typeface="Söhne"/>
              </a:rPr>
              <a:t>the RRL value of 2 indicates that for every unit of cost (£500) invested in the risk reduction measure (fire alarm), there is a reduction in risk exposure equivalent to twice the investment, making it a worthwhile endeavor.</a:t>
            </a:r>
            <a:endParaRPr lang="en-GB"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xmlns="" id="{2CAB7705-1F67-4F09-AFE7-BC0D403A4A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97F9D05-3E3E-4858-B28A-CC965CFE77E7}" type="slidenum">
              <a:rPr lang="en-GB" altLang="en-US"/>
              <a:pPr>
                <a:spcBef>
                  <a:spcPct val="0"/>
                </a:spcBef>
              </a:pPr>
              <a:t>19</a:t>
            </a:fld>
            <a:endParaRPr lang="en-GB" altLang="en-US"/>
          </a:p>
        </p:txBody>
      </p:sp>
      <p:sp>
        <p:nvSpPr>
          <p:cNvPr id="32771" name="Rectangle 2">
            <a:extLst>
              <a:ext uri="{FF2B5EF4-FFF2-40B4-BE49-F238E27FC236}">
                <a16:creationId xmlns:a16="http://schemas.microsoft.com/office/drawing/2014/main" xmlns="" id="{24F4C190-8CEF-4EC7-9196-7BD1D17CB15A}"/>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xmlns="" id="{69A3566E-072D-41FA-AFD1-8F6C3161CB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As was pointed out in Chapter 5, an estimate of activity duration is realistically a range of values clustered around the most likely value are trailing off on either side of this central value.</a:t>
            </a:r>
          </a:p>
          <a:p>
            <a:pPr eaLnBrk="1" hangingPunct="1"/>
            <a:r>
              <a:rPr lang="en-GB" altLang="en-US"/>
              <a:t>How can we take account of this in project planning. An answer might be the PERT risk technique.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latin typeface="Söhne"/>
              </a:rPr>
              <a:t>By implementing the RMMM process, project managers can proactively identify and address potential risks, ultimately increasing the likelihood of project success and minimizing the impact of unforeseen events.</a:t>
            </a:r>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20</a:t>
            </a:fld>
            <a:endParaRPr lang="en-US"/>
          </a:p>
        </p:txBody>
      </p:sp>
    </p:spTree>
    <p:extLst>
      <p:ext uri="{BB962C8B-B14F-4D97-AF65-F5344CB8AC3E}">
        <p14:creationId xmlns:p14="http://schemas.microsoft.com/office/powerpoint/2010/main" val="1333637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xmlns="" id="{E9B9EC85-8FAA-440C-9D6E-1AEEE8A9B1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DE49AC-E3CB-4561-BF86-1D7E5D291F0A}" type="slidenum">
              <a:rPr lang="en-GB" altLang="en-US"/>
              <a:pPr>
                <a:spcBef>
                  <a:spcPct val="0"/>
                </a:spcBef>
              </a:pPr>
              <a:t>21</a:t>
            </a:fld>
            <a:endParaRPr lang="en-GB" altLang="en-US"/>
          </a:p>
        </p:txBody>
      </p:sp>
      <p:sp>
        <p:nvSpPr>
          <p:cNvPr id="35843" name="Rectangle 2">
            <a:extLst>
              <a:ext uri="{FF2B5EF4-FFF2-40B4-BE49-F238E27FC236}">
                <a16:creationId xmlns:a16="http://schemas.microsoft.com/office/drawing/2014/main" xmlns="" id="{D15D5B75-8E4E-4FCD-AC5D-0ED3B0FD4D43}"/>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xmlns="" id="{662F7FAD-3FC3-413B-822E-B26D3ECE27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i="1" dirty="0"/>
              <a:t>Most likely time (m) </a:t>
            </a:r>
            <a:r>
              <a:rPr lang="en-GB" altLang="en-US" dirty="0"/>
              <a:t>the time we would expect the task to take normally</a:t>
            </a:r>
          </a:p>
          <a:p>
            <a:pPr eaLnBrk="1" hangingPunct="1"/>
            <a:r>
              <a:rPr lang="en-GB" altLang="en-US" i="1" dirty="0"/>
              <a:t>Optimistic time (a)</a:t>
            </a:r>
            <a:r>
              <a:rPr lang="en-GB" altLang="en-US" dirty="0"/>
              <a:t> the shortest time could be realistically be expected</a:t>
            </a:r>
          </a:p>
          <a:p>
            <a:pPr eaLnBrk="1" hangingPunct="1"/>
            <a:r>
              <a:rPr lang="en-GB" altLang="en-US" i="1" dirty="0"/>
              <a:t>Pessimistic (b)</a:t>
            </a:r>
            <a:r>
              <a:rPr lang="en-GB" altLang="en-US" dirty="0"/>
              <a:t> worst possible time (only 1% chance of being worse, say)</a:t>
            </a:r>
          </a:p>
          <a:p>
            <a:pPr eaLnBrk="1" hangingPunct="1"/>
            <a:r>
              <a:rPr lang="en-GB" altLang="en-US" dirty="0"/>
              <a:t>Some straightforward activities (data input of standing data might perhaps be an example) might have little uncertainty and therefore have a low standard deviation, while others (software design, for instance?) have more uncertainty and would have a bigger standard deviation.</a:t>
            </a:r>
          </a:p>
          <a:p>
            <a:pPr eaLnBrk="1" hangingPunct="1"/>
            <a:r>
              <a:rPr lang="en-GB" altLang="en-US" dirty="0"/>
              <a:t>Exercise 7.6 in the textbook will give some practice in calculating these values.</a:t>
            </a:r>
          </a:p>
          <a:p>
            <a:pPr eaLnBrk="1" hangingPunct="1"/>
            <a:endParaRPr lang="en-GB"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xmlns="" id="{844F684D-031D-4287-978D-F6C3EF699E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552693A-610D-4286-8F12-744D63CE7BD0}" type="slidenum">
              <a:rPr lang="en-GB" altLang="en-US"/>
              <a:pPr>
                <a:spcBef>
                  <a:spcPct val="0"/>
                </a:spcBef>
              </a:pPr>
              <a:t>22</a:t>
            </a:fld>
            <a:endParaRPr lang="en-GB" altLang="en-US"/>
          </a:p>
        </p:txBody>
      </p:sp>
      <p:sp>
        <p:nvSpPr>
          <p:cNvPr id="37891" name="Rectangle 2">
            <a:extLst>
              <a:ext uri="{FF2B5EF4-FFF2-40B4-BE49-F238E27FC236}">
                <a16:creationId xmlns:a16="http://schemas.microsoft.com/office/drawing/2014/main" xmlns="" id="{0B9E96A5-6797-4729-80EE-8A8F81305848}"/>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xmlns="" id="{CD07E803-E2C4-4E0B-8C6A-B6F84815FA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Fill the missing gaps?</a:t>
            </a:r>
          </a:p>
          <a:p>
            <a:pPr eaLnBrk="1" hangingPunct="1"/>
            <a:r>
              <a:rPr lang="en-GB" altLang="en-US"/>
              <a:t>T</a:t>
            </a:r>
            <a:r>
              <a:rPr lang="en-GB" altLang="en-US" baseline="-25000"/>
              <a:t>e</a:t>
            </a:r>
          </a:p>
          <a:p>
            <a:pPr eaLnBrk="1" hangingPunct="1"/>
            <a:r>
              <a:rPr lang="en-GB" altLang="en-US"/>
              <a:t>Task A t</a:t>
            </a:r>
            <a:r>
              <a:rPr lang="en-GB" altLang="en-US" baseline="-25000"/>
              <a:t>e</a:t>
            </a:r>
            <a:r>
              <a:rPr lang="en-GB" altLang="en-US"/>
              <a:t> = (10+ (12 x 4) + 16)/ 6 i.e. 12.66  s = (16-10)/6 i.e. 1</a:t>
            </a:r>
          </a:p>
          <a:p>
            <a:pPr eaLnBrk="1" hangingPunct="1"/>
            <a:r>
              <a:rPr lang="en-GB" altLang="en-US"/>
              <a:t>Task B t</a:t>
            </a:r>
            <a:r>
              <a:rPr lang="en-GB" altLang="en-US" baseline="-25000"/>
              <a:t>e</a:t>
            </a:r>
            <a:r>
              <a:rPr lang="en-GB" altLang="en-US"/>
              <a:t> = (8 + (10 x 4) + 14)/ 6 i.e. 10.33 s = (14-8)/6 i.e. 1</a:t>
            </a:r>
          </a:p>
          <a:p>
            <a:pPr eaLnBrk="1" hangingPunct="1"/>
            <a:r>
              <a:rPr lang="en-GB" altLang="en-US"/>
              <a:t>Task C T</a:t>
            </a:r>
            <a:r>
              <a:rPr lang="en-GB" altLang="en-US" baseline="-25000"/>
              <a:t>e</a:t>
            </a:r>
            <a:r>
              <a:rPr lang="en-GB" altLang="en-US"/>
              <a:t> = (20 + (24 x 4) + 38)/6 i.e. 25.66 s = (38-20)/6 i.e. 3</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xmlns="" id="{740F79CD-62D9-4F01-A446-B7C6DACE96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0A5CC40-E2B1-476F-ACC8-F43894A24E0B}" type="slidenum">
              <a:rPr lang="en-GB" altLang="en-US"/>
              <a:pPr>
                <a:spcBef>
                  <a:spcPct val="0"/>
                </a:spcBef>
              </a:pPr>
              <a:t>23</a:t>
            </a:fld>
            <a:endParaRPr lang="en-GB" altLang="en-US"/>
          </a:p>
        </p:txBody>
      </p:sp>
      <p:sp>
        <p:nvSpPr>
          <p:cNvPr id="39939" name="Rectangle 2">
            <a:extLst>
              <a:ext uri="{FF2B5EF4-FFF2-40B4-BE49-F238E27FC236}">
                <a16:creationId xmlns:a16="http://schemas.microsoft.com/office/drawing/2014/main" xmlns="" id="{4C5E2EB3-CC45-4E8B-B12C-F3FC1A24583C}"/>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xmlns="" id="{48CD6B43-9174-4D7F-BABD-E66DBC5DBE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xmlns="" id="{C2A88FB5-714A-4E89-9DC2-7FD8ECC52A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88B087-2A70-4137-97A5-653AEC588A6D}" type="slidenum">
              <a:rPr lang="en-GB" altLang="en-US"/>
              <a:pPr>
                <a:spcBef>
                  <a:spcPct val="0"/>
                </a:spcBef>
              </a:pPr>
              <a:t>25</a:t>
            </a:fld>
            <a:endParaRPr lang="en-GB" altLang="en-US"/>
          </a:p>
        </p:txBody>
      </p:sp>
      <p:sp>
        <p:nvSpPr>
          <p:cNvPr id="43011" name="Rectangle 2">
            <a:extLst>
              <a:ext uri="{FF2B5EF4-FFF2-40B4-BE49-F238E27FC236}">
                <a16:creationId xmlns:a16="http://schemas.microsoft.com/office/drawing/2014/main" xmlns="" id="{46D41B7D-212F-494C-8517-74AC69CEA044}"/>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xmlns="" id="{47142762-1BF3-48D1-B893-F7E11FAA0B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There is about a 15% chance of not meeting the target of 52 days.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xmlns="" id="{1B3F1CF6-E553-49F8-8E15-658B5D8A92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C120AE8-5852-4160-9ADE-AFAC2B5B3028}" type="slidenum">
              <a:rPr lang="en-GB" altLang="en-US"/>
              <a:pPr>
                <a:spcBef>
                  <a:spcPct val="0"/>
                </a:spcBef>
              </a:pPr>
              <a:t>26</a:t>
            </a:fld>
            <a:endParaRPr lang="en-GB" altLang="en-US"/>
          </a:p>
        </p:txBody>
      </p:sp>
      <p:sp>
        <p:nvSpPr>
          <p:cNvPr id="45059" name="Rectangle 2">
            <a:extLst>
              <a:ext uri="{FF2B5EF4-FFF2-40B4-BE49-F238E27FC236}">
                <a16:creationId xmlns:a16="http://schemas.microsoft.com/office/drawing/2014/main" xmlns="" id="{06DC86A3-15DE-4548-A0F1-862B2DCD111E}"/>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xmlns="" id="{2A70CD68-D4F4-4633-B265-52724424D6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b="0" i="0" dirty="0">
                <a:solidFill>
                  <a:srgbClr val="202124"/>
                </a:solidFill>
                <a:effectLst/>
                <a:latin typeface="arial" panose="020B0604020202020204" pitchFamily="34" charset="0"/>
              </a:rPr>
              <a:t>Buffer time is </a:t>
            </a:r>
            <a:r>
              <a:rPr lang="en-US" b="1" i="0" dirty="0">
                <a:solidFill>
                  <a:srgbClr val="202124"/>
                </a:solidFill>
                <a:effectLst/>
                <a:latin typeface="arial" panose="020B0604020202020204" pitchFamily="34" charset="0"/>
              </a:rPr>
              <a:t>extra time added to a service duration that you use to clean up after the appointment, or prepare for the next appointment</a:t>
            </a:r>
            <a:r>
              <a:rPr lang="en-US" b="0" i="0" dirty="0">
                <a:solidFill>
                  <a:srgbClr val="202124"/>
                </a:solidFill>
                <a:effectLst/>
                <a:latin typeface="arial" panose="020B0604020202020204" pitchFamily="34" charset="0"/>
              </a:rPr>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xmlns="" id="{8F7B6D44-A8A7-48F5-83ED-3F27FABB16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3260C81-B67F-4CB6-8ABB-52FB2018E3AE}" type="slidenum">
              <a:rPr lang="en-GB" altLang="en-US"/>
              <a:pPr>
                <a:spcBef>
                  <a:spcPct val="0"/>
                </a:spcBef>
              </a:pPr>
              <a:t>27</a:t>
            </a:fld>
            <a:endParaRPr lang="en-GB" altLang="en-US"/>
          </a:p>
        </p:txBody>
      </p:sp>
      <p:sp>
        <p:nvSpPr>
          <p:cNvPr id="47107" name="Rectangle 2">
            <a:extLst>
              <a:ext uri="{FF2B5EF4-FFF2-40B4-BE49-F238E27FC236}">
                <a16:creationId xmlns:a16="http://schemas.microsoft.com/office/drawing/2014/main" xmlns="" id="{19008E4C-837E-4D42-AD35-1DE7DF3E627D}"/>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xmlns="" id="{2374519C-0B0B-43DC-9259-FA8A08FDDA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t>This approach means that the ‘safety buffer’ in the estimate for an activity is moved from the individual developer to the project as a whole.</a:t>
            </a:r>
          </a:p>
          <a:p>
            <a:pPr eaLnBrk="1" hangingPunct="1"/>
            <a:r>
              <a:rPr lang="en-GB" altLang="en-US" dirty="0"/>
              <a:t>The ‘relay race’ principle is that the project manager makes sure that team members are ready to immediately start dependent activities as soon as the preceding activity is finished.</a:t>
            </a:r>
          </a:p>
          <a:p>
            <a:pPr eaLnBrk="1" hangingPunct="1"/>
            <a:endParaRPr lang="en-GB"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xmlns=""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Management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Management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Management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a:extLst>
              <a:ext uri="{FF2B5EF4-FFF2-40B4-BE49-F238E27FC236}">
                <a16:creationId xmlns:a16="http://schemas.microsoft.com/office/drawing/2014/main" xmlns="" id="{CB951722-7672-4FEB-997E-1BAFEB5F3558}"/>
              </a:ext>
            </a:extLst>
          </p:cNvPr>
          <p:cNvSpPr>
            <a:spLocks noGrp="1" noChangeArrowheads="1"/>
          </p:cNvSpPr>
          <p:nvPr>
            <p:ph type="sldNum" sz="quarter" idx="10"/>
          </p:nvPr>
        </p:nvSpPr>
        <p:spPr>
          <a:ln/>
        </p:spPr>
        <p:txBody>
          <a:bodyPr/>
          <a:lstStyle>
            <a:lvl1pPr>
              <a:defRPr/>
            </a:lvl1pPr>
          </a:lstStyle>
          <a:p>
            <a:pPr>
              <a:defRPr/>
            </a:pPr>
            <a:fld id="{001B0B9B-CB98-4CFB-9009-5DFC2DF366F2}" type="slidenum">
              <a:rPr lang="en-US" altLang="en-US"/>
              <a:pPr>
                <a:defRPr/>
              </a:pPr>
              <a:t>‹#›</a:t>
            </a:fld>
            <a:endParaRPr lang="en-US" altLang="en-US"/>
          </a:p>
        </p:txBody>
      </p:sp>
    </p:spTree>
    <p:extLst>
      <p:ext uri="{BB962C8B-B14F-4D97-AF65-F5344CB8AC3E}">
        <p14:creationId xmlns:p14="http://schemas.microsoft.com/office/powerpoint/2010/main" val="2911839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xmlns="" id="{B7D6E9BA-A492-436C-A5E2-DF8625E46CF2}"/>
              </a:ext>
            </a:extLst>
          </p:cNvPr>
          <p:cNvSpPr>
            <a:spLocks noGrp="1"/>
          </p:cNvSpPr>
          <p:nvPr>
            <p:ph type="ftr" sz="quarter" idx="11"/>
          </p:nvPr>
        </p:nvSpPr>
        <p:spPr/>
        <p:txBody>
          <a:bodyPr/>
          <a:lstStyle/>
          <a:p>
            <a:r>
              <a:rPr lang="en-US"/>
              <a:t>CS4044 - Fundamentals of Software Project Management</a:t>
            </a:r>
          </a:p>
        </p:txBody>
      </p:sp>
      <p:sp>
        <p:nvSpPr>
          <p:cNvPr id="6" name="Slide Number Placeholder 5">
            <a:extLst>
              <a:ext uri="{FF2B5EF4-FFF2-40B4-BE49-F238E27FC236}">
                <a16:creationId xmlns:a16="http://schemas.microsoft.com/office/drawing/2014/main" xmlns=""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1989659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Management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FFD48BC7-DC40-47DE-87EE-9F4B6ECB9A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xmlns="" id="{E502BBC7-2C76-46F3-BC24-5985BC13DB8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xmlns="" id="{C7F28D52-2A5F-4D23-81AE-7CB8B591C7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p:cNvSpPr>
            <a:spLocks noGrp="1"/>
          </p:cNvSpPr>
          <p:nvPr>
            <p:ph type="ctrTitle"/>
          </p:nvPr>
        </p:nvSpPr>
        <p:spPr>
          <a:xfrm>
            <a:off x="1143002" y="1999615"/>
            <a:ext cx="6858000" cy="2764028"/>
          </a:xfrm>
        </p:spPr>
        <p:txBody>
          <a:bodyPr anchor="ctr">
            <a:normAutofit/>
          </a:bodyPr>
          <a:lstStyle/>
          <a:p>
            <a:r>
              <a:rPr lang="en-IN" sz="3500" dirty="0">
                <a:latin typeface="+mn-lt"/>
                <a:cs typeface="Arial" panose="020B0604020202020204" pitchFamily="34" charset="0"/>
              </a:rPr>
              <a:t>FUNDAMENTALS OF SOFTWARE PROJECT MANAGEMENT</a:t>
            </a:r>
            <a:br>
              <a:rPr lang="en-IN" sz="3500" dirty="0">
                <a:latin typeface="+mn-lt"/>
                <a:cs typeface="Arial" panose="020B0604020202020204" pitchFamily="34" charset="0"/>
              </a:rPr>
            </a:br>
            <a:r>
              <a:rPr lang="en-IN" sz="3500" dirty="0">
                <a:latin typeface="+mn-lt"/>
                <a:cs typeface="Arial" panose="020B0604020202020204" pitchFamily="34" charset="0"/>
              </a:rPr>
              <a:t/>
            </a:r>
            <a:br>
              <a:rPr lang="en-IN" sz="3500" dirty="0">
                <a:latin typeface="+mn-lt"/>
                <a:cs typeface="Arial" panose="020B0604020202020204" pitchFamily="34" charset="0"/>
              </a:rPr>
            </a:br>
            <a:r>
              <a:rPr lang="en-GB" altLang="en-US" sz="3500" dirty="0"/>
              <a:t>Risk Management</a:t>
            </a:r>
            <a:br>
              <a:rPr lang="en-GB" altLang="en-US" sz="3500" dirty="0"/>
            </a:br>
            <a:endParaRPr lang="en-US" sz="3500" dirty="0">
              <a:latin typeface="+mn-lt"/>
              <a:cs typeface="Arial" panose="020B0604020202020204" pitchFamily="34" charset="0"/>
            </a:endParaRPr>
          </a:p>
        </p:txBody>
      </p:sp>
      <p:sp>
        <p:nvSpPr>
          <p:cNvPr id="3" name="Subtitle 2"/>
          <p:cNvSpPr>
            <a:spLocks noGrp="1"/>
          </p:cNvSpPr>
          <p:nvPr>
            <p:ph type="subTitle" idx="1"/>
          </p:nvPr>
        </p:nvSpPr>
        <p:spPr>
          <a:xfrm>
            <a:off x="1475184" y="5645150"/>
            <a:ext cx="6193632" cy="631825"/>
          </a:xfrm>
        </p:spPr>
        <p:txBody>
          <a:bodyPr anchor="ctr">
            <a:normAutofit/>
          </a:bodyPr>
          <a:lstStyle/>
          <a:p>
            <a:r>
              <a:rPr lang="en-IN" sz="2400" dirty="0"/>
              <a:t>Lecture-10</a:t>
            </a:r>
            <a:endParaRPr lang="en-US" sz="2400" dirty="0"/>
          </a:p>
          <a:p>
            <a:endParaRPr lang="en-US" sz="2400" dirty="0"/>
          </a:p>
        </p:txBody>
      </p:sp>
      <p:sp>
        <p:nvSpPr>
          <p:cNvPr id="17" name="Rectangle 16">
            <a:extLst>
              <a:ext uri="{FF2B5EF4-FFF2-40B4-BE49-F238E27FC236}">
                <a16:creationId xmlns:a16="http://schemas.microsoft.com/office/drawing/2014/main" xmlns="" id="{3629484E-3792-4B3D-89AD-7C8A1ED0E0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xmlns="" id="{E7B36E45-1A2C-4EB6-9CDF-DF3E475E0527}"/>
              </a:ext>
            </a:extLst>
          </p:cNvPr>
          <p:cNvSpPr>
            <a:spLocks noGrp="1" noChangeArrowheads="1"/>
          </p:cNvSpPr>
          <p:nvPr>
            <p:ph type="title"/>
          </p:nvPr>
        </p:nvSpPr>
        <p:spPr>
          <a:xfrm>
            <a:off x="609600" y="599440"/>
            <a:ext cx="7772400" cy="1143000"/>
          </a:xfrm>
        </p:spPr>
        <p:txBody>
          <a:bodyPr/>
          <a:lstStyle/>
          <a:p>
            <a:pPr eaLnBrk="1" hangingPunct="1"/>
            <a:r>
              <a:rPr lang="en-GB" altLang="en-US" b="1" dirty="0"/>
              <a:t>Risk management</a:t>
            </a:r>
          </a:p>
        </p:txBody>
      </p:sp>
      <p:sp>
        <p:nvSpPr>
          <p:cNvPr id="5124" name="Rectangle 3">
            <a:extLst>
              <a:ext uri="{FF2B5EF4-FFF2-40B4-BE49-F238E27FC236}">
                <a16:creationId xmlns:a16="http://schemas.microsoft.com/office/drawing/2014/main" xmlns="" id="{244190A8-F052-4E55-924B-CB3E49D45E52}"/>
              </a:ext>
            </a:extLst>
          </p:cNvPr>
          <p:cNvSpPr>
            <a:spLocks noGrp="1" noChangeArrowheads="1"/>
          </p:cNvSpPr>
          <p:nvPr>
            <p:ph type="body" idx="1"/>
          </p:nvPr>
        </p:nvSpPr>
        <p:spPr>
          <a:xfrm>
            <a:off x="609600" y="1651000"/>
            <a:ext cx="7772400" cy="4114800"/>
          </a:xfrm>
        </p:spPr>
        <p:txBody>
          <a:bodyPr/>
          <a:lstStyle/>
          <a:p>
            <a:pPr eaLnBrk="1" hangingPunct="1">
              <a:lnSpc>
                <a:spcPct val="90000"/>
              </a:lnSpc>
              <a:buFontTx/>
              <a:buNone/>
            </a:pPr>
            <a:r>
              <a:rPr lang="en-GB" altLang="en-US" dirty="0"/>
              <a:t>This lecture will touch upon:</a:t>
            </a:r>
          </a:p>
          <a:p>
            <a:pPr eaLnBrk="1" hangingPunct="1">
              <a:lnSpc>
                <a:spcPct val="90000"/>
              </a:lnSpc>
            </a:pPr>
            <a:r>
              <a:rPr lang="en-GB" altLang="en-US" dirty="0"/>
              <a:t>Definition of ‘risk’ and ‘risk management’</a:t>
            </a:r>
          </a:p>
          <a:p>
            <a:pPr eaLnBrk="1" hangingPunct="1">
              <a:lnSpc>
                <a:spcPct val="90000"/>
              </a:lnSpc>
            </a:pPr>
            <a:r>
              <a:rPr lang="en-GB" altLang="en-US" dirty="0"/>
              <a:t>Some ways of categorizing risk</a:t>
            </a:r>
          </a:p>
          <a:p>
            <a:pPr eaLnBrk="1" hangingPunct="1">
              <a:lnSpc>
                <a:spcPct val="90000"/>
              </a:lnSpc>
            </a:pPr>
            <a:r>
              <a:rPr lang="en-GB" altLang="en-US" dirty="0"/>
              <a:t>Risk management</a:t>
            </a:r>
          </a:p>
          <a:p>
            <a:pPr lvl="1" eaLnBrk="1" hangingPunct="1">
              <a:lnSpc>
                <a:spcPct val="90000"/>
              </a:lnSpc>
            </a:pPr>
            <a:r>
              <a:rPr lang="en-GB" altLang="en-US" sz="2400" dirty="0"/>
              <a:t>Risk identification – what are the risks to a project?</a:t>
            </a:r>
          </a:p>
          <a:p>
            <a:pPr lvl="1" eaLnBrk="1" hangingPunct="1">
              <a:lnSpc>
                <a:spcPct val="90000"/>
              </a:lnSpc>
            </a:pPr>
            <a:r>
              <a:rPr lang="en-GB" altLang="en-US" sz="2400" dirty="0"/>
              <a:t>Risk analysis – which ones are really serious?</a:t>
            </a:r>
          </a:p>
          <a:p>
            <a:pPr lvl="1" eaLnBrk="1" hangingPunct="1">
              <a:lnSpc>
                <a:spcPct val="90000"/>
              </a:lnSpc>
            </a:pPr>
            <a:r>
              <a:rPr lang="en-GB" altLang="en-US" sz="2400" dirty="0"/>
              <a:t>Risk planning – what shall we do?</a:t>
            </a:r>
          </a:p>
          <a:p>
            <a:pPr lvl="1" eaLnBrk="1" hangingPunct="1">
              <a:lnSpc>
                <a:spcPct val="90000"/>
              </a:lnSpc>
            </a:pPr>
            <a:r>
              <a:rPr lang="en-GB" altLang="en-US" sz="2400" dirty="0"/>
              <a:t>Risk monitoring – has the planning worked?</a:t>
            </a:r>
          </a:p>
          <a:p>
            <a:pPr eaLnBrk="1" hangingPunct="1">
              <a:lnSpc>
                <a:spcPct val="90000"/>
              </a:lnSpc>
            </a:pPr>
            <a:r>
              <a:rPr lang="en-GB" altLang="en-US" sz="2800" dirty="0"/>
              <a:t>We will also look at PERT risk and critical chains</a:t>
            </a:r>
          </a:p>
        </p:txBody>
      </p:sp>
      <p:sp>
        <p:nvSpPr>
          <p:cNvPr id="2" name="Slide Number Placeholder 1">
            <a:extLst>
              <a:ext uri="{FF2B5EF4-FFF2-40B4-BE49-F238E27FC236}">
                <a16:creationId xmlns:a16="http://schemas.microsoft.com/office/drawing/2014/main" xmlns="" id="{8441878F-F998-47D6-BCE7-229929AFE630}"/>
              </a:ext>
            </a:extLst>
          </p:cNvPr>
          <p:cNvSpPr>
            <a:spLocks noGrp="1"/>
          </p:cNvSpPr>
          <p:nvPr>
            <p:ph type="sldNum" sz="quarter" idx="12"/>
          </p:nvPr>
        </p:nvSpPr>
        <p:spPr/>
        <p:txBody>
          <a:bodyPr/>
          <a:lstStyle/>
          <a:p>
            <a:fld id="{60D6D740-8150-433F-9426-3FCFF681501A}" type="slidenum">
              <a:rPr lang="en-US" smtClean="0"/>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xmlns="" id="{F94E1B9B-9D36-4C41-9EF0-235AE9B96EDF}"/>
              </a:ext>
            </a:extLst>
          </p:cNvPr>
          <p:cNvSpPr>
            <a:spLocks noGrp="1" noChangeArrowheads="1"/>
          </p:cNvSpPr>
          <p:nvPr>
            <p:ph type="title"/>
          </p:nvPr>
        </p:nvSpPr>
        <p:spPr>
          <a:xfrm>
            <a:off x="468313" y="589280"/>
            <a:ext cx="7772400" cy="1143000"/>
          </a:xfrm>
        </p:spPr>
        <p:txBody>
          <a:bodyPr/>
          <a:lstStyle/>
          <a:p>
            <a:pPr eaLnBrk="1" hangingPunct="1"/>
            <a:r>
              <a:rPr lang="en-GB" altLang="en-US" b="1" dirty="0"/>
              <a:t>Some definitions of risk</a:t>
            </a:r>
          </a:p>
        </p:txBody>
      </p:sp>
      <p:sp>
        <p:nvSpPr>
          <p:cNvPr id="6148" name="Rectangle 3">
            <a:extLst>
              <a:ext uri="{FF2B5EF4-FFF2-40B4-BE49-F238E27FC236}">
                <a16:creationId xmlns:a16="http://schemas.microsoft.com/office/drawing/2014/main" xmlns="" id="{D3E45579-E002-43DC-A2F7-88E17C92A0B1}"/>
              </a:ext>
            </a:extLst>
          </p:cNvPr>
          <p:cNvSpPr>
            <a:spLocks noGrp="1" noChangeArrowheads="1"/>
          </p:cNvSpPr>
          <p:nvPr>
            <p:ph type="body" idx="1"/>
          </p:nvPr>
        </p:nvSpPr>
        <p:spPr>
          <a:xfrm>
            <a:off x="446087" y="1859915"/>
            <a:ext cx="8229600" cy="4525963"/>
          </a:xfrm>
        </p:spPr>
        <p:txBody>
          <a:bodyPr/>
          <a:lstStyle/>
          <a:p>
            <a:pPr eaLnBrk="1" hangingPunct="1">
              <a:buFontTx/>
              <a:buNone/>
            </a:pPr>
            <a:r>
              <a:rPr lang="en-US" altLang="en-US" sz="2500" i="1" dirty="0"/>
              <a:t>risk is an uncertain event or condition that, if it occurs, has a positive or negative effect on one or more project objectives. </a:t>
            </a:r>
            <a:r>
              <a:rPr lang="en-US" altLang="en-US" sz="2500" i="1" dirty="0" err="1"/>
              <a:t>PMBOK</a:t>
            </a:r>
            <a:endParaRPr lang="en-GB" altLang="en-US" sz="2500" i="1" dirty="0"/>
          </a:p>
          <a:p>
            <a:pPr eaLnBrk="1" hangingPunct="1">
              <a:buFontTx/>
              <a:buNone/>
            </a:pPr>
            <a:r>
              <a:rPr lang="en-GB" altLang="en-US" sz="2500" i="1" dirty="0"/>
              <a:t>‘the chance of exposure to the adverse consequences of future events’  </a:t>
            </a:r>
            <a:r>
              <a:rPr lang="en-GB" altLang="en-US" sz="2500" dirty="0"/>
              <a:t>PRINCE2</a:t>
            </a:r>
          </a:p>
          <a:p>
            <a:pPr eaLnBrk="1" hangingPunct="1">
              <a:buFontTx/>
              <a:buNone/>
            </a:pPr>
            <a:endParaRPr lang="en-GB" altLang="en-US" sz="2500" dirty="0"/>
          </a:p>
          <a:p>
            <a:pPr eaLnBrk="1" hangingPunct="1"/>
            <a:r>
              <a:rPr lang="en-GB" altLang="en-US" sz="2500" dirty="0"/>
              <a:t>Project plans have to be based on </a:t>
            </a:r>
            <a:r>
              <a:rPr lang="en-GB" altLang="en-US" sz="2500" i="1" dirty="0"/>
              <a:t>assumptions</a:t>
            </a:r>
          </a:p>
          <a:p>
            <a:pPr eaLnBrk="1" hangingPunct="1"/>
            <a:r>
              <a:rPr lang="en-GB" altLang="en-US" sz="2500" i="1" dirty="0"/>
              <a:t>Risk </a:t>
            </a:r>
            <a:r>
              <a:rPr lang="en-GB" altLang="en-US" sz="2500" dirty="0"/>
              <a:t>is the possibility that an assumption is wrong</a:t>
            </a:r>
          </a:p>
          <a:p>
            <a:pPr eaLnBrk="1" hangingPunct="1"/>
            <a:r>
              <a:rPr lang="en-GB" altLang="en-US" sz="2500" dirty="0"/>
              <a:t>When the risk happens it becomes a </a:t>
            </a:r>
            <a:r>
              <a:rPr lang="en-GB" altLang="en-US" sz="2500" i="1" dirty="0"/>
              <a:t>problem</a:t>
            </a:r>
            <a:r>
              <a:rPr lang="en-GB" altLang="en-US" sz="2500" dirty="0"/>
              <a:t> or an </a:t>
            </a:r>
            <a:r>
              <a:rPr lang="en-GB" altLang="en-US" sz="2500" i="1" dirty="0"/>
              <a:t>issue</a:t>
            </a:r>
          </a:p>
        </p:txBody>
      </p:sp>
      <p:sp>
        <p:nvSpPr>
          <p:cNvPr id="2" name="Slide Number Placeholder 1">
            <a:extLst>
              <a:ext uri="{FF2B5EF4-FFF2-40B4-BE49-F238E27FC236}">
                <a16:creationId xmlns:a16="http://schemas.microsoft.com/office/drawing/2014/main" xmlns="" id="{1180DB1C-11CD-44A1-95DA-84A5F1307B9C}"/>
              </a:ext>
            </a:extLst>
          </p:cNvPr>
          <p:cNvSpPr>
            <a:spLocks noGrp="1"/>
          </p:cNvSpPr>
          <p:nvPr>
            <p:ph type="sldNum" sz="quarter" idx="12"/>
          </p:nvPr>
        </p:nvSpPr>
        <p:spPr/>
        <p:txBody>
          <a:bodyPr/>
          <a:lstStyle/>
          <a:p>
            <a:fld id="{60D6D740-8150-433F-9426-3FCFF681501A}" type="slidenum">
              <a:rPr lang="en-US" smtClean="0"/>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xmlns="" id="{E7223589-E8C1-4171-AD8E-E7D4F3387E73}"/>
              </a:ext>
            </a:extLst>
          </p:cNvPr>
          <p:cNvSpPr>
            <a:spLocks noGrp="1" noChangeArrowheads="1"/>
          </p:cNvSpPr>
          <p:nvPr>
            <p:ph type="title"/>
          </p:nvPr>
        </p:nvSpPr>
        <p:spPr>
          <a:xfrm>
            <a:off x="685800" y="557213"/>
            <a:ext cx="7772400" cy="1143000"/>
          </a:xfrm>
        </p:spPr>
        <p:txBody>
          <a:bodyPr/>
          <a:lstStyle/>
          <a:p>
            <a:pPr eaLnBrk="1" hangingPunct="1"/>
            <a:r>
              <a:rPr lang="en-GB" altLang="en-US" dirty="0"/>
              <a:t>Categories of risk</a:t>
            </a:r>
          </a:p>
        </p:txBody>
      </p:sp>
      <p:pic>
        <p:nvPicPr>
          <p:cNvPr id="8196" name="Picture 5">
            <a:extLst>
              <a:ext uri="{FF2B5EF4-FFF2-40B4-BE49-F238E27FC236}">
                <a16:creationId xmlns:a16="http://schemas.microsoft.com/office/drawing/2014/main" xmlns="" id="{AE97696B-3D45-4236-A164-91CDD5B6A48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71550" y="1700213"/>
            <a:ext cx="7200900" cy="4371975"/>
          </a:xfrm>
          <a:noFill/>
        </p:spPr>
      </p:pic>
      <p:sp>
        <p:nvSpPr>
          <p:cNvPr id="2" name="Slide Number Placeholder 1">
            <a:extLst>
              <a:ext uri="{FF2B5EF4-FFF2-40B4-BE49-F238E27FC236}">
                <a16:creationId xmlns:a16="http://schemas.microsoft.com/office/drawing/2014/main" xmlns="" id="{5B3DC7AF-D108-4566-999D-2F2D7A5CEE04}"/>
              </a:ext>
            </a:extLst>
          </p:cNvPr>
          <p:cNvSpPr>
            <a:spLocks noGrp="1"/>
          </p:cNvSpPr>
          <p:nvPr>
            <p:ph type="sldNum" sz="quarter" idx="12"/>
          </p:nvPr>
        </p:nvSpPr>
        <p:spPr/>
        <p:txBody>
          <a:bodyPr/>
          <a:lstStyle/>
          <a:p>
            <a:fld id="{60D6D740-8150-433F-9426-3FCFF681501A}" type="slidenum">
              <a:rPr lang="en-US" smtClean="0"/>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xmlns="" id="{69CFA0E3-6581-4818-B5A6-F3C7D2967419}"/>
              </a:ext>
            </a:extLst>
          </p:cNvPr>
          <p:cNvSpPr>
            <a:spLocks noGrp="1" noChangeArrowheads="1"/>
          </p:cNvSpPr>
          <p:nvPr>
            <p:ph type="title"/>
          </p:nvPr>
        </p:nvSpPr>
        <p:spPr>
          <a:xfrm>
            <a:off x="287337" y="577849"/>
            <a:ext cx="8569325" cy="1143000"/>
          </a:xfrm>
        </p:spPr>
        <p:txBody>
          <a:bodyPr/>
          <a:lstStyle/>
          <a:p>
            <a:pPr eaLnBrk="1" hangingPunct="1"/>
            <a:r>
              <a:rPr lang="en-GB" altLang="en-US" sz="4000" b="1" dirty="0"/>
              <a:t>Categories of Risk -  Continued</a:t>
            </a:r>
          </a:p>
        </p:txBody>
      </p:sp>
      <p:sp>
        <p:nvSpPr>
          <p:cNvPr id="6" name="Rectangle 3">
            <a:extLst>
              <a:ext uri="{FF2B5EF4-FFF2-40B4-BE49-F238E27FC236}">
                <a16:creationId xmlns:a16="http://schemas.microsoft.com/office/drawing/2014/main" xmlns="" id="{3B9ABE41-3C23-4DA1-8F67-CC31C516F907}"/>
              </a:ext>
            </a:extLst>
          </p:cNvPr>
          <p:cNvSpPr txBox="1">
            <a:spLocks noChangeArrowheads="1"/>
          </p:cNvSpPr>
          <p:nvPr/>
        </p:nvSpPr>
        <p:spPr>
          <a:xfrm>
            <a:off x="685800" y="1981200"/>
            <a:ext cx="2389188"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FontTx/>
              <a:buNone/>
            </a:pPr>
            <a:r>
              <a:rPr lang="en-US" altLang="en-US" dirty="0"/>
              <a:t>Task / Project                  </a:t>
            </a:r>
          </a:p>
          <a:p>
            <a:pPr>
              <a:spcBef>
                <a:spcPct val="0"/>
              </a:spcBef>
            </a:pPr>
            <a:endParaRPr lang="en-US" altLang="en-US" dirty="0"/>
          </a:p>
          <a:p>
            <a:pPr>
              <a:spcBef>
                <a:spcPct val="0"/>
              </a:spcBef>
              <a:buFontTx/>
              <a:buNone/>
            </a:pPr>
            <a:endParaRPr lang="en-US" altLang="en-US" dirty="0"/>
          </a:p>
          <a:p>
            <a:pPr>
              <a:spcBef>
                <a:spcPct val="0"/>
              </a:spcBef>
              <a:buFontTx/>
              <a:buNone/>
            </a:pPr>
            <a:r>
              <a:rPr lang="en-US" altLang="en-US" dirty="0"/>
              <a:t>Structure</a:t>
            </a:r>
          </a:p>
          <a:p>
            <a:pPr>
              <a:spcBef>
                <a:spcPct val="0"/>
              </a:spcBef>
            </a:pPr>
            <a:endParaRPr lang="en-US" altLang="en-US" dirty="0"/>
          </a:p>
          <a:p>
            <a:pPr>
              <a:spcBef>
                <a:spcPct val="0"/>
              </a:spcBef>
              <a:buFontTx/>
              <a:buNone/>
            </a:pPr>
            <a:endParaRPr lang="en-US" altLang="en-US" dirty="0"/>
          </a:p>
          <a:p>
            <a:pPr>
              <a:spcBef>
                <a:spcPct val="0"/>
              </a:spcBef>
              <a:buFontTx/>
              <a:buNone/>
            </a:pPr>
            <a:endParaRPr lang="en-US" altLang="en-US" dirty="0"/>
          </a:p>
          <a:p>
            <a:pPr>
              <a:spcBef>
                <a:spcPct val="0"/>
              </a:spcBef>
              <a:buFontTx/>
              <a:buNone/>
            </a:pPr>
            <a:r>
              <a:rPr lang="en-US" altLang="en-US" dirty="0"/>
              <a:t>Actors</a:t>
            </a:r>
          </a:p>
          <a:p>
            <a:pPr>
              <a:spcBef>
                <a:spcPct val="0"/>
              </a:spcBef>
              <a:buFontTx/>
              <a:buNone/>
            </a:pPr>
            <a:endParaRPr lang="en-US" altLang="en-US" dirty="0"/>
          </a:p>
          <a:p>
            <a:pPr>
              <a:spcBef>
                <a:spcPct val="0"/>
              </a:spcBef>
              <a:buFontTx/>
              <a:buNone/>
            </a:pPr>
            <a:r>
              <a:rPr lang="en-US" altLang="en-US" dirty="0"/>
              <a:t>Technology</a:t>
            </a:r>
            <a:endParaRPr lang="en-GB" altLang="en-US" dirty="0"/>
          </a:p>
        </p:txBody>
      </p:sp>
      <p:sp>
        <p:nvSpPr>
          <p:cNvPr id="7" name="Rectangle 4">
            <a:extLst>
              <a:ext uri="{FF2B5EF4-FFF2-40B4-BE49-F238E27FC236}">
                <a16:creationId xmlns:a16="http://schemas.microsoft.com/office/drawing/2014/main" xmlns="" id="{484E6107-A66F-4922-908A-06D53711A997}"/>
              </a:ext>
            </a:extLst>
          </p:cNvPr>
          <p:cNvSpPr txBox="1">
            <a:spLocks noChangeArrowheads="1"/>
          </p:cNvSpPr>
          <p:nvPr/>
        </p:nvSpPr>
        <p:spPr>
          <a:xfrm>
            <a:off x="3143250" y="1981200"/>
            <a:ext cx="5792028"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pPr>
            <a:r>
              <a:rPr lang="en-US" altLang="en-US" dirty="0"/>
              <a:t>the types of task to be undertaken</a:t>
            </a:r>
          </a:p>
          <a:p>
            <a:pPr>
              <a:spcBef>
                <a:spcPct val="0"/>
              </a:spcBef>
            </a:pPr>
            <a:endParaRPr lang="en-US" altLang="en-US" dirty="0"/>
          </a:p>
          <a:p>
            <a:pPr>
              <a:spcBef>
                <a:spcPct val="0"/>
              </a:spcBef>
            </a:pPr>
            <a:endParaRPr lang="en-US" altLang="en-US" dirty="0"/>
          </a:p>
          <a:p>
            <a:pPr>
              <a:spcBef>
                <a:spcPct val="0"/>
              </a:spcBef>
            </a:pPr>
            <a:r>
              <a:rPr lang="en-US" altLang="en-US" dirty="0"/>
              <a:t>the communication systems, management structures, work flows etc.</a:t>
            </a:r>
          </a:p>
          <a:p>
            <a:pPr>
              <a:spcBef>
                <a:spcPct val="0"/>
              </a:spcBef>
            </a:pPr>
            <a:endParaRPr lang="en-US" altLang="en-US" dirty="0"/>
          </a:p>
          <a:p>
            <a:pPr>
              <a:spcBef>
                <a:spcPct val="0"/>
              </a:spcBef>
            </a:pPr>
            <a:r>
              <a:rPr lang="en-US" altLang="en-US" dirty="0"/>
              <a:t>the people involved in the project</a:t>
            </a:r>
          </a:p>
          <a:p>
            <a:pPr>
              <a:spcBef>
                <a:spcPct val="0"/>
              </a:spcBef>
            </a:pPr>
            <a:endParaRPr lang="en-US" altLang="en-US" dirty="0"/>
          </a:p>
          <a:p>
            <a:pPr>
              <a:spcBef>
                <a:spcPct val="0"/>
              </a:spcBef>
            </a:pPr>
            <a:r>
              <a:rPr lang="en-US" altLang="en-US" dirty="0"/>
              <a:t>the methods, techniques and tools to be used</a:t>
            </a:r>
            <a:endParaRPr lang="en-GB" altLang="en-US" dirty="0"/>
          </a:p>
        </p:txBody>
      </p:sp>
      <p:sp>
        <p:nvSpPr>
          <p:cNvPr id="2" name="Slide Number Placeholder 1">
            <a:extLst>
              <a:ext uri="{FF2B5EF4-FFF2-40B4-BE49-F238E27FC236}">
                <a16:creationId xmlns:a16="http://schemas.microsoft.com/office/drawing/2014/main" xmlns="" id="{1C58FAD0-32F6-4F00-839C-2A0E26B86FF1}"/>
              </a:ext>
            </a:extLst>
          </p:cNvPr>
          <p:cNvSpPr>
            <a:spLocks noGrp="1"/>
          </p:cNvSpPr>
          <p:nvPr>
            <p:ph type="sldNum" sz="quarter" idx="12"/>
          </p:nvPr>
        </p:nvSpPr>
        <p:spPr/>
        <p:txBody>
          <a:bodyPr/>
          <a:lstStyle/>
          <a:p>
            <a:fld id="{60D6D740-8150-433F-9426-3FCFF681501A}" type="slidenum">
              <a:rPr lang="en-US" smtClean="0"/>
              <a:pPr/>
              <a:t>5</a:t>
            </a:fld>
            <a:endParaRPr lang="en-US" dirty="0"/>
          </a:p>
        </p:txBody>
      </p:sp>
    </p:spTree>
    <p:extLst>
      <p:ext uri="{BB962C8B-B14F-4D97-AF65-F5344CB8AC3E}">
        <p14:creationId xmlns:p14="http://schemas.microsoft.com/office/powerpoint/2010/main" val="42703504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xmlns="" id="{C18A426F-F486-4C31-B726-4D1EF38C3CDD}"/>
              </a:ext>
            </a:extLst>
          </p:cNvPr>
          <p:cNvSpPr>
            <a:spLocks noGrp="1" noChangeArrowheads="1"/>
          </p:cNvSpPr>
          <p:nvPr>
            <p:ph type="title"/>
          </p:nvPr>
        </p:nvSpPr>
        <p:spPr>
          <a:xfrm>
            <a:off x="395288" y="768350"/>
            <a:ext cx="8353425" cy="1143000"/>
          </a:xfrm>
        </p:spPr>
        <p:txBody>
          <a:bodyPr/>
          <a:lstStyle/>
          <a:p>
            <a:pPr eaLnBrk="1" hangingPunct="1"/>
            <a:r>
              <a:rPr lang="en-GB" altLang="en-US" sz="4000" b="1" dirty="0"/>
              <a:t>A framework for dealing with risk</a:t>
            </a:r>
          </a:p>
        </p:txBody>
      </p:sp>
      <p:sp>
        <p:nvSpPr>
          <p:cNvPr id="11268" name="Rectangle 3">
            <a:extLst>
              <a:ext uri="{FF2B5EF4-FFF2-40B4-BE49-F238E27FC236}">
                <a16:creationId xmlns:a16="http://schemas.microsoft.com/office/drawing/2014/main" xmlns="" id="{17EBDF4D-5ADE-4911-A729-D08859AB8DAE}"/>
              </a:ext>
            </a:extLst>
          </p:cNvPr>
          <p:cNvSpPr>
            <a:spLocks noGrp="1" noChangeArrowheads="1"/>
          </p:cNvSpPr>
          <p:nvPr>
            <p:ph type="body" idx="1"/>
          </p:nvPr>
        </p:nvSpPr>
        <p:spPr>
          <a:xfrm>
            <a:off x="684213" y="2136775"/>
            <a:ext cx="7772400" cy="4114800"/>
          </a:xfrm>
        </p:spPr>
        <p:txBody>
          <a:bodyPr/>
          <a:lstStyle/>
          <a:p>
            <a:pPr eaLnBrk="1" hangingPunct="1">
              <a:lnSpc>
                <a:spcPct val="90000"/>
              </a:lnSpc>
              <a:buFontTx/>
              <a:buNone/>
            </a:pPr>
            <a:r>
              <a:rPr lang="en-GB" altLang="en-US" dirty="0"/>
              <a:t>The planning for risk includes these steps:</a:t>
            </a:r>
          </a:p>
          <a:p>
            <a:pPr eaLnBrk="1" hangingPunct="1">
              <a:lnSpc>
                <a:spcPct val="90000"/>
              </a:lnSpc>
            </a:pPr>
            <a:r>
              <a:rPr lang="en-GB" altLang="en-US" dirty="0"/>
              <a:t>Risk identification – what risks might there be?</a:t>
            </a:r>
          </a:p>
          <a:p>
            <a:pPr eaLnBrk="1" hangingPunct="1">
              <a:lnSpc>
                <a:spcPct val="90000"/>
              </a:lnSpc>
            </a:pPr>
            <a:r>
              <a:rPr lang="en-GB" altLang="en-US" dirty="0"/>
              <a:t>Risk analysis and prioritization – which are the most serious risks?</a:t>
            </a:r>
          </a:p>
          <a:p>
            <a:pPr eaLnBrk="1" hangingPunct="1">
              <a:lnSpc>
                <a:spcPct val="90000"/>
              </a:lnSpc>
            </a:pPr>
            <a:r>
              <a:rPr lang="en-GB" altLang="en-US" dirty="0"/>
              <a:t>Risk planning – what are we going to do about them?</a:t>
            </a:r>
          </a:p>
          <a:p>
            <a:pPr eaLnBrk="1" hangingPunct="1">
              <a:lnSpc>
                <a:spcPct val="90000"/>
              </a:lnSpc>
              <a:buFontTx/>
              <a:buNone/>
            </a:pPr>
            <a:r>
              <a:rPr lang="en-GB" altLang="en-US" dirty="0"/>
              <a:t>Risk monitoring – what is the current state of the risk?</a:t>
            </a:r>
          </a:p>
        </p:txBody>
      </p:sp>
      <p:sp>
        <p:nvSpPr>
          <p:cNvPr id="2" name="Slide Number Placeholder 1">
            <a:extLst>
              <a:ext uri="{FF2B5EF4-FFF2-40B4-BE49-F238E27FC236}">
                <a16:creationId xmlns:a16="http://schemas.microsoft.com/office/drawing/2014/main" xmlns="" id="{ACCA9850-5182-43B5-B0D5-AE4404EC57BE}"/>
              </a:ext>
            </a:extLst>
          </p:cNvPr>
          <p:cNvSpPr>
            <a:spLocks noGrp="1"/>
          </p:cNvSpPr>
          <p:nvPr>
            <p:ph type="sldNum" sz="quarter" idx="12"/>
          </p:nvPr>
        </p:nvSpPr>
        <p:spPr/>
        <p:txBody>
          <a:bodyPr/>
          <a:lstStyle/>
          <a:p>
            <a:fld id="{60D6D740-8150-433F-9426-3FCFF681501A}" type="slidenum">
              <a:rPr lang="en-US" smtClean="0"/>
              <a:pPr/>
              <a:t>6</a:t>
            </a:fld>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xmlns="" id="{D3BB9CA5-A57C-446E-B180-7B6442C22959}"/>
              </a:ext>
            </a:extLst>
          </p:cNvPr>
          <p:cNvSpPr>
            <a:spLocks noGrp="1" noChangeArrowheads="1"/>
          </p:cNvSpPr>
          <p:nvPr>
            <p:ph type="title"/>
          </p:nvPr>
        </p:nvSpPr>
        <p:spPr>
          <a:xfrm>
            <a:off x="628650" y="1118149"/>
            <a:ext cx="7886700" cy="735100"/>
          </a:xfrm>
        </p:spPr>
        <p:txBody>
          <a:bodyPr/>
          <a:lstStyle/>
          <a:p>
            <a:pPr eaLnBrk="1" hangingPunct="1"/>
            <a:r>
              <a:rPr lang="en-GB" altLang="en-US" b="1"/>
              <a:t>Risk identification</a:t>
            </a:r>
          </a:p>
        </p:txBody>
      </p:sp>
      <p:sp>
        <p:nvSpPr>
          <p:cNvPr id="12292" name="Rectangle 3">
            <a:extLst>
              <a:ext uri="{FF2B5EF4-FFF2-40B4-BE49-F238E27FC236}">
                <a16:creationId xmlns:a16="http://schemas.microsoft.com/office/drawing/2014/main" xmlns="" id="{21ED8BD7-0D4C-4974-A196-86271475B046}"/>
              </a:ext>
            </a:extLst>
          </p:cNvPr>
          <p:cNvSpPr>
            <a:spLocks noGrp="1" noChangeArrowheads="1"/>
          </p:cNvSpPr>
          <p:nvPr>
            <p:ph type="body" idx="1"/>
          </p:nvPr>
        </p:nvSpPr>
        <p:spPr>
          <a:xfrm>
            <a:off x="628650" y="1988185"/>
            <a:ext cx="7886700" cy="4351338"/>
          </a:xfrm>
        </p:spPr>
        <p:txBody>
          <a:bodyPr/>
          <a:lstStyle/>
          <a:p>
            <a:pPr eaLnBrk="1" hangingPunct="1">
              <a:buFontTx/>
              <a:buNone/>
            </a:pPr>
            <a:r>
              <a:rPr lang="en-GB" altLang="en-US"/>
              <a:t>Approaches to identifying risks include:</a:t>
            </a:r>
          </a:p>
          <a:p>
            <a:pPr eaLnBrk="1" hangingPunct="1"/>
            <a:r>
              <a:rPr lang="en-GB" altLang="en-US"/>
              <a:t>Use of checklists – usually based on the experience of past projects</a:t>
            </a:r>
          </a:p>
          <a:p>
            <a:pPr eaLnBrk="1" hangingPunct="1"/>
            <a:r>
              <a:rPr lang="en-GB" altLang="en-US"/>
              <a:t>Brainstorming – getting knowledgeable stakeholders together to pool concerns</a:t>
            </a:r>
          </a:p>
          <a:p>
            <a:pPr eaLnBrk="1" hangingPunct="1"/>
            <a:r>
              <a:rPr lang="en-GB" altLang="en-US"/>
              <a:t>Causal mapping – identifying possible chains of cause and effect</a:t>
            </a:r>
          </a:p>
          <a:p>
            <a:pPr eaLnBrk="1" hangingPunct="1"/>
            <a:endParaRPr lang="en-GB" altLang="en-US"/>
          </a:p>
        </p:txBody>
      </p:sp>
      <p:sp>
        <p:nvSpPr>
          <p:cNvPr id="2" name="Slide Number Placeholder 1">
            <a:extLst>
              <a:ext uri="{FF2B5EF4-FFF2-40B4-BE49-F238E27FC236}">
                <a16:creationId xmlns:a16="http://schemas.microsoft.com/office/drawing/2014/main" xmlns="" id="{C0186C07-770E-4733-A484-2760E56B21DE}"/>
              </a:ext>
            </a:extLst>
          </p:cNvPr>
          <p:cNvSpPr>
            <a:spLocks noGrp="1"/>
          </p:cNvSpPr>
          <p:nvPr>
            <p:ph type="sldNum" sz="quarter" idx="12"/>
          </p:nvPr>
        </p:nvSpPr>
        <p:spPr/>
        <p:txBody>
          <a:bodyPr/>
          <a:lstStyle/>
          <a:p>
            <a:fld id="{60D6D740-8150-433F-9426-3FCFF681501A}" type="slidenum">
              <a:rPr lang="en-US" smtClean="0"/>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91">
            <a:extLst>
              <a:ext uri="{FF2B5EF4-FFF2-40B4-BE49-F238E27FC236}">
                <a16:creationId xmlns:a16="http://schemas.microsoft.com/office/drawing/2014/main" xmlns="" id="{965FBA92-5D37-4B92-8270-8883981EFA1C}"/>
              </a:ext>
            </a:extLst>
          </p:cNvPr>
          <p:cNvSpPr>
            <a:spLocks noGrp="1" noChangeArrowheads="1"/>
          </p:cNvSpPr>
          <p:nvPr>
            <p:ph type="title"/>
          </p:nvPr>
        </p:nvSpPr>
        <p:spPr>
          <a:xfrm>
            <a:off x="539750" y="260350"/>
            <a:ext cx="7772400" cy="1143000"/>
          </a:xfrm>
        </p:spPr>
        <p:txBody>
          <a:bodyPr/>
          <a:lstStyle/>
          <a:p>
            <a:pPr eaLnBrk="1" hangingPunct="1"/>
            <a:r>
              <a:rPr lang="en-GB" altLang="en-US" sz="4000"/>
              <a:t>Boehm’s top 10 development risks</a:t>
            </a:r>
          </a:p>
        </p:txBody>
      </p:sp>
      <p:graphicFrame>
        <p:nvGraphicFramePr>
          <p:cNvPr id="19556" name="Group 100">
            <a:extLst>
              <a:ext uri="{FF2B5EF4-FFF2-40B4-BE49-F238E27FC236}">
                <a16:creationId xmlns:a16="http://schemas.microsoft.com/office/drawing/2014/main" xmlns="" id="{B557243A-FC6C-440E-B7C0-F90B0463D26B}"/>
              </a:ext>
            </a:extLst>
          </p:cNvPr>
          <p:cNvGraphicFramePr>
            <a:graphicFrameLocks noGrp="1"/>
          </p:cNvGraphicFramePr>
          <p:nvPr>
            <p:ph idx="1"/>
            <p:extLst>
              <p:ext uri="{D42A27DB-BD31-4B8C-83A1-F6EECF244321}">
                <p14:modId xmlns:p14="http://schemas.microsoft.com/office/powerpoint/2010/main" val="3575633946"/>
              </p:ext>
            </p:extLst>
          </p:nvPr>
        </p:nvGraphicFramePr>
        <p:xfrm>
          <a:off x="395288" y="1484313"/>
          <a:ext cx="8435975" cy="4402137"/>
        </p:xfrm>
        <a:graphic>
          <a:graphicData uri="http://schemas.openxmlformats.org/drawingml/2006/table">
            <a:tbl>
              <a:tblPr/>
              <a:tblGrid>
                <a:gridCol w="2819400">
                  <a:extLst>
                    <a:ext uri="{9D8B030D-6E8A-4147-A177-3AD203B41FA5}">
                      <a16:colId xmlns:a16="http://schemas.microsoft.com/office/drawing/2014/main" xmlns="" val="20000"/>
                    </a:ext>
                  </a:extLst>
                </a:gridCol>
                <a:gridCol w="5616575">
                  <a:extLst>
                    <a:ext uri="{9D8B030D-6E8A-4147-A177-3AD203B41FA5}">
                      <a16:colId xmlns:a16="http://schemas.microsoft.com/office/drawing/2014/main" xmlns="" val="20001"/>
                    </a:ext>
                  </a:extLst>
                </a:gridCol>
              </a:tblGrid>
              <a:tr h="587216">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900" b="0" i="1" u="none" strike="noStrike" cap="none" normalizeH="0" baseline="0" dirty="0">
                          <a:ln>
                            <a:noFill/>
                          </a:ln>
                          <a:solidFill>
                            <a:schemeClr val="tx1"/>
                          </a:solidFill>
                          <a:effectLst/>
                          <a:latin typeface="Times" charset="0"/>
                          <a:cs typeface="Times New Roman" pitchFamily="18" charset="0"/>
                        </a:rPr>
                        <a:t>Risk</a:t>
                      </a:r>
                      <a:endParaRPr kumimoji="0" lang="en-US" sz="1900" b="0" i="0" u="none" strike="noStrike" cap="none" normalizeH="0" baseline="0" dirty="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900" b="0" i="1" u="none" strike="noStrike" cap="none" normalizeH="0" baseline="0">
                          <a:ln>
                            <a:noFill/>
                          </a:ln>
                          <a:solidFill>
                            <a:schemeClr val="tx1"/>
                          </a:solidFill>
                          <a:effectLst/>
                          <a:latin typeface="Times" charset="0"/>
                          <a:cs typeface="Times New Roman" pitchFamily="18" charset="0"/>
                        </a:rPr>
                        <a:t>Risk reduction techniques</a:t>
                      </a:r>
                      <a:endParaRPr kumimoji="0" lang="en-US" sz="1900" b="0" i="0" u="none" strike="noStrike" cap="none" normalizeH="0" baseline="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108901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charset="0"/>
                          <a:cs typeface="Times New Roman" pitchFamily="18" charset="0"/>
                        </a:rPr>
                        <a:t>Personnel shortfalls</a:t>
                      </a:r>
                      <a:endParaRPr kumimoji="0" lang="en-US" sz="1900" b="0" i="0" u="none" strike="noStrike" cap="none" normalizeH="0" baseline="0" dirty="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charset="0"/>
                          <a:cs typeface="Times New Roman" pitchFamily="18" charset="0"/>
                        </a:rPr>
                        <a:t>Staffing with top talent; job matching; teambuilding; training and career development; early scheduling of key personnel</a:t>
                      </a:r>
                      <a:endParaRPr kumimoji="0" lang="en-US" sz="1900" b="0" i="0" u="none" strike="noStrike" cap="none" normalizeH="0" baseline="0" dirty="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08596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charset="0"/>
                          <a:cs typeface="Times New Roman" pitchFamily="18" charset="0"/>
                        </a:rPr>
                        <a:t>Unrealistic time and cost estimates</a:t>
                      </a:r>
                      <a:endParaRPr kumimoji="0" lang="en-US" sz="1900" b="0" i="0" u="none" strike="noStrike" cap="none" normalizeH="0" baseline="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charset="0"/>
                          <a:cs typeface="Times New Roman" pitchFamily="18" charset="0"/>
                        </a:rPr>
                        <a:t>Multiple estimation techniques; design to cost; incremental development; recording and analysis of past projects; standardization of methods</a:t>
                      </a:r>
                      <a:endParaRPr kumimoji="0" lang="en-US" sz="1900" b="0" i="0" u="none" strike="noStrike" cap="none" normalizeH="0" baseline="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96639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charset="0"/>
                          <a:cs typeface="Times New Roman" pitchFamily="18" charset="0"/>
                        </a:rPr>
                        <a:t>Developing the wrong software functions</a:t>
                      </a:r>
                      <a:endParaRPr kumimoji="0" lang="en-US" sz="1900" b="0" i="0" u="none" strike="noStrike" cap="none" normalizeH="0" baseline="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charset="0"/>
                          <a:cs typeface="Times New Roman" pitchFamily="18" charset="0"/>
                        </a:rPr>
                        <a:t>Improved software evaluation; formal specification methods; user surveys; prototyping; early user manuals</a:t>
                      </a:r>
                      <a:endParaRPr kumimoji="0" lang="en-US" sz="1900" b="0" i="0" u="none" strike="noStrike" cap="none" normalizeH="0" baseline="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673544">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charset="0"/>
                          <a:cs typeface="Times New Roman" pitchFamily="18" charset="0"/>
                        </a:rPr>
                        <a:t>Developing the wrong user interface</a:t>
                      </a:r>
                      <a:endParaRPr kumimoji="0" lang="en-US" sz="1900" b="0" i="0" u="none" strike="noStrike" cap="none" normalizeH="0" baseline="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charset="0"/>
                          <a:cs typeface="Times New Roman" pitchFamily="18" charset="0"/>
                        </a:rPr>
                        <a:t>Prototyping; task analysis; user involvement</a:t>
                      </a:r>
                      <a:endParaRPr kumimoji="0" lang="en-US" sz="1900" b="0" i="0" u="none" strike="noStrike" cap="none" normalizeH="0" baseline="0" dirty="0">
                        <a:ln>
                          <a:noFill/>
                        </a:ln>
                        <a:solidFill>
                          <a:schemeClr val="tx1"/>
                        </a:solidFill>
                        <a:effectLst/>
                        <a:latin typeface="Tahoma" pitchFamily="34" charset="0"/>
                      </a:endParaRPr>
                    </a:p>
                  </a:txBody>
                  <a:tcPr marT="43927" marB="439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2" name="Slide Number Placeholder 1">
            <a:extLst>
              <a:ext uri="{FF2B5EF4-FFF2-40B4-BE49-F238E27FC236}">
                <a16:creationId xmlns:a16="http://schemas.microsoft.com/office/drawing/2014/main" xmlns="" id="{06C9B74D-7387-475D-BFBC-A1ACE33099E1}"/>
              </a:ext>
            </a:extLst>
          </p:cNvPr>
          <p:cNvSpPr>
            <a:spLocks noGrp="1"/>
          </p:cNvSpPr>
          <p:nvPr>
            <p:ph type="sldNum" sz="quarter" idx="10"/>
          </p:nvPr>
        </p:nvSpPr>
        <p:spPr/>
        <p:txBody>
          <a:bodyPr/>
          <a:lstStyle/>
          <a:p>
            <a:pPr>
              <a:defRPr/>
            </a:pPr>
            <a:fld id="{001B0B9B-CB98-4CFB-9009-5DFC2DF366F2}" type="slidenum">
              <a:rPr lang="en-US" altLang="en-US" smtClean="0"/>
              <a:pPr>
                <a:defRPr/>
              </a:pPr>
              <a:t>8</a:t>
            </a:fld>
            <a:endParaRPr lang="en-US"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1">
            <a:extLst>
              <a:ext uri="{FF2B5EF4-FFF2-40B4-BE49-F238E27FC236}">
                <a16:creationId xmlns:a16="http://schemas.microsoft.com/office/drawing/2014/main" xmlns="" id="{FBBAAC98-E2BC-495A-AF79-D5A4E0C474F4}"/>
              </a:ext>
            </a:extLst>
          </p:cNvPr>
          <p:cNvSpPr>
            <a:spLocks noGrp="1" noChangeArrowheads="1"/>
          </p:cNvSpPr>
          <p:nvPr>
            <p:ph type="title"/>
          </p:nvPr>
        </p:nvSpPr>
        <p:spPr>
          <a:xfrm>
            <a:off x="539750" y="115888"/>
            <a:ext cx="7772400" cy="1143000"/>
          </a:xfrm>
        </p:spPr>
        <p:txBody>
          <a:bodyPr/>
          <a:lstStyle/>
          <a:p>
            <a:pPr eaLnBrk="1" hangingPunct="1"/>
            <a:r>
              <a:rPr lang="en-GB" altLang="en-US"/>
              <a:t>Boehm’s top ten risk - continued</a:t>
            </a:r>
          </a:p>
        </p:txBody>
      </p:sp>
      <p:graphicFrame>
        <p:nvGraphicFramePr>
          <p:cNvPr id="21559" name="Group 55">
            <a:extLst>
              <a:ext uri="{FF2B5EF4-FFF2-40B4-BE49-F238E27FC236}">
                <a16:creationId xmlns:a16="http://schemas.microsoft.com/office/drawing/2014/main" xmlns="" id="{9AD02CF9-9752-4C24-8881-DB4814597B7A}"/>
              </a:ext>
            </a:extLst>
          </p:cNvPr>
          <p:cNvGraphicFramePr>
            <a:graphicFrameLocks noGrp="1"/>
          </p:cNvGraphicFramePr>
          <p:nvPr>
            <p:ph idx="1"/>
            <p:extLst>
              <p:ext uri="{D42A27DB-BD31-4B8C-83A1-F6EECF244321}">
                <p14:modId xmlns:p14="http://schemas.microsoft.com/office/powerpoint/2010/main" val="740911350"/>
              </p:ext>
            </p:extLst>
          </p:nvPr>
        </p:nvGraphicFramePr>
        <p:xfrm>
          <a:off x="468313" y="1412875"/>
          <a:ext cx="8229600" cy="4624392"/>
        </p:xfrm>
        <a:graphic>
          <a:graphicData uri="http://schemas.openxmlformats.org/drawingml/2006/table">
            <a:tbl>
              <a:tblPr/>
              <a:tblGrid>
                <a:gridCol w="2819400">
                  <a:extLst>
                    <a:ext uri="{9D8B030D-6E8A-4147-A177-3AD203B41FA5}">
                      <a16:colId xmlns:a16="http://schemas.microsoft.com/office/drawing/2014/main" xmlns="" val="20000"/>
                    </a:ext>
                  </a:extLst>
                </a:gridCol>
                <a:gridCol w="5410200">
                  <a:extLst>
                    <a:ext uri="{9D8B030D-6E8A-4147-A177-3AD203B41FA5}">
                      <a16:colId xmlns:a16="http://schemas.microsoft.com/office/drawing/2014/main" xmlns="" val="20001"/>
                    </a:ext>
                  </a:extLst>
                </a:gridCol>
              </a:tblGrid>
              <a:tr h="79193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Gold plating</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Requirements scrubbing, prototyping,</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design to cost</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7010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Late changes to requirements</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Tahoma" pitchFamily="34" charset="0"/>
                        </a:rPr>
                        <a:t>Change control, incremental development </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02839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Tahoma" pitchFamily="34" charset="0"/>
                        </a:rPr>
                        <a:t>Shortfalls in externally supplied components</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Benchmarking, inspections, formal specifications, contractual agreements, quality controls</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7010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Tahoma" pitchFamily="34" charset="0"/>
                        </a:rPr>
                        <a:t>Shortfalls in externally performed tasks</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Quality assurance procedures, competitive design </a:t>
                      </a:r>
                      <a:r>
                        <a:rPr kumimoji="0" lang="en-GB" sz="2000" b="0" i="0" u="none" strike="noStrike" cap="none" normalizeH="0" baseline="0" dirty="0" err="1">
                          <a:ln>
                            <a:noFill/>
                          </a:ln>
                          <a:solidFill>
                            <a:schemeClr val="tx1"/>
                          </a:solidFill>
                          <a:effectLst/>
                          <a:latin typeface="Tahoma" pitchFamily="34" charset="0"/>
                        </a:rPr>
                        <a:t>etc</a:t>
                      </a:r>
                      <a:endParaRPr kumimoji="0" lang="en-GB" sz="2000" b="0" i="0" u="none" strike="noStrike" cap="none" normalizeH="0" baseline="0" dirty="0">
                        <a:ln>
                          <a:noFill/>
                        </a:ln>
                        <a:solidFill>
                          <a:schemeClr val="tx1"/>
                        </a:solidFill>
                        <a:effectLst/>
                        <a:latin typeface="Tahoma" pitchFamily="34" charset="0"/>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7010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Tahoma" pitchFamily="34" charset="0"/>
                        </a:rPr>
                        <a:t>Real time performance problems</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Simulation, prototyping, tuning</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7010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Development technically too difficult</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Technical analysis, cost-benefit analysis, prototyping , training</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2" name="Slide Number Placeholder 1">
            <a:extLst>
              <a:ext uri="{FF2B5EF4-FFF2-40B4-BE49-F238E27FC236}">
                <a16:creationId xmlns:a16="http://schemas.microsoft.com/office/drawing/2014/main" xmlns="" id="{5358FD9D-CEDA-4459-BF94-69D5838B3993}"/>
              </a:ext>
            </a:extLst>
          </p:cNvPr>
          <p:cNvSpPr>
            <a:spLocks noGrp="1"/>
          </p:cNvSpPr>
          <p:nvPr>
            <p:ph type="sldNum" sz="quarter" idx="10"/>
          </p:nvPr>
        </p:nvSpPr>
        <p:spPr/>
        <p:txBody>
          <a:bodyPr/>
          <a:lstStyle/>
          <a:p>
            <a:pPr>
              <a:defRPr/>
            </a:pPr>
            <a:fld id="{001B0B9B-CB98-4CFB-9009-5DFC2DF366F2}" type="slidenum">
              <a:rPr lang="en-US" altLang="en-US" smtClean="0"/>
              <a:pPr>
                <a:defRPr/>
              </a:pPr>
              <a:t>9</a:t>
            </a:fld>
            <a:endParaRPr lang="en-US"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xmlns="" id="{1FE49FF6-4E27-43B2-9CA6-94AE7C8AF334}"/>
              </a:ext>
            </a:extLst>
          </p:cNvPr>
          <p:cNvSpPr>
            <a:spLocks noGrp="1" noChangeArrowheads="1"/>
          </p:cNvSpPr>
          <p:nvPr>
            <p:ph type="title"/>
          </p:nvPr>
        </p:nvSpPr>
        <p:spPr>
          <a:xfrm>
            <a:off x="611188" y="422593"/>
            <a:ext cx="7772400" cy="1143000"/>
          </a:xfrm>
        </p:spPr>
        <p:txBody>
          <a:bodyPr/>
          <a:lstStyle/>
          <a:p>
            <a:pPr eaLnBrk="1" hangingPunct="1"/>
            <a:r>
              <a:rPr lang="en-GB" altLang="en-US" b="1"/>
              <a:t>Risk prioritization</a:t>
            </a:r>
          </a:p>
        </p:txBody>
      </p:sp>
      <p:sp>
        <p:nvSpPr>
          <p:cNvPr id="19460" name="Rectangle 3">
            <a:extLst>
              <a:ext uri="{FF2B5EF4-FFF2-40B4-BE49-F238E27FC236}">
                <a16:creationId xmlns:a16="http://schemas.microsoft.com/office/drawing/2014/main" xmlns="" id="{B7E9F176-EA31-4B7C-B242-61694D2801F8}"/>
              </a:ext>
            </a:extLst>
          </p:cNvPr>
          <p:cNvSpPr>
            <a:spLocks noGrp="1" noChangeArrowheads="1"/>
          </p:cNvSpPr>
          <p:nvPr>
            <p:ph type="body" idx="1"/>
          </p:nvPr>
        </p:nvSpPr>
        <p:spPr>
          <a:xfrm>
            <a:off x="457200" y="1502093"/>
            <a:ext cx="8229600" cy="4857750"/>
          </a:xfrm>
        </p:spPr>
        <p:txBody>
          <a:bodyPr/>
          <a:lstStyle/>
          <a:p>
            <a:pPr eaLnBrk="1" hangingPunct="1">
              <a:lnSpc>
                <a:spcPct val="90000"/>
              </a:lnSpc>
              <a:buFontTx/>
              <a:buNone/>
            </a:pPr>
            <a:r>
              <a:rPr lang="en-GB" altLang="en-US" sz="2800" dirty="0"/>
              <a:t>Risk exposure (RE)</a:t>
            </a:r>
          </a:p>
          <a:p>
            <a:pPr eaLnBrk="1" hangingPunct="1">
              <a:lnSpc>
                <a:spcPct val="90000"/>
              </a:lnSpc>
              <a:buFontTx/>
              <a:buNone/>
            </a:pPr>
            <a:r>
              <a:rPr lang="en-GB" altLang="en-US" sz="2800" dirty="0"/>
              <a:t> = (potential damage) x (probability of occurrence)</a:t>
            </a:r>
          </a:p>
          <a:p>
            <a:pPr eaLnBrk="1" hangingPunct="1">
              <a:lnSpc>
                <a:spcPct val="90000"/>
              </a:lnSpc>
              <a:buFontTx/>
              <a:buNone/>
            </a:pPr>
            <a:r>
              <a:rPr lang="en-GB" altLang="en-US" sz="2800" i="1" dirty="0"/>
              <a:t>Ideally</a:t>
            </a:r>
          </a:p>
          <a:p>
            <a:pPr eaLnBrk="1" hangingPunct="1">
              <a:lnSpc>
                <a:spcPct val="90000"/>
              </a:lnSpc>
              <a:buFontTx/>
              <a:buNone/>
            </a:pPr>
            <a:r>
              <a:rPr lang="en-GB" altLang="en-US" sz="2800" b="1" dirty="0"/>
              <a:t>Potential damage</a:t>
            </a:r>
            <a:r>
              <a:rPr lang="en-GB" altLang="en-US" sz="2800" dirty="0"/>
              <a:t>: a money value e.g. a flood would cause £0.5 millions of damage</a:t>
            </a:r>
          </a:p>
          <a:p>
            <a:pPr eaLnBrk="1" hangingPunct="1">
              <a:lnSpc>
                <a:spcPct val="90000"/>
              </a:lnSpc>
              <a:buFontTx/>
              <a:buNone/>
            </a:pPr>
            <a:r>
              <a:rPr lang="en-GB" altLang="en-US" sz="2800" b="1" dirty="0"/>
              <a:t>Probability</a:t>
            </a:r>
            <a:r>
              <a:rPr lang="en-GB" altLang="en-US" sz="2800" dirty="0"/>
              <a:t> 0.00 (absolutely no chance) to 1.00 (absolutely certain) e.g. 0.01 (one in hundred chance)</a:t>
            </a:r>
          </a:p>
          <a:p>
            <a:pPr eaLnBrk="1" hangingPunct="1">
              <a:lnSpc>
                <a:spcPct val="90000"/>
              </a:lnSpc>
              <a:buFontTx/>
              <a:buNone/>
            </a:pPr>
            <a:r>
              <a:rPr lang="en-GB" altLang="en-US" sz="2800" dirty="0"/>
              <a:t>RE = £0.5m x 0.01 = £5,000 </a:t>
            </a:r>
          </a:p>
          <a:p>
            <a:pPr eaLnBrk="1" hangingPunct="1">
              <a:lnSpc>
                <a:spcPct val="90000"/>
              </a:lnSpc>
              <a:buFontTx/>
              <a:buNone/>
            </a:pPr>
            <a:r>
              <a:rPr lang="en-GB" altLang="en-US" sz="2800" dirty="0"/>
              <a:t>Crudely analogous to the amount needed for an insurance premium </a:t>
            </a:r>
          </a:p>
        </p:txBody>
      </p:sp>
      <p:sp>
        <p:nvSpPr>
          <p:cNvPr id="2" name="Slide Number Placeholder 1">
            <a:extLst>
              <a:ext uri="{FF2B5EF4-FFF2-40B4-BE49-F238E27FC236}">
                <a16:creationId xmlns:a16="http://schemas.microsoft.com/office/drawing/2014/main" xmlns="" id="{50225B20-C404-4531-9A8D-602B61DCB49C}"/>
              </a:ext>
            </a:extLst>
          </p:cNvPr>
          <p:cNvSpPr>
            <a:spLocks noGrp="1"/>
          </p:cNvSpPr>
          <p:nvPr>
            <p:ph type="sldNum" sz="quarter" idx="12"/>
          </p:nvPr>
        </p:nvSpPr>
        <p:spPr/>
        <p:txBody>
          <a:bodyPr/>
          <a:lstStyle/>
          <a:p>
            <a:fld id="{60D6D740-8150-433F-9426-3FCFF681501A}" type="slidenum">
              <a:rPr lang="en-US" smtClean="0"/>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xmlns="" id="{AD960057-75D3-43CB-9DE9-D726D05BF47E}"/>
              </a:ext>
            </a:extLst>
          </p:cNvPr>
          <p:cNvSpPr>
            <a:spLocks noGrp="1" noChangeArrowheads="1"/>
          </p:cNvSpPr>
          <p:nvPr>
            <p:ph type="title"/>
          </p:nvPr>
        </p:nvSpPr>
        <p:spPr/>
        <p:txBody>
          <a:bodyPr>
            <a:normAutofit fontScale="90000"/>
          </a:bodyPr>
          <a:lstStyle/>
          <a:p>
            <a:pPr eaLnBrk="1" hangingPunct="1"/>
            <a:r>
              <a:rPr lang="en-GB" altLang="en-US" sz="4000" b="1"/>
              <a:t>Risk probability: qualitative descriptors</a:t>
            </a:r>
          </a:p>
        </p:txBody>
      </p:sp>
      <p:sp>
        <p:nvSpPr>
          <p:cNvPr id="21508" name="Rectangle 4">
            <a:extLst>
              <a:ext uri="{FF2B5EF4-FFF2-40B4-BE49-F238E27FC236}">
                <a16:creationId xmlns:a16="http://schemas.microsoft.com/office/drawing/2014/main" xmlns="" id="{A3A17089-43C9-4F0F-88F6-996CC3BC6A81}"/>
              </a:ext>
            </a:extLst>
          </p:cNvPr>
          <p:cNvSpPr>
            <a:spLocks noChangeArrowheads="1"/>
          </p:cNvSpPr>
          <p:nvPr/>
        </p:nvSpPr>
        <p:spPr bwMode="auto">
          <a:xfrm>
            <a:off x="0" y="2344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graphicFrame>
        <p:nvGraphicFramePr>
          <p:cNvPr id="31837" name="Group 93">
            <a:extLst>
              <a:ext uri="{FF2B5EF4-FFF2-40B4-BE49-F238E27FC236}">
                <a16:creationId xmlns:a16="http://schemas.microsoft.com/office/drawing/2014/main" xmlns="" id="{BD44A19C-EC4F-451B-B48D-D47A537BCC60}"/>
              </a:ext>
            </a:extLst>
          </p:cNvPr>
          <p:cNvGraphicFramePr>
            <a:graphicFrameLocks noGrp="1"/>
          </p:cNvGraphicFramePr>
          <p:nvPr>
            <p:extLst>
              <p:ext uri="{D42A27DB-BD31-4B8C-83A1-F6EECF244321}">
                <p14:modId xmlns:p14="http://schemas.microsoft.com/office/powerpoint/2010/main" val="989503893"/>
              </p:ext>
            </p:extLst>
          </p:nvPr>
        </p:nvGraphicFramePr>
        <p:xfrm>
          <a:off x="323850" y="2133600"/>
          <a:ext cx="8351838" cy="2590801"/>
        </p:xfrm>
        <a:graphic>
          <a:graphicData uri="http://schemas.openxmlformats.org/drawingml/2006/table">
            <a:tbl>
              <a:tblPr/>
              <a:tblGrid>
                <a:gridCol w="2232025">
                  <a:extLst>
                    <a:ext uri="{9D8B030D-6E8A-4147-A177-3AD203B41FA5}">
                      <a16:colId xmlns:a16="http://schemas.microsoft.com/office/drawing/2014/main" xmlns="" val="20000"/>
                    </a:ext>
                  </a:extLst>
                </a:gridCol>
                <a:gridCol w="6119813">
                  <a:extLst>
                    <a:ext uri="{9D8B030D-6E8A-4147-A177-3AD203B41FA5}">
                      <a16:colId xmlns:a16="http://schemas.microsoft.com/office/drawing/2014/main" xmlns="" val="20001"/>
                    </a:ext>
                  </a:extLst>
                </a:gridCol>
              </a:tblGrid>
              <a:tr h="811261">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1" u="none" strike="noStrike" cap="none" normalizeH="0" baseline="0" dirty="0">
                          <a:ln>
                            <a:noFill/>
                          </a:ln>
                          <a:solidFill>
                            <a:schemeClr val="tx1"/>
                          </a:solidFill>
                          <a:effectLst/>
                          <a:latin typeface="Times" charset="0"/>
                          <a:cs typeface="Times New Roman" pitchFamily="18" charset="0"/>
                        </a:rPr>
                        <a:t>Probability level</a:t>
                      </a:r>
                      <a:endParaRPr kumimoji="0" lang="en-US" sz="2400" b="0" i="0" u="none" strike="noStrike" cap="none" normalizeH="0" baseline="0" dirty="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1" u="none" strike="noStrike" cap="none" normalizeH="0" baseline="0">
                          <a:ln>
                            <a:noFill/>
                          </a:ln>
                          <a:solidFill>
                            <a:schemeClr val="tx1"/>
                          </a:solidFill>
                          <a:effectLst/>
                          <a:latin typeface="Times" charset="0"/>
                          <a:cs typeface="Times New Roman" pitchFamily="18" charset="0"/>
                        </a:rPr>
                        <a:t>Range</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4488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charset="0"/>
                          <a:cs typeface="Times New Roman" pitchFamily="18" charset="0"/>
                        </a:rPr>
                        <a:t>High</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charset="0"/>
                          <a:cs typeface="Times New Roman" pitchFamily="18" charset="0"/>
                        </a:rPr>
                        <a:t>Greater than 50% chance of happening</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4488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charset="0"/>
                          <a:cs typeface="Times New Roman" pitchFamily="18" charset="0"/>
                        </a:rPr>
                        <a:t>Significant</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charset="0"/>
                          <a:cs typeface="Times New Roman" pitchFamily="18" charset="0"/>
                        </a:rPr>
                        <a:t>30-50% chance of happening</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4488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charset="0"/>
                          <a:cs typeface="Times New Roman" pitchFamily="18" charset="0"/>
                        </a:rPr>
                        <a:t>Moderate</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charset="0"/>
                          <a:cs typeface="Times New Roman" pitchFamily="18" charset="0"/>
                        </a:rPr>
                        <a:t>10-29% chance of happening</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4488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charset="0"/>
                          <a:cs typeface="Times New Roman" pitchFamily="18" charset="0"/>
                        </a:rPr>
                        <a:t>Low</a:t>
                      </a:r>
                      <a:endParaRPr kumimoji="0" lang="en-US" sz="2400" b="0" i="0" u="none" strike="noStrike" cap="none" normalizeH="0" baseline="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charset="0"/>
                          <a:cs typeface="Times New Roman" pitchFamily="18" charset="0"/>
                        </a:rPr>
                        <a:t>Less than 10% chance of happening</a:t>
                      </a:r>
                      <a:endParaRPr kumimoji="0" lang="en-US" sz="2400" b="0" i="0" u="none" strike="noStrike" cap="none" normalizeH="0" baseline="0" dirty="0">
                        <a:ln>
                          <a:noFill/>
                        </a:ln>
                        <a:solidFill>
                          <a:schemeClr val="tx1"/>
                        </a:solidFill>
                        <a:effectLst/>
                        <a:latin typeface="Tahoma" pitchFamily="34" charset="0"/>
                      </a:endParaRPr>
                    </a:p>
                  </a:txBody>
                  <a:tcPr marT="39255" marB="3925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21529" name="Rectangle 86">
            <a:extLst>
              <a:ext uri="{FF2B5EF4-FFF2-40B4-BE49-F238E27FC236}">
                <a16:creationId xmlns:a16="http://schemas.microsoft.com/office/drawing/2014/main" xmlns="" id="{E115BFE1-17AF-4815-AC06-75DDB68D52F3}"/>
              </a:ext>
            </a:extLst>
          </p:cNvPr>
          <p:cNvSpPr>
            <a:spLocks noChangeArrowheads="1"/>
          </p:cNvSpPr>
          <p:nvPr/>
        </p:nvSpPr>
        <p:spPr bwMode="auto">
          <a:xfrm>
            <a:off x="0" y="4511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2" name="Slide Number Placeholder 1">
            <a:extLst>
              <a:ext uri="{FF2B5EF4-FFF2-40B4-BE49-F238E27FC236}">
                <a16:creationId xmlns:a16="http://schemas.microsoft.com/office/drawing/2014/main" xmlns="" id="{ECD1B908-F465-4AD4-9DE9-2BE265799FB9}"/>
              </a:ext>
            </a:extLst>
          </p:cNvPr>
          <p:cNvSpPr>
            <a:spLocks noGrp="1"/>
          </p:cNvSpPr>
          <p:nvPr>
            <p:ph type="sldNum" sz="quarter" idx="12"/>
          </p:nvPr>
        </p:nvSpPr>
        <p:spPr/>
        <p:txBody>
          <a:bodyPr/>
          <a:lstStyle/>
          <a:p>
            <a:fld id="{60D6D740-8150-433F-9426-3FCFF681501A}" type="slidenum">
              <a:rPr lang="en-US" smtClean="0"/>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85">
            <a:extLst>
              <a:ext uri="{FF2B5EF4-FFF2-40B4-BE49-F238E27FC236}">
                <a16:creationId xmlns:a16="http://schemas.microsoft.com/office/drawing/2014/main" xmlns="" id="{9FCA3661-AA3B-4CBF-9498-F4E341BE2D1A}"/>
              </a:ext>
            </a:extLst>
          </p:cNvPr>
          <p:cNvSpPr>
            <a:spLocks noGrp="1" noChangeArrowheads="1"/>
          </p:cNvSpPr>
          <p:nvPr>
            <p:ph type="title"/>
          </p:nvPr>
        </p:nvSpPr>
        <p:spPr>
          <a:xfrm>
            <a:off x="539750" y="476250"/>
            <a:ext cx="8207375" cy="1143000"/>
          </a:xfrm>
        </p:spPr>
        <p:txBody>
          <a:bodyPr>
            <a:normAutofit fontScale="90000"/>
          </a:bodyPr>
          <a:lstStyle/>
          <a:p>
            <a:pPr eaLnBrk="1" hangingPunct="1"/>
            <a:r>
              <a:rPr lang="en-US" altLang="en-US" sz="3600" b="1">
                <a:latin typeface="Times" panose="02020603050405020304" pitchFamily="18" charset="0"/>
                <a:cs typeface="Times New Roman" panose="02020603050405020304" pitchFamily="18" charset="0"/>
              </a:rPr>
              <a:t>Qualitative descriptors of impact on cost and associated range values</a:t>
            </a:r>
            <a:r>
              <a:rPr lang="en-US" altLang="en-US" sz="2800"/>
              <a:t/>
            </a:r>
            <a:br>
              <a:rPr lang="en-US" altLang="en-US" sz="2800"/>
            </a:br>
            <a:endParaRPr lang="en-GB" altLang="en-US" sz="2800"/>
          </a:p>
        </p:txBody>
      </p:sp>
      <p:graphicFrame>
        <p:nvGraphicFramePr>
          <p:cNvPr id="33883" name="Group 91">
            <a:extLst>
              <a:ext uri="{FF2B5EF4-FFF2-40B4-BE49-F238E27FC236}">
                <a16:creationId xmlns:a16="http://schemas.microsoft.com/office/drawing/2014/main" xmlns="" id="{29A19AEB-B06C-44E2-A4A9-9AA4710F5507}"/>
              </a:ext>
            </a:extLst>
          </p:cNvPr>
          <p:cNvGraphicFramePr>
            <a:graphicFrameLocks noGrp="1"/>
          </p:cNvGraphicFramePr>
          <p:nvPr>
            <p:ph idx="1"/>
            <p:extLst>
              <p:ext uri="{D42A27DB-BD31-4B8C-83A1-F6EECF244321}">
                <p14:modId xmlns:p14="http://schemas.microsoft.com/office/powerpoint/2010/main" val="926077586"/>
              </p:ext>
            </p:extLst>
          </p:nvPr>
        </p:nvGraphicFramePr>
        <p:xfrm>
          <a:off x="611188" y="1773238"/>
          <a:ext cx="7772400" cy="2592386"/>
        </p:xfrm>
        <a:graphic>
          <a:graphicData uri="http://schemas.openxmlformats.org/drawingml/2006/table">
            <a:tbl>
              <a:tblPr/>
              <a:tblGrid>
                <a:gridCol w="2473325">
                  <a:extLst>
                    <a:ext uri="{9D8B030D-6E8A-4147-A177-3AD203B41FA5}">
                      <a16:colId xmlns:a16="http://schemas.microsoft.com/office/drawing/2014/main" xmlns="" val="20000"/>
                    </a:ext>
                  </a:extLst>
                </a:gridCol>
                <a:gridCol w="5299075">
                  <a:extLst>
                    <a:ext uri="{9D8B030D-6E8A-4147-A177-3AD203B41FA5}">
                      <a16:colId xmlns:a16="http://schemas.microsoft.com/office/drawing/2014/main" xmlns="" val="20001"/>
                    </a:ext>
                  </a:extLst>
                </a:gridCol>
              </a:tblGrid>
              <a:tr h="31419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700" b="0" i="1" u="none" strike="noStrike" cap="none" normalizeH="0" baseline="0">
                          <a:ln>
                            <a:noFill/>
                          </a:ln>
                          <a:solidFill>
                            <a:schemeClr val="tx1"/>
                          </a:solidFill>
                          <a:effectLst/>
                          <a:latin typeface="Times" charset="0"/>
                          <a:cs typeface="Times New Roman" pitchFamily="18" charset="0"/>
                        </a:rPr>
                        <a:t>Impact level</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700" b="0" i="1" u="none" strike="noStrike" cap="none" normalizeH="0" baseline="0">
                          <a:ln>
                            <a:noFill/>
                          </a:ln>
                          <a:solidFill>
                            <a:schemeClr val="tx1"/>
                          </a:solidFill>
                          <a:effectLst/>
                          <a:latin typeface="Times" charset="0"/>
                          <a:cs typeface="Times New Roman" pitchFamily="18" charset="0"/>
                        </a:rPr>
                        <a:t>Range</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69547">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a:ln>
                            <a:noFill/>
                          </a:ln>
                          <a:solidFill>
                            <a:schemeClr val="tx1"/>
                          </a:solidFill>
                          <a:effectLst/>
                          <a:latin typeface="Times" charset="0"/>
                          <a:cs typeface="Times New Roman" pitchFamily="18" charset="0"/>
                        </a:rPr>
                        <a:t>High</a:t>
                      </a:r>
                      <a:endParaRPr kumimoji="0" lang="en-US" sz="1700" b="0" i="0" u="none" strike="noStrike" cap="none" normalizeH="0" baseline="0" dirty="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a:ln>
                            <a:noFill/>
                          </a:ln>
                          <a:solidFill>
                            <a:schemeClr val="tx1"/>
                          </a:solidFill>
                          <a:effectLst/>
                          <a:latin typeface="Times" charset="0"/>
                          <a:cs typeface="Times New Roman" pitchFamily="18" charset="0"/>
                        </a:rPr>
                        <a:t>Greater than 30% above budgeted expenditure</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569547">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a:ln>
                            <a:noFill/>
                          </a:ln>
                          <a:solidFill>
                            <a:schemeClr val="tx1"/>
                          </a:solidFill>
                          <a:effectLst/>
                          <a:latin typeface="Times" charset="0"/>
                          <a:cs typeface="Times New Roman" pitchFamily="18" charset="0"/>
                        </a:rPr>
                        <a:t>Significant</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a:ln>
                            <a:noFill/>
                          </a:ln>
                          <a:solidFill>
                            <a:schemeClr val="tx1"/>
                          </a:solidFill>
                          <a:effectLst/>
                          <a:latin typeface="Times" charset="0"/>
                          <a:cs typeface="Times New Roman" pitchFamily="18" charset="0"/>
                        </a:rPr>
                        <a:t>20 to 29% above budgeted expenditure</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569547">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a:ln>
                            <a:noFill/>
                          </a:ln>
                          <a:solidFill>
                            <a:schemeClr val="tx1"/>
                          </a:solidFill>
                          <a:effectLst/>
                          <a:latin typeface="Times" charset="0"/>
                          <a:cs typeface="Times New Roman" pitchFamily="18" charset="0"/>
                        </a:rPr>
                        <a:t>Moderate</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a:ln>
                            <a:noFill/>
                          </a:ln>
                          <a:solidFill>
                            <a:schemeClr val="tx1"/>
                          </a:solidFill>
                          <a:effectLst/>
                          <a:latin typeface="Times" charset="0"/>
                          <a:cs typeface="Times New Roman" pitchFamily="18" charset="0"/>
                        </a:rPr>
                        <a:t>10 to 19% above budgeted expenditure</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569547">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a:ln>
                            <a:noFill/>
                          </a:ln>
                          <a:solidFill>
                            <a:schemeClr val="tx1"/>
                          </a:solidFill>
                          <a:effectLst/>
                          <a:latin typeface="Times" charset="0"/>
                          <a:cs typeface="Times New Roman" pitchFamily="18" charset="0"/>
                        </a:rPr>
                        <a:t>Low</a:t>
                      </a:r>
                      <a:endParaRPr kumimoji="0" lang="en-US" sz="1700" b="0" i="0" u="none" strike="noStrike" cap="none" normalizeH="0" baseline="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a:ln>
                            <a:noFill/>
                          </a:ln>
                          <a:solidFill>
                            <a:schemeClr val="tx1"/>
                          </a:solidFill>
                          <a:effectLst/>
                          <a:latin typeface="Times" charset="0"/>
                          <a:cs typeface="Times New Roman" pitchFamily="18" charset="0"/>
                        </a:rPr>
                        <a:t>Within 10% of budgeted expenditure.</a:t>
                      </a:r>
                      <a:endParaRPr kumimoji="0" lang="en-US" sz="1700" b="0" i="0" u="none" strike="noStrike" cap="none" normalizeH="0" baseline="0" dirty="0">
                        <a:ln>
                          <a:noFill/>
                        </a:ln>
                        <a:solidFill>
                          <a:schemeClr val="tx1"/>
                        </a:solidFill>
                        <a:effectLst/>
                        <a:latin typeface="Tahoma" pitchFamily="34" charset="0"/>
                      </a:endParaRPr>
                    </a:p>
                  </a:txBody>
                  <a:tcPr marT="27559" marB="2755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2" name="Slide Number Placeholder 1">
            <a:extLst>
              <a:ext uri="{FF2B5EF4-FFF2-40B4-BE49-F238E27FC236}">
                <a16:creationId xmlns:a16="http://schemas.microsoft.com/office/drawing/2014/main" xmlns="" id="{CFC16998-5822-4110-BC69-2599A985CE0A}"/>
              </a:ext>
            </a:extLst>
          </p:cNvPr>
          <p:cNvSpPr>
            <a:spLocks noGrp="1"/>
          </p:cNvSpPr>
          <p:nvPr>
            <p:ph type="sldNum" sz="quarter" idx="10"/>
          </p:nvPr>
        </p:nvSpPr>
        <p:spPr/>
        <p:txBody>
          <a:bodyPr/>
          <a:lstStyle/>
          <a:p>
            <a:pPr>
              <a:defRPr/>
            </a:pPr>
            <a:fld id="{001B0B9B-CB98-4CFB-9009-5DFC2DF366F2}" type="slidenum">
              <a:rPr lang="en-US" altLang="en-US" smtClean="0"/>
              <a:pPr>
                <a:defRPr/>
              </a:pPr>
              <a:t>12</a:t>
            </a:fld>
            <a:endParaRPr lang="en-US"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xmlns="" id="{87AA2DCF-FF18-4D86-86BB-B52D1ACC6B4A}"/>
              </a:ext>
            </a:extLst>
          </p:cNvPr>
          <p:cNvSpPr>
            <a:spLocks noGrp="1" noChangeArrowheads="1"/>
          </p:cNvSpPr>
          <p:nvPr>
            <p:ph type="title"/>
          </p:nvPr>
        </p:nvSpPr>
        <p:spPr>
          <a:xfrm>
            <a:off x="582613" y="407035"/>
            <a:ext cx="7772400" cy="1143000"/>
          </a:xfrm>
        </p:spPr>
        <p:txBody>
          <a:bodyPr/>
          <a:lstStyle/>
          <a:p>
            <a:pPr eaLnBrk="1" hangingPunct="1"/>
            <a:r>
              <a:rPr lang="en-GB" altLang="en-US" dirty="0"/>
              <a:t>Probability impact matrix</a:t>
            </a:r>
          </a:p>
        </p:txBody>
      </p:sp>
      <p:pic>
        <p:nvPicPr>
          <p:cNvPr id="25604" name="Picture 5">
            <a:extLst>
              <a:ext uri="{FF2B5EF4-FFF2-40B4-BE49-F238E27FC236}">
                <a16:creationId xmlns:a16="http://schemas.microsoft.com/office/drawing/2014/main" xmlns="" id="{F32205AD-1154-4485-9C28-EE5BCE2BE82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68743" y="1311275"/>
            <a:ext cx="5903912" cy="5546725"/>
          </a:xfrm>
          <a:noFill/>
        </p:spPr>
      </p:pic>
      <p:sp>
        <p:nvSpPr>
          <p:cNvPr id="2" name="Slide Number Placeholder 1">
            <a:extLst>
              <a:ext uri="{FF2B5EF4-FFF2-40B4-BE49-F238E27FC236}">
                <a16:creationId xmlns:a16="http://schemas.microsoft.com/office/drawing/2014/main" xmlns="" id="{A4DEC3B7-FEE1-4DFA-9ABF-80B405ADA2F0}"/>
              </a:ext>
            </a:extLst>
          </p:cNvPr>
          <p:cNvSpPr>
            <a:spLocks noGrp="1"/>
          </p:cNvSpPr>
          <p:nvPr>
            <p:ph type="sldNum" sz="quarter" idx="12"/>
          </p:nvPr>
        </p:nvSpPr>
        <p:spPr/>
        <p:txBody>
          <a:bodyPr/>
          <a:lstStyle/>
          <a:p>
            <a:fld id="{60D6D740-8150-433F-9426-3FCFF681501A}" type="slidenum">
              <a:rPr lang="en-US" smtClean="0"/>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083" y="627528"/>
            <a:ext cx="8677836" cy="6006353"/>
          </a:xfrm>
        </p:spPr>
      </p:pic>
      <p:sp>
        <p:nvSpPr>
          <p:cNvPr id="4" name="Slide Number Placeholder 3"/>
          <p:cNvSpPr>
            <a:spLocks noGrp="1"/>
          </p:cNvSpPr>
          <p:nvPr>
            <p:ph type="sldNum" sz="quarter" idx="12"/>
          </p:nvPr>
        </p:nvSpPr>
        <p:spPr/>
        <p:txBody>
          <a:bodyPr/>
          <a:lstStyle/>
          <a:p>
            <a:fld id="{60D6D740-8150-433F-9426-3FCFF681501A}" type="slidenum">
              <a:rPr lang="en-US" smtClean="0"/>
              <a:pPr/>
              <a:t>14</a:t>
            </a:fld>
            <a:endParaRPr lang="en-US" dirty="0"/>
          </a:p>
        </p:txBody>
      </p:sp>
    </p:spTree>
    <p:extLst>
      <p:ext uri="{BB962C8B-B14F-4D97-AF65-F5344CB8AC3E}">
        <p14:creationId xmlns:p14="http://schemas.microsoft.com/office/powerpoint/2010/main" val="12974518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2255" y="1004047"/>
            <a:ext cx="8101086" cy="5414600"/>
          </a:xfrm>
        </p:spPr>
      </p:pic>
      <p:sp>
        <p:nvSpPr>
          <p:cNvPr id="4" name="Slide Number Placeholder 3"/>
          <p:cNvSpPr>
            <a:spLocks noGrp="1"/>
          </p:cNvSpPr>
          <p:nvPr>
            <p:ph type="sldNum" sz="quarter" idx="12"/>
          </p:nvPr>
        </p:nvSpPr>
        <p:spPr/>
        <p:txBody>
          <a:bodyPr/>
          <a:lstStyle/>
          <a:p>
            <a:fld id="{60D6D740-8150-433F-9426-3FCFF681501A}" type="slidenum">
              <a:rPr lang="en-US" smtClean="0"/>
              <a:pPr/>
              <a:t>15</a:t>
            </a:fld>
            <a:endParaRPr lang="en-US" dirty="0"/>
          </a:p>
        </p:txBody>
      </p:sp>
    </p:spTree>
    <p:extLst>
      <p:ext uri="{BB962C8B-B14F-4D97-AF65-F5344CB8AC3E}">
        <p14:creationId xmlns:p14="http://schemas.microsoft.com/office/powerpoint/2010/main" val="27226212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xmlns="" id="{F97D6CD2-117C-4274-A1A1-A3FAA8A9D895}"/>
              </a:ext>
            </a:extLst>
          </p:cNvPr>
          <p:cNvSpPr>
            <a:spLocks noGrp="1" noChangeArrowheads="1"/>
          </p:cNvSpPr>
          <p:nvPr>
            <p:ph type="title"/>
          </p:nvPr>
        </p:nvSpPr>
        <p:spPr>
          <a:xfrm>
            <a:off x="611188" y="943293"/>
            <a:ext cx="7772400" cy="1143000"/>
          </a:xfrm>
        </p:spPr>
        <p:txBody>
          <a:bodyPr/>
          <a:lstStyle/>
          <a:p>
            <a:pPr eaLnBrk="1" hangingPunct="1"/>
            <a:r>
              <a:rPr lang="en-GB" altLang="en-US" b="1" dirty="0"/>
              <a:t>Risk planning</a:t>
            </a:r>
          </a:p>
        </p:txBody>
      </p:sp>
      <p:sp>
        <p:nvSpPr>
          <p:cNvPr id="27652" name="Rectangle 3">
            <a:extLst>
              <a:ext uri="{FF2B5EF4-FFF2-40B4-BE49-F238E27FC236}">
                <a16:creationId xmlns:a16="http://schemas.microsoft.com/office/drawing/2014/main" xmlns="" id="{D318D23C-E3DF-4829-9F08-5656C4CBE94E}"/>
              </a:ext>
            </a:extLst>
          </p:cNvPr>
          <p:cNvSpPr>
            <a:spLocks noGrp="1" noChangeArrowheads="1"/>
          </p:cNvSpPr>
          <p:nvPr>
            <p:ph type="body" idx="1"/>
          </p:nvPr>
        </p:nvSpPr>
        <p:spPr>
          <a:xfrm>
            <a:off x="684213" y="2311718"/>
            <a:ext cx="7772400" cy="4114800"/>
          </a:xfrm>
        </p:spPr>
        <p:txBody>
          <a:bodyPr/>
          <a:lstStyle/>
          <a:p>
            <a:pPr eaLnBrk="1" hangingPunct="1">
              <a:buFontTx/>
              <a:buNone/>
            </a:pPr>
            <a:r>
              <a:rPr lang="en-GB" altLang="en-US" dirty="0"/>
              <a:t>Risks can be dealt with by:</a:t>
            </a:r>
          </a:p>
          <a:p>
            <a:pPr eaLnBrk="1" hangingPunct="1"/>
            <a:r>
              <a:rPr lang="en-GB" altLang="en-US" dirty="0"/>
              <a:t>Risk acceptance </a:t>
            </a:r>
          </a:p>
          <a:p>
            <a:pPr eaLnBrk="1" hangingPunct="1"/>
            <a:r>
              <a:rPr lang="en-GB" altLang="en-US" dirty="0"/>
              <a:t>Risk avoidance </a:t>
            </a:r>
          </a:p>
          <a:p>
            <a:pPr eaLnBrk="1" hangingPunct="1"/>
            <a:r>
              <a:rPr lang="en-GB" altLang="en-US" dirty="0"/>
              <a:t>Risk reduction</a:t>
            </a:r>
          </a:p>
          <a:p>
            <a:pPr eaLnBrk="1" hangingPunct="1"/>
            <a:r>
              <a:rPr lang="en-GB" altLang="en-US" dirty="0"/>
              <a:t>Risk transfer</a:t>
            </a:r>
          </a:p>
          <a:p>
            <a:pPr eaLnBrk="1" hangingPunct="1"/>
            <a:r>
              <a:rPr lang="en-GB" altLang="en-US" dirty="0"/>
              <a:t>Risk mitigation/contingency measures</a:t>
            </a:r>
          </a:p>
        </p:txBody>
      </p:sp>
      <p:sp>
        <p:nvSpPr>
          <p:cNvPr id="2" name="Slide Number Placeholder 1">
            <a:extLst>
              <a:ext uri="{FF2B5EF4-FFF2-40B4-BE49-F238E27FC236}">
                <a16:creationId xmlns:a16="http://schemas.microsoft.com/office/drawing/2014/main" xmlns="" id="{BC1C15F2-72BB-4848-9240-D56B6081CBC3}"/>
              </a:ext>
            </a:extLst>
          </p:cNvPr>
          <p:cNvSpPr>
            <a:spLocks noGrp="1"/>
          </p:cNvSpPr>
          <p:nvPr>
            <p:ph type="sldNum" sz="quarter" idx="12"/>
          </p:nvPr>
        </p:nvSpPr>
        <p:spPr/>
        <p:txBody>
          <a:bodyPr/>
          <a:lstStyle/>
          <a:p>
            <a:fld id="{60D6D740-8150-433F-9426-3FCFF681501A}" type="slidenum">
              <a:rPr lang="en-US" smtClean="0"/>
              <a:pPr/>
              <a:t>16</a:t>
            </a:fld>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60F0AAB-396D-7668-A6FB-B5E5DB4533BE}"/>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GB" altLang="en-US" sz="2800" b="1" dirty="0">
                <a:solidFill>
                  <a:schemeClr val="bg1"/>
                </a:solidFill>
              </a:rPr>
              <a:t>Risk reduction leverage</a:t>
            </a:r>
            <a:endParaRPr lang="en-US" sz="2800" kern="1200" dirty="0">
              <a:solidFill>
                <a:schemeClr val="bg1"/>
              </a:solidFill>
              <a:latin typeface="+mj-lt"/>
              <a:ea typeface="+mj-ea"/>
              <a:cs typeface="+mj-cs"/>
            </a:endParaRPr>
          </a:p>
        </p:txBody>
      </p:sp>
      <p:pic>
        <p:nvPicPr>
          <p:cNvPr id="6" name="Content Placeholder 5">
            <a:extLst>
              <a:ext uri="{FF2B5EF4-FFF2-40B4-BE49-F238E27FC236}">
                <a16:creationId xmlns:a16="http://schemas.microsoft.com/office/drawing/2014/main" xmlns="" id="{BC2E1F80-BE3A-40F1-C8ED-3F8B6D0AC129}"/>
              </a:ext>
            </a:extLst>
          </p:cNvPr>
          <p:cNvPicPr>
            <a:picLocks noGrp="1" noChangeAspect="1"/>
          </p:cNvPicPr>
          <p:nvPr>
            <p:ph idx="1"/>
          </p:nvPr>
        </p:nvPicPr>
        <p:blipFill>
          <a:blip r:embed="rId3"/>
          <a:stretch>
            <a:fillRect/>
          </a:stretch>
        </p:blipFill>
        <p:spPr>
          <a:xfrm>
            <a:off x="482600" y="1704945"/>
            <a:ext cx="8178799" cy="4334762"/>
          </a:xfrm>
          <a:prstGeom prst="rect">
            <a:avLst/>
          </a:prstGeom>
        </p:spPr>
      </p:pic>
      <p:sp>
        <p:nvSpPr>
          <p:cNvPr id="4" name="Slide Number Placeholder 3">
            <a:extLst>
              <a:ext uri="{FF2B5EF4-FFF2-40B4-BE49-F238E27FC236}">
                <a16:creationId xmlns:a16="http://schemas.microsoft.com/office/drawing/2014/main" xmlns="" id="{31D72C00-C74B-A9ED-F8CA-97A965A2B329}"/>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17</a:t>
            </a:fld>
            <a:endParaRPr lang="en-US">
              <a:solidFill>
                <a:schemeClr val="tx1">
                  <a:tint val="75000"/>
                </a:schemeClr>
              </a:solidFill>
            </a:endParaRPr>
          </a:p>
        </p:txBody>
      </p:sp>
    </p:spTree>
    <p:extLst>
      <p:ext uri="{BB962C8B-B14F-4D97-AF65-F5344CB8AC3E}">
        <p14:creationId xmlns:p14="http://schemas.microsoft.com/office/powerpoint/2010/main" val="39669793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xmlns="" id="{D396586E-FF10-4E3E-8F37-920BC5573397}"/>
              </a:ext>
            </a:extLst>
          </p:cNvPr>
          <p:cNvSpPr>
            <a:spLocks noGrp="1" noChangeArrowheads="1"/>
          </p:cNvSpPr>
          <p:nvPr>
            <p:ph type="title"/>
          </p:nvPr>
        </p:nvSpPr>
        <p:spPr>
          <a:xfrm>
            <a:off x="684213" y="1042670"/>
            <a:ext cx="7772400" cy="1143000"/>
          </a:xfrm>
        </p:spPr>
        <p:txBody>
          <a:bodyPr/>
          <a:lstStyle/>
          <a:p>
            <a:pPr eaLnBrk="1" hangingPunct="1"/>
            <a:r>
              <a:rPr lang="en-GB" altLang="en-US" b="1" dirty="0"/>
              <a:t>Risk reduction leverage</a:t>
            </a:r>
          </a:p>
        </p:txBody>
      </p:sp>
      <p:sp>
        <p:nvSpPr>
          <p:cNvPr id="29700" name="Rectangle 3">
            <a:extLst>
              <a:ext uri="{FF2B5EF4-FFF2-40B4-BE49-F238E27FC236}">
                <a16:creationId xmlns:a16="http://schemas.microsoft.com/office/drawing/2014/main" xmlns="" id="{CAAD54CF-F5B3-44D6-A814-FE5EE215EC74}"/>
              </a:ext>
            </a:extLst>
          </p:cNvPr>
          <p:cNvSpPr>
            <a:spLocks noGrp="1" noChangeArrowheads="1"/>
          </p:cNvSpPr>
          <p:nvPr>
            <p:ph type="body" idx="1"/>
          </p:nvPr>
        </p:nvSpPr>
        <p:spPr>
          <a:xfrm>
            <a:off x="611188" y="2195195"/>
            <a:ext cx="7772400" cy="4114800"/>
          </a:xfrm>
        </p:spPr>
        <p:txBody>
          <a:bodyPr>
            <a:normAutofit lnSpcReduction="10000"/>
          </a:bodyPr>
          <a:lstStyle/>
          <a:p>
            <a:pPr eaLnBrk="1" hangingPunct="1">
              <a:buFontTx/>
              <a:buNone/>
            </a:pPr>
            <a:r>
              <a:rPr lang="en-GB" altLang="en-US" sz="2800" dirty="0"/>
              <a:t>Risk reduction leverage =</a:t>
            </a:r>
          </a:p>
          <a:p>
            <a:pPr eaLnBrk="1" hangingPunct="1">
              <a:buFontTx/>
              <a:buNone/>
            </a:pPr>
            <a:r>
              <a:rPr lang="en-GB" altLang="en-US" sz="2800" dirty="0"/>
              <a:t>		 (</a:t>
            </a:r>
            <a:r>
              <a:rPr lang="en-GB" altLang="en-US" sz="2800" dirty="0" err="1"/>
              <a:t>RE</a:t>
            </a:r>
            <a:r>
              <a:rPr lang="en-GB" altLang="en-US" sz="2800" baseline="-25000" dirty="0" err="1"/>
              <a:t>before</a:t>
            </a:r>
            <a:r>
              <a:rPr lang="en-GB" altLang="en-US" sz="2800" dirty="0"/>
              <a:t>- </a:t>
            </a:r>
            <a:r>
              <a:rPr lang="en-GB" altLang="en-US" sz="2800" dirty="0" err="1"/>
              <a:t>RE</a:t>
            </a:r>
            <a:r>
              <a:rPr lang="en-GB" altLang="en-US" sz="2800" baseline="-25000" dirty="0" err="1"/>
              <a:t>after</a:t>
            </a:r>
            <a:r>
              <a:rPr lang="en-GB" altLang="en-US" sz="2800" dirty="0"/>
              <a:t>)/ (cost of risk reduction)</a:t>
            </a:r>
          </a:p>
          <a:p>
            <a:pPr eaLnBrk="1" hangingPunct="1">
              <a:buFontTx/>
              <a:buNone/>
            </a:pPr>
            <a:r>
              <a:rPr lang="en-GB" altLang="en-US" sz="2800" dirty="0" err="1"/>
              <a:t>RE</a:t>
            </a:r>
            <a:r>
              <a:rPr lang="en-GB" altLang="en-US" sz="2800" baseline="-25000" dirty="0" err="1"/>
              <a:t>before</a:t>
            </a:r>
            <a:r>
              <a:rPr lang="en-GB" altLang="en-US" sz="2800" dirty="0" err="1"/>
              <a:t>is</a:t>
            </a:r>
            <a:r>
              <a:rPr lang="en-GB" altLang="en-US" sz="2800" dirty="0"/>
              <a:t> risk exposure before risk reduction e.g. 1% chance of a fire causing £200k damage </a:t>
            </a:r>
          </a:p>
          <a:p>
            <a:pPr eaLnBrk="1" hangingPunct="1">
              <a:buFontTx/>
              <a:buNone/>
            </a:pPr>
            <a:r>
              <a:rPr lang="en-GB" altLang="en-US" sz="2800" dirty="0" err="1"/>
              <a:t>RE</a:t>
            </a:r>
            <a:r>
              <a:rPr lang="en-GB" altLang="en-US" sz="2800" baseline="-25000" dirty="0" err="1"/>
              <a:t>after</a:t>
            </a:r>
            <a:r>
              <a:rPr lang="en-GB" altLang="en-US" sz="2800" baseline="-25000" dirty="0"/>
              <a:t> </a:t>
            </a:r>
            <a:r>
              <a:rPr lang="en-GB" altLang="en-US" sz="2800" dirty="0"/>
              <a:t>is risk exposure after risk reduction e.g. fire alarm costing £500 reduces probability of fire damage to 0.5%</a:t>
            </a:r>
          </a:p>
          <a:p>
            <a:pPr eaLnBrk="1" hangingPunct="1">
              <a:buFontTx/>
              <a:buNone/>
            </a:pPr>
            <a:r>
              <a:rPr lang="en-GB" altLang="en-US" sz="2800" dirty="0"/>
              <a:t>RRL = (1% of £200k)-(0.5% of £200k)/£500 = 2</a:t>
            </a:r>
          </a:p>
          <a:p>
            <a:pPr eaLnBrk="1" hangingPunct="1">
              <a:buFontTx/>
              <a:buNone/>
            </a:pPr>
            <a:r>
              <a:rPr lang="en-GB" altLang="en-US" sz="2800" dirty="0"/>
              <a:t>RRL &gt; 1.00 therefore worth doing</a:t>
            </a:r>
          </a:p>
          <a:p>
            <a:pPr eaLnBrk="1" hangingPunct="1">
              <a:buFontTx/>
              <a:buNone/>
            </a:pPr>
            <a:endParaRPr lang="en-GB" altLang="en-US" sz="2800" dirty="0"/>
          </a:p>
        </p:txBody>
      </p:sp>
      <p:sp>
        <p:nvSpPr>
          <p:cNvPr id="2" name="Slide Number Placeholder 1">
            <a:extLst>
              <a:ext uri="{FF2B5EF4-FFF2-40B4-BE49-F238E27FC236}">
                <a16:creationId xmlns:a16="http://schemas.microsoft.com/office/drawing/2014/main" xmlns="" id="{40EA6805-C1AD-4F27-825C-F37C4CA17B06}"/>
              </a:ext>
            </a:extLst>
          </p:cNvPr>
          <p:cNvSpPr>
            <a:spLocks noGrp="1"/>
          </p:cNvSpPr>
          <p:nvPr>
            <p:ph type="sldNum" sz="quarter" idx="12"/>
          </p:nvPr>
        </p:nvSpPr>
        <p:spPr/>
        <p:txBody>
          <a:bodyPr/>
          <a:lstStyle/>
          <a:p>
            <a:fld id="{60D6D740-8150-433F-9426-3FCFF681501A}" type="slidenum">
              <a:rPr lang="en-US" smtClean="0"/>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xmlns="" id="{BFA1D1F8-1F36-48DF-91C6-F6C381DD99C6}"/>
              </a:ext>
            </a:extLst>
          </p:cNvPr>
          <p:cNvSpPr>
            <a:spLocks noGrp="1" noChangeArrowheads="1"/>
          </p:cNvSpPr>
          <p:nvPr>
            <p:ph type="title"/>
          </p:nvPr>
        </p:nvSpPr>
        <p:spPr>
          <a:xfrm>
            <a:off x="685800" y="727710"/>
            <a:ext cx="7772400" cy="1143000"/>
          </a:xfrm>
        </p:spPr>
        <p:txBody>
          <a:bodyPr/>
          <a:lstStyle/>
          <a:p>
            <a:pPr eaLnBrk="1" hangingPunct="1"/>
            <a:r>
              <a:rPr lang="en-GB" altLang="en-US" b="1" dirty="0"/>
              <a:t>Probability chart</a:t>
            </a:r>
          </a:p>
        </p:txBody>
      </p:sp>
      <p:pic>
        <p:nvPicPr>
          <p:cNvPr id="31748" name="Picture 5">
            <a:extLst>
              <a:ext uri="{FF2B5EF4-FFF2-40B4-BE49-F238E27FC236}">
                <a16:creationId xmlns:a16="http://schemas.microsoft.com/office/drawing/2014/main" xmlns="" id="{DCDB827B-A4EA-4CC7-B3EC-48BAE97CFD6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68313" y="2218055"/>
            <a:ext cx="8207375" cy="4260850"/>
          </a:xfrm>
          <a:noFill/>
        </p:spPr>
      </p:pic>
      <p:sp>
        <p:nvSpPr>
          <p:cNvPr id="2" name="Slide Number Placeholder 1">
            <a:extLst>
              <a:ext uri="{FF2B5EF4-FFF2-40B4-BE49-F238E27FC236}">
                <a16:creationId xmlns:a16="http://schemas.microsoft.com/office/drawing/2014/main" xmlns="" id="{BCF20B25-FCC5-44AF-A2EF-799F3EE368BC}"/>
              </a:ext>
            </a:extLst>
          </p:cNvPr>
          <p:cNvSpPr>
            <a:spLocks noGrp="1"/>
          </p:cNvSpPr>
          <p:nvPr>
            <p:ph type="sldNum" sz="quarter" idx="12"/>
          </p:nvPr>
        </p:nvSpPr>
        <p:spPr/>
        <p:txBody>
          <a:bodyPr/>
          <a:lstStyle/>
          <a:p>
            <a:fld id="{60D6D740-8150-433F-9426-3FCFF681501A}" type="slidenum">
              <a:rPr lang="en-US" smtClean="0"/>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xmlns="" id="{A7329CA7-4C98-47F5-A6B1-BE849F6F9FDD}"/>
              </a:ext>
            </a:extLst>
          </p:cNvPr>
          <p:cNvSpPr>
            <a:spLocks noGrp="1" noChangeArrowheads="1"/>
          </p:cNvSpPr>
          <p:nvPr>
            <p:ph type="title"/>
          </p:nvPr>
        </p:nvSpPr>
        <p:spPr/>
        <p:txBody>
          <a:bodyPr/>
          <a:lstStyle/>
          <a:p>
            <a:r>
              <a:rPr lang="en-US" altLang="en-US" sz="3600" dirty="0"/>
              <a:t>What is RMMM?</a:t>
            </a:r>
          </a:p>
        </p:txBody>
      </p:sp>
      <p:sp>
        <p:nvSpPr>
          <p:cNvPr id="33795" name="Rectangle 3">
            <a:extLst>
              <a:ext uri="{FF2B5EF4-FFF2-40B4-BE49-F238E27FC236}">
                <a16:creationId xmlns:a16="http://schemas.microsoft.com/office/drawing/2014/main" xmlns="" id="{5267584C-50B0-47ED-A477-307256CCEE17}"/>
              </a:ext>
            </a:extLst>
          </p:cNvPr>
          <p:cNvSpPr>
            <a:spLocks noGrp="1" noChangeArrowheads="1"/>
          </p:cNvSpPr>
          <p:nvPr>
            <p:ph type="body" idx="1"/>
          </p:nvPr>
        </p:nvSpPr>
        <p:spPr>
          <a:xfrm>
            <a:off x="949325" y="1981200"/>
            <a:ext cx="7661275" cy="4876800"/>
          </a:xfrm>
        </p:spPr>
        <p:txBody>
          <a:bodyPr/>
          <a:lstStyle/>
          <a:p>
            <a:pPr>
              <a:lnSpc>
                <a:spcPct val="90000"/>
              </a:lnSpc>
            </a:pPr>
            <a:r>
              <a:rPr lang="en-US" altLang="en-US" sz="2800"/>
              <a:t>RMMM = Risk Mitigation, Monitoring and Management</a:t>
            </a:r>
          </a:p>
          <a:p>
            <a:pPr>
              <a:lnSpc>
                <a:spcPct val="90000"/>
              </a:lnSpc>
            </a:pPr>
            <a:r>
              <a:rPr lang="en-US" altLang="en-US" sz="2800"/>
              <a:t>An effective strategy to deal with risks must consider issues such as:</a:t>
            </a:r>
          </a:p>
          <a:p>
            <a:pPr lvl="1">
              <a:lnSpc>
                <a:spcPct val="90000"/>
              </a:lnSpc>
            </a:pPr>
            <a:r>
              <a:rPr lang="en-US" altLang="en-US" sz="2400"/>
              <a:t>Risk avoidance</a:t>
            </a:r>
          </a:p>
          <a:p>
            <a:pPr lvl="1">
              <a:lnSpc>
                <a:spcPct val="90000"/>
              </a:lnSpc>
            </a:pPr>
            <a:r>
              <a:rPr lang="en-US" altLang="en-US" sz="2400"/>
              <a:t>Risk monitoring</a:t>
            </a:r>
          </a:p>
          <a:p>
            <a:pPr lvl="1">
              <a:lnSpc>
                <a:spcPct val="90000"/>
              </a:lnSpc>
            </a:pPr>
            <a:r>
              <a:rPr lang="en-US" altLang="en-US" sz="2400"/>
              <a:t>Risk management and contingency planning</a:t>
            </a:r>
          </a:p>
          <a:p>
            <a:pPr>
              <a:lnSpc>
                <a:spcPct val="90000"/>
              </a:lnSpc>
            </a:pPr>
            <a:r>
              <a:rPr lang="en-US" altLang="en-US" sz="2800"/>
              <a:t>RMMM steps incur additional project cost</a:t>
            </a:r>
          </a:p>
          <a:p>
            <a:r>
              <a:rPr lang="en-US" altLang="en-US" sz="2800"/>
              <a:t>The goal of the RMMM plan is to identify as many potential risks as possible.</a:t>
            </a:r>
          </a:p>
          <a:p>
            <a:pPr lvl="1">
              <a:lnSpc>
                <a:spcPct val="90000"/>
              </a:lnSpc>
            </a:pPr>
            <a:endParaRPr lang="en-US" altLang="en-US" sz="2400"/>
          </a:p>
        </p:txBody>
      </p:sp>
      <p:sp>
        <p:nvSpPr>
          <p:cNvPr id="2" name="Slide Number Placeholder 1">
            <a:extLst>
              <a:ext uri="{FF2B5EF4-FFF2-40B4-BE49-F238E27FC236}">
                <a16:creationId xmlns:a16="http://schemas.microsoft.com/office/drawing/2014/main" xmlns="" id="{253D80BE-E298-488A-86E6-437135C3A313}"/>
              </a:ext>
            </a:extLst>
          </p:cNvPr>
          <p:cNvSpPr>
            <a:spLocks noGrp="1"/>
          </p:cNvSpPr>
          <p:nvPr>
            <p:ph type="sldNum" sz="quarter" idx="12"/>
          </p:nvPr>
        </p:nvSpPr>
        <p:spPr/>
        <p:txBody>
          <a:bodyPr/>
          <a:lstStyle/>
          <a:p>
            <a:fld id="{60D6D740-8150-433F-9426-3FCFF681501A}" type="slidenum">
              <a:rPr lang="en-US" smtClean="0"/>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xmlns="" id="{6F15C12D-B684-40E9-9FA4-EDE4658D72DB}"/>
              </a:ext>
            </a:extLst>
          </p:cNvPr>
          <p:cNvSpPr>
            <a:spLocks noGrp="1" noChangeArrowheads="1"/>
          </p:cNvSpPr>
          <p:nvPr>
            <p:ph type="title"/>
          </p:nvPr>
        </p:nvSpPr>
        <p:spPr>
          <a:xfrm>
            <a:off x="755650" y="1156653"/>
            <a:ext cx="7772400" cy="1143000"/>
          </a:xfrm>
        </p:spPr>
        <p:txBody>
          <a:bodyPr>
            <a:normAutofit fontScale="90000"/>
          </a:bodyPr>
          <a:lstStyle/>
          <a:p>
            <a:pPr eaLnBrk="1" hangingPunct="1"/>
            <a:r>
              <a:rPr lang="en-GB" altLang="en-US" sz="4000" b="1"/>
              <a:t>Using PERT to evaluate the effects of uncertainty</a:t>
            </a:r>
          </a:p>
        </p:txBody>
      </p:sp>
      <p:sp>
        <p:nvSpPr>
          <p:cNvPr id="34820" name="Rectangle 3">
            <a:extLst>
              <a:ext uri="{FF2B5EF4-FFF2-40B4-BE49-F238E27FC236}">
                <a16:creationId xmlns:a16="http://schemas.microsoft.com/office/drawing/2014/main" xmlns="" id="{4A111343-2108-4291-AA0F-9FDA5950B3F3}"/>
              </a:ext>
            </a:extLst>
          </p:cNvPr>
          <p:cNvSpPr>
            <a:spLocks noGrp="1" noChangeArrowheads="1"/>
          </p:cNvSpPr>
          <p:nvPr>
            <p:ph type="body" idx="1"/>
          </p:nvPr>
        </p:nvSpPr>
        <p:spPr>
          <a:xfrm>
            <a:off x="684213" y="2596515"/>
            <a:ext cx="7772400" cy="4114800"/>
          </a:xfrm>
        </p:spPr>
        <p:txBody>
          <a:bodyPr/>
          <a:lstStyle/>
          <a:p>
            <a:pPr eaLnBrk="1" hangingPunct="1">
              <a:buFontTx/>
              <a:buNone/>
            </a:pPr>
            <a:r>
              <a:rPr lang="en-GB" altLang="en-US"/>
              <a:t>Three estimates are produced for each activity</a:t>
            </a:r>
          </a:p>
          <a:p>
            <a:pPr eaLnBrk="1" hangingPunct="1"/>
            <a:r>
              <a:rPr lang="en-GB" altLang="en-US" i="1"/>
              <a:t>Most likely time (m) </a:t>
            </a:r>
          </a:p>
          <a:p>
            <a:pPr eaLnBrk="1" hangingPunct="1"/>
            <a:r>
              <a:rPr lang="en-GB" altLang="en-US" i="1"/>
              <a:t>Optimistic time (a)</a:t>
            </a:r>
            <a:r>
              <a:rPr lang="en-GB" altLang="en-US"/>
              <a:t> </a:t>
            </a:r>
          </a:p>
          <a:p>
            <a:pPr eaLnBrk="1" hangingPunct="1"/>
            <a:r>
              <a:rPr lang="en-GB" altLang="en-US" i="1"/>
              <a:t>Pessimistic (b)</a:t>
            </a:r>
            <a:r>
              <a:rPr lang="en-GB" altLang="en-US"/>
              <a:t> </a:t>
            </a:r>
          </a:p>
          <a:p>
            <a:pPr eaLnBrk="1" hangingPunct="1"/>
            <a:r>
              <a:rPr lang="en-GB" altLang="en-US"/>
              <a:t>‘expected time’ t</a:t>
            </a:r>
            <a:r>
              <a:rPr lang="en-GB" altLang="en-US" baseline="-25000"/>
              <a:t>e </a:t>
            </a:r>
            <a:r>
              <a:rPr lang="en-GB" altLang="en-US"/>
              <a:t> = (a + 4m +b) / 6</a:t>
            </a:r>
          </a:p>
          <a:p>
            <a:pPr eaLnBrk="1" hangingPunct="1"/>
            <a:r>
              <a:rPr lang="en-GB" altLang="en-US"/>
              <a:t>‘activity standard deviation’ S = (b-a)/6</a:t>
            </a:r>
          </a:p>
          <a:p>
            <a:pPr eaLnBrk="1" hangingPunct="1"/>
            <a:endParaRPr lang="en-GB" altLang="en-US" baseline="-25000"/>
          </a:p>
        </p:txBody>
      </p:sp>
      <p:sp>
        <p:nvSpPr>
          <p:cNvPr id="2" name="Slide Number Placeholder 1">
            <a:extLst>
              <a:ext uri="{FF2B5EF4-FFF2-40B4-BE49-F238E27FC236}">
                <a16:creationId xmlns:a16="http://schemas.microsoft.com/office/drawing/2014/main" xmlns="" id="{C8B7308D-59D5-4DB3-B3CE-7A2187A1E42A}"/>
              </a:ext>
            </a:extLst>
          </p:cNvPr>
          <p:cNvSpPr>
            <a:spLocks noGrp="1"/>
          </p:cNvSpPr>
          <p:nvPr>
            <p:ph type="sldNum" sz="quarter" idx="12"/>
          </p:nvPr>
        </p:nvSpPr>
        <p:spPr/>
        <p:txBody>
          <a:bodyPr/>
          <a:lstStyle/>
          <a:p>
            <a:fld id="{60D6D740-8150-433F-9426-3FCFF681501A}" type="slidenum">
              <a:rPr lang="en-US" smtClean="0"/>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xmlns="" id="{EEB41AA8-70DD-4279-BF03-853135BC2BB1}"/>
              </a:ext>
            </a:extLst>
          </p:cNvPr>
          <p:cNvSpPr>
            <a:spLocks noGrp="1" noChangeArrowheads="1"/>
          </p:cNvSpPr>
          <p:nvPr>
            <p:ph type="title"/>
          </p:nvPr>
        </p:nvSpPr>
        <p:spPr>
          <a:xfrm>
            <a:off x="684213" y="260350"/>
            <a:ext cx="7772400" cy="1143000"/>
          </a:xfrm>
        </p:spPr>
        <p:txBody>
          <a:bodyPr/>
          <a:lstStyle/>
          <a:p>
            <a:pPr eaLnBrk="1" hangingPunct="1"/>
            <a:r>
              <a:rPr lang="en-GB" altLang="en-US" b="1"/>
              <a:t>A chain of activities</a:t>
            </a:r>
          </a:p>
        </p:txBody>
      </p:sp>
      <p:sp>
        <p:nvSpPr>
          <p:cNvPr id="36868" name="Rectangle 4">
            <a:extLst>
              <a:ext uri="{FF2B5EF4-FFF2-40B4-BE49-F238E27FC236}">
                <a16:creationId xmlns:a16="http://schemas.microsoft.com/office/drawing/2014/main" xmlns="" id="{CFD57AD9-AE95-4F5D-A5ED-6409B950DF62}"/>
              </a:ext>
            </a:extLst>
          </p:cNvPr>
          <p:cNvSpPr>
            <a:spLocks noChangeArrowheads="1"/>
          </p:cNvSpPr>
          <p:nvPr/>
        </p:nvSpPr>
        <p:spPr bwMode="auto">
          <a:xfrm>
            <a:off x="1042988" y="1700213"/>
            <a:ext cx="1584325" cy="865187"/>
          </a:xfrm>
          <a:prstGeom prst="rect">
            <a:avLst/>
          </a:prstGeom>
          <a:solidFill>
            <a:srgbClr val="99CCFF"/>
          </a:solidFill>
          <a:ln w="9525">
            <a:solidFill>
              <a:schemeClr val="bg2"/>
            </a:solidFill>
            <a:miter lim="800000"/>
            <a:headEnd/>
            <a:tailEnd/>
          </a:ln>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1800">
                <a:solidFill>
                  <a:schemeClr val="tx1"/>
                </a:solidFill>
                <a:latin typeface="Arial" panose="020B0604020202020204" pitchFamily="34" charset="0"/>
              </a:rPr>
              <a:t>Task A</a:t>
            </a:r>
          </a:p>
        </p:txBody>
      </p:sp>
      <p:sp>
        <p:nvSpPr>
          <p:cNvPr id="36869" name="Rectangle 6">
            <a:extLst>
              <a:ext uri="{FF2B5EF4-FFF2-40B4-BE49-F238E27FC236}">
                <a16:creationId xmlns:a16="http://schemas.microsoft.com/office/drawing/2014/main" xmlns="" id="{1CF80463-9B03-4709-BF8A-DAF2C195BB12}"/>
              </a:ext>
            </a:extLst>
          </p:cNvPr>
          <p:cNvSpPr>
            <a:spLocks noChangeArrowheads="1"/>
          </p:cNvSpPr>
          <p:nvPr/>
        </p:nvSpPr>
        <p:spPr bwMode="auto">
          <a:xfrm>
            <a:off x="3276600" y="1700213"/>
            <a:ext cx="1584325" cy="865187"/>
          </a:xfrm>
          <a:prstGeom prst="rect">
            <a:avLst/>
          </a:prstGeom>
          <a:solidFill>
            <a:srgbClr val="99CCFF"/>
          </a:solidFill>
          <a:ln w="9525">
            <a:solidFill>
              <a:schemeClr val="bg2"/>
            </a:solidFill>
            <a:miter lim="800000"/>
            <a:headEnd/>
            <a:tailEnd/>
          </a:ln>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1800">
                <a:solidFill>
                  <a:schemeClr val="tx1"/>
                </a:solidFill>
                <a:latin typeface="Arial" panose="020B0604020202020204" pitchFamily="34" charset="0"/>
              </a:rPr>
              <a:t>Task B</a:t>
            </a:r>
          </a:p>
        </p:txBody>
      </p:sp>
      <p:sp>
        <p:nvSpPr>
          <p:cNvPr id="36870" name="Rectangle 7">
            <a:extLst>
              <a:ext uri="{FF2B5EF4-FFF2-40B4-BE49-F238E27FC236}">
                <a16:creationId xmlns:a16="http://schemas.microsoft.com/office/drawing/2014/main" xmlns="" id="{DBB207E4-84CD-4F59-BBCC-563074A57A00}"/>
              </a:ext>
            </a:extLst>
          </p:cNvPr>
          <p:cNvSpPr>
            <a:spLocks noChangeArrowheads="1"/>
          </p:cNvSpPr>
          <p:nvPr/>
        </p:nvSpPr>
        <p:spPr bwMode="auto">
          <a:xfrm>
            <a:off x="5364163" y="1700213"/>
            <a:ext cx="1584325" cy="865187"/>
          </a:xfrm>
          <a:prstGeom prst="rect">
            <a:avLst/>
          </a:prstGeom>
          <a:solidFill>
            <a:srgbClr val="99CCFF"/>
          </a:solidFill>
          <a:ln w="9525">
            <a:solidFill>
              <a:schemeClr val="bg2"/>
            </a:solidFill>
            <a:miter lim="800000"/>
            <a:headEnd/>
            <a:tailEnd/>
          </a:ln>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1800">
                <a:solidFill>
                  <a:schemeClr val="tx1"/>
                </a:solidFill>
                <a:latin typeface="Arial" panose="020B0604020202020204" pitchFamily="34" charset="0"/>
              </a:rPr>
              <a:t>Task C</a:t>
            </a:r>
          </a:p>
        </p:txBody>
      </p:sp>
      <p:sp>
        <p:nvSpPr>
          <p:cNvPr id="36871" name="Line 8">
            <a:extLst>
              <a:ext uri="{FF2B5EF4-FFF2-40B4-BE49-F238E27FC236}">
                <a16:creationId xmlns:a16="http://schemas.microsoft.com/office/drawing/2014/main" xmlns="" id="{766CB6CF-EBE0-47A5-8564-861066D5126F}"/>
              </a:ext>
            </a:extLst>
          </p:cNvPr>
          <p:cNvSpPr>
            <a:spLocks noChangeShapeType="1"/>
          </p:cNvSpPr>
          <p:nvPr/>
        </p:nvSpPr>
        <p:spPr bwMode="auto">
          <a:xfrm>
            <a:off x="2627313" y="2133600"/>
            <a:ext cx="649287"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72" name="Line 9">
            <a:extLst>
              <a:ext uri="{FF2B5EF4-FFF2-40B4-BE49-F238E27FC236}">
                <a16:creationId xmlns:a16="http://schemas.microsoft.com/office/drawing/2014/main" xmlns="" id="{85A21082-6D32-4656-BEE7-0306879D1DE0}"/>
              </a:ext>
            </a:extLst>
          </p:cNvPr>
          <p:cNvSpPr>
            <a:spLocks noChangeShapeType="1"/>
          </p:cNvSpPr>
          <p:nvPr/>
        </p:nvSpPr>
        <p:spPr bwMode="auto">
          <a:xfrm>
            <a:off x="4859338" y="2133600"/>
            <a:ext cx="504825"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7160" name="Group 56">
            <a:extLst>
              <a:ext uri="{FF2B5EF4-FFF2-40B4-BE49-F238E27FC236}">
                <a16:creationId xmlns:a16="http://schemas.microsoft.com/office/drawing/2014/main" xmlns="" id="{1FBF1422-2957-4267-8438-258D30DBF8DE}"/>
              </a:ext>
            </a:extLst>
          </p:cNvPr>
          <p:cNvGraphicFramePr>
            <a:graphicFrameLocks noGrp="1"/>
          </p:cNvGraphicFramePr>
          <p:nvPr>
            <p:ph idx="1"/>
            <p:extLst>
              <p:ext uri="{D42A27DB-BD31-4B8C-83A1-F6EECF244321}">
                <p14:modId xmlns:p14="http://schemas.microsoft.com/office/powerpoint/2010/main" val="3045022251"/>
              </p:ext>
            </p:extLst>
          </p:nvPr>
        </p:nvGraphicFramePr>
        <p:xfrm>
          <a:off x="685800" y="3251200"/>
          <a:ext cx="7626350" cy="2844800"/>
        </p:xfrm>
        <a:graphic>
          <a:graphicData uri="http://schemas.openxmlformats.org/drawingml/2006/table">
            <a:tbl>
              <a:tblPr/>
              <a:tblGrid>
                <a:gridCol w="1271588">
                  <a:extLst>
                    <a:ext uri="{9D8B030D-6E8A-4147-A177-3AD203B41FA5}">
                      <a16:colId xmlns:a16="http://schemas.microsoft.com/office/drawing/2014/main" xmlns="" val="20000"/>
                    </a:ext>
                  </a:extLst>
                </a:gridCol>
                <a:gridCol w="1270000">
                  <a:extLst>
                    <a:ext uri="{9D8B030D-6E8A-4147-A177-3AD203B41FA5}">
                      <a16:colId xmlns:a16="http://schemas.microsoft.com/office/drawing/2014/main" xmlns="" val="20001"/>
                    </a:ext>
                  </a:extLst>
                </a:gridCol>
                <a:gridCol w="1271587">
                  <a:extLst>
                    <a:ext uri="{9D8B030D-6E8A-4147-A177-3AD203B41FA5}">
                      <a16:colId xmlns:a16="http://schemas.microsoft.com/office/drawing/2014/main" xmlns="" val="20002"/>
                    </a:ext>
                  </a:extLst>
                </a:gridCol>
                <a:gridCol w="1271588">
                  <a:extLst>
                    <a:ext uri="{9D8B030D-6E8A-4147-A177-3AD203B41FA5}">
                      <a16:colId xmlns:a16="http://schemas.microsoft.com/office/drawing/2014/main" xmlns="" val="20003"/>
                    </a:ext>
                  </a:extLst>
                </a:gridCol>
                <a:gridCol w="1270000">
                  <a:extLst>
                    <a:ext uri="{9D8B030D-6E8A-4147-A177-3AD203B41FA5}">
                      <a16:colId xmlns:a16="http://schemas.microsoft.com/office/drawing/2014/main" xmlns="" val="20004"/>
                    </a:ext>
                  </a:extLst>
                </a:gridCol>
                <a:gridCol w="1271587">
                  <a:extLst>
                    <a:ext uri="{9D8B030D-6E8A-4147-A177-3AD203B41FA5}">
                      <a16:colId xmlns:a16="http://schemas.microsoft.com/office/drawing/2014/main" xmlns="" val="20005"/>
                    </a:ext>
                  </a:extLst>
                </a:gridCol>
              </a:tblGrid>
              <a:tr h="711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dirty="0">
                          <a:ln>
                            <a:noFill/>
                          </a:ln>
                          <a:solidFill>
                            <a:schemeClr val="tx1"/>
                          </a:solidFill>
                          <a:effectLst/>
                          <a:latin typeface="Tahoma" pitchFamily="34" charset="0"/>
                        </a:rPr>
                        <a:t>Task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t</a:t>
                      </a:r>
                      <a:r>
                        <a:rPr kumimoji="0" lang="en-GB" sz="2800" b="0" i="0" u="none" strike="noStrike" cap="none" normalizeH="0" baseline="-25000">
                          <a:ln>
                            <a:noFill/>
                          </a:ln>
                          <a:solidFill>
                            <a:schemeClr val="tx1"/>
                          </a:solidFill>
                          <a:effectLst/>
                          <a:latin typeface="Tahoma"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711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dirty="0" smtClean="0">
                          <a:ln>
                            <a:noFill/>
                          </a:ln>
                          <a:solidFill>
                            <a:schemeClr val="tx1"/>
                          </a:solidFill>
                          <a:effectLst/>
                          <a:latin typeface="Tahoma" pitchFamily="34" charset="0"/>
                        </a:rPr>
                        <a:t>?</a:t>
                      </a:r>
                      <a:endParaRPr kumimoji="0" lang="en-GB"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711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711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a:ln>
                            <a:noFill/>
                          </a:ln>
                          <a:solidFill>
                            <a:schemeClr val="tx1"/>
                          </a:solidFill>
                          <a:effectLst/>
                          <a:latin typeface="Tahoma"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800" b="0" i="0" u="none" strike="noStrike" cap="none" normalizeH="0" baseline="0" dirty="0">
                          <a:ln>
                            <a:noFill/>
                          </a:ln>
                          <a:solidFill>
                            <a:schemeClr val="tx1"/>
                          </a:solidFill>
                          <a:effectLst/>
                          <a:latin typeface="Tahoma" pitchFamily="34"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2" name="Slide Number Placeholder 1">
            <a:extLst>
              <a:ext uri="{FF2B5EF4-FFF2-40B4-BE49-F238E27FC236}">
                <a16:creationId xmlns:a16="http://schemas.microsoft.com/office/drawing/2014/main" xmlns="" id="{7B3674AB-F57C-4456-8C3E-B786060C05B0}"/>
              </a:ext>
            </a:extLst>
          </p:cNvPr>
          <p:cNvSpPr>
            <a:spLocks noGrp="1"/>
          </p:cNvSpPr>
          <p:nvPr>
            <p:ph type="sldNum" sz="quarter" idx="10"/>
          </p:nvPr>
        </p:nvSpPr>
        <p:spPr/>
        <p:txBody>
          <a:bodyPr/>
          <a:lstStyle/>
          <a:p>
            <a:pPr>
              <a:defRPr/>
            </a:pPr>
            <a:fld id="{001B0B9B-CB98-4CFB-9009-5DFC2DF366F2}" type="slidenum">
              <a:rPr lang="en-US" altLang="en-US" smtClean="0"/>
              <a:pPr>
                <a:defRPr/>
              </a:pPr>
              <a:t>22</a:t>
            </a:fld>
            <a:endParaRPr lang="en-US"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xmlns="" id="{A84B279E-4870-4716-8A4A-938C763578A6}"/>
              </a:ext>
            </a:extLst>
          </p:cNvPr>
          <p:cNvSpPr>
            <a:spLocks noGrp="1" noChangeArrowheads="1"/>
          </p:cNvSpPr>
          <p:nvPr>
            <p:ph type="title"/>
          </p:nvPr>
        </p:nvSpPr>
        <p:spPr>
          <a:xfrm>
            <a:off x="684213" y="760095"/>
            <a:ext cx="7772400" cy="1143000"/>
          </a:xfrm>
        </p:spPr>
        <p:txBody>
          <a:bodyPr/>
          <a:lstStyle/>
          <a:p>
            <a:pPr eaLnBrk="1" hangingPunct="1"/>
            <a:r>
              <a:rPr lang="en-GB" altLang="en-US" b="1"/>
              <a:t>A chain of activities</a:t>
            </a:r>
          </a:p>
        </p:txBody>
      </p:sp>
      <p:sp>
        <p:nvSpPr>
          <p:cNvPr id="38916" name="Rectangle 3">
            <a:extLst>
              <a:ext uri="{FF2B5EF4-FFF2-40B4-BE49-F238E27FC236}">
                <a16:creationId xmlns:a16="http://schemas.microsoft.com/office/drawing/2014/main" xmlns="" id="{13B62B97-005D-46B1-804D-7F2ECCF9DE66}"/>
              </a:ext>
            </a:extLst>
          </p:cNvPr>
          <p:cNvSpPr>
            <a:spLocks noGrp="1" noChangeArrowheads="1"/>
          </p:cNvSpPr>
          <p:nvPr>
            <p:ph type="body" idx="1"/>
          </p:nvPr>
        </p:nvSpPr>
        <p:spPr>
          <a:xfrm>
            <a:off x="468313" y="2055495"/>
            <a:ext cx="8229600" cy="4525963"/>
          </a:xfrm>
        </p:spPr>
        <p:txBody>
          <a:bodyPr/>
          <a:lstStyle/>
          <a:p>
            <a:pPr eaLnBrk="1" hangingPunct="1"/>
            <a:r>
              <a:rPr lang="en-GB" altLang="en-US" dirty="0"/>
              <a:t>What would be the expected duration of the chain A + B + C? </a:t>
            </a:r>
          </a:p>
          <a:p>
            <a:pPr eaLnBrk="1" hangingPunct="1"/>
            <a:r>
              <a:rPr lang="en-GB" altLang="en-US" dirty="0"/>
              <a:t>Answer: 12.66 + 10.33 + 25.66 i.e. 48.65</a:t>
            </a:r>
          </a:p>
          <a:p>
            <a:pPr eaLnBrk="1" hangingPunct="1"/>
            <a:r>
              <a:rPr lang="en-GB" altLang="en-US" dirty="0"/>
              <a:t>What would be the variance for A + B+ C?</a:t>
            </a:r>
          </a:p>
          <a:p>
            <a:pPr eaLnBrk="1" hangingPunct="1"/>
            <a:r>
              <a:rPr lang="en-GB" altLang="en-US" dirty="0"/>
              <a:t>Answer: square root of (1</a:t>
            </a:r>
            <a:r>
              <a:rPr lang="en-GB" altLang="en-US" baseline="30000" dirty="0"/>
              <a:t>2</a:t>
            </a:r>
            <a:r>
              <a:rPr lang="en-GB" altLang="en-US" dirty="0"/>
              <a:t> + 1</a:t>
            </a:r>
            <a:r>
              <a:rPr lang="en-GB" altLang="en-US" baseline="30000" dirty="0"/>
              <a:t>2</a:t>
            </a:r>
            <a:r>
              <a:rPr lang="en-GB" altLang="en-US" dirty="0"/>
              <a:t> + 3</a:t>
            </a:r>
            <a:r>
              <a:rPr lang="en-GB" altLang="en-US" baseline="30000" dirty="0"/>
              <a:t>2</a:t>
            </a:r>
            <a:r>
              <a:rPr lang="en-GB" altLang="en-US" dirty="0"/>
              <a:t>) i.e.</a:t>
            </a:r>
          </a:p>
          <a:p>
            <a:pPr eaLnBrk="1" hangingPunct="1">
              <a:buFontTx/>
              <a:buNone/>
            </a:pPr>
            <a:r>
              <a:rPr lang="en-GB" altLang="en-US" dirty="0"/>
              <a:t> 3.32</a:t>
            </a:r>
          </a:p>
          <a:p>
            <a:pPr eaLnBrk="1" hangingPunct="1"/>
            <a:endParaRPr lang="en-GB" altLang="en-US" dirty="0"/>
          </a:p>
        </p:txBody>
      </p:sp>
      <p:sp>
        <p:nvSpPr>
          <p:cNvPr id="2" name="Slide Number Placeholder 1">
            <a:extLst>
              <a:ext uri="{FF2B5EF4-FFF2-40B4-BE49-F238E27FC236}">
                <a16:creationId xmlns:a16="http://schemas.microsoft.com/office/drawing/2014/main" xmlns="" id="{E4F98F3C-DC59-4DC1-B37D-338B94C90E25}"/>
              </a:ext>
            </a:extLst>
          </p:cNvPr>
          <p:cNvSpPr>
            <a:spLocks noGrp="1"/>
          </p:cNvSpPr>
          <p:nvPr>
            <p:ph type="sldNum" sz="quarter" idx="12"/>
          </p:nvPr>
        </p:nvSpPr>
        <p:spPr/>
        <p:txBody>
          <a:bodyPr/>
          <a:lstStyle/>
          <a:p>
            <a:fld id="{60D6D740-8150-433F-9426-3FCFF681501A}" type="slidenum">
              <a:rPr lang="en-US" smtClean="0"/>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xmlns="" id="{2C929EBF-83C4-4F6A-B809-B8A82C4AD0C9}"/>
              </a:ext>
            </a:extLst>
          </p:cNvPr>
          <p:cNvSpPr>
            <a:spLocks noGrp="1" noChangeArrowheads="1"/>
          </p:cNvSpPr>
          <p:nvPr>
            <p:ph type="title"/>
          </p:nvPr>
        </p:nvSpPr>
        <p:spPr>
          <a:xfrm>
            <a:off x="611188" y="861695"/>
            <a:ext cx="7772400" cy="1143000"/>
          </a:xfrm>
        </p:spPr>
        <p:txBody>
          <a:bodyPr>
            <a:normAutofit fontScale="90000"/>
          </a:bodyPr>
          <a:lstStyle/>
          <a:p>
            <a:pPr eaLnBrk="1" hangingPunct="1"/>
            <a:r>
              <a:rPr lang="en-GB" altLang="en-US" sz="4000" b="1"/>
              <a:t>Assessing the likelihood of meeting a target</a:t>
            </a:r>
          </a:p>
        </p:txBody>
      </p:sp>
      <p:sp>
        <p:nvSpPr>
          <p:cNvPr id="40964" name="Rectangle 3">
            <a:extLst>
              <a:ext uri="{FF2B5EF4-FFF2-40B4-BE49-F238E27FC236}">
                <a16:creationId xmlns:a16="http://schemas.microsoft.com/office/drawing/2014/main" xmlns="" id="{EFA72836-F95E-475A-A4B5-88DE161B0F67}"/>
              </a:ext>
            </a:extLst>
          </p:cNvPr>
          <p:cNvSpPr>
            <a:spLocks noGrp="1" noChangeArrowheads="1"/>
          </p:cNvSpPr>
          <p:nvPr>
            <p:ph type="body" idx="1"/>
          </p:nvPr>
        </p:nvSpPr>
        <p:spPr>
          <a:xfrm>
            <a:off x="628650" y="2353945"/>
            <a:ext cx="7886700" cy="4351338"/>
          </a:xfrm>
        </p:spPr>
        <p:txBody>
          <a:bodyPr/>
          <a:lstStyle/>
          <a:p>
            <a:pPr eaLnBrk="1" hangingPunct="1"/>
            <a:r>
              <a:rPr lang="en-GB" altLang="en-US"/>
              <a:t>Say the target for completing A+B+C was 52 days (T)</a:t>
            </a:r>
          </a:p>
          <a:p>
            <a:pPr eaLnBrk="1" hangingPunct="1"/>
            <a:r>
              <a:rPr lang="en-GB" altLang="en-US"/>
              <a:t>Calculate the z value thus</a:t>
            </a:r>
            <a:br>
              <a:rPr lang="en-GB" altLang="en-US"/>
            </a:br>
            <a:r>
              <a:rPr lang="en-GB" altLang="en-US"/>
              <a:t>	z = (T – t</a:t>
            </a:r>
            <a:r>
              <a:rPr lang="en-GB" altLang="en-US" baseline="-25000"/>
              <a:t>e</a:t>
            </a:r>
            <a:r>
              <a:rPr lang="en-GB" altLang="en-US"/>
              <a:t>)/s </a:t>
            </a:r>
          </a:p>
          <a:p>
            <a:pPr eaLnBrk="1" hangingPunct="1"/>
            <a:r>
              <a:rPr lang="en-GB" altLang="en-US"/>
              <a:t>In this example  z = (52-48.33)/3.32 i.e. 1.01</a:t>
            </a:r>
          </a:p>
          <a:p>
            <a:pPr eaLnBrk="1" hangingPunct="1"/>
            <a:r>
              <a:rPr lang="en-GB" altLang="en-US"/>
              <a:t>Look up in table of z values – see next overhead</a:t>
            </a:r>
          </a:p>
        </p:txBody>
      </p:sp>
      <p:sp>
        <p:nvSpPr>
          <p:cNvPr id="2" name="Slide Number Placeholder 1">
            <a:extLst>
              <a:ext uri="{FF2B5EF4-FFF2-40B4-BE49-F238E27FC236}">
                <a16:creationId xmlns:a16="http://schemas.microsoft.com/office/drawing/2014/main" xmlns="" id="{E24A71C3-2662-4B87-AB44-151B40C27EEF}"/>
              </a:ext>
            </a:extLst>
          </p:cNvPr>
          <p:cNvSpPr>
            <a:spLocks noGrp="1"/>
          </p:cNvSpPr>
          <p:nvPr>
            <p:ph type="sldNum" sz="quarter" idx="12"/>
          </p:nvPr>
        </p:nvSpPr>
        <p:spPr/>
        <p:txBody>
          <a:bodyPr/>
          <a:lstStyle/>
          <a:p>
            <a:fld id="{60D6D740-8150-433F-9426-3FCFF681501A}" type="slidenum">
              <a:rPr lang="en-US" smtClean="0"/>
              <a:pPr/>
              <a:t>24</a:t>
            </a:fld>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xmlns="" id="{4FED441D-0481-439B-BF9A-C8EAB00906FF}"/>
              </a:ext>
            </a:extLst>
          </p:cNvPr>
          <p:cNvSpPr>
            <a:spLocks noGrp="1" noChangeArrowheads="1"/>
          </p:cNvSpPr>
          <p:nvPr>
            <p:ph type="title"/>
          </p:nvPr>
        </p:nvSpPr>
        <p:spPr>
          <a:xfrm>
            <a:off x="684213" y="426720"/>
            <a:ext cx="7772400" cy="1143000"/>
          </a:xfrm>
        </p:spPr>
        <p:txBody>
          <a:bodyPr/>
          <a:lstStyle/>
          <a:p>
            <a:pPr eaLnBrk="1" hangingPunct="1"/>
            <a:r>
              <a:rPr lang="en-GB" altLang="en-US" b="1"/>
              <a:t>Graph of z values</a:t>
            </a:r>
            <a:r>
              <a:rPr lang="en-GB" altLang="en-US"/>
              <a:t> </a:t>
            </a:r>
          </a:p>
        </p:txBody>
      </p:sp>
      <p:pic>
        <p:nvPicPr>
          <p:cNvPr id="5" name="Picture 4">
            <a:extLst>
              <a:ext uri="{FF2B5EF4-FFF2-40B4-BE49-F238E27FC236}">
                <a16:creationId xmlns:a16="http://schemas.microsoft.com/office/drawing/2014/main" xmlns="" id="{8FCC1450-30E8-4F13-BF37-9AA2CEA0EBA2}"/>
              </a:ext>
            </a:extLst>
          </p:cNvPr>
          <p:cNvPicPr>
            <a:picLocks noChangeAspect="1"/>
          </p:cNvPicPr>
          <p:nvPr/>
        </p:nvPicPr>
        <p:blipFill>
          <a:blip r:embed="rId3"/>
          <a:stretch>
            <a:fillRect/>
          </a:stretch>
        </p:blipFill>
        <p:spPr>
          <a:xfrm>
            <a:off x="928053" y="1533566"/>
            <a:ext cx="7477760" cy="4897714"/>
          </a:xfrm>
          <a:prstGeom prst="rect">
            <a:avLst/>
          </a:prstGeom>
        </p:spPr>
      </p:pic>
      <p:sp>
        <p:nvSpPr>
          <p:cNvPr id="2" name="Slide Number Placeholder 1">
            <a:extLst>
              <a:ext uri="{FF2B5EF4-FFF2-40B4-BE49-F238E27FC236}">
                <a16:creationId xmlns:a16="http://schemas.microsoft.com/office/drawing/2014/main" xmlns="" id="{0109B3FB-FB07-4EE6-A20B-7ACFEFD44A10}"/>
              </a:ext>
            </a:extLst>
          </p:cNvPr>
          <p:cNvSpPr>
            <a:spLocks noGrp="1"/>
          </p:cNvSpPr>
          <p:nvPr>
            <p:ph type="sldNum" sz="quarter" idx="12"/>
          </p:nvPr>
        </p:nvSpPr>
        <p:spPr/>
        <p:txBody>
          <a:bodyPr/>
          <a:lstStyle/>
          <a:p>
            <a:fld id="{60D6D740-8150-433F-9426-3FCFF681501A}" type="slidenum">
              <a:rPr lang="en-US" smtClean="0"/>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xmlns="" id="{90AB16C6-1D33-48C9-8AD4-EC7D120C8678}"/>
              </a:ext>
            </a:extLst>
          </p:cNvPr>
          <p:cNvSpPr>
            <a:spLocks noGrp="1" noChangeArrowheads="1"/>
          </p:cNvSpPr>
          <p:nvPr>
            <p:ph type="title"/>
          </p:nvPr>
        </p:nvSpPr>
        <p:spPr>
          <a:xfrm>
            <a:off x="684213" y="1009968"/>
            <a:ext cx="7772400" cy="1143000"/>
          </a:xfrm>
        </p:spPr>
        <p:txBody>
          <a:bodyPr/>
          <a:lstStyle/>
          <a:p>
            <a:pPr eaLnBrk="1" hangingPunct="1"/>
            <a:r>
              <a:rPr lang="en-GB" altLang="en-US" b="1"/>
              <a:t>Critical chain approach</a:t>
            </a:r>
          </a:p>
        </p:txBody>
      </p:sp>
      <p:sp>
        <p:nvSpPr>
          <p:cNvPr id="44036" name="Rectangle 3">
            <a:extLst>
              <a:ext uri="{FF2B5EF4-FFF2-40B4-BE49-F238E27FC236}">
                <a16:creationId xmlns:a16="http://schemas.microsoft.com/office/drawing/2014/main" xmlns="" id="{BB3B9C5E-07C5-45CA-887E-FA967E9A76B1}"/>
              </a:ext>
            </a:extLst>
          </p:cNvPr>
          <p:cNvSpPr>
            <a:spLocks noGrp="1" noChangeArrowheads="1"/>
          </p:cNvSpPr>
          <p:nvPr>
            <p:ph type="body" idx="1"/>
          </p:nvPr>
        </p:nvSpPr>
        <p:spPr>
          <a:xfrm>
            <a:off x="684213" y="2019618"/>
            <a:ext cx="7772400" cy="4114800"/>
          </a:xfrm>
        </p:spPr>
        <p:txBody>
          <a:bodyPr/>
          <a:lstStyle/>
          <a:p>
            <a:pPr eaLnBrk="1" hangingPunct="1">
              <a:buFontTx/>
              <a:buNone/>
            </a:pPr>
            <a:r>
              <a:rPr lang="en-GB" altLang="en-US" dirty="0"/>
              <a:t>One problem with estimates of task duration:</a:t>
            </a:r>
          </a:p>
          <a:p>
            <a:pPr eaLnBrk="1" hangingPunct="1"/>
            <a:r>
              <a:rPr lang="en-GB" altLang="en-US" dirty="0"/>
              <a:t>Estimators add a safety zone to estimate to take account of possible difficulties</a:t>
            </a:r>
          </a:p>
          <a:p>
            <a:pPr eaLnBrk="1" hangingPunct="1"/>
            <a:r>
              <a:rPr lang="en-GB" altLang="en-US" dirty="0"/>
              <a:t>Developers work to the estimate + safety zone, so time is lost</a:t>
            </a:r>
          </a:p>
          <a:p>
            <a:pPr eaLnBrk="1" hangingPunct="1"/>
            <a:r>
              <a:rPr lang="en-GB" altLang="en-US" dirty="0"/>
              <a:t>No advantage is taken of opportunities where tasks can finish early – and provide a buffer for later activities</a:t>
            </a:r>
          </a:p>
          <a:p>
            <a:pPr eaLnBrk="1" hangingPunct="1"/>
            <a:endParaRPr lang="en-GB" altLang="en-US" dirty="0"/>
          </a:p>
          <a:p>
            <a:pPr eaLnBrk="1" hangingPunct="1">
              <a:buFontTx/>
              <a:buNone/>
            </a:pPr>
            <a:endParaRPr lang="en-GB" altLang="en-US" dirty="0"/>
          </a:p>
        </p:txBody>
      </p:sp>
      <p:sp>
        <p:nvSpPr>
          <p:cNvPr id="2" name="Slide Number Placeholder 1">
            <a:extLst>
              <a:ext uri="{FF2B5EF4-FFF2-40B4-BE49-F238E27FC236}">
                <a16:creationId xmlns:a16="http://schemas.microsoft.com/office/drawing/2014/main" xmlns="" id="{B5D035EF-FAB3-4E5A-BC1C-720882E210C3}"/>
              </a:ext>
            </a:extLst>
          </p:cNvPr>
          <p:cNvSpPr>
            <a:spLocks noGrp="1"/>
          </p:cNvSpPr>
          <p:nvPr>
            <p:ph type="sldNum" sz="quarter" idx="12"/>
          </p:nvPr>
        </p:nvSpPr>
        <p:spPr/>
        <p:txBody>
          <a:bodyPr/>
          <a:lstStyle/>
          <a:p>
            <a:fld id="{60D6D740-8150-433F-9426-3FCFF681501A}" type="slidenum">
              <a:rPr lang="en-US" smtClean="0"/>
              <a:pPr/>
              <a:t>26</a:t>
            </a:fld>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xmlns="" id="{6A48160C-DA48-49FB-9363-51CF59A848D5}"/>
              </a:ext>
            </a:extLst>
          </p:cNvPr>
          <p:cNvSpPr>
            <a:spLocks noGrp="1" noChangeArrowheads="1"/>
          </p:cNvSpPr>
          <p:nvPr>
            <p:ph type="title"/>
          </p:nvPr>
        </p:nvSpPr>
        <p:spPr>
          <a:xfrm>
            <a:off x="611188" y="625793"/>
            <a:ext cx="7772400" cy="1143000"/>
          </a:xfrm>
        </p:spPr>
        <p:txBody>
          <a:bodyPr/>
          <a:lstStyle/>
          <a:p>
            <a:pPr eaLnBrk="1" hangingPunct="1"/>
            <a:r>
              <a:rPr lang="en-GB" altLang="en-US" b="1" dirty="0"/>
              <a:t>Critical chain approach</a:t>
            </a:r>
          </a:p>
        </p:txBody>
      </p:sp>
      <p:sp>
        <p:nvSpPr>
          <p:cNvPr id="46084" name="Rectangle 3">
            <a:extLst>
              <a:ext uri="{FF2B5EF4-FFF2-40B4-BE49-F238E27FC236}">
                <a16:creationId xmlns:a16="http://schemas.microsoft.com/office/drawing/2014/main" xmlns="" id="{AD953F0C-350B-42F7-A745-D539817E0BF9}"/>
              </a:ext>
            </a:extLst>
          </p:cNvPr>
          <p:cNvSpPr>
            <a:spLocks noGrp="1" noChangeArrowheads="1"/>
          </p:cNvSpPr>
          <p:nvPr>
            <p:ph type="body" idx="1"/>
          </p:nvPr>
        </p:nvSpPr>
        <p:spPr>
          <a:xfrm>
            <a:off x="611188" y="1921193"/>
            <a:ext cx="7772400" cy="4681537"/>
          </a:xfrm>
        </p:spPr>
        <p:txBody>
          <a:bodyPr/>
          <a:lstStyle/>
          <a:p>
            <a:pPr eaLnBrk="1" hangingPunct="1">
              <a:lnSpc>
                <a:spcPct val="90000"/>
              </a:lnSpc>
              <a:buFontTx/>
              <a:buNone/>
            </a:pPr>
            <a:r>
              <a:rPr lang="en-GB" altLang="en-US" dirty="0"/>
              <a:t>One answer to this:</a:t>
            </a:r>
          </a:p>
          <a:p>
            <a:pPr eaLnBrk="1" hangingPunct="1">
              <a:lnSpc>
                <a:spcPct val="90000"/>
              </a:lnSpc>
            </a:pPr>
            <a:r>
              <a:rPr lang="en-GB" altLang="en-US" dirty="0"/>
              <a:t>Base targets on midpoints (i.e. </a:t>
            </a:r>
            <a:r>
              <a:rPr lang="en-GB" altLang="en-US" dirty="0" err="1"/>
              <a:t>t</a:t>
            </a:r>
            <a:r>
              <a:rPr lang="en-GB" altLang="en-US" baseline="-25000" dirty="0" err="1"/>
              <a:t>e</a:t>
            </a:r>
            <a:r>
              <a:rPr lang="en-GB" altLang="en-US" dirty="0"/>
              <a:t>)</a:t>
            </a:r>
          </a:p>
          <a:p>
            <a:pPr eaLnBrk="1" hangingPunct="1">
              <a:lnSpc>
                <a:spcPct val="90000"/>
              </a:lnSpc>
            </a:pPr>
            <a:r>
              <a:rPr lang="en-GB" altLang="en-US" dirty="0"/>
              <a:t>Accumulate 50% of the safety zones (between </a:t>
            </a:r>
            <a:r>
              <a:rPr lang="en-GB" altLang="en-US" dirty="0" err="1"/>
              <a:t>t</a:t>
            </a:r>
            <a:r>
              <a:rPr lang="en-GB" altLang="en-US" baseline="-25000" dirty="0" err="1"/>
              <a:t>e</a:t>
            </a:r>
            <a:r>
              <a:rPr lang="en-GB" altLang="en-US" dirty="0"/>
              <a:t> and b) into a buffer at the end of the project</a:t>
            </a:r>
          </a:p>
          <a:p>
            <a:pPr eaLnBrk="1" hangingPunct="1">
              <a:lnSpc>
                <a:spcPct val="90000"/>
              </a:lnSpc>
            </a:pPr>
            <a:r>
              <a:rPr lang="en-GB" altLang="en-US" dirty="0"/>
              <a:t>Work backwards and start all activities at their latest start dates</a:t>
            </a:r>
          </a:p>
          <a:p>
            <a:pPr eaLnBrk="1" hangingPunct="1">
              <a:lnSpc>
                <a:spcPct val="90000"/>
              </a:lnSpc>
            </a:pPr>
            <a:r>
              <a:rPr lang="en-GB" altLang="en-US" dirty="0"/>
              <a:t>During project execution use relay race model</a:t>
            </a:r>
          </a:p>
        </p:txBody>
      </p:sp>
      <p:sp>
        <p:nvSpPr>
          <p:cNvPr id="2" name="Slide Number Placeholder 1">
            <a:extLst>
              <a:ext uri="{FF2B5EF4-FFF2-40B4-BE49-F238E27FC236}">
                <a16:creationId xmlns:a16="http://schemas.microsoft.com/office/drawing/2014/main" xmlns="" id="{98C2DABE-BFF5-452D-86D1-1F7F48C5148A}"/>
              </a:ext>
            </a:extLst>
          </p:cNvPr>
          <p:cNvSpPr>
            <a:spLocks noGrp="1"/>
          </p:cNvSpPr>
          <p:nvPr>
            <p:ph type="sldNum" sz="quarter" idx="12"/>
          </p:nvPr>
        </p:nvSpPr>
        <p:spPr/>
        <p:txBody>
          <a:bodyPr/>
          <a:lstStyle/>
          <a:p>
            <a:fld id="{60D6D740-8150-433F-9426-3FCFF681501A}" type="slidenum">
              <a:rPr lang="en-US" smtClean="0"/>
              <a:pPr/>
              <a:t>27</a:t>
            </a:fld>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3013" name="Group 149">
            <a:extLst>
              <a:ext uri="{FF2B5EF4-FFF2-40B4-BE49-F238E27FC236}">
                <a16:creationId xmlns:a16="http://schemas.microsoft.com/office/drawing/2014/main" xmlns="" id="{74D29E1F-70C6-4D72-97E2-016E0EF38590}"/>
              </a:ext>
            </a:extLst>
          </p:cNvPr>
          <p:cNvGraphicFramePr>
            <a:graphicFrameLocks noGrp="1"/>
          </p:cNvGraphicFramePr>
          <p:nvPr>
            <p:ph idx="1"/>
          </p:nvPr>
        </p:nvGraphicFramePr>
        <p:xfrm>
          <a:off x="838200" y="1600200"/>
          <a:ext cx="7467600" cy="4064002"/>
        </p:xfrm>
        <a:graphic>
          <a:graphicData uri="http://schemas.openxmlformats.org/drawingml/2006/table">
            <a:tbl>
              <a:tblPr/>
              <a:tblGrid>
                <a:gridCol w="727075">
                  <a:extLst>
                    <a:ext uri="{9D8B030D-6E8A-4147-A177-3AD203B41FA5}">
                      <a16:colId xmlns:a16="http://schemas.microsoft.com/office/drawing/2014/main" xmlns="" val="20000"/>
                    </a:ext>
                  </a:extLst>
                </a:gridCol>
                <a:gridCol w="3197225">
                  <a:extLst>
                    <a:ext uri="{9D8B030D-6E8A-4147-A177-3AD203B41FA5}">
                      <a16:colId xmlns:a16="http://schemas.microsoft.com/office/drawing/2014/main" xmlns="" val="20001"/>
                    </a:ext>
                  </a:extLst>
                </a:gridCol>
                <a:gridCol w="1962150">
                  <a:extLst>
                    <a:ext uri="{9D8B030D-6E8A-4147-A177-3AD203B41FA5}">
                      <a16:colId xmlns:a16="http://schemas.microsoft.com/office/drawing/2014/main" xmlns="" val="20002"/>
                    </a:ext>
                  </a:extLst>
                </a:gridCol>
                <a:gridCol w="1581150">
                  <a:extLst>
                    <a:ext uri="{9D8B030D-6E8A-4147-A177-3AD203B41FA5}">
                      <a16:colId xmlns:a16="http://schemas.microsoft.com/office/drawing/2014/main" xmlns="" val="20003"/>
                    </a:ext>
                  </a:extLst>
                </a:gridCol>
              </a:tblGrid>
              <a:tr h="450850">
                <a:tc grid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dirty="0">
                          <a:ln>
                            <a:noFill/>
                          </a:ln>
                          <a:solidFill>
                            <a:srgbClr val="003399"/>
                          </a:solidFill>
                          <a:effectLst/>
                          <a:latin typeface="Trebuchet MS" pitchFamily="34" charset="0"/>
                          <a:cs typeface="Tahoma" pitchFamily="34" charset="0"/>
                        </a:rPr>
                        <a:t>Activity</a:t>
                      </a:r>
                    </a:p>
                  </a:txBody>
                  <a:tcP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rgbClr val="003399"/>
                          </a:solidFill>
                          <a:effectLst/>
                          <a:latin typeface="Trebuchet MS" pitchFamily="34" charset="0"/>
                          <a:cs typeface="Tahoma" pitchFamily="34" charset="0"/>
                        </a:rPr>
                        <a:t>Duration (weeks)</a:t>
                      </a: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rgbClr val="003399"/>
                          </a:solidFill>
                          <a:effectLst/>
                          <a:latin typeface="Trebuchet MS" pitchFamily="34" charset="0"/>
                          <a:cs typeface="Tahoma" pitchFamily="34" charset="0"/>
                        </a:rPr>
                        <a:t>Precedents</a:t>
                      </a:r>
                    </a:p>
                  </a:txBody>
                  <a:tcP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A</a:t>
                      </a:r>
                    </a:p>
                  </a:txBody>
                  <a:tcP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3399"/>
                          </a:solidFill>
                          <a:effectLst/>
                          <a:latin typeface="Trebuchet MS" pitchFamily="34" charset="0"/>
                          <a:cs typeface="Tahoma" pitchFamily="34" charset="0"/>
                        </a:rPr>
                        <a:t>Hardware selection</a:t>
                      </a: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6</a:t>
                      </a: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a:ln>
                          <a:noFill/>
                        </a:ln>
                        <a:solidFill>
                          <a:srgbClr val="003399"/>
                        </a:solidFill>
                        <a:effectLst/>
                        <a:latin typeface="Trebuchet MS" pitchFamily="34" charset="0"/>
                        <a:cs typeface="Tahoma" pitchFamily="34" charset="0"/>
                      </a:endParaRPr>
                    </a:p>
                  </a:txBody>
                  <a:tcP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xmlns="" val="10001"/>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B</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Software design</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a:ln>
                          <a:noFill/>
                        </a:ln>
                        <a:solidFill>
                          <a:srgbClr val="003399"/>
                        </a:solidFill>
                        <a:effectLst/>
                        <a:latin typeface="Trebuchet MS" pitchFamily="34" charset="0"/>
                        <a:cs typeface="Tahoma" pitchFamily="34"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2"/>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C</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3399"/>
                          </a:solidFill>
                          <a:effectLst/>
                          <a:latin typeface="Trebuchet MS" pitchFamily="34" charset="0"/>
                          <a:cs typeface="Tahoma" pitchFamily="34" charset="0"/>
                        </a:rPr>
                        <a:t>Install hardware</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A</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3"/>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D</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Code &amp; test software</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B</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4"/>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E</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File take-on</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B</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5"/>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F</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Write user manuals</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10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a:ln>
                          <a:noFill/>
                        </a:ln>
                        <a:solidFill>
                          <a:srgbClr val="003399"/>
                        </a:solidFill>
                        <a:effectLst/>
                        <a:latin typeface="Trebuchet MS" pitchFamily="34" charset="0"/>
                        <a:cs typeface="Tahoma" pitchFamily="34"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6"/>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G</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User training</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E, F</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7"/>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H</a:t>
                      </a:r>
                    </a:p>
                  </a:txBody>
                  <a:tcPr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Install &amp; test system</a:t>
                      </a: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2</a:t>
                      </a: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err="1">
                          <a:ln>
                            <a:noFill/>
                          </a:ln>
                          <a:solidFill>
                            <a:srgbClr val="003399"/>
                          </a:solidFill>
                          <a:effectLst/>
                          <a:latin typeface="Trebuchet MS" pitchFamily="34" charset="0"/>
                          <a:cs typeface="Tahoma" pitchFamily="34" charset="0"/>
                        </a:rPr>
                        <a:t>C,D</a:t>
                      </a:r>
                      <a:endParaRPr kumimoji="0" lang="en-US" sz="1800" b="0" i="0" u="none" strike="noStrike" cap="none" normalizeH="0" baseline="0" dirty="0">
                        <a:ln>
                          <a:noFill/>
                        </a:ln>
                        <a:solidFill>
                          <a:srgbClr val="003399"/>
                        </a:solidFill>
                        <a:effectLst/>
                        <a:latin typeface="Trebuchet MS" pitchFamily="34" charset="0"/>
                        <a:cs typeface="Tahoma" pitchFamily="34" charset="0"/>
                      </a:endParaRPr>
                    </a:p>
                  </a:txBody>
                  <a:tcPr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bl>
          </a:graphicData>
        </a:graphic>
      </p:graphicFrame>
      <p:sp>
        <p:nvSpPr>
          <p:cNvPr id="2" name="Slide Number Placeholder 1">
            <a:extLst>
              <a:ext uri="{FF2B5EF4-FFF2-40B4-BE49-F238E27FC236}">
                <a16:creationId xmlns:a16="http://schemas.microsoft.com/office/drawing/2014/main" xmlns="" id="{597ADC6E-78A8-47FC-AF80-441B1175AC8A}"/>
              </a:ext>
            </a:extLst>
          </p:cNvPr>
          <p:cNvSpPr>
            <a:spLocks noGrp="1"/>
          </p:cNvSpPr>
          <p:nvPr>
            <p:ph type="sldNum" sz="quarter" idx="10"/>
          </p:nvPr>
        </p:nvSpPr>
        <p:spPr/>
        <p:txBody>
          <a:bodyPr/>
          <a:lstStyle/>
          <a:p>
            <a:pPr>
              <a:defRPr/>
            </a:pPr>
            <a:fld id="{001B0B9B-CB98-4CFB-9009-5DFC2DF366F2}" type="slidenum">
              <a:rPr lang="en-US" altLang="en-US" smtClean="0"/>
              <a:pPr>
                <a:defRPr/>
              </a:pPr>
              <a:t>28</a:t>
            </a:fld>
            <a:endParaRPr lang="en-US"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1222B47-BC94-4200-94F5-B59EB6E330FE}"/>
              </a:ext>
            </a:extLst>
          </p:cNvPr>
          <p:cNvPicPr>
            <a:picLocks noChangeAspect="1"/>
          </p:cNvPicPr>
          <p:nvPr/>
        </p:nvPicPr>
        <p:blipFill>
          <a:blip r:embed="rId2"/>
          <a:stretch>
            <a:fillRect/>
          </a:stretch>
        </p:blipFill>
        <p:spPr>
          <a:xfrm>
            <a:off x="0" y="529484"/>
            <a:ext cx="9144000" cy="5818909"/>
          </a:xfrm>
          <a:prstGeom prst="rect">
            <a:avLst/>
          </a:prstGeom>
        </p:spPr>
      </p:pic>
      <p:sp>
        <p:nvSpPr>
          <p:cNvPr id="2" name="Slide Number Placeholder 1">
            <a:extLst>
              <a:ext uri="{FF2B5EF4-FFF2-40B4-BE49-F238E27FC236}">
                <a16:creationId xmlns:a16="http://schemas.microsoft.com/office/drawing/2014/main" xmlns="" id="{ABB537CA-14FD-45C3-A3FF-875EC0C0DF11}"/>
              </a:ext>
            </a:extLst>
          </p:cNvPr>
          <p:cNvSpPr>
            <a:spLocks noGrp="1"/>
          </p:cNvSpPr>
          <p:nvPr>
            <p:ph type="sldNum" sz="quarter" idx="10"/>
          </p:nvPr>
        </p:nvSpPr>
        <p:spPr/>
        <p:txBody>
          <a:bodyPr/>
          <a:lstStyle/>
          <a:p>
            <a:pPr>
              <a:defRPr/>
            </a:pPr>
            <a:fld id="{001B0B9B-CB98-4CFB-9009-5DFC2DF366F2}" type="slidenum">
              <a:rPr lang="en-US" altLang="en-US" smtClean="0"/>
              <a:pPr>
                <a:defRPr/>
              </a:pPr>
              <a:t>29</a:t>
            </a:fld>
            <a:endParaRPr lang="en-US" altLang="en-US"/>
          </a:p>
        </p:txBody>
      </p:sp>
    </p:spTree>
    <p:extLst>
      <p:ext uri="{BB962C8B-B14F-4D97-AF65-F5344CB8AC3E}">
        <p14:creationId xmlns:p14="http://schemas.microsoft.com/office/powerpoint/2010/main" val="16547567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626DD42-BE8A-4AF2-ADD0-15B3A50FB881}"/>
              </a:ext>
            </a:extLst>
          </p:cNvPr>
          <p:cNvPicPr>
            <a:picLocks noChangeAspect="1"/>
          </p:cNvPicPr>
          <p:nvPr/>
        </p:nvPicPr>
        <p:blipFill>
          <a:blip r:embed="rId2"/>
          <a:stretch>
            <a:fillRect/>
          </a:stretch>
        </p:blipFill>
        <p:spPr>
          <a:xfrm>
            <a:off x="0" y="1196297"/>
            <a:ext cx="9144000" cy="4465406"/>
          </a:xfrm>
          <a:prstGeom prst="rect">
            <a:avLst/>
          </a:prstGeom>
        </p:spPr>
      </p:pic>
      <p:sp>
        <p:nvSpPr>
          <p:cNvPr id="4" name="Slide Number Placeholder 3">
            <a:extLst>
              <a:ext uri="{FF2B5EF4-FFF2-40B4-BE49-F238E27FC236}">
                <a16:creationId xmlns:a16="http://schemas.microsoft.com/office/drawing/2014/main" xmlns="" id="{2225AB5C-D122-42A7-9205-B5EAB52AC324}"/>
              </a:ext>
            </a:extLst>
          </p:cNvPr>
          <p:cNvSpPr>
            <a:spLocks noGrp="1"/>
          </p:cNvSpPr>
          <p:nvPr>
            <p:ph type="sldNum" sz="quarter" idx="12"/>
          </p:nvPr>
        </p:nvSpPr>
        <p:spPr/>
        <p:txBody>
          <a:bodyPr/>
          <a:lstStyle/>
          <a:p>
            <a:fld id="{CDE4BBE6-ABD8-4AAC-A679-4F37D73C8978}" type="slidenum">
              <a:rPr lang="en-US" smtClean="0"/>
              <a:t>30</a:t>
            </a:fld>
            <a:endParaRPr lang="en-US"/>
          </a:p>
        </p:txBody>
      </p:sp>
    </p:spTree>
    <p:extLst>
      <p:ext uri="{BB962C8B-B14F-4D97-AF65-F5344CB8AC3E}">
        <p14:creationId xmlns:p14="http://schemas.microsoft.com/office/powerpoint/2010/main" val="33961506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58277371-8529-43C5-B2B5-86AF664D02A2}"/>
              </a:ext>
            </a:extLst>
          </p:cNvPr>
          <p:cNvPicPr>
            <a:picLocks noChangeAspect="1"/>
          </p:cNvPicPr>
          <p:nvPr/>
        </p:nvPicPr>
        <p:blipFill>
          <a:blip r:embed="rId2"/>
          <a:stretch>
            <a:fillRect/>
          </a:stretch>
        </p:blipFill>
        <p:spPr>
          <a:xfrm>
            <a:off x="0" y="1401833"/>
            <a:ext cx="9144000" cy="4054333"/>
          </a:xfrm>
          <a:prstGeom prst="rect">
            <a:avLst/>
          </a:prstGeom>
        </p:spPr>
      </p:pic>
      <p:sp>
        <p:nvSpPr>
          <p:cNvPr id="3" name="Slide Number Placeholder 2">
            <a:extLst>
              <a:ext uri="{FF2B5EF4-FFF2-40B4-BE49-F238E27FC236}">
                <a16:creationId xmlns:a16="http://schemas.microsoft.com/office/drawing/2014/main" xmlns="" id="{6204DCBE-DE1C-4604-92FC-2F1D768DD8DB}"/>
              </a:ext>
            </a:extLst>
          </p:cNvPr>
          <p:cNvSpPr>
            <a:spLocks noGrp="1"/>
          </p:cNvSpPr>
          <p:nvPr>
            <p:ph type="sldNum" sz="quarter" idx="12"/>
          </p:nvPr>
        </p:nvSpPr>
        <p:spPr/>
        <p:txBody>
          <a:bodyPr/>
          <a:lstStyle/>
          <a:p>
            <a:fld id="{CDE4BBE6-ABD8-4AAC-A679-4F37D73C8978}" type="slidenum">
              <a:rPr lang="en-US" smtClean="0"/>
              <a:t>31</a:t>
            </a:fld>
            <a:endParaRPr lang="en-US"/>
          </a:p>
        </p:txBody>
      </p:sp>
    </p:spTree>
    <p:extLst>
      <p:ext uri="{BB962C8B-B14F-4D97-AF65-F5344CB8AC3E}">
        <p14:creationId xmlns:p14="http://schemas.microsoft.com/office/powerpoint/2010/main" val="26000558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A6B8A62-D55A-70CB-BA66-7975ECB5D38E}"/>
              </a:ext>
            </a:extLst>
          </p:cNvPr>
          <p:cNvSpPr>
            <a:spLocks noGrp="1"/>
          </p:cNvSpPr>
          <p:nvPr>
            <p:ph type="title"/>
          </p:nvPr>
        </p:nvSpPr>
        <p:spPr>
          <a:xfrm>
            <a:off x="417399" y="643467"/>
            <a:ext cx="8408193" cy="744836"/>
          </a:xfrm>
        </p:spPr>
        <p:txBody>
          <a:bodyPr>
            <a:normAutofit/>
          </a:bodyPr>
          <a:lstStyle/>
          <a:p>
            <a:pPr algn="ctr"/>
            <a:r>
              <a:rPr lang="en-US" sz="2800" dirty="0">
                <a:solidFill>
                  <a:schemeClr val="bg1"/>
                </a:solidFill>
              </a:rPr>
              <a:t>Given that:</a:t>
            </a:r>
          </a:p>
        </p:txBody>
      </p:sp>
      <p:pic>
        <p:nvPicPr>
          <p:cNvPr id="6" name="Picture 5">
            <a:extLst>
              <a:ext uri="{FF2B5EF4-FFF2-40B4-BE49-F238E27FC236}">
                <a16:creationId xmlns:a16="http://schemas.microsoft.com/office/drawing/2014/main" xmlns="" id="{D59E91B0-02AF-A767-6E5B-059EBA0C90C0}"/>
              </a:ext>
            </a:extLst>
          </p:cNvPr>
          <p:cNvPicPr>
            <a:picLocks noChangeAspect="1"/>
          </p:cNvPicPr>
          <p:nvPr/>
        </p:nvPicPr>
        <p:blipFill rotWithShape="1">
          <a:blip r:embed="rId2"/>
          <a:srcRect t="2843"/>
          <a:stretch/>
        </p:blipFill>
        <p:spPr>
          <a:xfrm>
            <a:off x="482600" y="1992086"/>
            <a:ext cx="8178799" cy="3873822"/>
          </a:xfrm>
          <a:prstGeom prst="rect">
            <a:avLst/>
          </a:prstGeom>
        </p:spPr>
      </p:pic>
      <p:sp>
        <p:nvSpPr>
          <p:cNvPr id="4" name="Slide Number Placeholder 3">
            <a:extLst>
              <a:ext uri="{FF2B5EF4-FFF2-40B4-BE49-F238E27FC236}">
                <a16:creationId xmlns:a16="http://schemas.microsoft.com/office/drawing/2014/main" xmlns="" id="{EDE85A21-F7EF-723C-B808-0DD5D51F5E94}"/>
              </a:ext>
            </a:extLst>
          </p:cNvPr>
          <p:cNvSpPr>
            <a:spLocks noGrp="1"/>
          </p:cNvSpPr>
          <p:nvPr>
            <p:ph type="sldNum" sz="quarter" idx="12"/>
          </p:nvPr>
        </p:nvSpPr>
        <p:spPr>
          <a:xfrm>
            <a:off x="6457950" y="6356350"/>
            <a:ext cx="2057400" cy="365125"/>
          </a:xfrm>
        </p:spPr>
        <p:txBody>
          <a:bodyPr>
            <a:normAutofit/>
          </a:bodyPr>
          <a:lstStyle/>
          <a:p>
            <a:pPr>
              <a:spcAft>
                <a:spcPts val="600"/>
              </a:spcAft>
            </a:pPr>
            <a:fld id="{CDE4BBE6-ABD8-4AAC-A679-4F37D73C8978}" type="slidenum">
              <a:rPr lang="en-US" smtClean="0"/>
              <a:pPr>
                <a:spcAft>
                  <a:spcPts val="600"/>
                </a:spcAft>
              </a:pPr>
              <a:t>32</a:t>
            </a:fld>
            <a:endParaRPr lang="en-US"/>
          </a:p>
        </p:txBody>
      </p:sp>
    </p:spTree>
    <p:extLst>
      <p:ext uri="{BB962C8B-B14F-4D97-AF65-F5344CB8AC3E}">
        <p14:creationId xmlns:p14="http://schemas.microsoft.com/office/powerpoint/2010/main" val="1857808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56009F8-A064-3DFC-717A-FD378E7FAF1C}"/>
              </a:ext>
            </a:extLst>
          </p:cNvPr>
          <p:cNvSpPr>
            <a:spLocks noGrp="1"/>
          </p:cNvSpPr>
          <p:nvPr>
            <p:ph type="title"/>
          </p:nvPr>
        </p:nvSpPr>
        <p:spPr>
          <a:xfrm>
            <a:off x="417399" y="643467"/>
            <a:ext cx="8408193" cy="744836"/>
          </a:xfrm>
        </p:spPr>
        <p:txBody>
          <a:bodyPr>
            <a:normAutofit/>
          </a:bodyPr>
          <a:lstStyle/>
          <a:p>
            <a:pPr algn="ctr"/>
            <a:r>
              <a:rPr lang="en-US" sz="2800" dirty="0">
                <a:solidFill>
                  <a:schemeClr val="bg1"/>
                </a:solidFill>
              </a:rPr>
              <a:t>Calculating SD of each project event</a:t>
            </a:r>
          </a:p>
        </p:txBody>
      </p:sp>
      <p:pic>
        <p:nvPicPr>
          <p:cNvPr id="6" name="Picture 5">
            <a:extLst>
              <a:ext uri="{FF2B5EF4-FFF2-40B4-BE49-F238E27FC236}">
                <a16:creationId xmlns:a16="http://schemas.microsoft.com/office/drawing/2014/main" xmlns="" id="{F4EE326D-2E0F-9E51-5B0D-81B89B774D6C}"/>
              </a:ext>
            </a:extLst>
          </p:cNvPr>
          <p:cNvPicPr>
            <a:picLocks noChangeAspect="1"/>
          </p:cNvPicPr>
          <p:nvPr/>
        </p:nvPicPr>
        <p:blipFill>
          <a:blip r:embed="rId2"/>
          <a:stretch>
            <a:fillRect/>
          </a:stretch>
        </p:blipFill>
        <p:spPr>
          <a:xfrm>
            <a:off x="482600" y="2757965"/>
            <a:ext cx="8178799" cy="2228723"/>
          </a:xfrm>
          <a:prstGeom prst="rect">
            <a:avLst/>
          </a:prstGeom>
        </p:spPr>
      </p:pic>
      <p:sp>
        <p:nvSpPr>
          <p:cNvPr id="4" name="Slide Number Placeholder 3">
            <a:extLst>
              <a:ext uri="{FF2B5EF4-FFF2-40B4-BE49-F238E27FC236}">
                <a16:creationId xmlns:a16="http://schemas.microsoft.com/office/drawing/2014/main" xmlns="" id="{A060AE8D-31D0-AF8D-2AE0-E24D688F0194}"/>
              </a:ext>
            </a:extLst>
          </p:cNvPr>
          <p:cNvSpPr>
            <a:spLocks noGrp="1"/>
          </p:cNvSpPr>
          <p:nvPr>
            <p:ph type="sldNum" sz="quarter" idx="12"/>
          </p:nvPr>
        </p:nvSpPr>
        <p:spPr>
          <a:xfrm>
            <a:off x="6457950" y="6356350"/>
            <a:ext cx="2057400" cy="365125"/>
          </a:xfrm>
        </p:spPr>
        <p:txBody>
          <a:bodyPr>
            <a:normAutofit/>
          </a:bodyPr>
          <a:lstStyle/>
          <a:p>
            <a:pPr>
              <a:spcAft>
                <a:spcPts val="600"/>
              </a:spcAft>
            </a:pPr>
            <a:fld id="{CDE4BBE6-ABD8-4AAC-A679-4F37D73C8978}" type="slidenum">
              <a:rPr lang="en-US" smtClean="0"/>
              <a:pPr>
                <a:spcAft>
                  <a:spcPts val="600"/>
                </a:spcAft>
              </a:pPr>
              <a:t>33</a:t>
            </a:fld>
            <a:endParaRPr lang="en-US"/>
          </a:p>
        </p:txBody>
      </p:sp>
    </p:spTree>
    <p:extLst>
      <p:ext uri="{BB962C8B-B14F-4D97-AF65-F5344CB8AC3E}">
        <p14:creationId xmlns:p14="http://schemas.microsoft.com/office/powerpoint/2010/main" val="9133154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CAEBBD6E-C706-40F8-8786-4BBA9CBD72CC}"/>
              </a:ext>
            </a:extLst>
          </p:cNvPr>
          <p:cNvPicPr>
            <a:picLocks noChangeAspect="1"/>
          </p:cNvPicPr>
          <p:nvPr/>
        </p:nvPicPr>
        <p:blipFill>
          <a:blip r:embed="rId2"/>
          <a:stretch>
            <a:fillRect/>
          </a:stretch>
        </p:blipFill>
        <p:spPr>
          <a:xfrm>
            <a:off x="0" y="329388"/>
            <a:ext cx="9144000" cy="4096104"/>
          </a:xfrm>
          <a:prstGeom prst="rect">
            <a:avLst/>
          </a:prstGeom>
        </p:spPr>
      </p:pic>
      <p:sp>
        <p:nvSpPr>
          <p:cNvPr id="4" name="Slide Number Placeholder 3">
            <a:extLst>
              <a:ext uri="{FF2B5EF4-FFF2-40B4-BE49-F238E27FC236}">
                <a16:creationId xmlns:a16="http://schemas.microsoft.com/office/drawing/2014/main" xmlns="" id="{30B277FF-7845-47A8-BEA1-56898044521B}"/>
              </a:ext>
            </a:extLst>
          </p:cNvPr>
          <p:cNvSpPr>
            <a:spLocks noGrp="1"/>
          </p:cNvSpPr>
          <p:nvPr>
            <p:ph type="sldNum" sz="quarter" idx="12"/>
          </p:nvPr>
        </p:nvSpPr>
        <p:spPr/>
        <p:txBody>
          <a:bodyPr/>
          <a:lstStyle/>
          <a:p>
            <a:fld id="{CDE4BBE6-ABD8-4AAC-A679-4F37D73C8978}" type="slidenum">
              <a:rPr lang="en-US" smtClean="0"/>
              <a:t>34</a:t>
            </a:fld>
            <a:endParaRPr lang="en-US"/>
          </a:p>
        </p:txBody>
      </p:sp>
      <p:pic>
        <p:nvPicPr>
          <p:cNvPr id="5" name="Picture 4">
            <a:extLst>
              <a:ext uri="{FF2B5EF4-FFF2-40B4-BE49-F238E27FC236}">
                <a16:creationId xmlns:a16="http://schemas.microsoft.com/office/drawing/2014/main" xmlns="" id="{83B953E0-3779-4DCE-89B2-64D3D590B09B}"/>
              </a:ext>
            </a:extLst>
          </p:cNvPr>
          <p:cNvPicPr>
            <a:picLocks noChangeAspect="1"/>
          </p:cNvPicPr>
          <p:nvPr/>
        </p:nvPicPr>
        <p:blipFill rotWithShape="1">
          <a:blip r:embed="rId3"/>
          <a:srcRect t="2725" b="24385"/>
          <a:stretch/>
        </p:blipFill>
        <p:spPr>
          <a:xfrm>
            <a:off x="0" y="4626579"/>
            <a:ext cx="9144000" cy="1528684"/>
          </a:xfrm>
          <a:prstGeom prst="rect">
            <a:avLst/>
          </a:prstGeom>
        </p:spPr>
      </p:pic>
    </p:spTree>
    <p:extLst>
      <p:ext uri="{BB962C8B-B14F-4D97-AF65-F5344CB8AC3E}">
        <p14:creationId xmlns:p14="http://schemas.microsoft.com/office/powerpoint/2010/main" val="20061775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9C2243B8-5C9B-420B-AAD5-16419408417E}"/>
              </a:ext>
            </a:extLst>
          </p:cNvPr>
          <p:cNvPicPr>
            <a:picLocks noChangeAspect="1"/>
          </p:cNvPicPr>
          <p:nvPr/>
        </p:nvPicPr>
        <p:blipFill>
          <a:blip r:embed="rId2"/>
          <a:stretch>
            <a:fillRect/>
          </a:stretch>
        </p:blipFill>
        <p:spPr>
          <a:xfrm>
            <a:off x="125730" y="3972709"/>
            <a:ext cx="9144000" cy="820119"/>
          </a:xfrm>
          <a:prstGeom prst="rect">
            <a:avLst/>
          </a:prstGeom>
        </p:spPr>
      </p:pic>
      <p:pic>
        <p:nvPicPr>
          <p:cNvPr id="7" name="Picture 6">
            <a:extLst>
              <a:ext uri="{FF2B5EF4-FFF2-40B4-BE49-F238E27FC236}">
                <a16:creationId xmlns:a16="http://schemas.microsoft.com/office/drawing/2014/main" xmlns="" id="{8E41BD1A-327D-4A5A-9C83-93CE594300B4}"/>
              </a:ext>
            </a:extLst>
          </p:cNvPr>
          <p:cNvPicPr>
            <a:picLocks noChangeAspect="1"/>
          </p:cNvPicPr>
          <p:nvPr/>
        </p:nvPicPr>
        <p:blipFill>
          <a:blip r:embed="rId3"/>
          <a:stretch>
            <a:fillRect/>
          </a:stretch>
        </p:blipFill>
        <p:spPr>
          <a:xfrm>
            <a:off x="0" y="4947391"/>
            <a:ext cx="9144000" cy="844338"/>
          </a:xfrm>
          <a:prstGeom prst="rect">
            <a:avLst/>
          </a:prstGeom>
        </p:spPr>
      </p:pic>
      <p:sp>
        <p:nvSpPr>
          <p:cNvPr id="6" name="Title 5">
            <a:extLst>
              <a:ext uri="{FF2B5EF4-FFF2-40B4-BE49-F238E27FC236}">
                <a16:creationId xmlns:a16="http://schemas.microsoft.com/office/drawing/2014/main" xmlns="" id="{813F2F42-6068-4670-BBA6-93FB5F178D21}"/>
              </a:ext>
            </a:extLst>
          </p:cNvPr>
          <p:cNvSpPr>
            <a:spLocks noGrp="1"/>
          </p:cNvSpPr>
          <p:nvPr>
            <p:ph type="title"/>
          </p:nvPr>
        </p:nvSpPr>
        <p:spPr/>
        <p:txBody>
          <a:bodyPr/>
          <a:lstStyle/>
          <a:p>
            <a:r>
              <a:rPr lang="en-IN" dirty="0"/>
              <a:t>Calculate the Z values</a:t>
            </a:r>
            <a:endParaRPr lang="x-none" dirty="0"/>
          </a:p>
        </p:txBody>
      </p:sp>
      <p:sp>
        <p:nvSpPr>
          <p:cNvPr id="4" name="Slide Number Placeholder 3">
            <a:extLst>
              <a:ext uri="{FF2B5EF4-FFF2-40B4-BE49-F238E27FC236}">
                <a16:creationId xmlns:a16="http://schemas.microsoft.com/office/drawing/2014/main" xmlns="" id="{1E958EE6-E082-499D-A054-AE42E23D44ED}"/>
              </a:ext>
            </a:extLst>
          </p:cNvPr>
          <p:cNvSpPr>
            <a:spLocks noGrp="1"/>
          </p:cNvSpPr>
          <p:nvPr>
            <p:ph type="sldNum" sz="quarter" idx="12"/>
          </p:nvPr>
        </p:nvSpPr>
        <p:spPr/>
        <p:txBody>
          <a:bodyPr/>
          <a:lstStyle/>
          <a:p>
            <a:fld id="{CDE4BBE6-ABD8-4AAC-A679-4F37D73C8978}" type="slidenum">
              <a:rPr lang="en-US" smtClean="0"/>
              <a:t>35</a:t>
            </a:fld>
            <a:endParaRPr lang="en-US"/>
          </a:p>
        </p:txBody>
      </p:sp>
      <p:pic>
        <p:nvPicPr>
          <p:cNvPr id="9" name="Picture 8">
            <a:extLst>
              <a:ext uri="{FF2B5EF4-FFF2-40B4-BE49-F238E27FC236}">
                <a16:creationId xmlns:a16="http://schemas.microsoft.com/office/drawing/2014/main" xmlns="" id="{59D0649C-7ED5-4CCB-9A1B-930386709FE6}"/>
              </a:ext>
            </a:extLst>
          </p:cNvPr>
          <p:cNvPicPr>
            <a:picLocks noChangeAspect="1"/>
          </p:cNvPicPr>
          <p:nvPr/>
        </p:nvPicPr>
        <p:blipFill rotWithShape="1">
          <a:blip r:embed="rId4"/>
          <a:srcRect l="23124" t="27546" r="24970" b="52986"/>
          <a:stretch/>
        </p:blipFill>
        <p:spPr>
          <a:xfrm>
            <a:off x="125730" y="1447080"/>
            <a:ext cx="8846820" cy="2282020"/>
          </a:xfrm>
          <a:prstGeom prst="rect">
            <a:avLst/>
          </a:prstGeom>
        </p:spPr>
      </p:pic>
    </p:spTree>
    <p:extLst>
      <p:ext uri="{BB962C8B-B14F-4D97-AF65-F5344CB8AC3E}">
        <p14:creationId xmlns:p14="http://schemas.microsoft.com/office/powerpoint/2010/main" val="18242125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AC709A-8904-6509-851A-5545B7ED7209}"/>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xmlns="" id="{07CBD1BC-208B-52FA-A464-3E7B37CD5882}"/>
              </a:ext>
            </a:extLst>
          </p:cNvPr>
          <p:cNvSpPr>
            <a:spLocks noGrp="1"/>
          </p:cNvSpPr>
          <p:nvPr>
            <p:ph type="sldNum" sz="quarter" idx="12"/>
          </p:nvPr>
        </p:nvSpPr>
        <p:spPr/>
        <p:txBody>
          <a:bodyPr/>
          <a:lstStyle/>
          <a:p>
            <a:fld id="{CDE4BBE6-ABD8-4AAC-A679-4F37D73C8978}" type="slidenum">
              <a:rPr lang="en-US" smtClean="0"/>
              <a:t>36</a:t>
            </a:fld>
            <a:endParaRPr lang="en-US"/>
          </a:p>
        </p:txBody>
      </p:sp>
      <p:pic>
        <p:nvPicPr>
          <p:cNvPr id="6" name="Picture 5">
            <a:extLst>
              <a:ext uri="{FF2B5EF4-FFF2-40B4-BE49-F238E27FC236}">
                <a16:creationId xmlns:a16="http://schemas.microsoft.com/office/drawing/2014/main" xmlns="" id="{318FDF8E-CB72-A50C-7848-EF273DB0F13C}"/>
              </a:ext>
            </a:extLst>
          </p:cNvPr>
          <p:cNvPicPr>
            <a:picLocks noChangeAspect="1"/>
          </p:cNvPicPr>
          <p:nvPr/>
        </p:nvPicPr>
        <p:blipFill>
          <a:blip r:embed="rId2"/>
          <a:stretch>
            <a:fillRect/>
          </a:stretch>
        </p:blipFill>
        <p:spPr>
          <a:xfrm>
            <a:off x="803588" y="0"/>
            <a:ext cx="7711762" cy="6081121"/>
          </a:xfrm>
          <a:prstGeom prst="rect">
            <a:avLst/>
          </a:prstGeom>
        </p:spPr>
      </p:pic>
      <p:pic>
        <p:nvPicPr>
          <p:cNvPr id="8" name="Picture 7">
            <a:extLst>
              <a:ext uri="{FF2B5EF4-FFF2-40B4-BE49-F238E27FC236}">
                <a16:creationId xmlns:a16="http://schemas.microsoft.com/office/drawing/2014/main" xmlns="" id="{5279DEE2-3B63-E958-8B7C-B4A15D6EB3B4}"/>
              </a:ext>
            </a:extLst>
          </p:cNvPr>
          <p:cNvPicPr>
            <a:picLocks noChangeAspect="1"/>
          </p:cNvPicPr>
          <p:nvPr/>
        </p:nvPicPr>
        <p:blipFill>
          <a:blip r:embed="rId3"/>
          <a:stretch>
            <a:fillRect/>
          </a:stretch>
        </p:blipFill>
        <p:spPr>
          <a:xfrm>
            <a:off x="899371" y="5954548"/>
            <a:ext cx="7615979" cy="803605"/>
          </a:xfrm>
          <a:prstGeom prst="rect">
            <a:avLst/>
          </a:prstGeom>
        </p:spPr>
      </p:pic>
    </p:spTree>
    <p:extLst>
      <p:ext uri="{BB962C8B-B14F-4D97-AF65-F5344CB8AC3E}">
        <p14:creationId xmlns:p14="http://schemas.microsoft.com/office/powerpoint/2010/main" val="601369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E32952-FEEE-A003-4186-79EE7561B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FB277D5-73EF-AE8D-2F51-134A685A1C4C}"/>
              </a:ext>
            </a:extLst>
          </p:cNvPr>
          <p:cNvSpPr>
            <a:spLocks noGrp="1"/>
          </p:cNvSpPr>
          <p:nvPr>
            <p:ph type="title"/>
          </p:nvPr>
        </p:nvSpPr>
        <p:spPr>
          <a:xfrm>
            <a:off x="372141" y="456706"/>
            <a:ext cx="7886700" cy="735100"/>
          </a:xfrm>
        </p:spPr>
        <p:txBody>
          <a:bodyPr/>
          <a:lstStyle/>
          <a:p>
            <a:r>
              <a:rPr lang="en-IN" dirty="0"/>
              <a:t>Activity</a:t>
            </a:r>
            <a:endParaRPr lang="x-none" dirty="0"/>
          </a:p>
        </p:txBody>
      </p:sp>
      <p:sp>
        <p:nvSpPr>
          <p:cNvPr id="4" name="Slide Number Placeholder 3">
            <a:extLst>
              <a:ext uri="{FF2B5EF4-FFF2-40B4-BE49-F238E27FC236}">
                <a16:creationId xmlns:a16="http://schemas.microsoft.com/office/drawing/2014/main" xmlns="" id="{03C397A8-BD4B-8E67-8150-87E220647904}"/>
              </a:ext>
            </a:extLst>
          </p:cNvPr>
          <p:cNvSpPr>
            <a:spLocks noGrp="1"/>
          </p:cNvSpPr>
          <p:nvPr>
            <p:ph type="sldNum" sz="quarter" idx="12"/>
          </p:nvPr>
        </p:nvSpPr>
        <p:spPr/>
        <p:txBody>
          <a:bodyPr/>
          <a:lstStyle/>
          <a:p>
            <a:fld id="{60D6D740-8150-433F-9426-3FCFF681501A}" type="slidenum">
              <a:rPr lang="en-US" smtClean="0"/>
              <a:pPr/>
              <a:t>37</a:t>
            </a:fld>
            <a:endParaRPr lang="en-US" dirty="0"/>
          </a:p>
        </p:txBody>
      </p:sp>
      <p:sp>
        <p:nvSpPr>
          <p:cNvPr id="8" name="TextBox 7">
            <a:extLst>
              <a:ext uri="{FF2B5EF4-FFF2-40B4-BE49-F238E27FC236}">
                <a16:creationId xmlns:a16="http://schemas.microsoft.com/office/drawing/2014/main" xmlns="" id="{EEDF8440-38D1-60D7-C18C-4FB732E3B89A}"/>
              </a:ext>
            </a:extLst>
          </p:cNvPr>
          <p:cNvSpPr txBox="1"/>
          <p:nvPr/>
        </p:nvSpPr>
        <p:spPr>
          <a:xfrm>
            <a:off x="265814" y="1064215"/>
            <a:ext cx="8506045"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800" b="0" i="0" u="none" strike="noStrike" cap="none" normalizeH="0" baseline="0" dirty="0">
                <a:ln>
                  <a:noFill/>
                </a:ln>
                <a:solidFill>
                  <a:schemeClr val="tx1"/>
                </a:solidFill>
                <a:effectLst/>
                <a:latin typeface="Arial" panose="020B0604020202020204" pitchFamily="34" charset="0"/>
              </a:rPr>
              <a:t>A project consists of the following activities, with their respective durations and dependencies:</a:t>
            </a:r>
          </a:p>
        </p:txBody>
      </p:sp>
      <p:graphicFrame>
        <p:nvGraphicFramePr>
          <p:cNvPr id="7" name="Content Placeholder 6">
            <a:extLst>
              <a:ext uri="{FF2B5EF4-FFF2-40B4-BE49-F238E27FC236}">
                <a16:creationId xmlns:a16="http://schemas.microsoft.com/office/drawing/2014/main" xmlns="" id="{2C661C33-1E0A-3477-BC75-CA8F1FAFA05E}"/>
              </a:ext>
            </a:extLst>
          </p:cNvPr>
          <p:cNvGraphicFramePr>
            <a:graphicFrameLocks noGrp="1"/>
          </p:cNvGraphicFramePr>
          <p:nvPr>
            <p:ph idx="1"/>
          </p:nvPr>
        </p:nvGraphicFramePr>
        <p:xfrm>
          <a:off x="656561" y="2423796"/>
          <a:ext cx="7886700" cy="4297680"/>
        </p:xfrm>
        <a:graphic>
          <a:graphicData uri="http://schemas.openxmlformats.org/drawingml/2006/table">
            <a:tbl>
              <a:tblPr/>
              <a:tblGrid>
                <a:gridCol w="1971675">
                  <a:extLst>
                    <a:ext uri="{9D8B030D-6E8A-4147-A177-3AD203B41FA5}">
                      <a16:colId xmlns:a16="http://schemas.microsoft.com/office/drawing/2014/main" xmlns="" val="555481003"/>
                    </a:ext>
                  </a:extLst>
                </a:gridCol>
                <a:gridCol w="1971675">
                  <a:extLst>
                    <a:ext uri="{9D8B030D-6E8A-4147-A177-3AD203B41FA5}">
                      <a16:colId xmlns:a16="http://schemas.microsoft.com/office/drawing/2014/main" xmlns="" val="2802751758"/>
                    </a:ext>
                  </a:extLst>
                </a:gridCol>
                <a:gridCol w="1971675">
                  <a:extLst>
                    <a:ext uri="{9D8B030D-6E8A-4147-A177-3AD203B41FA5}">
                      <a16:colId xmlns:a16="http://schemas.microsoft.com/office/drawing/2014/main" xmlns="" val="659387205"/>
                    </a:ext>
                  </a:extLst>
                </a:gridCol>
                <a:gridCol w="1971675">
                  <a:extLst>
                    <a:ext uri="{9D8B030D-6E8A-4147-A177-3AD203B41FA5}">
                      <a16:colId xmlns:a16="http://schemas.microsoft.com/office/drawing/2014/main" xmlns="" val="4294333147"/>
                    </a:ext>
                  </a:extLst>
                </a:gridCol>
              </a:tblGrid>
              <a:tr h="0">
                <a:tc>
                  <a:txBody>
                    <a:bodyPr/>
                    <a:lstStyle/>
                    <a:p>
                      <a:r>
                        <a:rPr lang="en-IN"/>
                        <a:t>Activity</a:t>
                      </a:r>
                    </a:p>
                  </a:txBody>
                  <a:tcPr anchor="ctr">
                    <a:lnL>
                      <a:noFill/>
                    </a:lnL>
                    <a:lnR>
                      <a:noFill/>
                    </a:lnR>
                    <a:lnT>
                      <a:noFill/>
                    </a:lnT>
                    <a:lnB>
                      <a:noFill/>
                    </a:lnB>
                    <a:noFill/>
                  </a:tcPr>
                </a:tc>
                <a:tc>
                  <a:txBody>
                    <a:bodyPr/>
                    <a:lstStyle/>
                    <a:p>
                      <a:r>
                        <a:rPr lang="en-IN" dirty="0"/>
                        <a:t>Description</a:t>
                      </a:r>
                    </a:p>
                  </a:txBody>
                  <a:tcPr anchor="ctr">
                    <a:lnL>
                      <a:noFill/>
                    </a:lnL>
                    <a:lnR>
                      <a:noFill/>
                    </a:lnR>
                    <a:lnT>
                      <a:noFill/>
                    </a:lnT>
                    <a:lnB>
                      <a:noFill/>
                    </a:lnB>
                    <a:noFill/>
                  </a:tcPr>
                </a:tc>
                <a:tc>
                  <a:txBody>
                    <a:bodyPr/>
                    <a:lstStyle/>
                    <a:p>
                      <a:r>
                        <a:rPr lang="en-IN" dirty="0"/>
                        <a:t>Predecessor(s)</a:t>
                      </a:r>
                    </a:p>
                  </a:txBody>
                  <a:tcPr anchor="ctr">
                    <a:lnL>
                      <a:noFill/>
                    </a:lnL>
                    <a:lnR>
                      <a:noFill/>
                    </a:lnR>
                    <a:lnT>
                      <a:noFill/>
                    </a:lnT>
                    <a:lnB>
                      <a:noFill/>
                    </a:lnB>
                    <a:noFill/>
                  </a:tcPr>
                </a:tc>
                <a:tc>
                  <a:txBody>
                    <a:bodyPr/>
                    <a:lstStyle/>
                    <a:p>
                      <a:r>
                        <a:rPr lang="en-IN"/>
                        <a:t>Duration (days)</a:t>
                      </a:r>
                    </a:p>
                  </a:txBody>
                  <a:tcPr anchor="ctr">
                    <a:lnL>
                      <a:noFill/>
                    </a:lnL>
                    <a:lnR>
                      <a:noFill/>
                    </a:lnR>
                    <a:lnT>
                      <a:noFill/>
                    </a:lnT>
                    <a:lnB>
                      <a:noFill/>
                    </a:lnB>
                    <a:noFill/>
                  </a:tcPr>
                </a:tc>
                <a:extLst>
                  <a:ext uri="{0D108BD9-81ED-4DB2-BD59-A6C34878D82A}">
                    <a16:rowId xmlns:a16="http://schemas.microsoft.com/office/drawing/2014/main" xmlns="" val="1274091985"/>
                  </a:ext>
                </a:extLst>
              </a:tr>
              <a:tr h="0">
                <a:tc>
                  <a:txBody>
                    <a:bodyPr/>
                    <a:lstStyle/>
                    <a:p>
                      <a:r>
                        <a:rPr lang="en-IN"/>
                        <a:t>A</a:t>
                      </a:r>
                    </a:p>
                  </a:txBody>
                  <a:tcPr anchor="ctr">
                    <a:lnL>
                      <a:noFill/>
                    </a:lnL>
                    <a:lnR>
                      <a:noFill/>
                    </a:lnR>
                    <a:lnT>
                      <a:noFill/>
                    </a:lnT>
                    <a:lnB>
                      <a:noFill/>
                    </a:lnB>
                    <a:noFill/>
                  </a:tcPr>
                </a:tc>
                <a:tc>
                  <a:txBody>
                    <a:bodyPr/>
                    <a:lstStyle/>
                    <a:p>
                      <a:r>
                        <a:rPr lang="en-IN"/>
                        <a:t>Site Preparation</a:t>
                      </a:r>
                    </a:p>
                  </a:txBody>
                  <a:tcPr anchor="ctr">
                    <a:lnL>
                      <a:noFill/>
                    </a:lnL>
                    <a:lnR>
                      <a:noFill/>
                    </a:lnR>
                    <a:lnT>
                      <a:noFill/>
                    </a:lnT>
                    <a:lnB>
                      <a:noFill/>
                    </a:lnB>
                    <a:noFill/>
                  </a:tcPr>
                </a:tc>
                <a:tc>
                  <a:txBody>
                    <a:bodyPr/>
                    <a:lstStyle/>
                    <a:p>
                      <a:r>
                        <a:rPr lang="en-IN"/>
                        <a:t>None</a:t>
                      </a:r>
                    </a:p>
                  </a:txBody>
                  <a:tcPr anchor="ctr">
                    <a:lnL>
                      <a:noFill/>
                    </a:lnL>
                    <a:lnR>
                      <a:noFill/>
                    </a:lnR>
                    <a:lnT>
                      <a:noFill/>
                    </a:lnT>
                    <a:lnB>
                      <a:noFill/>
                    </a:lnB>
                    <a:noFill/>
                  </a:tcPr>
                </a:tc>
                <a:tc>
                  <a:txBody>
                    <a:bodyPr/>
                    <a:lstStyle/>
                    <a:p>
                      <a:r>
                        <a:rPr lang="x-none"/>
                        <a:t>4</a:t>
                      </a:r>
                    </a:p>
                  </a:txBody>
                  <a:tcPr anchor="ctr">
                    <a:lnL>
                      <a:noFill/>
                    </a:lnL>
                    <a:lnR>
                      <a:noFill/>
                    </a:lnR>
                    <a:lnT>
                      <a:noFill/>
                    </a:lnT>
                    <a:lnB>
                      <a:noFill/>
                    </a:lnB>
                    <a:noFill/>
                  </a:tcPr>
                </a:tc>
                <a:extLst>
                  <a:ext uri="{0D108BD9-81ED-4DB2-BD59-A6C34878D82A}">
                    <a16:rowId xmlns:a16="http://schemas.microsoft.com/office/drawing/2014/main" xmlns="" val="1692517452"/>
                  </a:ext>
                </a:extLst>
              </a:tr>
              <a:tr h="0">
                <a:tc>
                  <a:txBody>
                    <a:bodyPr/>
                    <a:lstStyle/>
                    <a:p>
                      <a:r>
                        <a:rPr lang="en-IN"/>
                        <a:t>B</a:t>
                      </a:r>
                    </a:p>
                  </a:txBody>
                  <a:tcPr anchor="ctr">
                    <a:lnL>
                      <a:noFill/>
                    </a:lnL>
                    <a:lnR>
                      <a:noFill/>
                    </a:lnR>
                    <a:lnT>
                      <a:noFill/>
                    </a:lnT>
                    <a:lnB>
                      <a:noFill/>
                    </a:lnB>
                    <a:noFill/>
                  </a:tcPr>
                </a:tc>
                <a:tc>
                  <a:txBody>
                    <a:bodyPr/>
                    <a:lstStyle/>
                    <a:p>
                      <a:r>
                        <a:rPr lang="en-IN"/>
                        <a:t>Foundation Work</a:t>
                      </a:r>
                    </a:p>
                  </a:txBody>
                  <a:tcPr anchor="ctr">
                    <a:lnL>
                      <a:noFill/>
                    </a:lnL>
                    <a:lnR>
                      <a:noFill/>
                    </a:lnR>
                    <a:lnT>
                      <a:noFill/>
                    </a:lnT>
                    <a:lnB>
                      <a:noFill/>
                    </a:lnB>
                    <a:noFill/>
                  </a:tcPr>
                </a:tc>
                <a:tc>
                  <a:txBody>
                    <a:bodyPr/>
                    <a:lstStyle/>
                    <a:p>
                      <a:r>
                        <a:rPr lang="en-IN"/>
                        <a:t>A</a:t>
                      </a:r>
                    </a:p>
                  </a:txBody>
                  <a:tcPr anchor="ctr">
                    <a:lnL>
                      <a:noFill/>
                    </a:lnL>
                    <a:lnR>
                      <a:noFill/>
                    </a:lnR>
                    <a:lnT>
                      <a:noFill/>
                    </a:lnT>
                    <a:lnB>
                      <a:noFill/>
                    </a:lnB>
                    <a:noFill/>
                  </a:tcPr>
                </a:tc>
                <a:tc>
                  <a:txBody>
                    <a:bodyPr/>
                    <a:lstStyle/>
                    <a:p>
                      <a:r>
                        <a:rPr lang="x-none"/>
                        <a:t>6</a:t>
                      </a:r>
                    </a:p>
                  </a:txBody>
                  <a:tcPr anchor="ctr">
                    <a:lnL>
                      <a:noFill/>
                    </a:lnL>
                    <a:lnR>
                      <a:noFill/>
                    </a:lnR>
                    <a:lnT>
                      <a:noFill/>
                    </a:lnT>
                    <a:lnB>
                      <a:noFill/>
                    </a:lnB>
                    <a:noFill/>
                  </a:tcPr>
                </a:tc>
                <a:extLst>
                  <a:ext uri="{0D108BD9-81ED-4DB2-BD59-A6C34878D82A}">
                    <a16:rowId xmlns:a16="http://schemas.microsoft.com/office/drawing/2014/main" xmlns="" val="2789691525"/>
                  </a:ext>
                </a:extLst>
              </a:tr>
              <a:tr h="0">
                <a:tc>
                  <a:txBody>
                    <a:bodyPr/>
                    <a:lstStyle/>
                    <a:p>
                      <a:r>
                        <a:rPr lang="en-IN"/>
                        <a:t>C</a:t>
                      </a:r>
                    </a:p>
                  </a:txBody>
                  <a:tcPr anchor="ctr">
                    <a:lnL>
                      <a:noFill/>
                    </a:lnL>
                    <a:lnR>
                      <a:noFill/>
                    </a:lnR>
                    <a:lnT>
                      <a:noFill/>
                    </a:lnT>
                    <a:lnB>
                      <a:noFill/>
                    </a:lnB>
                    <a:noFill/>
                  </a:tcPr>
                </a:tc>
                <a:tc>
                  <a:txBody>
                    <a:bodyPr/>
                    <a:lstStyle/>
                    <a:p>
                      <a:r>
                        <a:rPr lang="en-IN"/>
                        <a:t>Frame Construction</a:t>
                      </a:r>
                    </a:p>
                  </a:txBody>
                  <a:tcPr anchor="ctr">
                    <a:lnL>
                      <a:noFill/>
                    </a:lnL>
                    <a:lnR>
                      <a:noFill/>
                    </a:lnR>
                    <a:lnT>
                      <a:noFill/>
                    </a:lnT>
                    <a:lnB>
                      <a:noFill/>
                    </a:lnB>
                    <a:noFill/>
                  </a:tcPr>
                </a:tc>
                <a:tc>
                  <a:txBody>
                    <a:bodyPr/>
                    <a:lstStyle/>
                    <a:p>
                      <a:r>
                        <a:rPr lang="en-IN"/>
                        <a:t>A</a:t>
                      </a:r>
                    </a:p>
                  </a:txBody>
                  <a:tcPr anchor="ctr">
                    <a:lnL>
                      <a:noFill/>
                    </a:lnL>
                    <a:lnR>
                      <a:noFill/>
                    </a:lnR>
                    <a:lnT>
                      <a:noFill/>
                    </a:lnT>
                    <a:lnB>
                      <a:noFill/>
                    </a:lnB>
                    <a:noFill/>
                  </a:tcPr>
                </a:tc>
                <a:tc>
                  <a:txBody>
                    <a:bodyPr/>
                    <a:lstStyle/>
                    <a:p>
                      <a:r>
                        <a:rPr lang="x-none"/>
                        <a:t>8</a:t>
                      </a:r>
                    </a:p>
                  </a:txBody>
                  <a:tcPr anchor="ctr">
                    <a:lnL>
                      <a:noFill/>
                    </a:lnL>
                    <a:lnR>
                      <a:noFill/>
                    </a:lnR>
                    <a:lnT>
                      <a:noFill/>
                    </a:lnT>
                    <a:lnB>
                      <a:noFill/>
                    </a:lnB>
                    <a:noFill/>
                  </a:tcPr>
                </a:tc>
                <a:extLst>
                  <a:ext uri="{0D108BD9-81ED-4DB2-BD59-A6C34878D82A}">
                    <a16:rowId xmlns:a16="http://schemas.microsoft.com/office/drawing/2014/main" xmlns="" val="2944175837"/>
                  </a:ext>
                </a:extLst>
              </a:tr>
              <a:tr h="0">
                <a:tc>
                  <a:txBody>
                    <a:bodyPr/>
                    <a:lstStyle/>
                    <a:p>
                      <a:r>
                        <a:rPr lang="en-IN"/>
                        <a:t>D</a:t>
                      </a:r>
                    </a:p>
                  </a:txBody>
                  <a:tcPr anchor="ctr">
                    <a:lnL>
                      <a:noFill/>
                    </a:lnL>
                    <a:lnR>
                      <a:noFill/>
                    </a:lnR>
                    <a:lnT>
                      <a:noFill/>
                    </a:lnT>
                    <a:lnB>
                      <a:noFill/>
                    </a:lnB>
                    <a:noFill/>
                  </a:tcPr>
                </a:tc>
                <a:tc>
                  <a:txBody>
                    <a:bodyPr/>
                    <a:lstStyle/>
                    <a:p>
                      <a:r>
                        <a:rPr lang="en-IN"/>
                        <a:t>Electrical Wiring</a:t>
                      </a:r>
                    </a:p>
                  </a:txBody>
                  <a:tcPr anchor="ctr">
                    <a:lnL>
                      <a:noFill/>
                    </a:lnL>
                    <a:lnR>
                      <a:noFill/>
                    </a:lnR>
                    <a:lnT>
                      <a:noFill/>
                    </a:lnT>
                    <a:lnB>
                      <a:noFill/>
                    </a:lnB>
                    <a:noFill/>
                  </a:tcPr>
                </a:tc>
                <a:tc>
                  <a:txBody>
                    <a:bodyPr/>
                    <a:lstStyle/>
                    <a:p>
                      <a:r>
                        <a:rPr lang="en-IN"/>
                        <a:t>B</a:t>
                      </a:r>
                    </a:p>
                  </a:txBody>
                  <a:tcPr anchor="ctr">
                    <a:lnL>
                      <a:noFill/>
                    </a:lnL>
                    <a:lnR>
                      <a:noFill/>
                    </a:lnR>
                    <a:lnT>
                      <a:noFill/>
                    </a:lnT>
                    <a:lnB>
                      <a:noFill/>
                    </a:lnB>
                    <a:noFill/>
                  </a:tcPr>
                </a:tc>
                <a:tc>
                  <a:txBody>
                    <a:bodyPr/>
                    <a:lstStyle/>
                    <a:p>
                      <a:r>
                        <a:rPr lang="x-none"/>
                        <a:t>4</a:t>
                      </a:r>
                    </a:p>
                  </a:txBody>
                  <a:tcPr anchor="ctr">
                    <a:lnL>
                      <a:noFill/>
                    </a:lnL>
                    <a:lnR>
                      <a:noFill/>
                    </a:lnR>
                    <a:lnT>
                      <a:noFill/>
                    </a:lnT>
                    <a:lnB>
                      <a:noFill/>
                    </a:lnB>
                    <a:noFill/>
                  </a:tcPr>
                </a:tc>
                <a:extLst>
                  <a:ext uri="{0D108BD9-81ED-4DB2-BD59-A6C34878D82A}">
                    <a16:rowId xmlns:a16="http://schemas.microsoft.com/office/drawing/2014/main" xmlns="" val="3553117853"/>
                  </a:ext>
                </a:extLst>
              </a:tr>
              <a:tr h="0">
                <a:tc>
                  <a:txBody>
                    <a:bodyPr/>
                    <a:lstStyle/>
                    <a:p>
                      <a:r>
                        <a:rPr lang="en-IN"/>
                        <a:t>E</a:t>
                      </a:r>
                    </a:p>
                  </a:txBody>
                  <a:tcPr anchor="ctr">
                    <a:lnL>
                      <a:noFill/>
                    </a:lnL>
                    <a:lnR>
                      <a:noFill/>
                    </a:lnR>
                    <a:lnT>
                      <a:noFill/>
                    </a:lnT>
                    <a:lnB>
                      <a:noFill/>
                    </a:lnB>
                    <a:noFill/>
                  </a:tcPr>
                </a:tc>
                <a:tc>
                  <a:txBody>
                    <a:bodyPr/>
                    <a:lstStyle/>
                    <a:p>
                      <a:r>
                        <a:rPr lang="en-IN"/>
                        <a:t>Plumbing</a:t>
                      </a:r>
                    </a:p>
                  </a:txBody>
                  <a:tcPr anchor="ctr">
                    <a:lnL>
                      <a:noFill/>
                    </a:lnL>
                    <a:lnR>
                      <a:noFill/>
                    </a:lnR>
                    <a:lnT>
                      <a:noFill/>
                    </a:lnT>
                    <a:lnB>
                      <a:noFill/>
                    </a:lnB>
                    <a:noFill/>
                  </a:tcPr>
                </a:tc>
                <a:tc>
                  <a:txBody>
                    <a:bodyPr/>
                    <a:lstStyle/>
                    <a:p>
                      <a:r>
                        <a:rPr lang="en-IN"/>
                        <a:t>B</a:t>
                      </a:r>
                    </a:p>
                  </a:txBody>
                  <a:tcPr anchor="ctr">
                    <a:lnL>
                      <a:noFill/>
                    </a:lnL>
                    <a:lnR>
                      <a:noFill/>
                    </a:lnR>
                    <a:lnT>
                      <a:noFill/>
                    </a:lnT>
                    <a:lnB>
                      <a:noFill/>
                    </a:lnB>
                    <a:noFill/>
                  </a:tcPr>
                </a:tc>
                <a:tc>
                  <a:txBody>
                    <a:bodyPr/>
                    <a:lstStyle/>
                    <a:p>
                      <a:r>
                        <a:rPr lang="x-none"/>
                        <a:t>5</a:t>
                      </a:r>
                    </a:p>
                  </a:txBody>
                  <a:tcPr anchor="ctr">
                    <a:lnL>
                      <a:noFill/>
                    </a:lnL>
                    <a:lnR>
                      <a:noFill/>
                    </a:lnR>
                    <a:lnT>
                      <a:noFill/>
                    </a:lnT>
                    <a:lnB>
                      <a:noFill/>
                    </a:lnB>
                    <a:noFill/>
                  </a:tcPr>
                </a:tc>
                <a:extLst>
                  <a:ext uri="{0D108BD9-81ED-4DB2-BD59-A6C34878D82A}">
                    <a16:rowId xmlns:a16="http://schemas.microsoft.com/office/drawing/2014/main" xmlns="" val="2173761502"/>
                  </a:ext>
                </a:extLst>
              </a:tr>
              <a:tr h="0">
                <a:tc>
                  <a:txBody>
                    <a:bodyPr/>
                    <a:lstStyle/>
                    <a:p>
                      <a:r>
                        <a:rPr lang="en-IN"/>
                        <a:t>F</a:t>
                      </a:r>
                    </a:p>
                  </a:txBody>
                  <a:tcPr anchor="ctr">
                    <a:lnL>
                      <a:noFill/>
                    </a:lnL>
                    <a:lnR>
                      <a:noFill/>
                    </a:lnR>
                    <a:lnT>
                      <a:noFill/>
                    </a:lnT>
                    <a:lnB>
                      <a:noFill/>
                    </a:lnB>
                    <a:noFill/>
                  </a:tcPr>
                </a:tc>
                <a:tc>
                  <a:txBody>
                    <a:bodyPr/>
                    <a:lstStyle/>
                    <a:p>
                      <a:r>
                        <a:rPr lang="en-IN"/>
                        <a:t>Interior Finishing</a:t>
                      </a:r>
                    </a:p>
                  </a:txBody>
                  <a:tcPr anchor="ctr">
                    <a:lnL>
                      <a:noFill/>
                    </a:lnL>
                    <a:lnR>
                      <a:noFill/>
                    </a:lnR>
                    <a:lnT>
                      <a:noFill/>
                    </a:lnT>
                    <a:lnB>
                      <a:noFill/>
                    </a:lnB>
                    <a:noFill/>
                  </a:tcPr>
                </a:tc>
                <a:tc>
                  <a:txBody>
                    <a:bodyPr/>
                    <a:lstStyle/>
                    <a:p>
                      <a:r>
                        <a:rPr lang="en-IN" dirty="0"/>
                        <a:t>C, D</a:t>
                      </a:r>
                    </a:p>
                  </a:txBody>
                  <a:tcPr anchor="ctr">
                    <a:lnL>
                      <a:noFill/>
                    </a:lnL>
                    <a:lnR>
                      <a:noFill/>
                    </a:lnR>
                    <a:lnT>
                      <a:noFill/>
                    </a:lnT>
                    <a:lnB>
                      <a:noFill/>
                    </a:lnB>
                    <a:noFill/>
                  </a:tcPr>
                </a:tc>
                <a:tc>
                  <a:txBody>
                    <a:bodyPr/>
                    <a:lstStyle/>
                    <a:p>
                      <a:r>
                        <a:rPr lang="x-none"/>
                        <a:t>7</a:t>
                      </a:r>
                    </a:p>
                  </a:txBody>
                  <a:tcPr anchor="ctr">
                    <a:lnL>
                      <a:noFill/>
                    </a:lnL>
                    <a:lnR>
                      <a:noFill/>
                    </a:lnR>
                    <a:lnT>
                      <a:noFill/>
                    </a:lnT>
                    <a:lnB>
                      <a:noFill/>
                    </a:lnB>
                    <a:noFill/>
                  </a:tcPr>
                </a:tc>
                <a:extLst>
                  <a:ext uri="{0D108BD9-81ED-4DB2-BD59-A6C34878D82A}">
                    <a16:rowId xmlns:a16="http://schemas.microsoft.com/office/drawing/2014/main" xmlns="" val="2040662308"/>
                  </a:ext>
                </a:extLst>
              </a:tr>
              <a:tr h="0">
                <a:tc>
                  <a:txBody>
                    <a:bodyPr/>
                    <a:lstStyle/>
                    <a:p>
                      <a:r>
                        <a:rPr lang="en-IN"/>
                        <a:t>G</a:t>
                      </a:r>
                    </a:p>
                  </a:txBody>
                  <a:tcPr anchor="ctr">
                    <a:lnL>
                      <a:noFill/>
                    </a:lnL>
                    <a:lnR>
                      <a:noFill/>
                    </a:lnR>
                    <a:lnT>
                      <a:noFill/>
                    </a:lnT>
                    <a:lnB>
                      <a:noFill/>
                    </a:lnB>
                    <a:noFill/>
                  </a:tcPr>
                </a:tc>
                <a:tc>
                  <a:txBody>
                    <a:bodyPr/>
                    <a:lstStyle/>
                    <a:p>
                      <a:r>
                        <a:rPr lang="en-IN"/>
                        <a:t>Roofing</a:t>
                      </a:r>
                    </a:p>
                  </a:txBody>
                  <a:tcPr anchor="ctr">
                    <a:lnL>
                      <a:noFill/>
                    </a:lnL>
                    <a:lnR>
                      <a:noFill/>
                    </a:lnR>
                    <a:lnT>
                      <a:noFill/>
                    </a:lnT>
                    <a:lnB>
                      <a:noFill/>
                    </a:lnB>
                    <a:noFill/>
                  </a:tcPr>
                </a:tc>
                <a:tc>
                  <a:txBody>
                    <a:bodyPr/>
                    <a:lstStyle/>
                    <a:p>
                      <a:r>
                        <a:rPr lang="en-IN"/>
                        <a:t>C</a:t>
                      </a:r>
                    </a:p>
                  </a:txBody>
                  <a:tcPr anchor="ctr">
                    <a:lnL>
                      <a:noFill/>
                    </a:lnL>
                    <a:lnR>
                      <a:noFill/>
                    </a:lnR>
                    <a:lnT>
                      <a:noFill/>
                    </a:lnT>
                    <a:lnB>
                      <a:noFill/>
                    </a:lnB>
                    <a:noFill/>
                  </a:tcPr>
                </a:tc>
                <a:tc>
                  <a:txBody>
                    <a:bodyPr/>
                    <a:lstStyle/>
                    <a:p>
                      <a:r>
                        <a:rPr lang="x-none"/>
                        <a:t>6</a:t>
                      </a:r>
                    </a:p>
                  </a:txBody>
                  <a:tcPr anchor="ctr">
                    <a:lnL>
                      <a:noFill/>
                    </a:lnL>
                    <a:lnR>
                      <a:noFill/>
                    </a:lnR>
                    <a:lnT>
                      <a:noFill/>
                    </a:lnT>
                    <a:lnB>
                      <a:noFill/>
                    </a:lnB>
                    <a:noFill/>
                  </a:tcPr>
                </a:tc>
                <a:extLst>
                  <a:ext uri="{0D108BD9-81ED-4DB2-BD59-A6C34878D82A}">
                    <a16:rowId xmlns:a16="http://schemas.microsoft.com/office/drawing/2014/main" xmlns="" val="3381242666"/>
                  </a:ext>
                </a:extLst>
              </a:tr>
              <a:tr h="0">
                <a:tc>
                  <a:txBody>
                    <a:bodyPr/>
                    <a:lstStyle/>
                    <a:p>
                      <a:r>
                        <a:rPr lang="en-IN"/>
                        <a:t>H</a:t>
                      </a:r>
                    </a:p>
                  </a:txBody>
                  <a:tcPr anchor="ctr">
                    <a:lnL>
                      <a:noFill/>
                    </a:lnL>
                    <a:lnR>
                      <a:noFill/>
                    </a:lnR>
                    <a:lnT>
                      <a:noFill/>
                    </a:lnT>
                    <a:lnB>
                      <a:noFill/>
                    </a:lnB>
                    <a:noFill/>
                  </a:tcPr>
                </a:tc>
                <a:tc>
                  <a:txBody>
                    <a:bodyPr/>
                    <a:lstStyle/>
                    <a:p>
                      <a:r>
                        <a:rPr lang="en-IN"/>
                        <a:t>Landscaping</a:t>
                      </a:r>
                    </a:p>
                  </a:txBody>
                  <a:tcPr anchor="ctr">
                    <a:lnL>
                      <a:noFill/>
                    </a:lnL>
                    <a:lnR>
                      <a:noFill/>
                    </a:lnR>
                    <a:lnT>
                      <a:noFill/>
                    </a:lnT>
                    <a:lnB>
                      <a:noFill/>
                    </a:lnB>
                    <a:noFill/>
                  </a:tcPr>
                </a:tc>
                <a:tc>
                  <a:txBody>
                    <a:bodyPr/>
                    <a:lstStyle/>
                    <a:p>
                      <a:r>
                        <a:rPr lang="en-IN"/>
                        <a:t>G</a:t>
                      </a:r>
                    </a:p>
                  </a:txBody>
                  <a:tcPr anchor="ctr">
                    <a:lnL>
                      <a:noFill/>
                    </a:lnL>
                    <a:lnR>
                      <a:noFill/>
                    </a:lnR>
                    <a:lnT>
                      <a:noFill/>
                    </a:lnT>
                    <a:lnB>
                      <a:noFill/>
                    </a:lnB>
                    <a:noFill/>
                  </a:tcPr>
                </a:tc>
                <a:tc>
                  <a:txBody>
                    <a:bodyPr/>
                    <a:lstStyle/>
                    <a:p>
                      <a:r>
                        <a:rPr lang="x-none"/>
                        <a:t>5</a:t>
                      </a:r>
                    </a:p>
                  </a:txBody>
                  <a:tcPr anchor="ctr">
                    <a:lnL>
                      <a:noFill/>
                    </a:lnL>
                    <a:lnR>
                      <a:noFill/>
                    </a:lnR>
                    <a:lnT>
                      <a:noFill/>
                    </a:lnT>
                    <a:lnB>
                      <a:noFill/>
                    </a:lnB>
                    <a:noFill/>
                  </a:tcPr>
                </a:tc>
                <a:extLst>
                  <a:ext uri="{0D108BD9-81ED-4DB2-BD59-A6C34878D82A}">
                    <a16:rowId xmlns:a16="http://schemas.microsoft.com/office/drawing/2014/main" xmlns="" val="3890721090"/>
                  </a:ext>
                </a:extLst>
              </a:tr>
              <a:tr h="0">
                <a:tc>
                  <a:txBody>
                    <a:bodyPr/>
                    <a:lstStyle/>
                    <a:p>
                      <a:r>
                        <a:rPr lang="en-IN"/>
                        <a:t>I</a:t>
                      </a:r>
                    </a:p>
                  </a:txBody>
                  <a:tcPr anchor="ctr">
                    <a:lnL>
                      <a:noFill/>
                    </a:lnL>
                    <a:lnR>
                      <a:noFill/>
                    </a:lnR>
                    <a:lnT>
                      <a:noFill/>
                    </a:lnT>
                    <a:lnB>
                      <a:noFill/>
                    </a:lnB>
                    <a:noFill/>
                  </a:tcPr>
                </a:tc>
                <a:tc>
                  <a:txBody>
                    <a:bodyPr/>
                    <a:lstStyle/>
                    <a:p>
                      <a:r>
                        <a:rPr lang="en-IN"/>
                        <a:t>Inspection</a:t>
                      </a:r>
                    </a:p>
                  </a:txBody>
                  <a:tcPr anchor="ctr">
                    <a:lnL>
                      <a:noFill/>
                    </a:lnL>
                    <a:lnR>
                      <a:noFill/>
                    </a:lnR>
                    <a:lnT>
                      <a:noFill/>
                    </a:lnT>
                    <a:lnB>
                      <a:noFill/>
                    </a:lnB>
                    <a:noFill/>
                  </a:tcPr>
                </a:tc>
                <a:tc>
                  <a:txBody>
                    <a:bodyPr/>
                    <a:lstStyle/>
                    <a:p>
                      <a:r>
                        <a:rPr lang="en-IN"/>
                        <a:t>E, F, H</a:t>
                      </a:r>
                    </a:p>
                  </a:txBody>
                  <a:tcPr anchor="ctr">
                    <a:lnL>
                      <a:noFill/>
                    </a:lnL>
                    <a:lnR>
                      <a:noFill/>
                    </a:lnR>
                    <a:lnT>
                      <a:noFill/>
                    </a:lnT>
                    <a:lnB>
                      <a:noFill/>
                    </a:lnB>
                    <a:noFill/>
                  </a:tcPr>
                </a:tc>
                <a:tc>
                  <a:txBody>
                    <a:bodyPr/>
                    <a:lstStyle/>
                    <a:p>
                      <a:r>
                        <a:rPr lang="x-none"/>
                        <a:t>3</a:t>
                      </a:r>
                    </a:p>
                  </a:txBody>
                  <a:tcPr anchor="ctr">
                    <a:lnL>
                      <a:noFill/>
                    </a:lnL>
                    <a:lnR>
                      <a:noFill/>
                    </a:lnR>
                    <a:lnT>
                      <a:noFill/>
                    </a:lnT>
                    <a:lnB>
                      <a:noFill/>
                    </a:lnB>
                    <a:noFill/>
                  </a:tcPr>
                </a:tc>
                <a:extLst>
                  <a:ext uri="{0D108BD9-81ED-4DB2-BD59-A6C34878D82A}">
                    <a16:rowId xmlns:a16="http://schemas.microsoft.com/office/drawing/2014/main" xmlns="" val="987113084"/>
                  </a:ext>
                </a:extLst>
              </a:tr>
              <a:tr h="0">
                <a:tc>
                  <a:txBody>
                    <a:bodyPr/>
                    <a:lstStyle/>
                    <a:p>
                      <a:r>
                        <a:rPr lang="en-IN"/>
                        <a:t>J</a:t>
                      </a:r>
                    </a:p>
                  </a:txBody>
                  <a:tcPr anchor="ctr">
                    <a:lnL>
                      <a:noFill/>
                    </a:lnL>
                    <a:lnR>
                      <a:noFill/>
                    </a:lnR>
                    <a:lnT>
                      <a:noFill/>
                    </a:lnT>
                    <a:lnB>
                      <a:noFill/>
                    </a:lnB>
                    <a:noFill/>
                  </a:tcPr>
                </a:tc>
                <a:tc>
                  <a:txBody>
                    <a:bodyPr/>
                    <a:lstStyle/>
                    <a:p>
                      <a:r>
                        <a:rPr lang="en-IN" dirty="0"/>
                        <a:t>Final Touches</a:t>
                      </a:r>
                    </a:p>
                  </a:txBody>
                  <a:tcPr anchor="ctr">
                    <a:lnL>
                      <a:noFill/>
                    </a:lnL>
                    <a:lnR>
                      <a:noFill/>
                    </a:lnR>
                    <a:lnT>
                      <a:noFill/>
                    </a:lnT>
                    <a:lnB>
                      <a:noFill/>
                    </a:lnB>
                    <a:noFill/>
                  </a:tcPr>
                </a:tc>
                <a:tc>
                  <a:txBody>
                    <a:bodyPr/>
                    <a:lstStyle/>
                    <a:p>
                      <a:r>
                        <a:rPr lang="en-IN"/>
                        <a:t>I</a:t>
                      </a:r>
                    </a:p>
                  </a:txBody>
                  <a:tcPr anchor="ctr">
                    <a:lnL>
                      <a:noFill/>
                    </a:lnL>
                    <a:lnR>
                      <a:noFill/>
                    </a:lnR>
                    <a:lnT>
                      <a:noFill/>
                    </a:lnT>
                    <a:lnB>
                      <a:noFill/>
                    </a:lnB>
                    <a:noFill/>
                  </a:tcPr>
                </a:tc>
                <a:tc>
                  <a:txBody>
                    <a:bodyPr/>
                    <a:lstStyle/>
                    <a:p>
                      <a:r>
                        <a:rPr lang="x-none" dirty="0"/>
                        <a:t>2</a:t>
                      </a:r>
                    </a:p>
                  </a:txBody>
                  <a:tcPr anchor="ctr">
                    <a:lnL>
                      <a:noFill/>
                    </a:lnL>
                    <a:lnR>
                      <a:noFill/>
                    </a:lnR>
                    <a:lnT>
                      <a:noFill/>
                    </a:lnT>
                    <a:lnB>
                      <a:noFill/>
                    </a:lnB>
                    <a:noFill/>
                  </a:tcPr>
                </a:tc>
                <a:extLst>
                  <a:ext uri="{0D108BD9-81ED-4DB2-BD59-A6C34878D82A}">
                    <a16:rowId xmlns:a16="http://schemas.microsoft.com/office/drawing/2014/main" xmlns="" val="3656714757"/>
                  </a:ext>
                </a:extLst>
              </a:tr>
            </a:tbl>
          </a:graphicData>
        </a:graphic>
      </p:graphicFrame>
    </p:spTree>
    <p:extLst>
      <p:ext uri="{BB962C8B-B14F-4D97-AF65-F5344CB8AC3E}">
        <p14:creationId xmlns:p14="http://schemas.microsoft.com/office/powerpoint/2010/main" val="40986530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3265</TotalTime>
  <Words>2359</Words>
  <Application>Microsoft Office PowerPoint</Application>
  <PresentationFormat>On-screen Show (4:3)</PresentationFormat>
  <Paragraphs>373</Paragraphs>
  <Slides>37</Slides>
  <Notes>21</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FUNDAMENTALS OF SOFTWARE PROJECT MANAGEMENT  Risk Management </vt:lpstr>
      <vt:lpstr>Risk management</vt:lpstr>
      <vt:lpstr>Some definitions of risk</vt:lpstr>
      <vt:lpstr>Categories of risk</vt:lpstr>
      <vt:lpstr>Categories of Risk -  Continued</vt:lpstr>
      <vt:lpstr>A framework for dealing with risk</vt:lpstr>
      <vt:lpstr>Risk identification</vt:lpstr>
      <vt:lpstr>Boehm’s top 10 development risks</vt:lpstr>
      <vt:lpstr>Boehm’s top ten risk - continued</vt:lpstr>
      <vt:lpstr>Risk prioritization</vt:lpstr>
      <vt:lpstr>Risk probability: qualitative descriptors</vt:lpstr>
      <vt:lpstr>Qualitative descriptors of impact on cost and associated range values </vt:lpstr>
      <vt:lpstr>Probability impact matrix</vt:lpstr>
      <vt:lpstr>PowerPoint Presentation</vt:lpstr>
      <vt:lpstr>PowerPoint Presentation</vt:lpstr>
      <vt:lpstr>Risk planning</vt:lpstr>
      <vt:lpstr>Risk reduction leverage</vt:lpstr>
      <vt:lpstr>Risk reduction leverage</vt:lpstr>
      <vt:lpstr>Probability chart</vt:lpstr>
      <vt:lpstr>What is RMMM?</vt:lpstr>
      <vt:lpstr>Using PERT to evaluate the effects of uncertainty</vt:lpstr>
      <vt:lpstr>A chain of activities</vt:lpstr>
      <vt:lpstr>A chain of activities</vt:lpstr>
      <vt:lpstr>Assessing the likelihood of meeting a target</vt:lpstr>
      <vt:lpstr>Graph of z values </vt:lpstr>
      <vt:lpstr>Critical chain approach</vt:lpstr>
      <vt:lpstr>Critical chain approach</vt:lpstr>
      <vt:lpstr>PowerPoint Presentation</vt:lpstr>
      <vt:lpstr>PowerPoint Presentation</vt:lpstr>
      <vt:lpstr>PowerPoint Presentation</vt:lpstr>
      <vt:lpstr>PowerPoint Presentation</vt:lpstr>
      <vt:lpstr>Given that:</vt:lpstr>
      <vt:lpstr>Calculating SD of each project event</vt:lpstr>
      <vt:lpstr>PowerPoint Presentation</vt:lpstr>
      <vt:lpstr>Calculate the Z values</vt:lpstr>
      <vt:lpstr>PowerPoint Presentation</vt:lpstr>
      <vt:lpstr>Activity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haadia</cp:lastModifiedBy>
  <cp:revision>380</cp:revision>
  <dcterms:created xsi:type="dcterms:W3CDTF">2021-08-26T07:43:58Z</dcterms:created>
  <dcterms:modified xsi:type="dcterms:W3CDTF">2025-11-11T04:48:22Z</dcterms:modified>
</cp:coreProperties>
</file>