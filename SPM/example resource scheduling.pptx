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76" r:id="rId8"/>
    <p:sldId id="277" r:id="rId9"/>
    <p:sldId id="278" r:id="rId10"/>
    <p:sldId id="279" r:id="rId11"/>
    <p:sldId id="280" r:id="rId12"/>
    <p:sldId id="281" r:id="rId13"/>
    <p:sldId id="282" r:id="rId14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22090" y="93090"/>
            <a:ext cx="197485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4052" y="1654672"/>
            <a:ext cx="3198987" cy="13283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2555" y="29337"/>
            <a:ext cx="7232650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160014"/>
            <a:ext cx="7755255" cy="1946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04" y="168436"/>
            <a:ext cx="1933956" cy="2776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67436"/>
            <a:ext cx="1915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5" dirty="0">
                <a:latin typeface="Cambria"/>
                <a:cs typeface="Cambria"/>
              </a:rPr>
              <a:t>LECTURE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10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523" y="1916810"/>
            <a:ext cx="8641080" cy="2142253"/>
          </a:xfrm>
          <a:prstGeom prst="rect">
            <a:avLst/>
          </a:prstGeom>
          <a:solidFill>
            <a:srgbClr val="94B3D6"/>
          </a:solidFill>
        </p:spPr>
        <p:txBody>
          <a:bodyPr vert="horz" wrap="square" lIns="0" tIns="109855" rIns="0" bIns="0" rtlCol="0">
            <a:spAutoFit/>
          </a:bodyPr>
          <a:lstStyle/>
          <a:p>
            <a:pPr marL="2065655" marR="2056764" algn="ctr">
              <a:lnSpc>
                <a:spcPct val="100000"/>
              </a:lnSpc>
              <a:spcBef>
                <a:spcPts val="865"/>
              </a:spcBef>
            </a:pPr>
            <a:r>
              <a:rPr sz="4400" spc="-35" dirty="0">
                <a:latin typeface="Calibri"/>
                <a:cs typeface="Calibri"/>
              </a:rPr>
              <a:t>Resource</a:t>
            </a:r>
            <a:r>
              <a:rPr sz="4400" spc="-185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Allocation </a:t>
            </a:r>
            <a:r>
              <a:rPr sz="4400" spc="-25" dirty="0">
                <a:latin typeface="Calibri"/>
                <a:cs typeface="Calibri"/>
              </a:rPr>
              <a:t>and</a:t>
            </a:r>
            <a:endParaRPr sz="4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400" spc="-35" dirty="0">
                <a:latin typeface="Calibri"/>
                <a:cs typeface="Calibri"/>
              </a:rPr>
              <a:t>Resource</a:t>
            </a:r>
            <a:r>
              <a:rPr sz="4400" spc="-195" dirty="0">
                <a:latin typeface="Calibri"/>
                <a:cs typeface="Calibri"/>
              </a:rPr>
              <a:t> </a:t>
            </a:r>
            <a:r>
              <a:rPr lang="en-US" sz="4400" spc="-10" dirty="0" smtClean="0">
                <a:latin typeface="Calibri"/>
                <a:cs typeface="Calibri"/>
              </a:rPr>
              <a:t>Smoothing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spc="-180" dirty="0">
                <a:latin typeface="Trebuchet MS"/>
                <a:cs typeface="Trebuchet MS"/>
              </a:rPr>
              <a:t>The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Three</a:t>
            </a:r>
            <a:r>
              <a:rPr dirty="0">
                <a:latin typeface="Trebuchet MS"/>
                <a:cs typeface="Trebuchet MS"/>
              </a:rPr>
              <a:t> Categories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135" dirty="0">
                <a:latin typeface="Trebuchet MS"/>
                <a:cs typeface="Trebuchet MS"/>
              </a:rPr>
              <a:t>Of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2954"/>
            <a:ext cx="7997190" cy="4184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LABOR</a:t>
            </a:r>
            <a:endParaRPr sz="2800">
              <a:latin typeface="Calibri"/>
              <a:cs typeface="Calibri"/>
            </a:endParaRPr>
          </a:p>
          <a:p>
            <a:pPr marL="355600" marR="457834" indent="-343535">
              <a:lnSpc>
                <a:spcPct val="1500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Salaried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staff: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individuals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project </a:t>
            </a:r>
            <a:r>
              <a:rPr sz="2600" spc="-25" dirty="0">
                <a:latin typeface="Calibri"/>
                <a:cs typeface="Calibri"/>
              </a:rPr>
              <a:t>manager,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superintendent,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engineer,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secretary,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person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project.</a:t>
            </a:r>
            <a:endParaRPr sz="2600">
              <a:latin typeface="Calibri"/>
              <a:cs typeface="Calibri"/>
            </a:endParaRPr>
          </a:p>
          <a:p>
            <a:pPr marL="355600" marR="5080" indent="-343535">
              <a:lnSpc>
                <a:spcPct val="15000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Hourly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workers: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individuals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hired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specific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task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activity.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Examples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carpenters, </a:t>
            </a:r>
            <a:r>
              <a:rPr sz="2600" dirty="0">
                <a:latin typeface="Calibri"/>
                <a:cs typeface="Calibri"/>
              </a:rPr>
              <a:t>masons,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ironworkers,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electricians,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foremen,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forth.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spc="-180" dirty="0">
                <a:latin typeface="Trebuchet MS"/>
                <a:cs typeface="Trebuchet MS"/>
              </a:rPr>
              <a:t>The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Three</a:t>
            </a:r>
            <a:r>
              <a:rPr dirty="0">
                <a:latin typeface="Trebuchet MS"/>
                <a:cs typeface="Trebuchet MS"/>
              </a:rPr>
              <a:t> Categories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135" dirty="0">
                <a:latin typeface="Trebuchet MS"/>
                <a:cs typeface="Trebuchet MS"/>
              </a:rPr>
              <a:t>Of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2954"/>
            <a:ext cx="7946390" cy="448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Equipment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  <a:p>
            <a:pPr marL="355600" marR="108585" indent="-343535">
              <a:lnSpc>
                <a:spcPct val="15420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  <a:tab pos="641985" algn="l"/>
              </a:tabLst>
            </a:pPr>
            <a:r>
              <a:rPr sz="2600" dirty="0">
                <a:latin typeface="Calibri"/>
                <a:cs typeface="Calibri"/>
              </a:rPr>
              <a:t>Construction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equipment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materials: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equipment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materials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construction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permanently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installed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project. </a:t>
            </a:r>
            <a:r>
              <a:rPr sz="2200" spc="-50" dirty="0">
                <a:latin typeface="Arial MT"/>
                <a:cs typeface="Arial MT"/>
              </a:rPr>
              <a:t>–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Calibri"/>
                <a:cs typeface="Calibri"/>
              </a:rPr>
              <a:t>Examples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construction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equipment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bulldozers,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backhoes,</a:t>
            </a:r>
            <a:endParaRPr sz="22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Calibri"/>
                <a:cs typeface="Calibri"/>
              </a:rPr>
              <a:t>cranes.</a:t>
            </a:r>
            <a:endParaRPr sz="2200">
              <a:latin typeface="Calibri"/>
              <a:cs typeface="Calibri"/>
            </a:endParaRPr>
          </a:p>
          <a:p>
            <a:pPr marL="756285" marR="5080" indent="-287020">
              <a:lnSpc>
                <a:spcPct val="150000"/>
              </a:lnSpc>
              <a:spcBef>
                <a:spcPts val="530"/>
              </a:spcBef>
              <a:tabLst>
                <a:tab pos="756285" algn="l"/>
              </a:tabLst>
            </a:pPr>
            <a:r>
              <a:rPr sz="2200" spc="-50" dirty="0">
                <a:latin typeface="Arial MT"/>
                <a:cs typeface="Arial MT"/>
              </a:rPr>
              <a:t>–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Calibri"/>
                <a:cs typeface="Calibri"/>
              </a:rPr>
              <a:t>Examples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construction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materials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formwork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materials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scaffolding.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spc="-180" dirty="0">
                <a:latin typeface="Trebuchet MS"/>
                <a:cs typeface="Trebuchet MS"/>
              </a:rPr>
              <a:t>The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10" dirty="0">
                <a:latin typeface="Trebuchet MS"/>
                <a:cs typeface="Trebuchet MS"/>
              </a:rPr>
              <a:t>Three</a:t>
            </a:r>
            <a:r>
              <a:rPr dirty="0">
                <a:latin typeface="Trebuchet MS"/>
                <a:cs typeface="Trebuchet MS"/>
              </a:rPr>
              <a:t> Categories</a:t>
            </a:r>
            <a:r>
              <a:rPr spc="-20" dirty="0">
                <a:latin typeface="Trebuchet MS"/>
                <a:cs typeface="Trebuchet MS"/>
              </a:rPr>
              <a:t> </a:t>
            </a:r>
            <a:r>
              <a:rPr spc="135" dirty="0">
                <a:latin typeface="Trebuchet MS"/>
                <a:cs typeface="Trebuchet MS"/>
              </a:rPr>
              <a:t>Of</a:t>
            </a:r>
            <a:r>
              <a:rPr dirty="0">
                <a:latin typeface="Trebuchet MS"/>
                <a:cs typeface="Trebuchet MS"/>
              </a:rPr>
              <a:t> </a:t>
            </a:r>
            <a:r>
              <a:rPr spc="-10" dirty="0">
                <a:latin typeface="Trebuchet MS"/>
                <a:cs typeface="Trebuchet MS"/>
              </a:rPr>
              <a:t>Resources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2954"/>
            <a:ext cx="7413625" cy="448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Calibri"/>
                <a:cs typeface="Calibri"/>
              </a:rPr>
              <a:t>Equipment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  <a:p>
            <a:pPr marL="355600" marR="306705" indent="-343535">
              <a:lnSpc>
                <a:spcPct val="15000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Installed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equipment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materials: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equipment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materials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stays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permanently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project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after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completion.</a:t>
            </a:r>
            <a:endParaRPr sz="2600">
              <a:latin typeface="Calibri"/>
              <a:cs typeface="Calibri"/>
            </a:endParaRPr>
          </a:p>
          <a:p>
            <a:pPr marL="756285" marR="5080" lvl="1" indent="-287020">
              <a:lnSpc>
                <a:spcPct val="15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Examples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installed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equipment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emergency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generators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(in </a:t>
            </a:r>
            <a:r>
              <a:rPr sz="2200" dirty="0">
                <a:latin typeface="Calibri"/>
                <a:cs typeface="Calibri"/>
              </a:rPr>
              <a:t>hospitals,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industrial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projects)</a:t>
            </a:r>
            <a:endParaRPr sz="2200">
              <a:latin typeface="Calibri"/>
              <a:cs typeface="Calibri"/>
            </a:endParaRPr>
          </a:p>
          <a:p>
            <a:pPr marL="756285" marR="196850" lvl="1" indent="-287020">
              <a:lnSpc>
                <a:spcPct val="15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latin typeface="Calibri"/>
                <a:cs typeface="Calibri"/>
              </a:rPr>
              <a:t>Examples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installed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materials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concrete,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rebar,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brick, </a:t>
            </a:r>
            <a:r>
              <a:rPr sz="2200" spc="-30" dirty="0">
                <a:latin typeface="Calibri"/>
                <a:cs typeface="Calibri"/>
              </a:rPr>
              <a:t>mortar,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insulation,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framing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wood.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7725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What</a:t>
            </a:r>
            <a:r>
              <a:rPr spc="-110" dirty="0"/>
              <a:t> </a:t>
            </a:r>
            <a:r>
              <a:rPr spc="-30" dirty="0"/>
              <a:t>Is</a:t>
            </a:r>
            <a:r>
              <a:rPr spc="-90" dirty="0"/>
              <a:t> </a:t>
            </a:r>
            <a:r>
              <a:rPr spc="-114" dirty="0"/>
              <a:t>Resource</a:t>
            </a:r>
            <a:r>
              <a:rPr spc="-85" dirty="0"/>
              <a:t> </a:t>
            </a:r>
            <a:r>
              <a:rPr spc="-55" dirty="0"/>
              <a:t>Allocation?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6726" y="2381834"/>
            <a:ext cx="707009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  <a:tabLst>
                <a:tab pos="1680210" algn="l"/>
              </a:tabLst>
            </a:pPr>
            <a:r>
              <a:rPr sz="2800" spc="-95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ASSIGN</a:t>
            </a:r>
            <a:r>
              <a:rPr sz="2800" b="1" dirty="0">
                <a:latin typeface="Calibri"/>
                <a:cs typeface="Calibri"/>
              </a:rPr>
              <a:t>	THE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REQUIRED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RESOURCES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9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EACH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365"/>
              </a:spcBef>
            </a:pPr>
            <a:r>
              <a:rPr sz="2800" b="1" dirty="0">
                <a:latin typeface="Calibri"/>
                <a:cs typeface="Calibri"/>
              </a:rPr>
              <a:t>ACTIVITY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required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amount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2555" y="29337"/>
            <a:ext cx="72326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What</a:t>
            </a:r>
            <a:r>
              <a:rPr spc="-110" dirty="0"/>
              <a:t> </a:t>
            </a:r>
            <a:r>
              <a:rPr spc="-30" dirty="0"/>
              <a:t>Is</a:t>
            </a:r>
            <a:r>
              <a:rPr spc="-90" dirty="0"/>
              <a:t> </a:t>
            </a:r>
            <a:r>
              <a:rPr spc="-114" dirty="0"/>
              <a:t>Resource</a:t>
            </a:r>
            <a:r>
              <a:rPr spc="-85" dirty="0"/>
              <a:t> </a:t>
            </a:r>
            <a:r>
              <a:rPr lang="en-US" spc="-65" dirty="0" smtClean="0"/>
              <a:t>Smoothing</a:t>
            </a:r>
            <a:r>
              <a:rPr spc="-65" dirty="0" smtClean="0"/>
              <a:t>?</a:t>
            </a:r>
            <a:endParaRPr spc="-65" dirty="0"/>
          </a:p>
        </p:txBody>
      </p:sp>
      <p:sp>
        <p:nvSpPr>
          <p:cNvPr id="3" name="object 3"/>
          <p:cNvSpPr txBox="1"/>
          <p:nvPr/>
        </p:nvSpPr>
        <p:spPr>
          <a:xfrm>
            <a:off x="663346" y="1794362"/>
            <a:ext cx="7826375" cy="3397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 marR="81280" algn="ctr">
              <a:lnSpc>
                <a:spcPct val="150000"/>
              </a:lnSpc>
              <a:spcBef>
                <a:spcPts val="105"/>
              </a:spcBef>
            </a:pPr>
            <a:r>
              <a:rPr sz="2800" spc="-95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minimizing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fluctuations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day-</a:t>
            </a:r>
            <a:r>
              <a:rPr sz="2800" spc="-20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day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throughout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project.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60"/>
              </a:spcBef>
            </a:pPr>
            <a:endParaRPr sz="2800">
              <a:latin typeface="Calibri"/>
              <a:cs typeface="Calibri"/>
            </a:endParaRPr>
          </a:p>
          <a:p>
            <a:pPr marL="12065" marR="5080" algn="ctr">
              <a:lnSpc>
                <a:spcPct val="150100"/>
              </a:lnSpc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attempts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daily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certain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uniform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possible.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264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spc="-515" dirty="0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subcontractor</a:t>
            </a:r>
            <a:r>
              <a:rPr spc="-30" dirty="0"/>
              <a:t> </a:t>
            </a:r>
            <a:r>
              <a:rPr dirty="0"/>
              <a:t>needs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install</a:t>
            </a:r>
            <a:r>
              <a:rPr spc="-20" dirty="0"/>
              <a:t> </a:t>
            </a:r>
            <a:r>
              <a:rPr dirty="0"/>
              <a:t>flooring</a:t>
            </a:r>
            <a:r>
              <a:rPr spc="-1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spc="-10" dirty="0"/>
              <a:t>areas:</a:t>
            </a: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/>
              <a:t>Area</a:t>
            </a:r>
            <a:r>
              <a:rPr spc="-40" dirty="0"/>
              <a:t> </a:t>
            </a:r>
            <a:r>
              <a:rPr dirty="0"/>
              <a:t>1:</a:t>
            </a:r>
            <a:r>
              <a:rPr spc="-3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area</a:t>
            </a:r>
            <a:r>
              <a:rPr spc="-35" dirty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dirty="0"/>
              <a:t>old</a:t>
            </a:r>
            <a:r>
              <a:rPr spc="-30" dirty="0"/>
              <a:t> </a:t>
            </a:r>
            <a:r>
              <a:rPr dirty="0"/>
              <a:t>vinyl</a:t>
            </a:r>
            <a:r>
              <a:rPr spc="-35" dirty="0"/>
              <a:t> </a:t>
            </a:r>
            <a:r>
              <a:rPr dirty="0"/>
              <a:t>tile</a:t>
            </a:r>
            <a:r>
              <a:rPr spc="-25" dirty="0"/>
              <a:t> </a:t>
            </a:r>
            <a:r>
              <a:rPr dirty="0"/>
              <a:t>that</a:t>
            </a:r>
            <a:r>
              <a:rPr spc="-35" dirty="0"/>
              <a:t> </a:t>
            </a:r>
            <a:r>
              <a:rPr dirty="0"/>
              <a:t>must</a:t>
            </a:r>
            <a:r>
              <a:rPr spc="-35" dirty="0"/>
              <a:t> </a:t>
            </a:r>
            <a:r>
              <a:rPr dirty="0"/>
              <a:t>be</a:t>
            </a:r>
            <a:r>
              <a:rPr spc="-25" dirty="0"/>
              <a:t> </a:t>
            </a:r>
            <a:r>
              <a:rPr spc="-10" dirty="0"/>
              <a:t>removed</a:t>
            </a:r>
            <a:r>
              <a:rPr spc="-4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replaced</a:t>
            </a:r>
            <a:r>
              <a:rPr spc="-25" dirty="0"/>
              <a:t> </a:t>
            </a:r>
            <a:r>
              <a:rPr dirty="0"/>
              <a:t>with</a:t>
            </a:r>
            <a:r>
              <a:rPr spc="-20" dirty="0"/>
              <a:t> </a:t>
            </a:r>
            <a:r>
              <a:rPr spc="-25" dirty="0"/>
              <a:t>new</a:t>
            </a:r>
          </a:p>
          <a:p>
            <a:pPr marL="355600">
              <a:lnSpc>
                <a:spcPct val="100000"/>
              </a:lnSpc>
            </a:pPr>
            <a:r>
              <a:rPr dirty="0"/>
              <a:t>vinyl</a:t>
            </a:r>
            <a:r>
              <a:rPr spc="-70" dirty="0"/>
              <a:t> </a:t>
            </a:r>
            <a:r>
              <a:rPr spc="-20" dirty="0"/>
              <a:t>tile.</a:t>
            </a:r>
          </a:p>
          <a:p>
            <a:pPr marL="355600" marR="74295" indent="-343535">
              <a:lnSpc>
                <a:spcPct val="100000"/>
              </a:lnSpc>
              <a:spcBef>
                <a:spcPts val="430"/>
              </a:spcBef>
              <a:buFont typeface="Wingdings"/>
              <a:buChar char=""/>
              <a:tabLst>
                <a:tab pos="355600" algn="l"/>
              </a:tabLst>
            </a:pPr>
            <a:r>
              <a:rPr dirty="0"/>
              <a:t>Area</a:t>
            </a:r>
            <a:r>
              <a:rPr spc="-35" dirty="0"/>
              <a:t> </a:t>
            </a:r>
            <a:r>
              <a:rPr dirty="0"/>
              <a:t>2:</a:t>
            </a:r>
            <a:r>
              <a:rPr spc="-30" dirty="0"/>
              <a:t> </a:t>
            </a:r>
            <a:r>
              <a:rPr dirty="0"/>
              <a:t>This</a:t>
            </a:r>
            <a:r>
              <a:rPr spc="-45" dirty="0"/>
              <a:t> </a:t>
            </a:r>
            <a:r>
              <a:rPr dirty="0"/>
              <a:t>area</a:t>
            </a:r>
            <a:r>
              <a:rPr spc="-35" dirty="0"/>
              <a:t> </a:t>
            </a:r>
            <a:r>
              <a:rPr dirty="0"/>
              <a:t>has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10" dirty="0"/>
              <a:t>concrete</a:t>
            </a:r>
            <a:r>
              <a:rPr spc="-5" dirty="0"/>
              <a:t> </a:t>
            </a:r>
            <a:r>
              <a:rPr dirty="0"/>
              <a:t>slab</a:t>
            </a:r>
            <a:r>
              <a:rPr spc="-4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needs</a:t>
            </a:r>
            <a:r>
              <a:rPr spc="-3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topped</a:t>
            </a:r>
            <a:r>
              <a:rPr spc="-1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ceramic</a:t>
            </a:r>
            <a:r>
              <a:rPr spc="-25" dirty="0"/>
              <a:t> </a:t>
            </a:r>
            <a:r>
              <a:rPr spc="-10" dirty="0"/>
              <a:t>tile. </a:t>
            </a:r>
            <a:r>
              <a:rPr dirty="0"/>
              <a:t>This</a:t>
            </a:r>
            <a:r>
              <a:rPr spc="-50" dirty="0"/>
              <a:t> </a:t>
            </a:r>
            <a:r>
              <a:rPr dirty="0"/>
              <a:t>simple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broken</a:t>
            </a:r>
            <a:r>
              <a:rPr spc="-50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activities</a:t>
            </a:r>
            <a:r>
              <a:rPr spc="-35" dirty="0"/>
              <a:t> </a:t>
            </a:r>
            <a:r>
              <a:rPr dirty="0"/>
              <a:t>shown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following </a:t>
            </a:r>
            <a:r>
              <a:rPr spc="-10" dirty="0"/>
              <a:t>table,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38833" y="5497779"/>
            <a:ext cx="23888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*Immediately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Preceding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Activity.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636" y="3284982"/>
            <a:ext cx="630555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264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spc="-515" dirty="0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pc="-10" dirty="0"/>
              <a:t>Steps,</a:t>
            </a: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355600" algn="l"/>
              </a:tabLst>
            </a:pPr>
            <a:r>
              <a:rPr dirty="0"/>
              <a:t>Draw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precedence</a:t>
            </a:r>
            <a:r>
              <a:rPr spc="-35" dirty="0"/>
              <a:t> </a:t>
            </a:r>
            <a:r>
              <a:rPr dirty="0"/>
              <a:t>network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perform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CPM</a:t>
            </a:r>
            <a:r>
              <a:rPr spc="-45" dirty="0"/>
              <a:t> </a:t>
            </a:r>
            <a:r>
              <a:rPr spc="-10" dirty="0"/>
              <a:t>calculations.</a:t>
            </a:r>
          </a:p>
          <a:p>
            <a:pPr marL="355600" marR="5080" indent="-3435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355600" algn="l"/>
              </a:tabLst>
            </a:pPr>
            <a:r>
              <a:rPr dirty="0"/>
              <a:t>Allocate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required</a:t>
            </a:r>
            <a:r>
              <a:rPr spc="-25" dirty="0"/>
              <a:t> </a:t>
            </a:r>
            <a:r>
              <a:rPr spc="-10" dirty="0"/>
              <a:t>resources,</a:t>
            </a:r>
            <a:r>
              <a:rPr spc="-50" dirty="0"/>
              <a:t> </a:t>
            </a:r>
            <a:r>
              <a:rPr dirty="0"/>
              <a:t>then</a:t>
            </a:r>
            <a:r>
              <a:rPr spc="-35" dirty="0"/>
              <a:t> </a:t>
            </a:r>
            <a:r>
              <a:rPr dirty="0"/>
              <a:t>level</a:t>
            </a:r>
            <a:r>
              <a:rPr spc="-40" dirty="0"/>
              <a:t> </a:t>
            </a:r>
            <a:r>
              <a:rPr dirty="0"/>
              <a:t>them</a:t>
            </a:r>
            <a:r>
              <a:rPr spc="-45" dirty="0"/>
              <a:t> </a:t>
            </a:r>
            <a:r>
              <a:rPr dirty="0"/>
              <a:t>so</a:t>
            </a:r>
            <a:r>
              <a:rPr spc="-50" dirty="0"/>
              <a:t> </a:t>
            </a:r>
            <a:r>
              <a:rPr dirty="0"/>
              <a:t>that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subcontractor</a:t>
            </a:r>
            <a:r>
              <a:rPr spc="-50" dirty="0"/>
              <a:t> </a:t>
            </a:r>
            <a:r>
              <a:rPr spc="-20" dirty="0"/>
              <a:t>does </a:t>
            </a:r>
            <a:r>
              <a:rPr dirty="0"/>
              <a:t>not</a:t>
            </a:r>
            <a:r>
              <a:rPr spc="-25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dirty="0"/>
              <a:t>more</a:t>
            </a:r>
            <a:r>
              <a:rPr spc="-30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dirty="0"/>
              <a:t>six</a:t>
            </a:r>
            <a:r>
              <a:rPr spc="-45" dirty="0"/>
              <a:t> </a:t>
            </a:r>
            <a:r>
              <a:rPr spc="-10" dirty="0"/>
              <a:t>laborers</a:t>
            </a:r>
            <a:r>
              <a:rPr spc="-15" dirty="0"/>
              <a:t> </a:t>
            </a:r>
            <a:r>
              <a:rPr dirty="0"/>
              <a:t>at</a:t>
            </a:r>
            <a:r>
              <a:rPr spc="-35" dirty="0"/>
              <a:t> </a:t>
            </a:r>
            <a:r>
              <a:rPr dirty="0"/>
              <a:t>any</a:t>
            </a:r>
            <a:r>
              <a:rPr spc="-30" dirty="0"/>
              <a:t> </a:t>
            </a:r>
            <a:r>
              <a:rPr spc="-10" dirty="0"/>
              <a:t>time.</a:t>
            </a: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355600" algn="l"/>
              </a:tabLst>
            </a:pPr>
            <a:r>
              <a:rPr dirty="0"/>
              <a:t>Find</a:t>
            </a:r>
            <a:r>
              <a:rPr spc="-35" dirty="0"/>
              <a:t> </a:t>
            </a:r>
            <a:r>
              <a:rPr dirty="0"/>
              <a:t>ways</a:t>
            </a:r>
            <a:r>
              <a:rPr spc="-45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spc="-10" dirty="0"/>
              <a:t>improve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labor</a:t>
            </a:r>
            <a:r>
              <a:rPr spc="-40" dirty="0"/>
              <a:t> </a:t>
            </a:r>
            <a:r>
              <a:rPr dirty="0"/>
              <a:t>usage</a:t>
            </a:r>
            <a:r>
              <a:rPr spc="-45" dirty="0"/>
              <a:t> </a:t>
            </a:r>
            <a:r>
              <a:rPr spc="-10" dirty="0"/>
              <a:t>profile.</a:t>
            </a: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b="1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sake</a:t>
            </a:r>
            <a:r>
              <a:rPr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FF0000"/>
                </a:solidFill>
                <a:latin typeface="Calibri"/>
                <a:cs typeface="Calibri"/>
              </a:rPr>
              <a:t>simplicity,</a:t>
            </a:r>
            <a:r>
              <a:rPr b="1" i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assume</a:t>
            </a:r>
            <a:r>
              <a:rPr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b="1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laborer</a:t>
            </a:r>
            <a:r>
              <a:rPr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b="1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perform</a:t>
            </a:r>
            <a:r>
              <a:rPr b="1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b="1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i="1" spc="-10" dirty="0">
                <a:solidFill>
                  <a:srgbClr val="FF0000"/>
                </a:solidFill>
                <a:latin typeface="Calibri"/>
                <a:cs typeface="Calibri"/>
              </a:rPr>
              <a:t>task.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600" y="3276511"/>
            <a:ext cx="5832602" cy="33141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28484" y="6469481"/>
            <a:ext cx="1459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(PS: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start)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264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spc="-515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37" y="1196721"/>
            <a:ext cx="3096387" cy="17594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3694" y="3140964"/>
            <a:ext cx="6477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539" rIns="0" bIns="0" rtlCol="0">
            <a:spAutoFit/>
          </a:bodyPr>
          <a:lstStyle/>
          <a:p>
            <a:pPr marL="264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spc="-515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451" y="1196721"/>
            <a:ext cx="5905500" cy="3181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6419" y="4667199"/>
            <a:ext cx="72224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note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days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subcontractor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SEVEN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LABORERS,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limit.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spc="-51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50138"/>
            <a:ext cx="78574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Contractor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65" dirty="0">
                <a:latin typeface="Calibri"/>
                <a:cs typeface="Calibri"/>
              </a:rPr>
              <a:t>DAYS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FLOAT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activity </a:t>
            </a:r>
            <a:r>
              <a:rPr sz="2400" spc="-50" dirty="0">
                <a:latin typeface="Calibri"/>
                <a:cs typeface="Calibri"/>
              </a:rPr>
              <a:t>C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27452" y="3717029"/>
            <a:ext cx="6837680" cy="3056255"/>
            <a:chOff x="2227452" y="3717029"/>
            <a:chExt cx="6837680" cy="3056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7452" y="3717029"/>
              <a:ext cx="6837680" cy="305625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91532" y="3861054"/>
              <a:ext cx="936625" cy="936625"/>
            </a:xfrm>
            <a:custGeom>
              <a:avLst/>
              <a:gdLst/>
              <a:ahLst/>
              <a:cxnLst/>
              <a:rect l="l" t="t" r="r" b="b"/>
              <a:pathLst>
                <a:path w="936625" h="936625">
                  <a:moveTo>
                    <a:pt x="0" y="467995"/>
                  </a:moveTo>
                  <a:lnTo>
                    <a:pt x="2416" y="420148"/>
                  </a:lnTo>
                  <a:lnTo>
                    <a:pt x="9509" y="373683"/>
                  </a:lnTo>
                  <a:lnTo>
                    <a:pt x="21042" y="328835"/>
                  </a:lnTo>
                  <a:lnTo>
                    <a:pt x="36782" y="285839"/>
                  </a:lnTo>
                  <a:lnTo>
                    <a:pt x="56492" y="244930"/>
                  </a:lnTo>
                  <a:lnTo>
                    <a:pt x="79938" y="206343"/>
                  </a:lnTo>
                  <a:lnTo>
                    <a:pt x="106884" y="170315"/>
                  </a:lnTo>
                  <a:lnTo>
                    <a:pt x="137096" y="137080"/>
                  </a:lnTo>
                  <a:lnTo>
                    <a:pt x="170338" y="106874"/>
                  </a:lnTo>
                  <a:lnTo>
                    <a:pt x="206375" y="79931"/>
                  </a:lnTo>
                  <a:lnTo>
                    <a:pt x="244971" y="56488"/>
                  </a:lnTo>
                  <a:lnTo>
                    <a:pt x="285892" y="36780"/>
                  </a:lnTo>
                  <a:lnTo>
                    <a:pt x="328903" y="21041"/>
                  </a:lnTo>
                  <a:lnTo>
                    <a:pt x="373768" y="9508"/>
                  </a:lnTo>
                  <a:lnTo>
                    <a:pt x="420253" y="2416"/>
                  </a:lnTo>
                  <a:lnTo>
                    <a:pt x="468121" y="0"/>
                  </a:lnTo>
                  <a:lnTo>
                    <a:pt x="515968" y="2416"/>
                  </a:lnTo>
                  <a:lnTo>
                    <a:pt x="562433" y="9508"/>
                  </a:lnTo>
                  <a:lnTo>
                    <a:pt x="607281" y="21041"/>
                  </a:lnTo>
                  <a:lnTo>
                    <a:pt x="650277" y="36780"/>
                  </a:lnTo>
                  <a:lnTo>
                    <a:pt x="691186" y="56488"/>
                  </a:lnTo>
                  <a:lnTo>
                    <a:pt x="729773" y="79931"/>
                  </a:lnTo>
                  <a:lnTo>
                    <a:pt x="765801" y="106874"/>
                  </a:lnTo>
                  <a:lnTo>
                    <a:pt x="799036" y="137080"/>
                  </a:lnTo>
                  <a:lnTo>
                    <a:pt x="829242" y="170315"/>
                  </a:lnTo>
                  <a:lnTo>
                    <a:pt x="856185" y="206343"/>
                  </a:lnTo>
                  <a:lnTo>
                    <a:pt x="879628" y="244930"/>
                  </a:lnTo>
                  <a:lnTo>
                    <a:pt x="899336" y="285839"/>
                  </a:lnTo>
                  <a:lnTo>
                    <a:pt x="915075" y="328835"/>
                  </a:lnTo>
                  <a:lnTo>
                    <a:pt x="926608" y="373683"/>
                  </a:lnTo>
                  <a:lnTo>
                    <a:pt x="933700" y="420148"/>
                  </a:lnTo>
                  <a:lnTo>
                    <a:pt x="936116" y="467995"/>
                  </a:lnTo>
                  <a:lnTo>
                    <a:pt x="933700" y="515863"/>
                  </a:lnTo>
                  <a:lnTo>
                    <a:pt x="926608" y="562348"/>
                  </a:lnTo>
                  <a:lnTo>
                    <a:pt x="915075" y="607213"/>
                  </a:lnTo>
                  <a:lnTo>
                    <a:pt x="899336" y="650224"/>
                  </a:lnTo>
                  <a:lnTo>
                    <a:pt x="879628" y="691145"/>
                  </a:lnTo>
                  <a:lnTo>
                    <a:pt x="856185" y="729742"/>
                  </a:lnTo>
                  <a:lnTo>
                    <a:pt x="829242" y="765778"/>
                  </a:lnTo>
                  <a:lnTo>
                    <a:pt x="799036" y="799020"/>
                  </a:lnTo>
                  <a:lnTo>
                    <a:pt x="765801" y="829232"/>
                  </a:lnTo>
                  <a:lnTo>
                    <a:pt x="729773" y="856178"/>
                  </a:lnTo>
                  <a:lnTo>
                    <a:pt x="691186" y="879624"/>
                  </a:lnTo>
                  <a:lnTo>
                    <a:pt x="650277" y="899334"/>
                  </a:lnTo>
                  <a:lnTo>
                    <a:pt x="607281" y="915074"/>
                  </a:lnTo>
                  <a:lnTo>
                    <a:pt x="562433" y="926607"/>
                  </a:lnTo>
                  <a:lnTo>
                    <a:pt x="515968" y="933700"/>
                  </a:lnTo>
                  <a:lnTo>
                    <a:pt x="468121" y="936117"/>
                  </a:lnTo>
                  <a:lnTo>
                    <a:pt x="420253" y="933700"/>
                  </a:lnTo>
                  <a:lnTo>
                    <a:pt x="373768" y="926607"/>
                  </a:lnTo>
                  <a:lnTo>
                    <a:pt x="328903" y="915074"/>
                  </a:lnTo>
                  <a:lnTo>
                    <a:pt x="285892" y="899334"/>
                  </a:lnTo>
                  <a:lnTo>
                    <a:pt x="244971" y="879624"/>
                  </a:lnTo>
                  <a:lnTo>
                    <a:pt x="206375" y="856178"/>
                  </a:lnTo>
                  <a:lnTo>
                    <a:pt x="170338" y="829232"/>
                  </a:lnTo>
                  <a:lnTo>
                    <a:pt x="137096" y="799020"/>
                  </a:lnTo>
                  <a:lnTo>
                    <a:pt x="106884" y="765778"/>
                  </a:lnTo>
                  <a:lnTo>
                    <a:pt x="79938" y="729742"/>
                  </a:lnTo>
                  <a:lnTo>
                    <a:pt x="56492" y="691145"/>
                  </a:lnTo>
                  <a:lnTo>
                    <a:pt x="36782" y="650224"/>
                  </a:lnTo>
                  <a:lnTo>
                    <a:pt x="21042" y="607213"/>
                  </a:lnTo>
                  <a:lnTo>
                    <a:pt x="9509" y="562348"/>
                  </a:lnTo>
                  <a:lnTo>
                    <a:pt x="2416" y="515863"/>
                  </a:lnTo>
                  <a:lnTo>
                    <a:pt x="0" y="46799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4202" y="1328038"/>
            <a:ext cx="3801745" cy="2172970"/>
            <a:chOff x="554202" y="1328038"/>
            <a:chExt cx="3801745" cy="21729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202" y="1340738"/>
              <a:ext cx="3801745" cy="21602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99766" y="1340738"/>
              <a:ext cx="648335" cy="720090"/>
            </a:xfrm>
            <a:custGeom>
              <a:avLst/>
              <a:gdLst/>
              <a:ahLst/>
              <a:cxnLst/>
              <a:rect l="l" t="t" r="r" b="b"/>
              <a:pathLst>
                <a:path w="648335" h="720089">
                  <a:moveTo>
                    <a:pt x="0" y="360045"/>
                  </a:moveTo>
                  <a:lnTo>
                    <a:pt x="2959" y="311181"/>
                  </a:lnTo>
                  <a:lnTo>
                    <a:pt x="11581" y="264318"/>
                  </a:lnTo>
                  <a:lnTo>
                    <a:pt x="25477" y="219884"/>
                  </a:lnTo>
                  <a:lnTo>
                    <a:pt x="44261" y="178307"/>
                  </a:lnTo>
                  <a:lnTo>
                    <a:pt x="67547" y="140017"/>
                  </a:lnTo>
                  <a:lnTo>
                    <a:pt x="94948" y="105441"/>
                  </a:lnTo>
                  <a:lnTo>
                    <a:pt x="126076" y="75009"/>
                  </a:lnTo>
                  <a:lnTo>
                    <a:pt x="160546" y="49148"/>
                  </a:lnTo>
                  <a:lnTo>
                    <a:pt x="197971" y="28289"/>
                  </a:lnTo>
                  <a:lnTo>
                    <a:pt x="237963" y="12858"/>
                  </a:lnTo>
                  <a:lnTo>
                    <a:pt x="280136" y="3286"/>
                  </a:lnTo>
                  <a:lnTo>
                    <a:pt x="324103" y="0"/>
                  </a:lnTo>
                  <a:lnTo>
                    <a:pt x="368069" y="3286"/>
                  </a:lnTo>
                  <a:lnTo>
                    <a:pt x="410235" y="12858"/>
                  </a:lnTo>
                  <a:lnTo>
                    <a:pt x="450216" y="28289"/>
                  </a:lnTo>
                  <a:lnTo>
                    <a:pt x="487628" y="49149"/>
                  </a:lnTo>
                  <a:lnTo>
                    <a:pt x="522083" y="75009"/>
                  </a:lnTo>
                  <a:lnTo>
                    <a:pt x="553196" y="105441"/>
                  </a:lnTo>
                  <a:lnTo>
                    <a:pt x="580581" y="140017"/>
                  </a:lnTo>
                  <a:lnTo>
                    <a:pt x="603852" y="178308"/>
                  </a:lnTo>
                  <a:lnTo>
                    <a:pt x="622623" y="219884"/>
                  </a:lnTo>
                  <a:lnTo>
                    <a:pt x="636509" y="264318"/>
                  </a:lnTo>
                  <a:lnTo>
                    <a:pt x="645123" y="311181"/>
                  </a:lnTo>
                  <a:lnTo>
                    <a:pt x="648081" y="360045"/>
                  </a:lnTo>
                  <a:lnTo>
                    <a:pt x="645123" y="408908"/>
                  </a:lnTo>
                  <a:lnTo>
                    <a:pt x="636509" y="455771"/>
                  </a:lnTo>
                  <a:lnTo>
                    <a:pt x="622623" y="500205"/>
                  </a:lnTo>
                  <a:lnTo>
                    <a:pt x="603852" y="541781"/>
                  </a:lnTo>
                  <a:lnTo>
                    <a:pt x="580581" y="580072"/>
                  </a:lnTo>
                  <a:lnTo>
                    <a:pt x="553196" y="614648"/>
                  </a:lnTo>
                  <a:lnTo>
                    <a:pt x="522083" y="645080"/>
                  </a:lnTo>
                  <a:lnTo>
                    <a:pt x="487628" y="670940"/>
                  </a:lnTo>
                  <a:lnTo>
                    <a:pt x="450216" y="691800"/>
                  </a:lnTo>
                  <a:lnTo>
                    <a:pt x="410235" y="707231"/>
                  </a:lnTo>
                  <a:lnTo>
                    <a:pt x="368069" y="716803"/>
                  </a:lnTo>
                  <a:lnTo>
                    <a:pt x="324103" y="720089"/>
                  </a:lnTo>
                  <a:lnTo>
                    <a:pt x="280136" y="716803"/>
                  </a:lnTo>
                  <a:lnTo>
                    <a:pt x="237963" y="707231"/>
                  </a:lnTo>
                  <a:lnTo>
                    <a:pt x="197971" y="691800"/>
                  </a:lnTo>
                  <a:lnTo>
                    <a:pt x="160546" y="670940"/>
                  </a:lnTo>
                  <a:lnTo>
                    <a:pt x="126076" y="645080"/>
                  </a:lnTo>
                  <a:lnTo>
                    <a:pt x="94948" y="614648"/>
                  </a:lnTo>
                  <a:lnTo>
                    <a:pt x="67547" y="580072"/>
                  </a:lnTo>
                  <a:lnTo>
                    <a:pt x="44261" y="541782"/>
                  </a:lnTo>
                  <a:lnTo>
                    <a:pt x="25477" y="500205"/>
                  </a:lnTo>
                  <a:lnTo>
                    <a:pt x="11581" y="455771"/>
                  </a:lnTo>
                  <a:lnTo>
                    <a:pt x="2959" y="408908"/>
                  </a:lnTo>
                  <a:lnTo>
                    <a:pt x="0" y="36004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453" rIns="0" bIns="0" rtlCol="0">
            <a:spAutoFit/>
          </a:bodyPr>
          <a:lstStyle/>
          <a:p>
            <a:pPr marL="26416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5" dirty="0"/>
              <a:t> </a:t>
            </a:r>
            <a:r>
              <a:rPr spc="-515" dirty="0"/>
              <a:t>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7550" y="804798"/>
            <a:ext cx="7429500" cy="5640070"/>
            <a:chOff x="467550" y="804798"/>
            <a:chExt cx="7429500" cy="56400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550" y="804798"/>
              <a:ext cx="3776726" cy="16880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2759" y="4149077"/>
              <a:ext cx="6134099" cy="22955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4340" y="2204846"/>
              <a:ext cx="3652519" cy="19676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453" rIns="0" bIns="0" rtlCol="0">
            <a:spAutoFit/>
          </a:bodyPr>
          <a:lstStyle/>
          <a:p>
            <a:pPr marL="28321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Exercise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089" y="1800388"/>
            <a:ext cx="8444219" cy="3504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382</Words>
  <Application>Microsoft Office PowerPoint</Application>
  <PresentationFormat>On-screen Show (4:3)</PresentationFormat>
  <Paragraphs>45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LECTURE 10</vt:lpstr>
      <vt:lpstr>The Three Categories Of Resources</vt:lpstr>
      <vt:lpstr>The Three Categories Of Resources</vt:lpstr>
      <vt:lpstr>The Three Categories Of Resources</vt:lpstr>
      <vt:lpstr>What Is Resource Allocation?</vt:lpstr>
      <vt:lpstr>What Is Resource Smoothing?</vt:lpstr>
      <vt:lpstr>Example 2</vt:lpstr>
      <vt:lpstr>Example 2</vt:lpstr>
      <vt:lpstr>Example 2</vt:lpstr>
      <vt:lpstr>Example 2</vt:lpstr>
      <vt:lpstr>Example 2</vt:lpstr>
      <vt:lpstr>Example 2</vt:lpstr>
      <vt:lpstr>Exercise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haadia</cp:lastModifiedBy>
  <cp:revision>3</cp:revision>
  <dcterms:created xsi:type="dcterms:W3CDTF">2025-11-02T11:31:44Z</dcterms:created>
  <dcterms:modified xsi:type="dcterms:W3CDTF">2025-11-07T09:17:30Z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2015-01-09T00:00:00Z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2025-11-02T00:00:00Z</vt:filetime>
  </property>
  <property fmtid="{D5CDD505-2E9C-101B-9397-08002B2CF9AE}" pid="5" name="Producer">
    <vt:lpwstr>Microsoft® PowerPoint® 2010</vt:lpwstr>
  </property>
</Properties>
</file>