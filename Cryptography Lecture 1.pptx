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01" r:id="rId11"/>
    <p:sldId id="302" r:id="rId12"/>
    <p:sldId id="303" r:id="rId13"/>
    <p:sldId id="304" r:id="rId14"/>
    <p:sldId id="265" r:id="rId15"/>
    <p:sldId id="266" r:id="rId16"/>
    <p:sldId id="267" r:id="rId17"/>
    <p:sldId id="305" r:id="rId18"/>
    <p:sldId id="297" r:id="rId19"/>
    <p:sldId id="298" r:id="rId20"/>
    <p:sldId id="299" r:id="rId21"/>
    <p:sldId id="300" r:id="rId22"/>
    <p:sldId id="268" r:id="rId23"/>
    <p:sldId id="269" r:id="rId24"/>
    <p:sldId id="270" r:id="rId25"/>
    <p:sldId id="271" r:id="rId26"/>
    <p:sldId id="306" r:id="rId27"/>
    <p:sldId id="272" r:id="rId28"/>
    <p:sldId id="273" r:id="rId29"/>
    <p:sldId id="274" r:id="rId30"/>
    <p:sldId id="314" r:id="rId31"/>
    <p:sldId id="276" r:id="rId32"/>
    <p:sldId id="315" r:id="rId33"/>
    <p:sldId id="316" r:id="rId34"/>
    <p:sldId id="317" r:id="rId35"/>
    <p:sldId id="318" r:id="rId36"/>
    <p:sldId id="279" r:id="rId37"/>
    <p:sldId id="309" r:id="rId38"/>
    <p:sldId id="307" r:id="rId39"/>
    <p:sldId id="280" r:id="rId40"/>
    <p:sldId id="308" r:id="rId41"/>
    <p:sldId id="310" r:id="rId42"/>
    <p:sldId id="282" r:id="rId43"/>
    <p:sldId id="283" r:id="rId44"/>
    <p:sldId id="284" r:id="rId45"/>
    <p:sldId id="285" r:id="rId46"/>
    <p:sldId id="286" r:id="rId47"/>
    <p:sldId id="287" r:id="rId48"/>
    <p:sldId id="311" r:id="rId49"/>
    <p:sldId id="288" r:id="rId50"/>
    <p:sldId id="312" r:id="rId51"/>
    <p:sldId id="289" r:id="rId52"/>
    <p:sldId id="290" r:id="rId53"/>
    <p:sldId id="291" r:id="rId54"/>
    <p:sldId id="313" r:id="rId55"/>
    <p:sldId id="292" r:id="rId56"/>
    <p:sldId id="293" r:id="rId57"/>
    <p:sldId id="294" r:id="rId58"/>
    <p:sldId id="295" r:id="rId59"/>
    <p:sldId id="296" r:id="rId60"/>
  </p:sldIdLst>
  <p:sldSz cx="9144000" cy="6858000" type="screen4x3"/>
  <p:notesSz cx="9144000" cy="6858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6496" autoAdjust="0"/>
  </p:normalViewPr>
  <p:slideViewPr>
    <p:cSldViewPr>
      <p:cViewPr varScale="1">
        <p:scale>
          <a:sx n="63" d="100"/>
          <a:sy n="63" d="100"/>
        </p:scale>
        <p:origin x="159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4B412C-64CF-4C4F-AAAE-40FA14706267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D03E1-E496-4206-8D33-EFA9A9B69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04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05AAA-F672-49BA-ADAA-FCC427AB46C5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778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resulting </a:t>
            </a:r>
            <a:r>
              <a:rPr lang="en-US" dirty="0" err="1" smtClean="0"/>
              <a:t>ciphertext</a:t>
            </a:r>
            <a:r>
              <a:rPr lang="en-US" dirty="0" smtClean="0"/>
              <a:t> will be impossible to decrypt or break if the following four conditions are </a:t>
            </a:r>
            <a:r>
              <a:rPr lang="en-US" smtClean="0"/>
              <a:t>met:</a:t>
            </a:r>
            <a:endParaRPr lang="en-US" dirty="0" smtClean="0"/>
          </a:p>
          <a:p>
            <a:r>
              <a:rPr lang="en-US" smtClean="0"/>
              <a:t>The </a:t>
            </a:r>
            <a:r>
              <a:rPr lang="en-US" dirty="0" smtClean="0"/>
              <a:t>key must be at least as long as the plaintext.</a:t>
            </a:r>
          </a:p>
          <a:p>
            <a:r>
              <a:rPr lang="en-US" dirty="0" smtClean="0"/>
              <a:t>The key must be truly random.</a:t>
            </a:r>
          </a:p>
          <a:p>
            <a:r>
              <a:rPr lang="en-US" dirty="0" smtClean="0"/>
              <a:t>The key must never be reused in whole or in part.</a:t>
            </a:r>
          </a:p>
          <a:p>
            <a:r>
              <a:rPr lang="en-US" dirty="0" smtClean="0"/>
              <a:t>The key must be kept completely secret by the communicating parties.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7D03E1-E496-4206-8D33-EFA9A9B69F3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71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575" y="5715000"/>
            <a:ext cx="549275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274700" y="0"/>
                </a:moveTo>
                <a:lnTo>
                  <a:pt x="225309" y="4424"/>
                </a:lnTo>
                <a:lnTo>
                  <a:pt x="178828" y="17182"/>
                </a:lnTo>
                <a:lnTo>
                  <a:pt x="136031" y="37496"/>
                </a:lnTo>
                <a:lnTo>
                  <a:pt x="97693" y="64591"/>
                </a:lnTo>
                <a:lnTo>
                  <a:pt x="64589" y="97692"/>
                </a:lnTo>
                <a:lnTo>
                  <a:pt x="37493" y="136023"/>
                </a:lnTo>
                <a:lnTo>
                  <a:pt x="17180" y="178808"/>
                </a:lnTo>
                <a:lnTo>
                  <a:pt x="4424" y="225271"/>
                </a:lnTo>
                <a:lnTo>
                  <a:pt x="0" y="274637"/>
                </a:lnTo>
                <a:lnTo>
                  <a:pt x="4424" y="324003"/>
                </a:lnTo>
                <a:lnTo>
                  <a:pt x="17180" y="370466"/>
                </a:lnTo>
                <a:lnTo>
                  <a:pt x="37493" y="413251"/>
                </a:lnTo>
                <a:lnTo>
                  <a:pt x="64589" y="451582"/>
                </a:lnTo>
                <a:lnTo>
                  <a:pt x="97693" y="484683"/>
                </a:lnTo>
                <a:lnTo>
                  <a:pt x="136031" y="511778"/>
                </a:lnTo>
                <a:lnTo>
                  <a:pt x="178828" y="532092"/>
                </a:lnTo>
                <a:lnTo>
                  <a:pt x="225309" y="544850"/>
                </a:lnTo>
                <a:lnTo>
                  <a:pt x="274700" y="549275"/>
                </a:lnTo>
                <a:lnTo>
                  <a:pt x="324054" y="544850"/>
                </a:lnTo>
                <a:lnTo>
                  <a:pt x="370506" y="532092"/>
                </a:lnTo>
                <a:lnTo>
                  <a:pt x="413281" y="511778"/>
                </a:lnTo>
                <a:lnTo>
                  <a:pt x="451603" y="484683"/>
                </a:lnTo>
                <a:lnTo>
                  <a:pt x="484696" y="451582"/>
                </a:lnTo>
                <a:lnTo>
                  <a:pt x="511786" y="413251"/>
                </a:lnTo>
                <a:lnTo>
                  <a:pt x="532096" y="370466"/>
                </a:lnTo>
                <a:lnTo>
                  <a:pt x="544851" y="324003"/>
                </a:lnTo>
                <a:lnTo>
                  <a:pt x="549275" y="274637"/>
                </a:lnTo>
                <a:lnTo>
                  <a:pt x="544851" y="225271"/>
                </a:lnTo>
                <a:lnTo>
                  <a:pt x="532096" y="178808"/>
                </a:lnTo>
                <a:lnTo>
                  <a:pt x="511786" y="136023"/>
                </a:lnTo>
                <a:lnTo>
                  <a:pt x="484696" y="97692"/>
                </a:lnTo>
                <a:lnTo>
                  <a:pt x="451603" y="64591"/>
                </a:lnTo>
                <a:lnTo>
                  <a:pt x="413281" y="37496"/>
                </a:lnTo>
                <a:lnTo>
                  <a:pt x="370506" y="17182"/>
                </a:lnTo>
                <a:lnTo>
                  <a:pt x="324054" y="4424"/>
                </a:lnTo>
                <a:lnTo>
                  <a:pt x="27470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40" y="164084"/>
            <a:ext cx="451294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628978"/>
            <a:ext cx="8072119" cy="3944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0"/>
            <a:ext cx="444500" cy="6858000"/>
          </a:xfrm>
          <a:custGeom>
            <a:avLst/>
            <a:gdLst/>
            <a:ahLst/>
            <a:cxnLst/>
            <a:rect l="l" t="t" r="r" b="b"/>
            <a:pathLst>
              <a:path w="444500" h="6858000">
                <a:moveTo>
                  <a:pt x="0" y="6858000"/>
                </a:moveTo>
                <a:lnTo>
                  <a:pt x="444500" y="6858000"/>
                </a:lnTo>
                <a:lnTo>
                  <a:pt x="4445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82650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75" y="6858000"/>
                </a:lnTo>
                <a:lnTo>
                  <a:pt x="317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6225" y="0"/>
            <a:ext cx="104775" cy="6858000"/>
          </a:xfrm>
          <a:custGeom>
            <a:avLst/>
            <a:gdLst/>
            <a:ahLst/>
            <a:cxnLst/>
            <a:rect l="l" t="t" r="r" b="b"/>
            <a:pathLst>
              <a:path w="104775" h="6858000">
                <a:moveTo>
                  <a:pt x="104775" y="0"/>
                </a:moveTo>
                <a:lnTo>
                  <a:pt x="0" y="0"/>
                </a:lnTo>
                <a:lnTo>
                  <a:pt x="0" y="6858000"/>
                </a:lnTo>
                <a:lnTo>
                  <a:pt x="104775" y="6858000"/>
                </a:lnTo>
                <a:lnTo>
                  <a:pt x="104775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990600" y="0"/>
            <a:ext cx="381000" cy="6858000"/>
            <a:chOff x="990600" y="0"/>
            <a:chExt cx="381000" cy="6858000"/>
          </a:xfrm>
        </p:grpSpPr>
        <p:sp>
          <p:nvSpPr>
            <p:cNvPr id="7" name="object 7"/>
            <p:cNvSpPr/>
            <p:nvPr/>
          </p:nvSpPr>
          <p:spPr>
            <a:xfrm>
              <a:off x="990600" y="0"/>
              <a:ext cx="182880" cy="6858000"/>
            </a:xfrm>
            <a:custGeom>
              <a:avLst/>
              <a:gdLst/>
              <a:ahLst/>
              <a:cxnLst/>
              <a:rect l="l" t="t" r="r" b="b"/>
              <a:pathLst>
                <a:path w="182880" h="6858000">
                  <a:moveTo>
                    <a:pt x="18256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82562" y="6858000"/>
                  </a:lnTo>
                  <a:lnTo>
                    <a:pt x="182562" y="0"/>
                  </a:lnTo>
                  <a:close/>
                </a:path>
              </a:pathLst>
            </a:custGeom>
            <a:solidFill>
              <a:srgbClr val="FFD9CE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41412" y="0"/>
              <a:ext cx="230504" cy="6858000"/>
            </a:xfrm>
            <a:custGeom>
              <a:avLst/>
              <a:gdLst/>
              <a:ahLst/>
              <a:cxnLst/>
              <a:rect l="l" t="t" r="r" b="b"/>
              <a:pathLst>
                <a:path w="230505" h="6858000">
                  <a:moveTo>
                    <a:pt x="230187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30187" y="6858000"/>
                  </a:lnTo>
                  <a:lnTo>
                    <a:pt x="230187" y="0"/>
                  </a:lnTo>
                  <a:close/>
                </a:path>
              </a:pathLst>
            </a:custGeom>
            <a:solidFill>
              <a:srgbClr val="FFECE8">
                <a:alpha val="7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0636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825500" y="0"/>
            <a:ext cx="117475" cy="6858000"/>
            <a:chOff x="825500" y="0"/>
            <a:chExt cx="117475" cy="6858000"/>
          </a:xfrm>
        </p:grpSpPr>
        <p:sp>
          <p:nvSpPr>
            <p:cNvPr id="11" name="object 11"/>
            <p:cNvSpPr/>
            <p:nvPr/>
          </p:nvSpPr>
          <p:spPr>
            <a:xfrm>
              <a:off x="91440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57150">
              <a:solidFill>
                <a:srgbClr val="FFEC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4075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57150">
              <a:solidFill>
                <a:srgbClr val="FDC3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7272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085199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609600" y="0"/>
            <a:ext cx="1660525" cy="6858000"/>
            <a:chOff x="609600" y="0"/>
            <a:chExt cx="1660525" cy="6858000"/>
          </a:xfrm>
        </p:grpSpPr>
        <p:sp>
          <p:nvSpPr>
            <p:cNvPr id="17" name="object 17"/>
            <p:cNvSpPr/>
            <p:nvPr/>
          </p:nvSpPr>
          <p:spPr>
            <a:xfrm>
              <a:off x="1219200" y="0"/>
              <a:ext cx="76200" cy="6858000"/>
            </a:xfrm>
            <a:custGeom>
              <a:avLst/>
              <a:gdLst/>
              <a:ahLst/>
              <a:cxnLst/>
              <a:rect l="l" t="t" r="r" b="b"/>
              <a:pathLst>
                <a:path w="76200" h="6858000">
                  <a:moveTo>
                    <a:pt x="762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6200" y="68580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DC3AD">
                <a:alpha val="5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9600" y="3428999"/>
              <a:ext cx="1341755" cy="2079625"/>
            </a:xfrm>
            <a:custGeom>
              <a:avLst/>
              <a:gdLst/>
              <a:ahLst/>
              <a:cxnLst/>
              <a:rect l="l" t="t" r="r" b="b"/>
              <a:pathLst>
                <a:path w="1341755" h="2079625">
                  <a:moveTo>
                    <a:pt x="1295400" y="647700"/>
                  </a:moveTo>
                  <a:lnTo>
                    <a:pt x="1293622" y="599363"/>
                  </a:lnTo>
                  <a:lnTo>
                    <a:pt x="1288376" y="551980"/>
                  </a:lnTo>
                  <a:lnTo>
                    <a:pt x="1279779" y="505701"/>
                  </a:lnTo>
                  <a:lnTo>
                    <a:pt x="1267968" y="460629"/>
                  </a:lnTo>
                  <a:lnTo>
                    <a:pt x="1253070" y="416890"/>
                  </a:lnTo>
                  <a:lnTo>
                    <a:pt x="1235202" y="374637"/>
                  </a:lnTo>
                  <a:lnTo>
                    <a:pt x="1214488" y="333959"/>
                  </a:lnTo>
                  <a:lnTo>
                    <a:pt x="1191056" y="295008"/>
                  </a:lnTo>
                  <a:lnTo>
                    <a:pt x="1165034" y="257898"/>
                  </a:lnTo>
                  <a:lnTo>
                    <a:pt x="1136535" y="222745"/>
                  </a:lnTo>
                  <a:lnTo>
                    <a:pt x="1105700" y="189699"/>
                  </a:lnTo>
                  <a:lnTo>
                    <a:pt x="1072654" y="158864"/>
                  </a:lnTo>
                  <a:lnTo>
                    <a:pt x="1037501" y="130365"/>
                  </a:lnTo>
                  <a:lnTo>
                    <a:pt x="1000391" y="104343"/>
                  </a:lnTo>
                  <a:lnTo>
                    <a:pt x="961440" y="80911"/>
                  </a:lnTo>
                  <a:lnTo>
                    <a:pt x="920762" y="60198"/>
                  </a:lnTo>
                  <a:lnTo>
                    <a:pt x="878509" y="42329"/>
                  </a:lnTo>
                  <a:lnTo>
                    <a:pt x="834771" y="27432"/>
                  </a:lnTo>
                  <a:lnTo>
                    <a:pt x="789698" y="15621"/>
                  </a:lnTo>
                  <a:lnTo>
                    <a:pt x="743419" y="7023"/>
                  </a:lnTo>
                  <a:lnTo>
                    <a:pt x="696036" y="1778"/>
                  </a:lnTo>
                  <a:lnTo>
                    <a:pt x="647700" y="0"/>
                  </a:lnTo>
                  <a:lnTo>
                    <a:pt x="599351" y="1778"/>
                  </a:lnTo>
                  <a:lnTo>
                    <a:pt x="551980" y="7023"/>
                  </a:lnTo>
                  <a:lnTo>
                    <a:pt x="505701" y="15621"/>
                  </a:lnTo>
                  <a:lnTo>
                    <a:pt x="460629" y="27432"/>
                  </a:lnTo>
                  <a:lnTo>
                    <a:pt x="416902" y="42329"/>
                  </a:lnTo>
                  <a:lnTo>
                    <a:pt x="374637" y="60198"/>
                  </a:lnTo>
                  <a:lnTo>
                    <a:pt x="333971" y="80911"/>
                  </a:lnTo>
                  <a:lnTo>
                    <a:pt x="295008" y="104343"/>
                  </a:lnTo>
                  <a:lnTo>
                    <a:pt x="257898" y="130365"/>
                  </a:lnTo>
                  <a:lnTo>
                    <a:pt x="222758" y="158864"/>
                  </a:lnTo>
                  <a:lnTo>
                    <a:pt x="189699" y="189699"/>
                  </a:lnTo>
                  <a:lnTo>
                    <a:pt x="158864" y="222745"/>
                  </a:lnTo>
                  <a:lnTo>
                    <a:pt x="130365" y="257898"/>
                  </a:lnTo>
                  <a:lnTo>
                    <a:pt x="104343" y="295008"/>
                  </a:lnTo>
                  <a:lnTo>
                    <a:pt x="80911" y="333959"/>
                  </a:lnTo>
                  <a:lnTo>
                    <a:pt x="60185" y="374637"/>
                  </a:lnTo>
                  <a:lnTo>
                    <a:pt x="42316" y="416890"/>
                  </a:lnTo>
                  <a:lnTo>
                    <a:pt x="27419" y="460629"/>
                  </a:lnTo>
                  <a:lnTo>
                    <a:pt x="15608" y="505701"/>
                  </a:lnTo>
                  <a:lnTo>
                    <a:pt x="7010" y="551980"/>
                  </a:lnTo>
                  <a:lnTo>
                    <a:pt x="1765" y="599363"/>
                  </a:lnTo>
                  <a:lnTo>
                    <a:pt x="0" y="647700"/>
                  </a:lnTo>
                  <a:lnTo>
                    <a:pt x="1765" y="696048"/>
                  </a:lnTo>
                  <a:lnTo>
                    <a:pt x="7010" y="743432"/>
                  </a:lnTo>
                  <a:lnTo>
                    <a:pt x="15608" y="789711"/>
                  </a:lnTo>
                  <a:lnTo>
                    <a:pt x="27419" y="834783"/>
                  </a:lnTo>
                  <a:lnTo>
                    <a:pt x="42316" y="878522"/>
                  </a:lnTo>
                  <a:lnTo>
                    <a:pt x="60185" y="920775"/>
                  </a:lnTo>
                  <a:lnTo>
                    <a:pt x="80911" y="961453"/>
                  </a:lnTo>
                  <a:lnTo>
                    <a:pt x="104343" y="1000404"/>
                  </a:lnTo>
                  <a:lnTo>
                    <a:pt x="130365" y="1037513"/>
                  </a:lnTo>
                  <a:lnTo>
                    <a:pt x="158864" y="1072667"/>
                  </a:lnTo>
                  <a:lnTo>
                    <a:pt x="189699" y="1105712"/>
                  </a:lnTo>
                  <a:lnTo>
                    <a:pt x="222758" y="1136548"/>
                  </a:lnTo>
                  <a:lnTo>
                    <a:pt x="257898" y="1165047"/>
                  </a:lnTo>
                  <a:lnTo>
                    <a:pt x="295008" y="1191069"/>
                  </a:lnTo>
                  <a:lnTo>
                    <a:pt x="333971" y="1214501"/>
                  </a:lnTo>
                  <a:lnTo>
                    <a:pt x="374637" y="1235214"/>
                  </a:lnTo>
                  <a:lnTo>
                    <a:pt x="416902" y="1253083"/>
                  </a:lnTo>
                  <a:lnTo>
                    <a:pt x="460629" y="1267980"/>
                  </a:lnTo>
                  <a:lnTo>
                    <a:pt x="505701" y="1279791"/>
                  </a:lnTo>
                  <a:lnTo>
                    <a:pt x="551980" y="1288389"/>
                  </a:lnTo>
                  <a:lnTo>
                    <a:pt x="599351" y="1293634"/>
                  </a:lnTo>
                  <a:lnTo>
                    <a:pt x="647700" y="1295400"/>
                  </a:lnTo>
                  <a:lnTo>
                    <a:pt x="696036" y="1293634"/>
                  </a:lnTo>
                  <a:lnTo>
                    <a:pt x="743419" y="1288389"/>
                  </a:lnTo>
                  <a:lnTo>
                    <a:pt x="789698" y="1279791"/>
                  </a:lnTo>
                  <a:lnTo>
                    <a:pt x="834771" y="1267980"/>
                  </a:lnTo>
                  <a:lnTo>
                    <a:pt x="878509" y="1253083"/>
                  </a:lnTo>
                  <a:lnTo>
                    <a:pt x="920762" y="1235214"/>
                  </a:lnTo>
                  <a:lnTo>
                    <a:pt x="961440" y="1214501"/>
                  </a:lnTo>
                  <a:lnTo>
                    <a:pt x="1000391" y="1191069"/>
                  </a:lnTo>
                  <a:lnTo>
                    <a:pt x="1037501" y="1165047"/>
                  </a:lnTo>
                  <a:lnTo>
                    <a:pt x="1072654" y="1136548"/>
                  </a:lnTo>
                  <a:lnTo>
                    <a:pt x="1105700" y="1105712"/>
                  </a:lnTo>
                  <a:lnTo>
                    <a:pt x="1136535" y="1072667"/>
                  </a:lnTo>
                  <a:lnTo>
                    <a:pt x="1165034" y="1037513"/>
                  </a:lnTo>
                  <a:lnTo>
                    <a:pt x="1191056" y="1000404"/>
                  </a:lnTo>
                  <a:lnTo>
                    <a:pt x="1214488" y="961453"/>
                  </a:lnTo>
                  <a:lnTo>
                    <a:pt x="1235202" y="920775"/>
                  </a:lnTo>
                  <a:lnTo>
                    <a:pt x="1253070" y="878522"/>
                  </a:lnTo>
                  <a:lnTo>
                    <a:pt x="1267968" y="834783"/>
                  </a:lnTo>
                  <a:lnTo>
                    <a:pt x="1279779" y="789711"/>
                  </a:lnTo>
                  <a:lnTo>
                    <a:pt x="1288376" y="743432"/>
                  </a:lnTo>
                  <a:lnTo>
                    <a:pt x="1293622" y="696048"/>
                  </a:lnTo>
                  <a:lnTo>
                    <a:pt x="1295400" y="647700"/>
                  </a:lnTo>
                  <a:close/>
                </a:path>
                <a:path w="1341755" h="2079625">
                  <a:moveTo>
                    <a:pt x="1341501" y="1758950"/>
                  </a:moveTo>
                  <a:lnTo>
                    <a:pt x="1338021" y="1711553"/>
                  </a:lnTo>
                  <a:lnTo>
                    <a:pt x="1327912" y="1666316"/>
                  </a:lnTo>
                  <a:lnTo>
                    <a:pt x="1311681" y="1623745"/>
                  </a:lnTo>
                  <a:lnTo>
                    <a:pt x="1289812" y="1584312"/>
                  </a:lnTo>
                  <a:lnTo>
                    <a:pt x="1262811" y="1548549"/>
                  </a:lnTo>
                  <a:lnTo>
                    <a:pt x="1231176" y="1516913"/>
                  </a:lnTo>
                  <a:lnTo>
                    <a:pt x="1195400" y="1489925"/>
                  </a:lnTo>
                  <a:lnTo>
                    <a:pt x="1155979" y="1468081"/>
                  </a:lnTo>
                  <a:lnTo>
                    <a:pt x="1113409" y="1451851"/>
                  </a:lnTo>
                  <a:lnTo>
                    <a:pt x="1068197" y="1441754"/>
                  </a:lnTo>
                  <a:lnTo>
                    <a:pt x="1020826" y="1438275"/>
                  </a:lnTo>
                  <a:lnTo>
                    <a:pt x="973416" y="1441754"/>
                  </a:lnTo>
                  <a:lnTo>
                    <a:pt x="928179" y="1451851"/>
                  </a:lnTo>
                  <a:lnTo>
                    <a:pt x="885609" y="1468081"/>
                  </a:lnTo>
                  <a:lnTo>
                    <a:pt x="846175" y="1489925"/>
                  </a:lnTo>
                  <a:lnTo>
                    <a:pt x="810412" y="1516913"/>
                  </a:lnTo>
                  <a:lnTo>
                    <a:pt x="778776" y="1548549"/>
                  </a:lnTo>
                  <a:lnTo>
                    <a:pt x="751789" y="1584312"/>
                  </a:lnTo>
                  <a:lnTo>
                    <a:pt x="729945" y="1623745"/>
                  </a:lnTo>
                  <a:lnTo>
                    <a:pt x="713714" y="1666316"/>
                  </a:lnTo>
                  <a:lnTo>
                    <a:pt x="703618" y="1711553"/>
                  </a:lnTo>
                  <a:lnTo>
                    <a:pt x="700151" y="1758950"/>
                  </a:lnTo>
                  <a:lnTo>
                    <a:pt x="703618" y="1806359"/>
                  </a:lnTo>
                  <a:lnTo>
                    <a:pt x="713714" y="1851596"/>
                  </a:lnTo>
                  <a:lnTo>
                    <a:pt x="729945" y="1894166"/>
                  </a:lnTo>
                  <a:lnTo>
                    <a:pt x="751789" y="1933600"/>
                  </a:lnTo>
                  <a:lnTo>
                    <a:pt x="778776" y="1969363"/>
                  </a:lnTo>
                  <a:lnTo>
                    <a:pt x="810412" y="2000999"/>
                  </a:lnTo>
                  <a:lnTo>
                    <a:pt x="846175" y="2027986"/>
                  </a:lnTo>
                  <a:lnTo>
                    <a:pt x="885609" y="2049830"/>
                  </a:lnTo>
                  <a:lnTo>
                    <a:pt x="928179" y="2066061"/>
                  </a:lnTo>
                  <a:lnTo>
                    <a:pt x="973416" y="2076157"/>
                  </a:lnTo>
                  <a:lnTo>
                    <a:pt x="1020826" y="2079625"/>
                  </a:lnTo>
                  <a:lnTo>
                    <a:pt x="1068197" y="2076157"/>
                  </a:lnTo>
                  <a:lnTo>
                    <a:pt x="1113409" y="2066061"/>
                  </a:lnTo>
                  <a:lnTo>
                    <a:pt x="1155979" y="2049830"/>
                  </a:lnTo>
                  <a:lnTo>
                    <a:pt x="1195400" y="2027986"/>
                  </a:lnTo>
                  <a:lnTo>
                    <a:pt x="1231176" y="2000999"/>
                  </a:lnTo>
                  <a:lnTo>
                    <a:pt x="1262811" y="1969363"/>
                  </a:lnTo>
                  <a:lnTo>
                    <a:pt x="1289812" y="1933600"/>
                  </a:lnTo>
                  <a:lnTo>
                    <a:pt x="1311681" y="1894166"/>
                  </a:lnTo>
                  <a:lnTo>
                    <a:pt x="1327912" y="1851596"/>
                  </a:lnTo>
                  <a:lnTo>
                    <a:pt x="1338021" y="1806359"/>
                  </a:lnTo>
                  <a:lnTo>
                    <a:pt x="1341501" y="175895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0612" y="5500750"/>
              <a:ext cx="138112" cy="13646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663700" y="4495799"/>
              <a:ext cx="606425" cy="1567180"/>
            </a:xfrm>
            <a:custGeom>
              <a:avLst/>
              <a:gdLst/>
              <a:ahLst/>
              <a:cxnLst/>
              <a:rect l="l" t="t" r="r" b="b"/>
              <a:pathLst>
                <a:path w="606425" h="1567179">
                  <a:moveTo>
                    <a:pt x="274701" y="1429537"/>
                  </a:moveTo>
                  <a:lnTo>
                    <a:pt x="267677" y="1386141"/>
                  </a:lnTo>
                  <a:lnTo>
                    <a:pt x="248158" y="1348447"/>
                  </a:lnTo>
                  <a:lnTo>
                    <a:pt x="218401" y="1318729"/>
                  </a:lnTo>
                  <a:lnTo>
                    <a:pt x="180682" y="1299235"/>
                  </a:lnTo>
                  <a:lnTo>
                    <a:pt x="137287" y="1292225"/>
                  </a:lnTo>
                  <a:lnTo>
                    <a:pt x="93891" y="1299235"/>
                  </a:lnTo>
                  <a:lnTo>
                    <a:pt x="56197" y="1318729"/>
                  </a:lnTo>
                  <a:lnTo>
                    <a:pt x="26479" y="1348447"/>
                  </a:lnTo>
                  <a:lnTo>
                    <a:pt x="6997" y="1386141"/>
                  </a:lnTo>
                  <a:lnTo>
                    <a:pt x="0" y="1429537"/>
                  </a:lnTo>
                  <a:lnTo>
                    <a:pt x="6997" y="1472946"/>
                  </a:lnTo>
                  <a:lnTo>
                    <a:pt x="26479" y="1510652"/>
                  </a:lnTo>
                  <a:lnTo>
                    <a:pt x="56197" y="1540370"/>
                  </a:lnTo>
                  <a:lnTo>
                    <a:pt x="93891" y="1559864"/>
                  </a:lnTo>
                  <a:lnTo>
                    <a:pt x="137287" y="1566862"/>
                  </a:lnTo>
                  <a:lnTo>
                    <a:pt x="180682" y="1559864"/>
                  </a:lnTo>
                  <a:lnTo>
                    <a:pt x="218401" y="1540370"/>
                  </a:lnTo>
                  <a:lnTo>
                    <a:pt x="248158" y="1510652"/>
                  </a:lnTo>
                  <a:lnTo>
                    <a:pt x="267677" y="1472946"/>
                  </a:lnTo>
                  <a:lnTo>
                    <a:pt x="274701" y="1429537"/>
                  </a:lnTo>
                  <a:close/>
                </a:path>
                <a:path w="606425" h="1567179">
                  <a:moveTo>
                    <a:pt x="606425" y="182499"/>
                  </a:moveTo>
                  <a:lnTo>
                    <a:pt x="599897" y="134023"/>
                  </a:lnTo>
                  <a:lnTo>
                    <a:pt x="581482" y="90424"/>
                  </a:lnTo>
                  <a:lnTo>
                    <a:pt x="552932" y="53492"/>
                  </a:lnTo>
                  <a:lnTo>
                    <a:pt x="516001" y="24942"/>
                  </a:lnTo>
                  <a:lnTo>
                    <a:pt x="472401" y="6527"/>
                  </a:lnTo>
                  <a:lnTo>
                    <a:pt x="423926" y="0"/>
                  </a:lnTo>
                  <a:lnTo>
                    <a:pt x="375373" y="6527"/>
                  </a:lnTo>
                  <a:lnTo>
                    <a:pt x="331749" y="24942"/>
                  </a:lnTo>
                  <a:lnTo>
                    <a:pt x="294792" y="53492"/>
                  </a:lnTo>
                  <a:lnTo>
                    <a:pt x="266230" y="90424"/>
                  </a:lnTo>
                  <a:lnTo>
                    <a:pt x="247815" y="134023"/>
                  </a:lnTo>
                  <a:lnTo>
                    <a:pt x="241300" y="182499"/>
                  </a:lnTo>
                  <a:lnTo>
                    <a:pt x="247815" y="231051"/>
                  </a:lnTo>
                  <a:lnTo>
                    <a:pt x="266230" y="274675"/>
                  </a:lnTo>
                  <a:lnTo>
                    <a:pt x="294792" y="311632"/>
                  </a:lnTo>
                  <a:lnTo>
                    <a:pt x="331749" y="340194"/>
                  </a:lnTo>
                  <a:lnTo>
                    <a:pt x="375373" y="358609"/>
                  </a:lnTo>
                  <a:lnTo>
                    <a:pt x="423926" y="365125"/>
                  </a:lnTo>
                  <a:lnTo>
                    <a:pt x="472401" y="358609"/>
                  </a:lnTo>
                  <a:lnTo>
                    <a:pt x="516001" y="340194"/>
                  </a:lnTo>
                  <a:lnTo>
                    <a:pt x="552932" y="311632"/>
                  </a:lnTo>
                  <a:lnTo>
                    <a:pt x="581482" y="274675"/>
                  </a:lnTo>
                  <a:lnTo>
                    <a:pt x="599897" y="231051"/>
                  </a:lnTo>
                  <a:lnTo>
                    <a:pt x="606425" y="182499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617470" y="1715846"/>
            <a:ext cx="490093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  <a:tabLst>
                <a:tab pos="1448435" algn="l"/>
                <a:tab pos="2682875" algn="l"/>
                <a:tab pos="4418965" algn="l"/>
              </a:tabLst>
            </a:pPr>
            <a:r>
              <a:rPr sz="3600" b="1" spc="434" dirty="0">
                <a:latin typeface="Cambria"/>
                <a:cs typeface="Cambria"/>
              </a:rPr>
              <a:t>C</a:t>
            </a:r>
            <a:r>
              <a:rPr sz="2850" b="1" spc="434" dirty="0">
                <a:latin typeface="Cambria"/>
                <a:cs typeface="Cambria"/>
              </a:rPr>
              <a:t>RYPTOGRAPHY </a:t>
            </a:r>
            <a:r>
              <a:rPr lang="en-US" sz="3600" b="1" spc="440" dirty="0"/>
              <a:t>Lecture</a:t>
            </a:r>
            <a:r>
              <a:rPr lang="en-US" sz="3600" b="1" spc="-65" dirty="0"/>
              <a:t>1</a:t>
            </a:r>
            <a:endParaRPr sz="3600" dirty="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28284" y="3763136"/>
            <a:ext cx="282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20" dirty="0">
                <a:solidFill>
                  <a:srgbClr val="565F6C"/>
                </a:solidFill>
                <a:latin typeface="Cambria"/>
                <a:cs typeface="Cambria"/>
              </a:rPr>
              <a:t>By:</a:t>
            </a:r>
            <a:r>
              <a:rPr sz="1800" b="1" spc="10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1800" b="1" spc="135" dirty="0">
                <a:solidFill>
                  <a:srgbClr val="565F6C"/>
                </a:solidFill>
                <a:latin typeface="Cambria"/>
                <a:cs typeface="Cambria"/>
              </a:rPr>
              <a:t>Dr.</a:t>
            </a:r>
            <a:r>
              <a:rPr sz="1800" b="1" spc="10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lang="en-US" sz="1800" b="1" spc="140" dirty="0">
                <a:solidFill>
                  <a:srgbClr val="565F6C"/>
                </a:solidFill>
                <a:latin typeface="Cambria"/>
                <a:cs typeface="Cambria"/>
              </a:rPr>
              <a:t>M. Umar Aftab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66902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65" dirty="0"/>
              <a:t>K</a:t>
            </a:r>
            <a:r>
              <a:rPr spc="365" dirty="0"/>
              <a:t>EY</a:t>
            </a:r>
            <a:r>
              <a:rPr spc="280" dirty="0"/>
              <a:t> </a:t>
            </a:r>
            <a:r>
              <a:rPr sz="3000" spc="290" dirty="0"/>
              <a:t>T</a:t>
            </a:r>
            <a:r>
              <a:rPr spc="290" dirty="0"/>
              <a:t>ERMINOLOGIES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231140" y="1553358"/>
            <a:ext cx="8133715" cy="36080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b="1" spc="125" dirty="0">
                <a:latin typeface="Cambria"/>
                <a:cs typeface="Cambria"/>
              </a:rPr>
              <a:t>plaintext</a:t>
            </a:r>
            <a:r>
              <a:rPr sz="2000" b="1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original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message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b="1" spc="125" dirty="0">
                <a:latin typeface="Cambria"/>
                <a:cs typeface="Cambria"/>
              </a:rPr>
              <a:t>ciphertext</a:t>
            </a:r>
            <a:r>
              <a:rPr sz="2000" b="1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coded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message</a:t>
            </a:r>
            <a:endParaRPr sz="2000">
              <a:latin typeface="Cambria"/>
              <a:cs typeface="Cambria"/>
            </a:endParaRPr>
          </a:p>
          <a:p>
            <a:pPr marL="285115" marR="19367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b="1" spc="135" dirty="0">
                <a:latin typeface="Cambria"/>
                <a:cs typeface="Cambria"/>
              </a:rPr>
              <a:t>key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information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used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in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encryption/decryption,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and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known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only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sender/receiver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b="1" spc="125" dirty="0">
                <a:latin typeface="Cambria"/>
                <a:cs typeface="Cambria"/>
              </a:rPr>
              <a:t>encipher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95" dirty="0">
                <a:latin typeface="Cambria"/>
                <a:cs typeface="Cambria"/>
              </a:rPr>
              <a:t>(encrypt)</a:t>
            </a:r>
            <a:r>
              <a:rPr sz="2000" b="1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converting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plaintext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to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ciphertext </a:t>
            </a:r>
            <a:r>
              <a:rPr sz="2000" spc="90" dirty="0">
                <a:latin typeface="Cambria"/>
                <a:cs typeface="Cambria"/>
              </a:rPr>
              <a:t>using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key</a:t>
            </a:r>
            <a:endParaRPr sz="2000">
              <a:latin typeface="Cambria"/>
              <a:cs typeface="Cambria"/>
            </a:endParaRPr>
          </a:p>
          <a:p>
            <a:pPr marL="285115" marR="18923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b="1" spc="125" dirty="0">
                <a:latin typeface="Cambria"/>
                <a:cs typeface="Cambria"/>
              </a:rPr>
              <a:t>decipher</a:t>
            </a:r>
            <a:r>
              <a:rPr sz="2000" b="1" spc="140" dirty="0">
                <a:latin typeface="Cambria"/>
                <a:cs typeface="Cambria"/>
              </a:rPr>
              <a:t> </a:t>
            </a:r>
            <a:r>
              <a:rPr sz="2000" b="1" spc="90" dirty="0">
                <a:latin typeface="Cambria"/>
                <a:cs typeface="Cambria"/>
              </a:rPr>
              <a:t>(decrypt)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recovering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ciphertext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from</a:t>
            </a:r>
            <a:r>
              <a:rPr sz="2000" spc="85" dirty="0">
                <a:latin typeface="Cambria"/>
                <a:cs typeface="Cambria"/>
              </a:rPr>
              <a:t> plaintext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using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key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b="1" spc="140" dirty="0">
                <a:latin typeface="Cambria"/>
                <a:cs typeface="Cambria"/>
              </a:rPr>
              <a:t>cryptography</a:t>
            </a:r>
            <a:r>
              <a:rPr sz="2000" b="1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study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encryption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principles/methods/designs</a:t>
            </a:r>
            <a:endParaRPr sz="2000">
              <a:latin typeface="Cambria"/>
              <a:cs typeface="Cambria"/>
            </a:endParaRPr>
          </a:p>
          <a:p>
            <a:pPr marL="285115" marR="99441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b="1" spc="125" dirty="0">
                <a:latin typeface="Cambria"/>
                <a:cs typeface="Cambria"/>
              </a:rPr>
              <a:t>cryptanalysis</a:t>
            </a:r>
            <a:r>
              <a:rPr sz="2000" b="1" spc="114" dirty="0">
                <a:latin typeface="Cambria"/>
                <a:cs typeface="Cambria"/>
              </a:rPr>
              <a:t> </a:t>
            </a:r>
            <a:r>
              <a:rPr sz="2000" b="1" spc="85" dirty="0">
                <a:latin typeface="Cambria"/>
                <a:cs typeface="Cambria"/>
              </a:rPr>
              <a:t>(code</a:t>
            </a:r>
            <a:r>
              <a:rPr sz="2000" b="1" spc="125" dirty="0">
                <a:latin typeface="Cambria"/>
                <a:cs typeface="Cambria"/>
              </a:rPr>
              <a:t> </a:t>
            </a:r>
            <a:r>
              <a:rPr sz="2000" b="1" spc="114" dirty="0">
                <a:latin typeface="Cambria"/>
                <a:cs typeface="Cambria"/>
              </a:rPr>
              <a:t>breaking)</a:t>
            </a:r>
            <a:r>
              <a:rPr sz="2000" b="1" spc="1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study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principles/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methods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deciphering</a:t>
            </a:r>
            <a:r>
              <a:rPr sz="2000" spc="65" dirty="0">
                <a:latin typeface="Cambria"/>
                <a:cs typeface="Cambria"/>
              </a:rPr>
              <a:t> ciphertext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C</a:t>
            </a:r>
            <a:r>
              <a:rPr spc="290" dirty="0"/>
              <a:t>RYPTOGRAPHIC</a:t>
            </a:r>
            <a:r>
              <a:rPr spc="265" dirty="0"/>
              <a:t> </a:t>
            </a:r>
            <a:r>
              <a:rPr sz="3000" spc="305" dirty="0"/>
              <a:t>S</a:t>
            </a:r>
            <a:r>
              <a:rPr spc="305" dirty="0"/>
              <a:t>YSTEMS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54939" y="638302"/>
            <a:ext cx="8254365" cy="5423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67335" algn="l"/>
              </a:tabLst>
            </a:pPr>
            <a:r>
              <a:rPr sz="1800" spc="85" dirty="0">
                <a:latin typeface="Cambria"/>
                <a:cs typeface="Cambria"/>
              </a:rPr>
              <a:t>The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b="1" spc="100" dirty="0">
                <a:solidFill>
                  <a:srgbClr val="FF0000"/>
                </a:solidFill>
                <a:latin typeface="Cambria"/>
                <a:cs typeface="Cambria"/>
              </a:rPr>
              <a:t>operations</a:t>
            </a:r>
            <a:r>
              <a:rPr sz="1800" b="1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used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in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transferring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plaintext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to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cipher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text: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ambria"/>
              <a:buAutoNum type="arabicPeriod"/>
            </a:pPr>
            <a:endParaRPr sz="2850">
              <a:latin typeface="Cambria"/>
              <a:cs typeface="Cambria"/>
            </a:endParaRPr>
          </a:p>
          <a:p>
            <a:pPr marL="927100" marR="725805" lvl="1" indent="63500">
              <a:lnSpc>
                <a:spcPct val="100600"/>
              </a:lnSpc>
              <a:buFont typeface="Cambria"/>
              <a:buChar char="•"/>
              <a:tabLst>
                <a:tab pos="1192530" algn="l"/>
              </a:tabLst>
            </a:pPr>
            <a:r>
              <a:rPr sz="1800" b="1" spc="114" dirty="0">
                <a:latin typeface="Cambria"/>
                <a:cs typeface="Cambria"/>
              </a:rPr>
              <a:t>Substitution:</a:t>
            </a:r>
            <a:r>
              <a:rPr sz="1800" b="1" spc="8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each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element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in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plaintext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is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mapped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into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another</a:t>
            </a:r>
            <a:r>
              <a:rPr sz="1800" spc="30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element</a:t>
            </a:r>
            <a:endParaRPr sz="1800">
              <a:latin typeface="Cambria"/>
              <a:cs typeface="Cambria"/>
            </a:endParaRPr>
          </a:p>
          <a:p>
            <a:pPr marL="1192530" lvl="1" indent="-201295">
              <a:lnSpc>
                <a:spcPts val="2150"/>
              </a:lnSpc>
              <a:buFont typeface="Cambria"/>
              <a:buChar char="•"/>
              <a:tabLst>
                <a:tab pos="1192530" algn="l"/>
              </a:tabLst>
            </a:pPr>
            <a:r>
              <a:rPr sz="1800" b="1" spc="100" dirty="0">
                <a:latin typeface="Cambria"/>
                <a:cs typeface="Cambria"/>
              </a:rPr>
              <a:t>Transposition:</a:t>
            </a:r>
            <a:r>
              <a:rPr sz="1800" b="1" spc="9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elements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in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plaintext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are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re-arranged.</a:t>
            </a:r>
            <a:endParaRPr sz="18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Cambria"/>
              <a:buChar char="•"/>
            </a:pPr>
            <a:endParaRPr sz="2350">
              <a:latin typeface="Cambria"/>
              <a:cs typeface="Cambria"/>
            </a:endParaRPr>
          </a:p>
          <a:p>
            <a:pPr marL="266700" indent="-25463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1800" spc="85" dirty="0">
                <a:latin typeface="Cambria"/>
                <a:cs typeface="Cambria"/>
              </a:rPr>
              <a:t>The </a:t>
            </a:r>
            <a:r>
              <a:rPr sz="1800" b="1" spc="114" dirty="0">
                <a:solidFill>
                  <a:srgbClr val="FF0000"/>
                </a:solidFill>
                <a:latin typeface="Cambria"/>
                <a:cs typeface="Cambria"/>
              </a:rPr>
              <a:t>number</a:t>
            </a:r>
            <a:r>
              <a:rPr sz="1800" b="1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9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800" b="1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105" dirty="0">
                <a:solidFill>
                  <a:srgbClr val="FF0000"/>
                </a:solidFill>
                <a:latin typeface="Cambria"/>
                <a:cs typeface="Cambria"/>
              </a:rPr>
              <a:t>keys</a:t>
            </a:r>
            <a:r>
              <a:rPr sz="1800" b="1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used: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Cambria"/>
              <a:buAutoNum type="arabicPeriod"/>
            </a:pPr>
            <a:endParaRPr sz="2300">
              <a:latin typeface="Cambria"/>
              <a:cs typeface="Cambria"/>
            </a:endParaRPr>
          </a:p>
          <a:p>
            <a:pPr marL="927100" marR="118110" lvl="1">
              <a:lnSpc>
                <a:spcPct val="100600"/>
              </a:lnSpc>
              <a:buFont typeface="Cambria"/>
              <a:buChar char="•"/>
              <a:tabLst>
                <a:tab pos="1129030" algn="l"/>
              </a:tabLst>
            </a:pPr>
            <a:r>
              <a:rPr sz="1800" b="1" spc="130" dirty="0">
                <a:latin typeface="Cambria"/>
                <a:cs typeface="Cambria"/>
              </a:rPr>
              <a:t>Symmetric </a:t>
            </a:r>
            <a:r>
              <a:rPr sz="1800" b="1" spc="80" dirty="0">
                <a:latin typeface="Cambria"/>
                <a:cs typeface="Cambria"/>
              </a:rPr>
              <a:t>(private-</a:t>
            </a:r>
            <a:r>
              <a:rPr sz="1800" b="1" spc="110" dirty="0">
                <a:latin typeface="Cambria"/>
                <a:cs typeface="Cambria"/>
              </a:rPr>
              <a:t> </a:t>
            </a:r>
            <a:r>
              <a:rPr sz="1800" b="1" spc="80" dirty="0">
                <a:latin typeface="Cambria"/>
                <a:cs typeface="Cambria"/>
              </a:rPr>
              <a:t>key)</a:t>
            </a:r>
            <a:r>
              <a:rPr sz="1800" b="1" spc="12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: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both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sender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receiver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use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same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key</a:t>
            </a:r>
            <a:endParaRPr sz="1800">
              <a:latin typeface="Cambria"/>
              <a:cs typeface="Cambria"/>
            </a:endParaRPr>
          </a:p>
          <a:p>
            <a:pPr marL="1128395" lvl="1" indent="-201930">
              <a:lnSpc>
                <a:spcPts val="2150"/>
              </a:lnSpc>
              <a:buFont typeface="Cambria"/>
              <a:buChar char="•"/>
              <a:tabLst>
                <a:tab pos="1129030" algn="l"/>
              </a:tabLst>
            </a:pPr>
            <a:r>
              <a:rPr sz="1800" b="1" spc="114" dirty="0">
                <a:latin typeface="Cambria"/>
                <a:cs typeface="Cambria"/>
              </a:rPr>
              <a:t>Asymmetric</a:t>
            </a:r>
            <a:r>
              <a:rPr sz="1800" b="1" spc="110" dirty="0">
                <a:latin typeface="Cambria"/>
                <a:cs typeface="Cambria"/>
              </a:rPr>
              <a:t> </a:t>
            </a:r>
            <a:r>
              <a:rPr sz="1800" b="1" spc="80" dirty="0">
                <a:latin typeface="Cambria"/>
                <a:cs typeface="Cambria"/>
              </a:rPr>
              <a:t>(public-key)</a:t>
            </a:r>
            <a:r>
              <a:rPr sz="1800" b="1" spc="13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: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sender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receiver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use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different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key</a:t>
            </a:r>
            <a:endParaRPr sz="18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Cambria"/>
              <a:buChar char="•"/>
            </a:pPr>
            <a:endParaRPr sz="2350">
              <a:latin typeface="Cambria"/>
              <a:cs typeface="Cambria"/>
            </a:endParaRPr>
          </a:p>
          <a:p>
            <a:pPr marL="266700" indent="-25463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1800" spc="70" dirty="0">
                <a:latin typeface="Cambria"/>
                <a:cs typeface="Cambria"/>
              </a:rPr>
              <a:t>How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plaintext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is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b="1" spc="95" dirty="0">
                <a:solidFill>
                  <a:srgbClr val="FF0000"/>
                </a:solidFill>
                <a:latin typeface="Cambria"/>
                <a:cs typeface="Cambria"/>
              </a:rPr>
              <a:t>processed</a:t>
            </a:r>
            <a:r>
              <a:rPr sz="1800" b="1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Cambria"/>
              <a:buAutoNum type="arabicPeriod"/>
            </a:pPr>
            <a:endParaRPr sz="2300">
              <a:latin typeface="Cambria"/>
              <a:cs typeface="Cambria"/>
            </a:endParaRPr>
          </a:p>
          <a:p>
            <a:pPr marL="927100" marR="5080" lvl="1">
              <a:lnSpc>
                <a:spcPct val="100600"/>
              </a:lnSpc>
              <a:buFont typeface="Cambria"/>
              <a:buChar char="•"/>
              <a:tabLst>
                <a:tab pos="1129030" algn="l"/>
              </a:tabLst>
            </a:pPr>
            <a:r>
              <a:rPr sz="1800" b="1" spc="130" dirty="0">
                <a:latin typeface="Cambria"/>
                <a:cs typeface="Cambria"/>
              </a:rPr>
              <a:t>Block</a:t>
            </a:r>
            <a:r>
              <a:rPr sz="1800" b="1" spc="125" dirty="0">
                <a:latin typeface="Cambria"/>
                <a:cs typeface="Cambria"/>
              </a:rPr>
              <a:t> </a:t>
            </a:r>
            <a:r>
              <a:rPr sz="1800" b="1" spc="114" dirty="0">
                <a:latin typeface="Cambria"/>
                <a:cs typeface="Cambria"/>
              </a:rPr>
              <a:t>cipher</a:t>
            </a:r>
            <a:r>
              <a:rPr sz="1800" b="1" spc="135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: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inputs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are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processed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one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30" dirty="0">
                <a:latin typeface="Cambria"/>
                <a:cs typeface="Cambria"/>
              </a:rPr>
              <a:t>block</a:t>
            </a:r>
            <a:r>
              <a:rPr sz="1800" spc="100" dirty="0">
                <a:latin typeface="Cambria"/>
                <a:cs typeface="Cambria"/>
              </a:rPr>
              <a:t> at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time,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producing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corresponding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output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block.</a:t>
            </a:r>
            <a:endParaRPr sz="1800">
              <a:latin typeface="Cambria"/>
              <a:cs typeface="Cambria"/>
            </a:endParaRPr>
          </a:p>
          <a:p>
            <a:pPr marL="1128395" lvl="1" indent="-201930">
              <a:lnSpc>
                <a:spcPts val="2150"/>
              </a:lnSpc>
              <a:buFont typeface="Cambria"/>
              <a:buChar char="•"/>
              <a:tabLst>
                <a:tab pos="1129030" algn="l"/>
              </a:tabLst>
            </a:pPr>
            <a:r>
              <a:rPr sz="1800" b="1" spc="140" dirty="0">
                <a:latin typeface="Cambria"/>
                <a:cs typeface="Cambria"/>
              </a:rPr>
              <a:t>Stream</a:t>
            </a:r>
            <a:r>
              <a:rPr sz="1800" b="1" spc="120" dirty="0">
                <a:latin typeface="Cambria"/>
                <a:cs typeface="Cambria"/>
              </a:rPr>
              <a:t> </a:t>
            </a:r>
            <a:r>
              <a:rPr sz="1800" b="1" spc="100" dirty="0">
                <a:latin typeface="Cambria"/>
                <a:cs typeface="Cambria"/>
              </a:rPr>
              <a:t>cipher</a:t>
            </a:r>
            <a:r>
              <a:rPr sz="1800" spc="100" dirty="0">
                <a:latin typeface="Cambria"/>
                <a:cs typeface="Cambria"/>
              </a:rPr>
              <a:t>: </a:t>
            </a:r>
            <a:r>
              <a:rPr sz="1800" spc="70" dirty="0">
                <a:latin typeface="Cambria"/>
                <a:cs typeface="Cambria"/>
              </a:rPr>
              <a:t>inputs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are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processed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continuously,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producing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one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10"/>
              </a:spcBef>
            </a:pPr>
            <a:r>
              <a:rPr sz="1800" spc="60" dirty="0">
                <a:latin typeface="Cambria"/>
                <a:cs typeface="Cambria"/>
              </a:rPr>
              <a:t>element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at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time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(bit,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byte)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62052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295" dirty="0"/>
              <a:t>R</a:t>
            </a:r>
            <a:r>
              <a:rPr spc="295" dirty="0"/>
              <a:t>EQUIREMENTS </a:t>
            </a:r>
            <a:r>
              <a:rPr spc="305" dirty="0"/>
              <a:t>OF </a:t>
            </a:r>
            <a:r>
              <a:rPr sz="3000" spc="290" dirty="0"/>
              <a:t>C</a:t>
            </a:r>
            <a:r>
              <a:rPr spc="290" dirty="0"/>
              <a:t>RYPTOGRAPHIC </a:t>
            </a:r>
            <a:r>
              <a:rPr spc="-515" dirty="0"/>
              <a:t> </a:t>
            </a:r>
            <a:r>
              <a:rPr sz="3000" spc="305" dirty="0"/>
              <a:t>S</a:t>
            </a:r>
            <a:r>
              <a:rPr spc="305" dirty="0"/>
              <a:t>YSTEM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433309" cy="3912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35" dirty="0">
                <a:latin typeface="Cambria"/>
                <a:cs typeface="Cambria"/>
              </a:rPr>
              <a:t>Two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requirements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secure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symmetric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55" dirty="0">
                <a:latin typeface="Cambria"/>
                <a:cs typeface="Cambria"/>
              </a:rPr>
              <a:t>encryption:</a:t>
            </a:r>
            <a:endParaRPr sz="2400">
              <a:latin typeface="Cambria"/>
              <a:cs typeface="Cambria"/>
            </a:endParaRPr>
          </a:p>
          <a:p>
            <a:pPr marL="624205" lvl="1" indent="-339725">
              <a:lnSpc>
                <a:spcPct val="100000"/>
              </a:lnSpc>
              <a:buAutoNum type="arabicPeriod"/>
              <a:tabLst>
                <a:tab pos="624840" algn="l"/>
              </a:tabLst>
            </a:pP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strong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encryption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algorithm</a:t>
            </a:r>
            <a:endParaRPr sz="2400">
              <a:latin typeface="Cambria"/>
              <a:cs typeface="Cambria"/>
            </a:endParaRPr>
          </a:p>
          <a:p>
            <a:pPr marL="624205" lvl="1" indent="-339725">
              <a:lnSpc>
                <a:spcPct val="100000"/>
              </a:lnSpc>
              <a:buAutoNum type="arabicPeriod"/>
              <a:tabLst>
                <a:tab pos="624840" algn="l"/>
              </a:tabLst>
            </a:pP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s</a:t>
            </a:r>
            <a:r>
              <a:rPr sz="2400" spc="50" dirty="0">
                <a:latin typeface="Cambria"/>
                <a:cs typeface="Cambria"/>
              </a:rPr>
              <a:t>ecret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key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known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only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" dirty="0">
                <a:latin typeface="Cambria"/>
                <a:cs typeface="Cambria"/>
              </a:rPr>
              <a:t>t</a:t>
            </a:r>
            <a:r>
              <a:rPr sz="2400" spc="25" dirty="0">
                <a:latin typeface="Cambria"/>
                <a:cs typeface="Cambria"/>
              </a:rPr>
              <a:t>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sender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509" dirty="0">
                <a:latin typeface="Cambria"/>
                <a:cs typeface="Cambria"/>
              </a:rPr>
              <a:t>/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receiver</a:t>
            </a:r>
            <a:endParaRPr sz="24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Cambria"/>
              <a:buAutoNum type="arabicPeriod"/>
            </a:pPr>
            <a:endParaRPr sz="29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i="1" spc="325" dirty="0">
                <a:latin typeface="Cambria"/>
                <a:cs typeface="Cambria"/>
              </a:rPr>
              <a:t>Y</a:t>
            </a:r>
            <a:r>
              <a:rPr sz="2400" i="1" spc="14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= </a:t>
            </a:r>
            <a:r>
              <a:rPr sz="2400" spc="340" dirty="0">
                <a:latin typeface="Cambria"/>
                <a:cs typeface="Cambria"/>
              </a:rPr>
              <a:t>E</a:t>
            </a:r>
            <a:r>
              <a:rPr sz="1100" b="1" spc="80" dirty="0">
                <a:latin typeface="Cambria"/>
                <a:cs typeface="Cambria"/>
              </a:rPr>
              <a:t>k</a:t>
            </a:r>
            <a:r>
              <a:rPr sz="2400" spc="-120" dirty="0">
                <a:latin typeface="Cambria"/>
                <a:cs typeface="Cambria"/>
              </a:rPr>
              <a:t>(</a:t>
            </a:r>
            <a:r>
              <a:rPr sz="2400" i="1" spc="380" dirty="0">
                <a:latin typeface="Cambria"/>
                <a:cs typeface="Cambria"/>
              </a:rPr>
              <a:t>X</a:t>
            </a:r>
            <a:r>
              <a:rPr sz="2400" spc="25" dirty="0">
                <a:latin typeface="Cambria"/>
                <a:cs typeface="Cambria"/>
              </a:rPr>
              <a:t>),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where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35" dirty="0">
                <a:latin typeface="Cambria"/>
                <a:cs typeface="Cambria"/>
              </a:rPr>
              <a:t>X</a:t>
            </a:r>
            <a:r>
              <a:rPr sz="2400" spc="110" dirty="0">
                <a:latin typeface="Cambria"/>
                <a:cs typeface="Cambria"/>
              </a:rPr>
              <a:t>: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</a:t>
            </a:r>
            <a:r>
              <a:rPr sz="2400" spc="100" dirty="0">
                <a:latin typeface="Cambria"/>
                <a:cs typeface="Cambria"/>
              </a:rPr>
              <a:t>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plaintext</a:t>
            </a:r>
            <a:r>
              <a:rPr sz="2400" spc="55" dirty="0">
                <a:latin typeface="Cambria"/>
                <a:cs typeface="Cambria"/>
              </a:rPr>
              <a:t>,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35" dirty="0">
                <a:latin typeface="Cambria"/>
                <a:cs typeface="Cambria"/>
              </a:rPr>
              <a:t>Y</a:t>
            </a:r>
            <a:r>
              <a:rPr sz="2400" spc="110" dirty="0">
                <a:latin typeface="Cambria"/>
                <a:cs typeface="Cambria"/>
              </a:rPr>
              <a:t>: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</a:t>
            </a:r>
            <a:r>
              <a:rPr sz="2400" spc="100" dirty="0">
                <a:latin typeface="Cambria"/>
                <a:cs typeface="Cambria"/>
              </a:rPr>
              <a:t>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cipher</a:t>
            </a:r>
            <a:r>
              <a:rPr sz="2400" spc="60" dirty="0">
                <a:latin typeface="Cambria"/>
                <a:cs typeface="Cambria"/>
              </a:rPr>
              <a:t>t</a:t>
            </a:r>
            <a:r>
              <a:rPr sz="2400" spc="90" dirty="0">
                <a:latin typeface="Cambria"/>
                <a:cs typeface="Cambria"/>
              </a:rPr>
              <a:t>ext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i="1" spc="380" dirty="0">
                <a:latin typeface="Cambria"/>
                <a:cs typeface="Cambria"/>
              </a:rPr>
              <a:t>X</a:t>
            </a:r>
            <a:r>
              <a:rPr sz="2400" i="1" spc="13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= </a:t>
            </a:r>
            <a:r>
              <a:rPr sz="2400" spc="280" dirty="0">
                <a:latin typeface="Cambria"/>
                <a:cs typeface="Cambria"/>
              </a:rPr>
              <a:t>D</a:t>
            </a:r>
            <a:r>
              <a:rPr sz="1100" b="1" spc="80" dirty="0">
                <a:latin typeface="Cambria"/>
                <a:cs typeface="Cambria"/>
              </a:rPr>
              <a:t>k</a:t>
            </a:r>
            <a:r>
              <a:rPr sz="2400" spc="-120" dirty="0">
                <a:latin typeface="Cambria"/>
                <a:cs typeface="Cambria"/>
              </a:rPr>
              <a:t>(</a:t>
            </a:r>
            <a:r>
              <a:rPr sz="2400" i="1" spc="320" dirty="0">
                <a:latin typeface="Cambria"/>
                <a:cs typeface="Cambria"/>
              </a:rPr>
              <a:t>Y</a:t>
            </a:r>
            <a:r>
              <a:rPr sz="2400" spc="-120" dirty="0">
                <a:latin typeface="Cambria"/>
                <a:cs typeface="Cambria"/>
              </a:rPr>
              <a:t>)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9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145" dirty="0">
                <a:latin typeface="Cambria"/>
                <a:cs typeface="Cambria"/>
              </a:rPr>
              <a:t>•assume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encryption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algorithm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known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parties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120" dirty="0">
                <a:latin typeface="Cambria"/>
                <a:cs typeface="Cambria"/>
              </a:rPr>
              <a:t>•implies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secure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channel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distribute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key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545033"/>
            <a:ext cx="650049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5" dirty="0"/>
              <a:t>C</a:t>
            </a:r>
            <a:r>
              <a:rPr spc="305" dirty="0"/>
              <a:t>LASSICAL</a:t>
            </a:r>
            <a:r>
              <a:rPr spc="320" dirty="0"/>
              <a:t> </a:t>
            </a:r>
            <a:r>
              <a:rPr sz="3000" spc="290" dirty="0"/>
              <a:t>E</a:t>
            </a:r>
            <a:r>
              <a:rPr spc="290" dirty="0"/>
              <a:t>NCRYPTION</a:t>
            </a:r>
            <a:r>
              <a:rPr spc="305" dirty="0"/>
              <a:t> </a:t>
            </a:r>
            <a:r>
              <a:rPr sz="3000" spc="315" dirty="0"/>
              <a:t>T</a:t>
            </a:r>
            <a:r>
              <a:rPr spc="315" dirty="0"/>
              <a:t>ECHNIQUES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880225" cy="2525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5" dirty="0">
                <a:latin typeface="Cambria"/>
                <a:cs typeface="Cambria"/>
              </a:rPr>
              <a:t>Classical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Ciphers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divided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into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two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main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55" dirty="0">
                <a:latin typeface="Cambria"/>
                <a:cs typeface="Cambria"/>
              </a:rPr>
              <a:t>categories: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45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8750"/>
              <a:buAutoNum type="arabicPeriod"/>
              <a:tabLst>
                <a:tab pos="469265" algn="l"/>
                <a:tab pos="469900" algn="l"/>
              </a:tabLst>
            </a:pPr>
            <a:r>
              <a:rPr sz="2400" spc="105" dirty="0">
                <a:latin typeface="Cambria"/>
                <a:cs typeface="Cambria"/>
              </a:rPr>
              <a:t>Substitution </a:t>
            </a:r>
            <a:r>
              <a:rPr sz="2400" spc="110" dirty="0">
                <a:latin typeface="Cambria"/>
                <a:cs typeface="Cambria"/>
              </a:rPr>
              <a:t>Ciphers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D8537"/>
              </a:buClr>
              <a:buFont typeface="Cambria"/>
              <a:buAutoNum type="arabicPeriod"/>
            </a:pPr>
            <a:endParaRPr sz="345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buClr>
                <a:srgbClr val="FD8537"/>
              </a:buClr>
              <a:buSzPct val="68750"/>
              <a:buAutoNum type="arabicPeriod"/>
              <a:tabLst>
                <a:tab pos="469265" algn="l"/>
                <a:tab pos="469900" algn="l"/>
              </a:tabLst>
            </a:pPr>
            <a:r>
              <a:rPr sz="2400" spc="75" dirty="0">
                <a:latin typeface="Cambria"/>
                <a:cs typeface="Cambria"/>
              </a:rPr>
              <a:t>Transposition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Cipher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87884"/>
            <a:ext cx="45332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10" dirty="0"/>
              <a:t>1.</a:t>
            </a:r>
            <a:r>
              <a:rPr sz="3000" spc="165" dirty="0"/>
              <a:t> </a:t>
            </a:r>
            <a:r>
              <a:rPr sz="3000" spc="270" dirty="0"/>
              <a:t>S</a:t>
            </a:r>
            <a:r>
              <a:rPr spc="270" dirty="0"/>
              <a:t>UBSTITUTION</a:t>
            </a:r>
            <a:r>
              <a:rPr spc="315" dirty="0"/>
              <a:t> </a:t>
            </a:r>
            <a:r>
              <a:rPr sz="3000" spc="305" dirty="0"/>
              <a:t>C</a:t>
            </a:r>
            <a:r>
              <a:rPr spc="305" dirty="0"/>
              <a:t>IPHERS</a:t>
            </a:r>
            <a:endParaRPr sz="300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BC277DD-C3E6-654B-A174-75AD8B5F7D12}"/>
              </a:ext>
            </a:extLst>
          </p:cNvPr>
          <p:cNvSpPr txBox="1"/>
          <p:nvPr/>
        </p:nvSpPr>
        <p:spPr>
          <a:xfrm>
            <a:off x="993444" y="715518"/>
            <a:ext cx="4390390" cy="3299621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Monoalphabetic</a:t>
            </a:r>
            <a:r>
              <a:rPr sz="2400" spc="105" dirty="0">
                <a:latin typeface="Cambria"/>
                <a:cs typeface="Cambria"/>
              </a:rPr>
              <a:t> 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105" dirty="0">
                <a:latin typeface="Cambria"/>
                <a:cs typeface="Cambria"/>
              </a:rPr>
              <a:t>Caesar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70" dirty="0">
                <a:latin typeface="Cambria"/>
                <a:cs typeface="Cambria"/>
              </a:rPr>
              <a:t>Affine</a:t>
            </a:r>
            <a:r>
              <a:rPr sz="2400" spc="85" dirty="0">
                <a:latin typeface="Cambria"/>
                <a:cs typeface="Cambria"/>
              </a:rPr>
              <a:t> Cipher</a:t>
            </a:r>
            <a:endParaRPr sz="24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DF752E"/>
              </a:buClr>
              <a:buFont typeface="Wingdings"/>
              <a:buChar char=""/>
            </a:pPr>
            <a:endParaRPr sz="24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Polyalphabetic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85" dirty="0">
                <a:latin typeface="Cambria"/>
                <a:cs typeface="Cambria"/>
              </a:rPr>
              <a:t>Playfair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114" dirty="0">
                <a:latin typeface="Cambria"/>
                <a:cs typeface="Cambria"/>
              </a:rPr>
              <a:t>Hill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65" dirty="0" err="1">
                <a:latin typeface="Cambria"/>
                <a:cs typeface="Cambria"/>
              </a:rPr>
              <a:t>Vigenere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240284"/>
            <a:ext cx="4746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10" dirty="0"/>
              <a:t>2.</a:t>
            </a:r>
            <a:r>
              <a:rPr sz="3000" spc="160" dirty="0"/>
              <a:t> </a:t>
            </a:r>
            <a:r>
              <a:rPr sz="3000" spc="254" dirty="0"/>
              <a:t>T</a:t>
            </a:r>
            <a:r>
              <a:rPr spc="254" dirty="0"/>
              <a:t>RANSPOSITION</a:t>
            </a:r>
            <a:r>
              <a:rPr spc="310" dirty="0"/>
              <a:t> </a:t>
            </a:r>
            <a:r>
              <a:rPr sz="3000" spc="305" dirty="0"/>
              <a:t>C</a:t>
            </a:r>
            <a:r>
              <a:rPr spc="305" dirty="0"/>
              <a:t>IPHERS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93444" y="1247902"/>
            <a:ext cx="5835015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5" dirty="0">
                <a:latin typeface="Cambria"/>
                <a:cs typeface="Cambria"/>
              </a:rPr>
              <a:t>Rail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95" dirty="0" err="1">
                <a:latin typeface="Cambria"/>
                <a:cs typeface="Cambria"/>
              </a:rPr>
              <a:t>Fenc</a:t>
            </a:r>
            <a:r>
              <a:rPr lang="en-GB" sz="2400" spc="95" dirty="0">
                <a:latin typeface="Cambria"/>
                <a:cs typeface="Cambria"/>
              </a:rPr>
              <a:t>e</a:t>
            </a:r>
            <a:endParaRPr lang="en-US" sz="2400" spc="95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lang="en-US" sz="2400" spc="95" dirty="0">
                <a:latin typeface="Cambria"/>
                <a:cs typeface="Cambria"/>
              </a:rPr>
              <a:t>Row Transposition</a:t>
            </a:r>
            <a:endParaRPr sz="345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75" dirty="0">
                <a:latin typeface="Cambria"/>
                <a:cs typeface="Cambria"/>
              </a:rPr>
              <a:t>Rotormachine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65758"/>
            <a:ext cx="50501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310" dirty="0"/>
              <a:t>M</a:t>
            </a:r>
            <a:r>
              <a:rPr sz="2550" spc="310" dirty="0"/>
              <a:t>ONOALPHABETIC</a:t>
            </a:r>
            <a:r>
              <a:rPr sz="2550" spc="320" dirty="0"/>
              <a:t> </a:t>
            </a:r>
            <a:r>
              <a:rPr sz="2550" spc="315" dirty="0"/>
              <a:t>CIPHERS</a:t>
            </a:r>
            <a:endParaRPr sz="255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98055" cy="2007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70" dirty="0">
                <a:latin typeface="Cambria"/>
                <a:cs typeface="Cambria"/>
              </a:rPr>
              <a:t>Replaces each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letter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in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message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with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another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single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letter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000" dirty="0">
                <a:latin typeface="Cambria"/>
                <a:cs typeface="Cambria"/>
              </a:rPr>
              <a:t>of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alphabet/symbol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regardless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its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position.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0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40" dirty="0">
                <a:latin typeface="Cambria"/>
                <a:cs typeface="Cambria"/>
              </a:rPr>
              <a:t>Our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examples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additive,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shift,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caesar,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and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000" spc="75" dirty="0">
                <a:latin typeface="Cambria"/>
                <a:cs typeface="Cambria"/>
              </a:rPr>
              <a:t>affine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ciphers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were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i="1" spc="75" dirty="0">
                <a:latin typeface="Cambria"/>
                <a:cs typeface="Cambria"/>
              </a:rPr>
              <a:t>monoalphabetic </a:t>
            </a:r>
            <a:r>
              <a:rPr sz="2000" spc="65" dirty="0">
                <a:latin typeface="Cambria"/>
                <a:cs typeface="Cambria"/>
              </a:rPr>
              <a:t>ciphers,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that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every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000" spc="65" dirty="0">
                <a:latin typeface="Cambria"/>
                <a:cs typeface="Cambria"/>
              </a:rPr>
              <a:t>letter</a:t>
            </a:r>
            <a:r>
              <a:rPr sz="2000" spc="70" dirty="0">
                <a:latin typeface="Cambria"/>
                <a:cs typeface="Cambria"/>
              </a:rPr>
              <a:t> was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replaced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by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same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letter</a:t>
            </a:r>
            <a:r>
              <a:rPr sz="2000" spc="70" dirty="0">
                <a:latin typeface="Cambria"/>
                <a:cs typeface="Cambria"/>
              </a:rPr>
              <a:t> each</a:t>
            </a:r>
            <a:r>
              <a:rPr sz="2000" spc="95" dirty="0">
                <a:latin typeface="Cambria"/>
                <a:cs typeface="Cambria"/>
              </a:rPr>
              <a:t> time.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20661" y="25400"/>
            <a:ext cx="16935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Times New Roman"/>
                <a:cs typeface="Times New Roman"/>
              </a:rPr>
              <a:t>Substitution</a:t>
            </a:r>
            <a:r>
              <a:rPr sz="1600" i="1" spc="-1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Ciphers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87884"/>
            <a:ext cx="45332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10" dirty="0"/>
              <a:t>1.</a:t>
            </a:r>
            <a:r>
              <a:rPr sz="3000" spc="165" dirty="0"/>
              <a:t> </a:t>
            </a:r>
            <a:r>
              <a:rPr sz="3000" spc="270" dirty="0"/>
              <a:t>S</a:t>
            </a:r>
            <a:r>
              <a:rPr spc="270" dirty="0"/>
              <a:t>UBSTITUTION</a:t>
            </a:r>
            <a:r>
              <a:rPr spc="315" dirty="0"/>
              <a:t> </a:t>
            </a:r>
            <a:r>
              <a:rPr sz="3000" spc="305" dirty="0"/>
              <a:t>C</a:t>
            </a:r>
            <a:r>
              <a:rPr spc="305" dirty="0"/>
              <a:t>IPHERS</a:t>
            </a:r>
            <a:endParaRPr sz="300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05B939B-7CE4-CF4B-AE24-88E8CDA7CFA3}"/>
              </a:ext>
            </a:extLst>
          </p:cNvPr>
          <p:cNvSpPr txBox="1"/>
          <p:nvPr/>
        </p:nvSpPr>
        <p:spPr>
          <a:xfrm>
            <a:off x="993444" y="715518"/>
            <a:ext cx="4390390" cy="3299621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Monoalphabetic</a:t>
            </a:r>
            <a:r>
              <a:rPr sz="2400" spc="105" dirty="0">
                <a:latin typeface="Cambria"/>
                <a:cs typeface="Cambria"/>
              </a:rPr>
              <a:t> 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105" dirty="0">
                <a:solidFill>
                  <a:srgbClr val="FF0000"/>
                </a:solidFill>
                <a:latin typeface="Cambria"/>
                <a:cs typeface="Cambria"/>
              </a:rPr>
              <a:t>Caesar</a:t>
            </a:r>
            <a:r>
              <a:rPr sz="2400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Cipher</a:t>
            </a:r>
            <a:endParaRPr sz="240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70" dirty="0">
                <a:latin typeface="Cambria"/>
                <a:cs typeface="Cambria"/>
              </a:rPr>
              <a:t>Affine</a:t>
            </a:r>
            <a:r>
              <a:rPr sz="2400" spc="85" dirty="0">
                <a:latin typeface="Cambria"/>
                <a:cs typeface="Cambria"/>
              </a:rPr>
              <a:t> Cipher</a:t>
            </a:r>
            <a:endParaRPr sz="24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DF752E"/>
              </a:buClr>
              <a:buFont typeface="Wingdings"/>
              <a:buChar char=""/>
            </a:pPr>
            <a:endParaRPr sz="24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Polyalphabetic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85" dirty="0">
                <a:latin typeface="Cambria"/>
                <a:cs typeface="Cambria"/>
              </a:rPr>
              <a:t>Playfair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114" dirty="0">
                <a:latin typeface="Cambria"/>
                <a:cs typeface="Cambria"/>
              </a:rPr>
              <a:t>Hill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65" dirty="0" err="1">
                <a:latin typeface="Cambria"/>
                <a:cs typeface="Cambria"/>
              </a:rPr>
              <a:t>Vigenere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914400"/>
            <a:ext cx="8115300" cy="4362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15152"/>
          <a:stretch/>
        </p:blipFill>
        <p:spPr>
          <a:xfrm>
            <a:off x="657225" y="914400"/>
            <a:ext cx="782955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1009650"/>
            <a:ext cx="6972300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" y="723900"/>
            <a:ext cx="8058150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552450"/>
            <a:ext cx="7305675" cy="48482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523811"/>
            <a:ext cx="4048931" cy="62801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50" y="971550"/>
            <a:ext cx="7200900" cy="4867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87884"/>
            <a:ext cx="45332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10" dirty="0"/>
              <a:t>1.</a:t>
            </a:r>
            <a:r>
              <a:rPr sz="3000" spc="165" dirty="0"/>
              <a:t> </a:t>
            </a:r>
            <a:r>
              <a:rPr sz="3000" spc="270" dirty="0"/>
              <a:t>S</a:t>
            </a:r>
            <a:r>
              <a:rPr spc="270" dirty="0"/>
              <a:t>UBSTITUTION</a:t>
            </a:r>
            <a:r>
              <a:rPr spc="315" dirty="0"/>
              <a:t> </a:t>
            </a:r>
            <a:r>
              <a:rPr sz="3000" spc="305" dirty="0"/>
              <a:t>C</a:t>
            </a:r>
            <a:r>
              <a:rPr spc="305" dirty="0"/>
              <a:t>IPHERS</a:t>
            </a:r>
            <a:endParaRPr sz="300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749480F-FA33-B846-AC57-EF235BA2069D}"/>
              </a:ext>
            </a:extLst>
          </p:cNvPr>
          <p:cNvSpPr txBox="1"/>
          <p:nvPr/>
        </p:nvSpPr>
        <p:spPr>
          <a:xfrm>
            <a:off x="993444" y="715518"/>
            <a:ext cx="4390390" cy="3299621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Monoalphabetic</a:t>
            </a:r>
            <a:r>
              <a:rPr sz="2400" spc="105" dirty="0">
                <a:latin typeface="Cambria"/>
                <a:cs typeface="Cambria"/>
              </a:rPr>
              <a:t> 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105" dirty="0">
                <a:latin typeface="Cambria"/>
                <a:cs typeface="Cambria"/>
              </a:rPr>
              <a:t>Caesar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Affine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 Cipher</a:t>
            </a:r>
            <a:endParaRPr sz="2400" dirty="0">
              <a:solidFill>
                <a:srgbClr val="FF0000"/>
              </a:solidFill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DF752E"/>
              </a:buClr>
              <a:buFont typeface="Wingdings"/>
              <a:buChar char=""/>
            </a:pPr>
            <a:endParaRPr sz="24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Polyalphabetic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85" dirty="0">
                <a:latin typeface="Cambria"/>
                <a:cs typeface="Cambria"/>
              </a:rPr>
              <a:t>Playfair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114" dirty="0">
                <a:latin typeface="Cambria"/>
                <a:cs typeface="Cambria"/>
              </a:rPr>
              <a:t>Hill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65" dirty="0" err="1">
                <a:latin typeface="Cambria"/>
                <a:cs typeface="Cambria"/>
              </a:rPr>
              <a:t>Vigenere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43335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6586AD-B0FA-014B-9797-A0B93DE32A90}"/>
              </a:ext>
            </a:extLst>
          </p:cNvPr>
          <p:cNvSpPr txBox="1"/>
          <p:nvPr/>
        </p:nvSpPr>
        <p:spPr>
          <a:xfrm>
            <a:off x="304801" y="494070"/>
            <a:ext cx="8153400" cy="4619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lang="en-GB" sz="2800" b="1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Affine</a:t>
            </a:r>
            <a:r>
              <a:rPr lang="en-GB" sz="2800" b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Ciphers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720"/>
              </a:spcBef>
            </a:pPr>
            <a:r>
              <a:rPr lang="en-GB"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GB"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encipherment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algorithm)</a:t>
            </a:r>
            <a:r>
              <a:rPr lang="en-GB"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130"/>
              </a:spcBef>
            </a:pPr>
            <a:r>
              <a:rPr lang="en-GB" sz="2800" i="1" spc="3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800" i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800" i="1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GB" sz="28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i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B" sz="28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</a:t>
            </a:r>
            <a:r>
              <a:rPr lang="en-GB"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26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1130"/>
              </a:spcBef>
            </a:pPr>
            <a:r>
              <a:rPr lang="en-GB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8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en-GB"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GB" sz="28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affine</a:t>
            </a:r>
            <a:r>
              <a:rPr lang="en-GB" sz="2800" b="1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</a:t>
            </a:r>
            <a:r>
              <a:rPr lang="en-GB"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en-GB"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i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800" i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8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r>
              <a:rPr lang="en-GB"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equivalent</a:t>
            </a:r>
            <a:r>
              <a:rPr lang="en-GB" sz="28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en-GB" sz="28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r>
              <a:rPr lang="en-GB"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letter,</a:t>
            </a:r>
            <a:r>
              <a:rPr lang="en-GB" sz="28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8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i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800" i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35"/>
              </a:spcBef>
            </a:pPr>
            <a:r>
              <a:rPr lang="en-GB" sz="2800" i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GB" sz="28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GB"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(appropriately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chosen)</a:t>
            </a:r>
            <a:r>
              <a:rPr lang="en-GB"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integers.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0"/>
              </a:spcBef>
            </a:pP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lang="en-GB"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equivalents</a:t>
            </a:r>
            <a:r>
              <a:rPr lang="en-GB" sz="28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letters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follows: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dirty="0"/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50116FE7-A478-EA4E-8CE9-1C6ED8B23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45177"/>
              </p:ext>
            </p:extLst>
          </p:nvPr>
        </p:nvGraphicFramePr>
        <p:xfrm>
          <a:off x="1676404" y="5105400"/>
          <a:ext cx="5410194" cy="1439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6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61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616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3685">
                <a:tc>
                  <a:txBody>
                    <a:bodyPr/>
                    <a:lstStyle/>
                    <a:p>
                      <a:pPr marR="104139" algn="r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R="104139" algn="r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K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1080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331">
                <a:tc>
                  <a:txBody>
                    <a:bodyPr/>
                    <a:lstStyle/>
                    <a:p>
                      <a:pPr marR="104139" algn="r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4139" algn="r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05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11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12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44">
                <a:tc>
                  <a:txBody>
                    <a:bodyPr/>
                    <a:lstStyle/>
                    <a:p>
                      <a:pPr marR="104139" algn="r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O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Q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04139" algn="r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V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Y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Z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685">
                <a:tc>
                  <a:txBody>
                    <a:bodyPr/>
                    <a:lstStyle/>
                    <a:p>
                      <a:pPr marR="67945" algn="r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21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22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25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8762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7B179FF8-71DA-594E-817A-4D483F7B4130}"/>
              </a:ext>
            </a:extLst>
          </p:cNvPr>
          <p:cNvSpPr txBox="1"/>
          <p:nvPr/>
        </p:nvSpPr>
        <p:spPr>
          <a:xfrm>
            <a:off x="533400" y="558946"/>
            <a:ext cx="7315200" cy="158633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800" b="1" spc="50" dirty="0">
                <a:latin typeface="Cambria"/>
                <a:cs typeface="Cambria"/>
              </a:rPr>
              <a:t>Example</a:t>
            </a:r>
            <a:r>
              <a:rPr sz="2800" spc="50" dirty="0">
                <a:latin typeface="Cambria"/>
                <a:cs typeface="Cambria"/>
              </a:rPr>
              <a:t>:</a:t>
            </a:r>
            <a:r>
              <a:rPr sz="2800" spc="22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Encipher</a:t>
            </a:r>
            <a:r>
              <a:rPr sz="2800" spc="110" dirty="0">
                <a:latin typeface="Cambria"/>
                <a:cs typeface="Cambria"/>
              </a:rPr>
              <a:t> </a:t>
            </a:r>
            <a:r>
              <a:rPr sz="2800" spc="130" dirty="0">
                <a:latin typeface="Calibri"/>
                <a:cs typeface="Calibri"/>
              </a:rPr>
              <a:t>ITS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spc="-55" dirty="0">
                <a:latin typeface="Calibri"/>
                <a:cs typeface="Calibri"/>
              </a:rPr>
              <a:t>COOL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spc="-5" dirty="0">
                <a:latin typeface="Cambria"/>
                <a:cs typeface="Cambria"/>
              </a:rPr>
              <a:t>with</a:t>
            </a:r>
            <a:endParaRPr sz="2800" dirty="0">
              <a:latin typeface="Cambria"/>
              <a:cs typeface="Cambria"/>
            </a:endParaRPr>
          </a:p>
          <a:p>
            <a:pPr marL="2350770">
              <a:lnSpc>
                <a:spcPct val="100000"/>
              </a:lnSpc>
              <a:spcBef>
                <a:spcPts val="1130"/>
              </a:spcBef>
            </a:pPr>
            <a:r>
              <a:rPr sz="2800" i="1" spc="325" dirty="0">
                <a:latin typeface="Calibri"/>
                <a:cs typeface="Calibri"/>
              </a:rPr>
              <a:t>E</a:t>
            </a:r>
            <a:r>
              <a:rPr sz="2800" spc="-5" dirty="0">
                <a:latin typeface="Cambria"/>
                <a:cs typeface="Cambria"/>
              </a:rPr>
              <a:t>(</a:t>
            </a:r>
            <a:r>
              <a:rPr sz="2800" i="1" spc="140" dirty="0">
                <a:latin typeface="Calibri"/>
                <a:cs typeface="Calibri"/>
              </a:rPr>
              <a:t>x</a:t>
            </a:r>
            <a:r>
              <a:rPr sz="2800" dirty="0">
                <a:latin typeface="Cambria"/>
                <a:cs typeface="Cambria"/>
              </a:rPr>
              <a:t>)</a:t>
            </a:r>
            <a:r>
              <a:rPr sz="2800" spc="60" dirty="0">
                <a:latin typeface="Cambria"/>
                <a:cs typeface="Cambria"/>
              </a:rPr>
              <a:t> </a:t>
            </a:r>
            <a:r>
              <a:rPr sz="2800" spc="235" dirty="0">
                <a:latin typeface="Cambria"/>
                <a:cs typeface="Cambria"/>
              </a:rPr>
              <a:t>=</a:t>
            </a:r>
            <a:r>
              <a:rPr sz="2800" spc="55" dirty="0">
                <a:latin typeface="Cambria"/>
                <a:cs typeface="Cambria"/>
              </a:rPr>
              <a:t> </a:t>
            </a:r>
            <a:r>
              <a:rPr sz="2800" spc="-30" dirty="0">
                <a:latin typeface="Cambria"/>
                <a:cs typeface="Cambria"/>
              </a:rPr>
              <a:t>(5</a:t>
            </a:r>
            <a:r>
              <a:rPr sz="2800" i="1" spc="145" dirty="0">
                <a:latin typeface="Calibri"/>
                <a:cs typeface="Calibri"/>
              </a:rPr>
              <a:t>x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spc="235" dirty="0">
                <a:latin typeface="Cambria"/>
                <a:cs typeface="Cambria"/>
              </a:rPr>
              <a:t>+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30" dirty="0">
                <a:latin typeface="Cambria"/>
                <a:cs typeface="Cambria"/>
              </a:rPr>
              <a:t>8)</a:t>
            </a:r>
            <a:r>
              <a:rPr sz="2800" spc="-65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M</a:t>
            </a:r>
            <a:r>
              <a:rPr sz="2800" spc="114" dirty="0">
                <a:latin typeface="Cambria"/>
                <a:cs typeface="Cambria"/>
              </a:rPr>
              <a:t>OD</a:t>
            </a:r>
            <a:r>
              <a:rPr sz="2800" spc="-65" dirty="0">
                <a:latin typeface="Cambria"/>
                <a:cs typeface="Cambria"/>
              </a:rPr>
              <a:t> 2</a:t>
            </a:r>
            <a:r>
              <a:rPr sz="2800" spc="-70" dirty="0">
                <a:latin typeface="Cambria"/>
                <a:cs typeface="Cambria"/>
              </a:rPr>
              <a:t>6</a:t>
            </a:r>
            <a:r>
              <a:rPr sz="2800" i="1" spc="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b="1" spc="30" dirty="0">
                <a:latin typeface="Cambria"/>
                <a:cs typeface="Cambria"/>
              </a:rPr>
              <a:t>Solution</a:t>
            </a:r>
            <a:r>
              <a:rPr sz="2800" spc="30" dirty="0">
                <a:latin typeface="Cambria"/>
                <a:cs typeface="Cambria"/>
              </a:rPr>
              <a:t>:</a:t>
            </a:r>
            <a:r>
              <a:rPr sz="2800" spc="240" dirty="0">
                <a:latin typeface="Cambria"/>
                <a:cs typeface="Cambria"/>
              </a:rPr>
              <a:t> </a:t>
            </a:r>
            <a:r>
              <a:rPr sz="2800" spc="15" dirty="0">
                <a:latin typeface="Cambria"/>
                <a:cs typeface="Cambria"/>
              </a:rPr>
              <a:t>Filling</a:t>
            </a:r>
            <a:r>
              <a:rPr sz="2800" spc="1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</a:t>
            </a:r>
            <a:r>
              <a:rPr sz="2800" spc="1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spc="12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following</a:t>
            </a:r>
            <a:r>
              <a:rPr sz="2800" spc="12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table</a:t>
            </a:r>
            <a:r>
              <a:rPr sz="2800" spc="125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gives</a:t>
            </a:r>
            <a:endParaRPr sz="2800" dirty="0">
              <a:latin typeface="Cambria"/>
              <a:cs typeface="Cambria"/>
            </a:endParaRP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6C6DC0C6-DC15-B741-A76A-EA2A2904C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758714"/>
              </p:ext>
            </p:extLst>
          </p:nvPr>
        </p:nvGraphicFramePr>
        <p:xfrm>
          <a:off x="304800" y="2126885"/>
          <a:ext cx="7880229" cy="35892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6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9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2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1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21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21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56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23177">
                <a:tc>
                  <a:txBody>
                    <a:bodyPr/>
                    <a:lstStyle/>
                    <a:p>
                      <a:pPr marR="36195" algn="ctr">
                        <a:lnSpc>
                          <a:spcPts val="1275"/>
                        </a:lnSpc>
                      </a:pPr>
                      <a:r>
                        <a:rPr sz="2800" spc="-5" dirty="0">
                          <a:latin typeface="Cambria"/>
                          <a:cs typeface="Cambria"/>
                        </a:rPr>
                        <a:t>plain</a:t>
                      </a:r>
                      <a:endParaRPr sz="2800" dirty="0">
                        <a:latin typeface="Cambria"/>
                        <a:cs typeface="Cambria"/>
                      </a:endParaRPr>
                    </a:p>
                  </a:txBody>
                  <a:tcPr marT="36000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7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I</a:t>
                      </a:r>
                    </a:p>
                  </a:txBody>
                  <a:tcPr marT="36000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T</a:t>
                      </a:r>
                    </a:p>
                  </a:txBody>
                  <a:tcPr marT="36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S</a:t>
                      </a:r>
                    </a:p>
                  </a:txBody>
                  <a:tcPr marT="36000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7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C</a:t>
                      </a:r>
                    </a:p>
                  </a:txBody>
                  <a:tcPr marT="36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O</a:t>
                      </a:r>
                    </a:p>
                  </a:txBody>
                  <a:tcPr marT="360000"/>
                </a:tc>
                <a:tc>
                  <a:txBody>
                    <a:bodyPr/>
                    <a:lstStyle/>
                    <a:p>
                      <a:pPr marR="104139" algn="r">
                        <a:lnSpc>
                          <a:spcPts val="127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O</a:t>
                      </a:r>
                    </a:p>
                  </a:txBody>
                  <a:tcPr marT="36000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27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L</a:t>
                      </a:r>
                    </a:p>
                  </a:txBody>
                  <a:tcPr marT="36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300">
                <a:tc>
                  <a:txBody>
                    <a:bodyPr/>
                    <a:lstStyle/>
                    <a:p>
                      <a:pPr marR="36195" algn="ctr">
                        <a:lnSpc>
                          <a:spcPts val="1165"/>
                        </a:lnSpc>
                      </a:pPr>
                      <a:r>
                        <a:rPr sz="2800" i="1" dirty="0">
                          <a:latin typeface="Calibri"/>
                          <a:cs typeface="Calibri"/>
                        </a:rPr>
                        <a:t>x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16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32400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19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16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14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6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14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16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11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183">
                <a:tc>
                  <a:txBody>
                    <a:bodyPr/>
                    <a:lstStyle/>
                    <a:p>
                      <a:pPr marR="36195" algn="ctr">
                        <a:lnSpc>
                          <a:spcPts val="1255"/>
                        </a:lnSpc>
                      </a:pPr>
                      <a:r>
                        <a:rPr sz="2800" spc="35" dirty="0">
                          <a:latin typeface="Cambria"/>
                          <a:cs typeface="Cambria"/>
                        </a:rPr>
                        <a:t>5</a:t>
                      </a:r>
                      <a:r>
                        <a:rPr sz="2800" i="1" spc="35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2800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235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2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65" dirty="0">
                          <a:latin typeface="Cambria"/>
                          <a:cs typeface="Cambria"/>
                        </a:rPr>
                        <a:t>8</a:t>
                      </a:r>
                      <a:endParaRPr sz="2800" dirty="0">
                        <a:latin typeface="Cambria"/>
                        <a:cs typeface="Cambria"/>
                      </a:endParaRPr>
                    </a:p>
                  </a:txBody>
                  <a:tcPr marL="0" marR="0" marT="32400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48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103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98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78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78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63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2358">
                <a:tc>
                  <a:txBody>
                    <a:bodyPr/>
                    <a:lstStyle/>
                    <a:p>
                      <a:pPr marR="36195" algn="ctr">
                        <a:lnSpc>
                          <a:spcPts val="1255"/>
                        </a:lnSpc>
                      </a:pPr>
                      <a:r>
                        <a:rPr sz="2800" dirty="0">
                          <a:latin typeface="Cambria"/>
                          <a:cs typeface="Cambria"/>
                        </a:rPr>
                        <a:t>(</a:t>
                      </a:r>
                      <a:r>
                        <a:rPr sz="2800" spc="-5" dirty="0">
                          <a:latin typeface="Cambria"/>
                          <a:cs typeface="Cambria"/>
                        </a:rPr>
                        <a:t>5</a:t>
                      </a:r>
                      <a:r>
                        <a:rPr sz="2800" i="1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2800" i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2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8)</a:t>
                      </a:r>
                      <a:r>
                        <a:rPr sz="28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5" dirty="0">
                          <a:latin typeface="Cambria"/>
                          <a:cs typeface="Cambria"/>
                        </a:rPr>
                        <a:t>M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OD</a:t>
                      </a:r>
                      <a:r>
                        <a:rPr sz="28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26</a:t>
                      </a:r>
                    </a:p>
                  </a:txBody>
                  <a:tcPr marL="0" marR="0" marT="32400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22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25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20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R="104139" algn="r">
                        <a:lnSpc>
                          <a:spcPts val="125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11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183">
                <a:tc>
                  <a:txBody>
                    <a:bodyPr/>
                    <a:lstStyle/>
                    <a:p>
                      <a:pPr marR="36195" algn="ctr">
                        <a:lnSpc>
                          <a:spcPts val="1290"/>
                        </a:lnSpc>
                      </a:pPr>
                      <a:r>
                        <a:rPr sz="2800" spc="-20" dirty="0">
                          <a:latin typeface="Cambria"/>
                          <a:cs typeface="Cambria"/>
                        </a:rPr>
                        <a:t>cipher</a:t>
                      </a:r>
                      <a:endParaRPr sz="28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W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Z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U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4139" algn="r">
                        <a:lnSpc>
                          <a:spcPts val="12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2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L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7220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>
            <a:extLst>
              <a:ext uri="{FF2B5EF4-FFF2-40B4-BE49-F238E27FC236}">
                <a16:creationId xmlns:a16="http://schemas.microsoft.com/office/drawing/2014/main" id="{FD600186-BBDD-4044-A416-8D1C1791E3DA}"/>
              </a:ext>
            </a:extLst>
          </p:cNvPr>
          <p:cNvSpPr txBox="1"/>
          <p:nvPr/>
        </p:nvSpPr>
        <p:spPr>
          <a:xfrm>
            <a:off x="381000" y="1295400"/>
            <a:ext cx="8229600" cy="368588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13664" marR="106045" algn="just">
              <a:lnSpc>
                <a:spcPct val="102600"/>
              </a:lnSpc>
              <a:spcBef>
                <a:spcPts val="55"/>
              </a:spcBef>
            </a:pPr>
            <a:r>
              <a:rPr sz="2800" spc="15" dirty="0">
                <a:latin typeface="Cambria"/>
                <a:cs typeface="Cambria"/>
              </a:rPr>
              <a:t>If </a:t>
            </a:r>
            <a:r>
              <a:rPr sz="2800" i="1" spc="40" dirty="0">
                <a:latin typeface="Calibri"/>
                <a:cs typeface="Calibri"/>
              </a:rPr>
              <a:t>y </a:t>
            </a:r>
            <a:r>
              <a:rPr sz="2800" spc="235" dirty="0">
                <a:latin typeface="Cambria"/>
                <a:cs typeface="Cambria"/>
              </a:rPr>
              <a:t>= </a:t>
            </a:r>
            <a:r>
              <a:rPr sz="2800" i="1" spc="114" dirty="0">
                <a:latin typeface="Calibri"/>
                <a:cs typeface="Calibri"/>
              </a:rPr>
              <a:t>E</a:t>
            </a:r>
            <a:r>
              <a:rPr sz="2800" spc="114" dirty="0">
                <a:latin typeface="Cambria"/>
                <a:cs typeface="Cambria"/>
              </a:rPr>
              <a:t>(</a:t>
            </a:r>
            <a:r>
              <a:rPr sz="2800" i="1" spc="114" dirty="0">
                <a:latin typeface="Calibri"/>
                <a:cs typeface="Calibri"/>
              </a:rPr>
              <a:t>x</a:t>
            </a:r>
            <a:r>
              <a:rPr sz="2800" spc="114" dirty="0">
                <a:latin typeface="Cambria"/>
                <a:cs typeface="Cambria"/>
              </a:rPr>
              <a:t>) </a:t>
            </a:r>
            <a:r>
              <a:rPr sz="2800" spc="235" dirty="0">
                <a:latin typeface="Cambria"/>
                <a:cs typeface="Cambria"/>
              </a:rPr>
              <a:t>= </a:t>
            </a:r>
            <a:r>
              <a:rPr sz="2800" spc="50" dirty="0">
                <a:latin typeface="Cambria"/>
                <a:cs typeface="Cambria"/>
              </a:rPr>
              <a:t>(</a:t>
            </a:r>
            <a:r>
              <a:rPr sz="2800" i="1" spc="50" dirty="0">
                <a:latin typeface="Calibri"/>
                <a:cs typeface="Calibri"/>
              </a:rPr>
              <a:t>ax </a:t>
            </a:r>
            <a:r>
              <a:rPr sz="2800" spc="235" dirty="0">
                <a:latin typeface="Cambria"/>
                <a:cs typeface="Cambria"/>
              </a:rPr>
              <a:t>+ </a:t>
            </a:r>
            <a:r>
              <a:rPr sz="2800" i="1" spc="-50" dirty="0">
                <a:latin typeface="Calibri"/>
                <a:cs typeface="Calibri"/>
              </a:rPr>
              <a:t>b</a:t>
            </a:r>
            <a:r>
              <a:rPr sz="2800" spc="-50" dirty="0">
                <a:latin typeface="Cambria"/>
                <a:cs typeface="Cambria"/>
              </a:rPr>
              <a:t>) </a:t>
            </a:r>
            <a:r>
              <a:rPr sz="2800" spc="110" dirty="0">
                <a:latin typeface="Cambria"/>
                <a:cs typeface="Cambria"/>
              </a:rPr>
              <a:t>MOD </a:t>
            </a:r>
            <a:r>
              <a:rPr sz="2800" spc="-20" dirty="0">
                <a:latin typeface="Cambria"/>
                <a:cs typeface="Cambria"/>
              </a:rPr>
              <a:t>26, </a:t>
            </a:r>
            <a:r>
              <a:rPr sz="2800" spc="-5" dirty="0">
                <a:latin typeface="Cambria"/>
                <a:cs typeface="Cambria"/>
              </a:rPr>
              <a:t>then </a:t>
            </a:r>
            <a:r>
              <a:rPr sz="2800" spc="-80" dirty="0">
                <a:latin typeface="Cambria"/>
                <a:cs typeface="Cambria"/>
              </a:rPr>
              <a:t>we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can </a:t>
            </a:r>
            <a:r>
              <a:rPr sz="2800" spc="-5" dirty="0">
                <a:latin typeface="Cambria"/>
                <a:cs typeface="Cambria"/>
              </a:rPr>
              <a:t>“solve </a:t>
            </a:r>
            <a:r>
              <a:rPr sz="2800" spc="-25" dirty="0">
                <a:latin typeface="Cambria"/>
                <a:cs typeface="Cambria"/>
              </a:rPr>
              <a:t>for </a:t>
            </a:r>
            <a:r>
              <a:rPr sz="2800" i="1" spc="145" dirty="0">
                <a:latin typeface="Calibri"/>
                <a:cs typeface="Calibri"/>
              </a:rPr>
              <a:t>x </a:t>
            </a:r>
            <a:r>
              <a:rPr sz="2800" spc="-5" dirty="0">
                <a:latin typeface="Cambria"/>
                <a:cs typeface="Cambria"/>
              </a:rPr>
              <a:t>in </a:t>
            </a:r>
            <a:r>
              <a:rPr sz="2800" spc="-20" dirty="0">
                <a:latin typeface="Cambria"/>
                <a:cs typeface="Cambria"/>
              </a:rPr>
              <a:t>terms of </a:t>
            </a:r>
            <a:r>
              <a:rPr sz="2800" i="1" spc="105" dirty="0">
                <a:latin typeface="Calibri"/>
                <a:cs typeface="Calibri"/>
              </a:rPr>
              <a:t>y</a:t>
            </a:r>
            <a:r>
              <a:rPr sz="2800" spc="105" dirty="0">
                <a:latin typeface="Cambria"/>
                <a:cs typeface="Cambria"/>
              </a:rPr>
              <a:t>” </a:t>
            </a:r>
            <a:r>
              <a:rPr sz="2800" spc="-5" dirty="0">
                <a:latin typeface="Cambria"/>
                <a:cs typeface="Cambria"/>
              </a:rPr>
              <a:t>and </a:t>
            </a:r>
            <a:r>
              <a:rPr sz="2800" spc="-45" dirty="0">
                <a:latin typeface="Cambria"/>
                <a:cs typeface="Cambria"/>
              </a:rPr>
              <a:t>so </a:t>
            </a:r>
            <a:r>
              <a:rPr sz="2800" spc="-20" dirty="0">
                <a:latin typeface="Cambria"/>
                <a:cs typeface="Cambria"/>
              </a:rPr>
              <a:t>determine </a:t>
            </a:r>
            <a:r>
              <a:rPr sz="2800" i="1" spc="100" dirty="0">
                <a:latin typeface="Calibri"/>
                <a:cs typeface="Calibri"/>
              </a:rPr>
              <a:t>E</a:t>
            </a:r>
            <a:r>
              <a:rPr sz="2800" i="1" spc="150" baseline="27777" dirty="0">
                <a:latin typeface="Arial"/>
                <a:cs typeface="Arial"/>
              </a:rPr>
              <a:t>−</a:t>
            </a:r>
            <a:r>
              <a:rPr sz="2800" spc="150" baseline="27777" dirty="0">
                <a:latin typeface="Trebuchet MS"/>
                <a:cs typeface="Trebuchet MS"/>
              </a:rPr>
              <a:t>1</a:t>
            </a:r>
            <a:r>
              <a:rPr sz="2800" spc="100" dirty="0">
                <a:latin typeface="Cambria"/>
                <a:cs typeface="Cambria"/>
              </a:rPr>
              <a:t>(</a:t>
            </a:r>
            <a:r>
              <a:rPr sz="2800" i="1" spc="100" dirty="0">
                <a:latin typeface="Calibri"/>
                <a:cs typeface="Calibri"/>
              </a:rPr>
              <a:t>y</a:t>
            </a:r>
            <a:r>
              <a:rPr sz="2800" spc="100" dirty="0">
                <a:latin typeface="Cambria"/>
                <a:cs typeface="Cambria"/>
              </a:rPr>
              <a:t>). </a:t>
            </a:r>
            <a:r>
              <a:rPr sz="2800" spc="45" dirty="0">
                <a:latin typeface="Cambria"/>
                <a:cs typeface="Cambria"/>
              </a:rPr>
              <a:t>That </a:t>
            </a:r>
            <a:r>
              <a:rPr sz="2800" spc="50" dirty="0">
                <a:latin typeface="Cambria"/>
                <a:cs typeface="Cambria"/>
              </a:rPr>
              <a:t> </a:t>
            </a:r>
            <a:r>
              <a:rPr sz="2800" spc="10" dirty="0">
                <a:latin typeface="Cambria"/>
                <a:cs typeface="Cambria"/>
              </a:rPr>
              <a:t>is, </a:t>
            </a:r>
            <a:r>
              <a:rPr sz="2800" spc="-5" dirty="0">
                <a:latin typeface="Cambria"/>
                <a:cs typeface="Cambria"/>
              </a:rPr>
              <a:t>if </a:t>
            </a:r>
            <a:r>
              <a:rPr sz="2800" i="1" spc="40" dirty="0">
                <a:latin typeface="Calibri"/>
                <a:cs typeface="Calibri"/>
              </a:rPr>
              <a:t>y </a:t>
            </a:r>
            <a:r>
              <a:rPr sz="2800" i="1" spc="204" dirty="0">
                <a:latin typeface="Arial"/>
                <a:cs typeface="Arial"/>
              </a:rPr>
              <a:t>≡ </a:t>
            </a:r>
            <a:r>
              <a:rPr sz="2800" spc="50" dirty="0">
                <a:latin typeface="Cambria"/>
                <a:cs typeface="Cambria"/>
              </a:rPr>
              <a:t>(</a:t>
            </a:r>
            <a:r>
              <a:rPr sz="2800" i="1" spc="50" dirty="0">
                <a:latin typeface="Calibri"/>
                <a:cs typeface="Calibri"/>
              </a:rPr>
              <a:t>ax </a:t>
            </a:r>
            <a:r>
              <a:rPr sz="2800" spc="235" dirty="0">
                <a:latin typeface="Cambria"/>
                <a:cs typeface="Cambria"/>
              </a:rPr>
              <a:t>+ </a:t>
            </a:r>
            <a:r>
              <a:rPr sz="2800" i="1" spc="-50" dirty="0">
                <a:latin typeface="Calibri"/>
                <a:cs typeface="Calibri"/>
              </a:rPr>
              <a:t>b</a:t>
            </a:r>
            <a:r>
              <a:rPr sz="2800" spc="-50" dirty="0">
                <a:latin typeface="Cambria"/>
                <a:cs typeface="Cambria"/>
              </a:rPr>
              <a:t>)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(mod </a:t>
            </a:r>
            <a:r>
              <a:rPr sz="2800" spc="-15" dirty="0">
                <a:latin typeface="Cambria"/>
                <a:cs typeface="Cambria"/>
              </a:rPr>
              <a:t>26), </a:t>
            </a:r>
            <a:r>
              <a:rPr sz="2800" spc="-5" dirty="0">
                <a:latin typeface="Cambria"/>
                <a:cs typeface="Cambria"/>
              </a:rPr>
              <a:t>then </a:t>
            </a:r>
            <a:r>
              <a:rPr sz="2800" i="1" spc="40" dirty="0">
                <a:latin typeface="Calibri"/>
                <a:cs typeface="Calibri"/>
              </a:rPr>
              <a:t>y </a:t>
            </a:r>
            <a:r>
              <a:rPr sz="2800" i="1" spc="204" dirty="0">
                <a:latin typeface="Arial"/>
                <a:cs typeface="Arial"/>
              </a:rPr>
              <a:t>− </a:t>
            </a:r>
            <a:r>
              <a:rPr sz="2800" i="1" spc="-100" dirty="0">
                <a:latin typeface="Calibri"/>
                <a:cs typeface="Calibri"/>
              </a:rPr>
              <a:t>b</a:t>
            </a:r>
            <a:r>
              <a:rPr sz="2800" i="1" spc="-95" dirty="0">
                <a:latin typeface="Calibri"/>
                <a:cs typeface="Calibri"/>
              </a:rPr>
              <a:t> </a:t>
            </a:r>
            <a:r>
              <a:rPr sz="2800" i="1" spc="204" dirty="0">
                <a:latin typeface="Arial"/>
                <a:cs typeface="Arial"/>
              </a:rPr>
              <a:t>≡ </a:t>
            </a:r>
            <a:r>
              <a:rPr sz="2800" i="1" spc="75" dirty="0">
                <a:latin typeface="Calibri"/>
                <a:cs typeface="Calibri"/>
              </a:rPr>
              <a:t>ax </a:t>
            </a:r>
            <a:r>
              <a:rPr sz="2800" spc="-5" dirty="0">
                <a:latin typeface="Cambria"/>
                <a:cs typeface="Cambria"/>
              </a:rPr>
              <a:t>(mod </a:t>
            </a:r>
            <a:r>
              <a:rPr sz="2800" spc="-15" dirty="0">
                <a:latin typeface="Cambria"/>
                <a:cs typeface="Cambria"/>
              </a:rPr>
              <a:t>26), </a:t>
            </a:r>
            <a:r>
              <a:rPr sz="2800" spc="-35" dirty="0">
                <a:latin typeface="Cambria"/>
                <a:cs typeface="Cambria"/>
              </a:rPr>
              <a:t>or</a:t>
            </a:r>
            <a:r>
              <a:rPr sz="2800" spc="-3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equivalently </a:t>
            </a:r>
            <a:r>
              <a:rPr sz="2800" i="1" spc="75" dirty="0">
                <a:latin typeface="Calibri"/>
                <a:cs typeface="Calibri"/>
              </a:rPr>
              <a:t>ax </a:t>
            </a:r>
            <a:r>
              <a:rPr sz="2800" i="1" spc="204" dirty="0">
                <a:latin typeface="Arial"/>
                <a:cs typeface="Arial"/>
              </a:rPr>
              <a:t>≡ </a:t>
            </a:r>
            <a:r>
              <a:rPr sz="2800" spc="20" dirty="0">
                <a:latin typeface="Cambria"/>
                <a:cs typeface="Cambria"/>
              </a:rPr>
              <a:t>(</a:t>
            </a:r>
            <a:r>
              <a:rPr sz="2800" i="1" spc="20" dirty="0">
                <a:latin typeface="Calibri"/>
                <a:cs typeface="Calibri"/>
              </a:rPr>
              <a:t>y </a:t>
            </a:r>
            <a:r>
              <a:rPr sz="2800" i="1" spc="204" dirty="0">
                <a:latin typeface="Arial"/>
                <a:cs typeface="Arial"/>
              </a:rPr>
              <a:t>− </a:t>
            </a:r>
            <a:r>
              <a:rPr sz="2800" i="1" spc="-50" dirty="0">
                <a:latin typeface="Calibri"/>
                <a:cs typeface="Calibri"/>
              </a:rPr>
              <a:t>b</a:t>
            </a:r>
            <a:r>
              <a:rPr sz="2800" spc="-50" dirty="0">
                <a:latin typeface="Cambria"/>
                <a:cs typeface="Cambria"/>
              </a:rPr>
              <a:t>)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(mod </a:t>
            </a:r>
            <a:r>
              <a:rPr sz="2800" spc="-15" dirty="0">
                <a:latin typeface="Cambria"/>
                <a:cs typeface="Cambria"/>
              </a:rPr>
              <a:t>26).</a:t>
            </a:r>
            <a:r>
              <a:rPr sz="2800" spc="210" dirty="0">
                <a:latin typeface="Cambria"/>
                <a:cs typeface="Cambria"/>
              </a:rPr>
              <a:t> </a:t>
            </a:r>
            <a:r>
              <a:rPr sz="2800" spc="10" dirty="0">
                <a:latin typeface="Cambria"/>
                <a:cs typeface="Cambria"/>
              </a:rPr>
              <a:t>Using 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our earlier </a:t>
            </a:r>
            <a:r>
              <a:rPr sz="2800" spc="-5" dirty="0">
                <a:latin typeface="Cambria"/>
                <a:cs typeface="Cambria"/>
              </a:rPr>
              <a:t>results, </a:t>
            </a:r>
            <a:r>
              <a:rPr sz="2800" spc="-80" dirty="0">
                <a:latin typeface="Cambria"/>
                <a:cs typeface="Cambria"/>
              </a:rPr>
              <a:t>we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spc="-50" dirty="0">
                <a:latin typeface="Cambria"/>
                <a:cs typeface="Cambria"/>
              </a:rPr>
              <a:t>see </a:t>
            </a:r>
            <a:r>
              <a:rPr sz="2800" spc="25" dirty="0">
                <a:latin typeface="Cambria"/>
                <a:cs typeface="Cambria"/>
              </a:rPr>
              <a:t>that </a:t>
            </a:r>
            <a:r>
              <a:rPr sz="2800" spc="-5" dirty="0">
                <a:latin typeface="Cambria"/>
                <a:cs typeface="Cambria"/>
              </a:rPr>
              <a:t>if </a:t>
            </a:r>
            <a:r>
              <a:rPr sz="2800" spc="-75" dirty="0">
                <a:latin typeface="Cambria"/>
                <a:cs typeface="Cambria"/>
              </a:rPr>
              <a:t>we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multiply </a:t>
            </a:r>
            <a:r>
              <a:rPr sz="2800" spc="10" dirty="0">
                <a:latin typeface="Cambria"/>
                <a:cs typeface="Cambria"/>
              </a:rPr>
              <a:t>both </a:t>
            </a:r>
            <a:r>
              <a:rPr sz="2800" spc="-30" dirty="0">
                <a:latin typeface="Cambria"/>
                <a:cs typeface="Cambria"/>
              </a:rPr>
              <a:t>sides </a:t>
            </a:r>
            <a:r>
              <a:rPr sz="2800" spc="-5" dirty="0">
                <a:latin typeface="Cambria"/>
                <a:cs typeface="Cambria"/>
              </a:rPr>
              <a:t>by </a:t>
            </a:r>
            <a:r>
              <a:rPr sz="2800" i="1" spc="65" dirty="0">
                <a:latin typeface="Calibri"/>
                <a:cs typeface="Calibri"/>
              </a:rPr>
              <a:t>a</a:t>
            </a:r>
            <a:r>
              <a:rPr sz="2800" i="1" spc="97" baseline="27777" dirty="0">
                <a:latin typeface="Arial"/>
                <a:cs typeface="Arial"/>
              </a:rPr>
              <a:t>−</a:t>
            </a:r>
            <a:r>
              <a:rPr sz="2800" spc="97" baseline="27777" dirty="0">
                <a:latin typeface="Trebuchet MS"/>
                <a:cs typeface="Trebuchet MS"/>
              </a:rPr>
              <a:t>1 </a:t>
            </a:r>
            <a:r>
              <a:rPr sz="2800" spc="-5" dirty="0">
                <a:latin typeface="Cambria"/>
                <a:cs typeface="Cambria"/>
              </a:rPr>
              <a:t>(mod </a:t>
            </a:r>
            <a:r>
              <a:rPr sz="2800" spc="-15" dirty="0">
                <a:latin typeface="Cambria"/>
                <a:cs typeface="Cambria"/>
              </a:rPr>
              <a:t>26), </a:t>
            </a:r>
            <a:r>
              <a:rPr sz="2800" spc="-5" dirty="0">
                <a:latin typeface="Cambria"/>
                <a:cs typeface="Cambria"/>
              </a:rPr>
              <a:t>then </a:t>
            </a:r>
            <a:r>
              <a:rPr sz="2800" i="1" spc="145" dirty="0">
                <a:latin typeface="Calibri"/>
                <a:cs typeface="Calibri"/>
              </a:rPr>
              <a:t>x </a:t>
            </a:r>
            <a:r>
              <a:rPr sz="2800" i="1" spc="204" dirty="0">
                <a:latin typeface="Arial"/>
                <a:cs typeface="Arial"/>
              </a:rPr>
              <a:t>≡ </a:t>
            </a:r>
            <a:r>
              <a:rPr sz="2800" i="1" spc="55" dirty="0">
                <a:latin typeface="Calibri"/>
                <a:cs typeface="Calibri"/>
              </a:rPr>
              <a:t>a</a:t>
            </a:r>
            <a:r>
              <a:rPr sz="2800" i="1" spc="82" baseline="27777" dirty="0">
                <a:latin typeface="Arial"/>
                <a:cs typeface="Arial"/>
              </a:rPr>
              <a:t>−</a:t>
            </a:r>
            <a:r>
              <a:rPr sz="2800" spc="82" baseline="27777" dirty="0">
                <a:latin typeface="Trebuchet MS"/>
                <a:cs typeface="Trebuchet MS"/>
              </a:rPr>
              <a:t>1</a:t>
            </a:r>
            <a:r>
              <a:rPr sz="2800" spc="55" dirty="0">
                <a:latin typeface="Cambria"/>
                <a:cs typeface="Cambria"/>
              </a:rPr>
              <a:t>(</a:t>
            </a:r>
            <a:r>
              <a:rPr sz="2800" i="1" spc="55" dirty="0">
                <a:latin typeface="Calibri"/>
                <a:cs typeface="Calibri"/>
              </a:rPr>
              <a:t>y </a:t>
            </a:r>
            <a:r>
              <a:rPr sz="2800" i="1" spc="95" dirty="0">
                <a:latin typeface="Arial"/>
                <a:cs typeface="Arial"/>
              </a:rPr>
              <a:t>−</a:t>
            </a:r>
            <a:r>
              <a:rPr sz="2800" i="1" spc="95" dirty="0">
                <a:latin typeface="Calibri"/>
                <a:cs typeface="Calibri"/>
              </a:rPr>
              <a:t>b</a:t>
            </a:r>
            <a:r>
              <a:rPr sz="2800" spc="95" dirty="0">
                <a:latin typeface="Cambria"/>
                <a:cs typeface="Cambria"/>
              </a:rPr>
              <a:t>) </a:t>
            </a:r>
            <a:r>
              <a:rPr sz="2800" spc="-5" dirty="0">
                <a:latin typeface="Cambria"/>
                <a:cs typeface="Cambria"/>
              </a:rPr>
              <a:t>(mod </a:t>
            </a:r>
            <a:r>
              <a:rPr sz="2800" spc="-45" dirty="0">
                <a:latin typeface="Cambria"/>
                <a:cs typeface="Cambria"/>
              </a:rPr>
              <a:t>26) </a:t>
            </a:r>
            <a:r>
              <a:rPr sz="2800" spc="-4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and</a:t>
            </a:r>
            <a:r>
              <a:rPr sz="2800" spc="114" dirty="0">
                <a:latin typeface="Cambria"/>
                <a:cs typeface="Cambria"/>
              </a:rPr>
              <a:t> </a:t>
            </a:r>
            <a:r>
              <a:rPr sz="2800" spc="-45" dirty="0">
                <a:latin typeface="Cambria"/>
                <a:cs typeface="Cambria"/>
              </a:rPr>
              <a:t>so</a:t>
            </a:r>
            <a:r>
              <a:rPr sz="2800" spc="114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our</a:t>
            </a:r>
            <a:r>
              <a:rPr sz="2800" spc="12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decipherment</a:t>
            </a:r>
            <a:r>
              <a:rPr sz="2800" spc="1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function</a:t>
            </a:r>
            <a:r>
              <a:rPr sz="2800" spc="12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is</a:t>
            </a:r>
            <a:endParaRPr sz="28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30"/>
              </a:spcBef>
            </a:pPr>
            <a:r>
              <a:rPr sz="2800" i="1" spc="325" dirty="0">
                <a:latin typeface="Calibri"/>
                <a:cs typeface="Calibri"/>
              </a:rPr>
              <a:t>E</a:t>
            </a:r>
            <a:r>
              <a:rPr sz="2800" i="1" spc="284" baseline="31250" dirty="0">
                <a:latin typeface="Arial"/>
                <a:cs typeface="Arial"/>
              </a:rPr>
              <a:t>−</a:t>
            </a:r>
            <a:r>
              <a:rPr sz="2800" spc="75" baseline="31250" dirty="0">
                <a:latin typeface="Trebuchet MS"/>
                <a:cs typeface="Trebuchet MS"/>
              </a:rPr>
              <a:t>1</a:t>
            </a:r>
            <a:r>
              <a:rPr sz="2800" spc="-5" dirty="0">
                <a:latin typeface="Cambria"/>
                <a:cs typeface="Cambria"/>
              </a:rPr>
              <a:t>(</a:t>
            </a:r>
            <a:r>
              <a:rPr sz="2800" i="1" spc="75" dirty="0">
                <a:latin typeface="Calibri"/>
                <a:cs typeface="Calibri"/>
              </a:rPr>
              <a:t>y</a:t>
            </a:r>
            <a:r>
              <a:rPr sz="2800" dirty="0">
                <a:latin typeface="Cambria"/>
                <a:cs typeface="Cambria"/>
              </a:rPr>
              <a:t>)</a:t>
            </a:r>
            <a:r>
              <a:rPr sz="2800" spc="60" dirty="0">
                <a:latin typeface="Cambria"/>
                <a:cs typeface="Cambria"/>
              </a:rPr>
              <a:t> </a:t>
            </a:r>
            <a:r>
              <a:rPr sz="2800" spc="235" dirty="0">
                <a:latin typeface="Cambria"/>
                <a:cs typeface="Cambria"/>
              </a:rPr>
              <a:t>=</a:t>
            </a:r>
            <a:r>
              <a:rPr sz="2800" spc="60" dirty="0">
                <a:latin typeface="Cambria"/>
                <a:cs typeface="Cambria"/>
              </a:rPr>
              <a:t> </a:t>
            </a:r>
            <a:r>
              <a:rPr sz="2800" i="1" spc="5" dirty="0">
                <a:latin typeface="Calibri"/>
                <a:cs typeface="Calibri"/>
              </a:rPr>
              <a:t>a</a:t>
            </a:r>
            <a:r>
              <a:rPr sz="2800" i="1" spc="284" baseline="31250" dirty="0">
                <a:latin typeface="Arial"/>
                <a:cs typeface="Arial"/>
              </a:rPr>
              <a:t>−</a:t>
            </a:r>
            <a:r>
              <a:rPr sz="2800" spc="75" baseline="31250" dirty="0">
                <a:latin typeface="Trebuchet MS"/>
                <a:cs typeface="Trebuchet MS"/>
              </a:rPr>
              <a:t>1</a:t>
            </a:r>
            <a:r>
              <a:rPr sz="2800" spc="-5" dirty="0">
                <a:latin typeface="Cambria"/>
                <a:cs typeface="Cambria"/>
              </a:rPr>
              <a:t>(</a:t>
            </a:r>
            <a:r>
              <a:rPr sz="2800" i="1" spc="40" dirty="0">
                <a:latin typeface="Calibri"/>
                <a:cs typeface="Calibri"/>
              </a:rPr>
              <a:t>y</a:t>
            </a:r>
            <a:r>
              <a:rPr sz="2800" i="1" spc="30" dirty="0">
                <a:latin typeface="Calibri"/>
                <a:cs typeface="Calibri"/>
              </a:rPr>
              <a:t> </a:t>
            </a:r>
            <a:r>
              <a:rPr sz="2800" i="1" spc="204" dirty="0">
                <a:latin typeface="Arial"/>
                <a:cs typeface="Arial"/>
              </a:rPr>
              <a:t>−</a:t>
            </a:r>
            <a:r>
              <a:rPr sz="2800" i="1" spc="-65" dirty="0">
                <a:latin typeface="Arial"/>
                <a:cs typeface="Arial"/>
              </a:rPr>
              <a:t> </a:t>
            </a:r>
            <a:r>
              <a:rPr sz="2800" i="1" spc="-100" dirty="0">
                <a:latin typeface="Calibri"/>
                <a:cs typeface="Calibri"/>
              </a:rPr>
              <a:t>b</a:t>
            </a:r>
            <a:r>
              <a:rPr sz="2800" dirty="0">
                <a:latin typeface="Cambria"/>
                <a:cs typeface="Cambria"/>
              </a:rPr>
              <a:t>)</a:t>
            </a:r>
            <a:r>
              <a:rPr sz="2800" spc="-65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M</a:t>
            </a:r>
            <a:r>
              <a:rPr sz="2800" spc="114" dirty="0">
                <a:latin typeface="Cambria"/>
                <a:cs typeface="Cambria"/>
              </a:rPr>
              <a:t>OD</a:t>
            </a:r>
            <a:r>
              <a:rPr sz="2800" spc="-65" dirty="0">
                <a:latin typeface="Cambria"/>
                <a:cs typeface="Cambria"/>
              </a:rPr>
              <a:t> 2</a:t>
            </a:r>
            <a:r>
              <a:rPr sz="2800" spc="-70" dirty="0">
                <a:latin typeface="Cambria"/>
                <a:cs typeface="Cambria"/>
              </a:rPr>
              <a:t>6</a:t>
            </a:r>
            <a:r>
              <a:rPr sz="2800" i="1" spc="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7336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>
            <a:extLst>
              <a:ext uri="{FF2B5EF4-FFF2-40B4-BE49-F238E27FC236}">
                <a16:creationId xmlns:a16="http://schemas.microsoft.com/office/drawing/2014/main" id="{043142FE-930F-334F-9843-57756EF63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663098"/>
              </p:ext>
            </p:extLst>
          </p:nvPr>
        </p:nvGraphicFramePr>
        <p:xfrm>
          <a:off x="762000" y="3962400"/>
          <a:ext cx="7543800" cy="24063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8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8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80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03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2103">
                <a:tc>
                  <a:txBody>
                    <a:bodyPr/>
                    <a:lstStyle/>
                    <a:p>
                      <a:pPr marR="393065" algn="ctr">
                        <a:lnSpc>
                          <a:spcPts val="1275"/>
                        </a:lnSpc>
                      </a:pPr>
                      <a:r>
                        <a:rPr sz="2000" spc="-20" dirty="0">
                          <a:latin typeface="Cambria"/>
                          <a:cs typeface="Cambria"/>
                        </a:rPr>
                        <a:t>cipher</a:t>
                      </a:r>
                      <a:endParaRPr sz="2000" dirty="0">
                        <a:latin typeface="Cambria"/>
                        <a:cs typeface="Cambria"/>
                      </a:endParaRPr>
                    </a:p>
                  </a:txBody>
                  <a:tcPr marL="0" marR="0" marT="25200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H</a:t>
                      </a:r>
                    </a:p>
                  </a:txBody>
                  <a:tcPr marL="0" marR="0" marT="25200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58750" algn="r">
                        <a:lnSpc>
                          <a:spcPts val="127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P</a:t>
                      </a: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127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</a:t>
                      </a: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27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</a:t>
                      </a: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127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</a:t>
                      </a: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66370" marR="3175">
                        <a:lnSpc>
                          <a:spcPts val="127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Q</a:t>
                      </a:r>
                    </a:p>
                  </a:txBody>
                  <a:tcPr marL="0" marR="0" marT="2520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082">
                <a:tc>
                  <a:txBody>
                    <a:bodyPr/>
                    <a:lstStyle/>
                    <a:p>
                      <a:pPr marR="398145" algn="ctr">
                        <a:lnSpc>
                          <a:spcPts val="1165"/>
                        </a:lnSpc>
                      </a:pPr>
                      <a:r>
                        <a:rPr sz="2000" i="1" dirty="0">
                          <a:latin typeface="Calibri"/>
                          <a:cs typeface="Calibri"/>
                        </a:rPr>
                        <a:t>y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25200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22555" algn="r">
                        <a:lnSpc>
                          <a:spcPts val="1165"/>
                        </a:lnSpc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15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116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16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ts val="1165"/>
                        </a:lnSpc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23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30175" marR="3175">
                        <a:lnSpc>
                          <a:spcPts val="1165"/>
                        </a:lnSpc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16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63">
                <a:tc>
                  <a:txBody>
                    <a:bodyPr/>
                    <a:lstStyle/>
                    <a:p>
                      <a:pPr marL="60325" algn="l">
                        <a:lnSpc>
                          <a:spcPts val="1290"/>
                        </a:lnSpc>
                      </a:pPr>
                      <a:r>
                        <a:rPr lang="en-US" sz="2000" i="1" dirty="0">
                          <a:latin typeface="Calibri"/>
                          <a:cs typeface="Calibri"/>
                        </a:rPr>
                        <a:t>         </a:t>
                      </a:r>
                      <a:r>
                        <a:rPr sz="2000" i="1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2000" i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20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8</a:t>
                      </a:r>
                    </a:p>
                    <a:p>
                      <a:pPr marL="6985" algn="l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lang="en-US" sz="2000" dirty="0">
                          <a:latin typeface="Cambria"/>
                          <a:cs typeface="Cambria"/>
                        </a:rPr>
                        <a:t>       2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2000" spc="-5" dirty="0">
                          <a:latin typeface="Cambria"/>
                          <a:cs typeface="Cambria"/>
                        </a:rPr>
                        <a:t>(</a:t>
                      </a:r>
                      <a:r>
                        <a:rPr sz="2000" i="1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2000" i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20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8)</a:t>
                      </a:r>
                    </a:p>
                  </a:txBody>
                  <a:tcPr marL="0" marR="0" marT="25200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90"/>
                        </a:lnSpc>
                      </a:pPr>
                      <a:r>
                        <a:rPr sz="2000" spc="125" dirty="0">
                          <a:latin typeface="Calibri"/>
                          <a:cs typeface="Calibri"/>
                        </a:rPr>
                        <a:t>-1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spc="85" dirty="0">
                          <a:latin typeface="Calibri"/>
                          <a:cs typeface="Calibri"/>
                        </a:rPr>
                        <a:t>-21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129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7</a:t>
                      </a:r>
                    </a:p>
                    <a:p>
                      <a:pPr marR="1016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147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1290"/>
                        </a:lnSpc>
                      </a:pPr>
                      <a:r>
                        <a:rPr sz="2000" spc="125" dirty="0">
                          <a:latin typeface="Calibri"/>
                          <a:cs typeface="Calibri"/>
                        </a:rPr>
                        <a:t>-6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marR="1016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spc="70" dirty="0">
                          <a:latin typeface="Calibri"/>
                          <a:cs typeface="Calibri"/>
                        </a:rPr>
                        <a:t>-126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290"/>
                        </a:lnSpc>
                      </a:pPr>
                      <a:r>
                        <a:rPr sz="2000" spc="125" dirty="0">
                          <a:latin typeface="Calibri"/>
                          <a:cs typeface="Calibri"/>
                        </a:rPr>
                        <a:t>-6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marL="1778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spc="70" dirty="0">
                          <a:latin typeface="Calibri"/>
                          <a:cs typeface="Calibri"/>
                        </a:rPr>
                        <a:t>-126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ts val="1290"/>
                        </a:lnSpc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15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315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2000" spc="125" dirty="0">
                          <a:latin typeface="Calibri"/>
                          <a:cs typeface="Calibri"/>
                        </a:rPr>
                        <a:t>-8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spc="70" dirty="0">
                          <a:latin typeface="Calibri"/>
                          <a:cs typeface="Calibri"/>
                        </a:rPr>
                        <a:t>-168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98425" marR="3175" algn="ctr">
                        <a:lnSpc>
                          <a:spcPts val="129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8</a:t>
                      </a:r>
                    </a:p>
                    <a:p>
                      <a:pPr marL="9398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168</a:t>
                      </a:r>
                    </a:p>
                  </a:txBody>
                  <a:tcPr marL="0" marR="0" marT="2520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905">
                <a:tc>
                  <a:txBody>
                    <a:bodyPr/>
                    <a:lstStyle/>
                    <a:p>
                      <a:pPr>
                        <a:lnSpc>
                          <a:spcPts val="900"/>
                        </a:lnSpc>
                      </a:pPr>
                      <a:r>
                        <a:rPr lang="en-PK" sz="2000" spc="-5" dirty="0">
                          <a:latin typeface="Cambria"/>
                          <a:cs typeface="Cambria"/>
                        </a:rPr>
                        <a:t> 21(</a:t>
                      </a:r>
                      <a:r>
                        <a:rPr lang="en-US" sz="20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—</a:t>
                      </a:r>
                      <a:r>
                        <a:rPr sz="20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8)</a:t>
                      </a:r>
                      <a:r>
                        <a:rPr sz="20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5" dirty="0">
                          <a:latin typeface="Cambria"/>
                          <a:cs typeface="Cambria"/>
                        </a:rPr>
                        <a:t>M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OD</a:t>
                      </a:r>
                      <a:r>
                        <a:rPr lang="en-PK" sz="20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26</a:t>
                      </a:r>
                    </a:p>
                    <a:p>
                      <a:pPr marL="66040" algn="l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lang="en-GB" sz="2000" spc="-5" dirty="0">
                          <a:latin typeface="Cambria"/>
                          <a:cs typeface="Cambria"/>
                        </a:rPr>
                        <a:t>           plain</a:t>
                      </a:r>
                      <a:endParaRPr sz="2000" dirty="0">
                        <a:latin typeface="Cambria"/>
                        <a:cs typeface="Cambria"/>
                      </a:endParaRPr>
                    </a:p>
                  </a:txBody>
                  <a:tcPr marL="0" marR="0" marT="25200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F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200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900"/>
                        </a:lnSpc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R="1016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9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R="1016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9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1778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30175" marR="3175">
                        <a:lnSpc>
                          <a:spcPts val="900"/>
                        </a:lnSpc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12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marL="166370" marR="31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25200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6">
            <a:extLst>
              <a:ext uri="{FF2B5EF4-FFF2-40B4-BE49-F238E27FC236}">
                <a16:creationId xmlns:a16="http://schemas.microsoft.com/office/drawing/2014/main" id="{314A2EB3-4074-8942-9579-1FFFDEE49441}"/>
              </a:ext>
            </a:extLst>
          </p:cNvPr>
          <p:cNvSpPr txBox="1"/>
          <p:nvPr/>
        </p:nvSpPr>
        <p:spPr>
          <a:xfrm>
            <a:off x="457200" y="457200"/>
            <a:ext cx="8153400" cy="324383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14300" algn="just">
              <a:lnSpc>
                <a:spcPct val="100000"/>
              </a:lnSpc>
              <a:spcBef>
                <a:spcPts val="1130"/>
              </a:spcBef>
            </a:pPr>
            <a:r>
              <a:rPr sz="2400" b="1" spc="50" dirty="0">
                <a:latin typeface="Cambria"/>
                <a:cs typeface="Cambria"/>
              </a:rPr>
              <a:t>Example</a:t>
            </a:r>
            <a:r>
              <a:rPr sz="2400" spc="50" dirty="0">
                <a:latin typeface="Cambria"/>
                <a:cs typeface="Cambria"/>
              </a:rPr>
              <a:t>: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Decipher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55" dirty="0">
                <a:latin typeface="Calibri"/>
                <a:cs typeface="Calibri"/>
              </a:rPr>
              <a:t>HPCCXAQ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spc="-5" dirty="0">
                <a:latin typeface="Cambria"/>
                <a:cs typeface="Cambria"/>
              </a:rPr>
              <a:t>if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encipherment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function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i="1" spc="114" dirty="0">
                <a:latin typeface="Calibri"/>
                <a:cs typeface="Calibri"/>
              </a:rPr>
              <a:t>E</a:t>
            </a:r>
            <a:r>
              <a:rPr sz="2400" spc="114" dirty="0">
                <a:latin typeface="Cambria"/>
                <a:cs typeface="Cambria"/>
              </a:rPr>
              <a:t>(</a:t>
            </a:r>
            <a:r>
              <a:rPr sz="2400" i="1" spc="114" dirty="0">
                <a:latin typeface="Calibri"/>
                <a:cs typeface="Calibri"/>
              </a:rPr>
              <a:t>x</a:t>
            </a:r>
            <a:r>
              <a:rPr sz="2400" spc="114" dirty="0">
                <a:latin typeface="Cambria"/>
                <a:cs typeface="Cambria"/>
              </a:rPr>
              <a:t>)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235" dirty="0">
                <a:latin typeface="Cambria"/>
                <a:cs typeface="Cambria"/>
              </a:rPr>
              <a:t>=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(5</a:t>
            </a:r>
            <a:r>
              <a:rPr sz="2400" i="1" spc="25" dirty="0">
                <a:latin typeface="Calibri"/>
                <a:cs typeface="Calibri"/>
              </a:rPr>
              <a:t>x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spc="235" dirty="0">
                <a:latin typeface="Cambria"/>
                <a:cs typeface="Cambria"/>
              </a:rPr>
              <a:t>+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8)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MOD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26.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 dirty="0">
              <a:latin typeface="Cambria"/>
              <a:cs typeface="Cambria"/>
            </a:endParaRPr>
          </a:p>
          <a:p>
            <a:pPr marL="114300" algn="just">
              <a:lnSpc>
                <a:spcPct val="100000"/>
              </a:lnSpc>
              <a:spcBef>
                <a:spcPts val="5"/>
              </a:spcBef>
            </a:pPr>
            <a:r>
              <a:rPr sz="2400" b="1" spc="30" dirty="0">
                <a:latin typeface="Cambria"/>
                <a:cs typeface="Cambria"/>
              </a:rPr>
              <a:t>Solution</a:t>
            </a:r>
            <a:r>
              <a:rPr sz="2400" spc="30" dirty="0">
                <a:latin typeface="Cambria"/>
                <a:cs typeface="Cambria"/>
              </a:rPr>
              <a:t>: 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We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begin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by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finding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the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decipherment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function. 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Since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5</a:t>
            </a:r>
            <a:r>
              <a:rPr sz="2400" i="1" spc="40" dirty="0">
                <a:latin typeface="Calibri"/>
                <a:cs typeface="Calibri"/>
              </a:rPr>
              <a:t>x</a:t>
            </a:r>
            <a:r>
              <a:rPr sz="2400" i="1" spc="305" dirty="0">
                <a:latin typeface="Calibri"/>
                <a:cs typeface="Calibri"/>
              </a:rPr>
              <a:t> </a:t>
            </a:r>
            <a:r>
              <a:rPr sz="2400" i="1" spc="204" dirty="0">
                <a:latin typeface="Arial"/>
                <a:cs typeface="Arial"/>
              </a:rPr>
              <a:t>≡</a:t>
            </a:r>
            <a:r>
              <a:rPr sz="2400" i="1" spc="250" dirty="0">
                <a:latin typeface="Arial"/>
                <a:cs typeface="Arial"/>
              </a:rPr>
              <a:t> </a:t>
            </a:r>
            <a:r>
              <a:rPr sz="2400" spc="-65" dirty="0">
                <a:latin typeface="Cambria"/>
                <a:cs typeface="Cambria"/>
              </a:rPr>
              <a:t>1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(mod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26)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is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solved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with</a:t>
            </a:r>
            <a:endParaRPr sz="2400" dirty="0">
              <a:latin typeface="Cambria"/>
              <a:cs typeface="Cambria"/>
            </a:endParaRPr>
          </a:p>
          <a:p>
            <a:pPr marL="114300" algn="just">
              <a:lnSpc>
                <a:spcPct val="100000"/>
              </a:lnSpc>
              <a:spcBef>
                <a:spcPts val="35"/>
              </a:spcBef>
            </a:pPr>
            <a:r>
              <a:rPr sz="2400" i="1" spc="145" dirty="0">
                <a:latin typeface="Calibri"/>
                <a:cs typeface="Calibri"/>
              </a:rPr>
              <a:t>x</a:t>
            </a:r>
            <a:r>
              <a:rPr sz="2400" i="1" spc="50" dirty="0">
                <a:latin typeface="Calibri"/>
                <a:cs typeface="Calibri"/>
              </a:rPr>
              <a:t> </a:t>
            </a:r>
            <a:r>
              <a:rPr sz="2400" i="1" spc="204" dirty="0">
                <a:latin typeface="Arial"/>
                <a:cs typeface="Arial"/>
              </a:rPr>
              <a:t>≡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65" dirty="0">
                <a:latin typeface="Cambria"/>
                <a:cs typeface="Cambria"/>
              </a:rPr>
              <a:t>21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(m</a:t>
            </a:r>
            <a:r>
              <a:rPr sz="2400" spc="-15" dirty="0">
                <a:latin typeface="Cambria"/>
                <a:cs typeface="Cambria"/>
              </a:rPr>
              <a:t>o</a:t>
            </a:r>
            <a:r>
              <a:rPr sz="2400" spc="-5" dirty="0">
                <a:latin typeface="Cambria"/>
                <a:cs typeface="Cambria"/>
              </a:rPr>
              <a:t>d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26)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100" dirty="0">
                <a:latin typeface="Cambria"/>
                <a:cs typeface="Cambria"/>
              </a:rPr>
              <a:t>w</a:t>
            </a:r>
            <a:r>
              <a:rPr sz="2400" spc="-55" dirty="0">
                <a:latin typeface="Cambria"/>
                <a:cs typeface="Cambria"/>
              </a:rPr>
              <a:t>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25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s</a:t>
            </a:r>
            <a:r>
              <a:rPr sz="2400" spc="-55" dirty="0">
                <a:latin typeface="Cambria"/>
                <a:cs typeface="Cambria"/>
              </a:rPr>
              <a:t>ee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25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5</a:t>
            </a:r>
            <a:r>
              <a:rPr sz="2400" i="1" spc="284" baseline="27777" dirty="0">
                <a:latin typeface="Arial"/>
                <a:cs typeface="Arial"/>
              </a:rPr>
              <a:t>−</a:t>
            </a:r>
            <a:r>
              <a:rPr sz="2400" baseline="27777" dirty="0">
                <a:latin typeface="Trebuchet MS"/>
                <a:cs typeface="Trebuchet MS"/>
              </a:rPr>
              <a:t>1 </a:t>
            </a:r>
            <a:r>
              <a:rPr sz="2400" spc="-104" baseline="27777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Cambria"/>
                <a:cs typeface="Cambria"/>
              </a:rPr>
              <a:t>(m</a:t>
            </a:r>
            <a:r>
              <a:rPr sz="2400" spc="15" dirty="0">
                <a:latin typeface="Cambria"/>
                <a:cs typeface="Cambria"/>
              </a:rPr>
              <a:t>o</a:t>
            </a:r>
            <a:r>
              <a:rPr sz="2400" spc="-5" dirty="0">
                <a:latin typeface="Cambria"/>
                <a:cs typeface="Cambria"/>
              </a:rPr>
              <a:t>d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26)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235" dirty="0">
                <a:latin typeface="Cambria"/>
                <a:cs typeface="Cambria"/>
              </a:rPr>
              <a:t>=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21.</a:t>
            </a:r>
            <a:r>
              <a:rPr sz="2400" dirty="0">
                <a:latin typeface="Cambria"/>
                <a:cs typeface="Cambria"/>
              </a:rPr>
              <a:t>  </a:t>
            </a:r>
            <a:r>
              <a:rPr sz="2400" spc="70" dirty="0">
                <a:latin typeface="Cambria"/>
                <a:cs typeface="Cambria"/>
              </a:rPr>
              <a:t>T</a:t>
            </a:r>
            <a:r>
              <a:rPr sz="2400" spc="60" dirty="0">
                <a:latin typeface="Cambria"/>
                <a:cs typeface="Cambria"/>
              </a:rPr>
              <a:t>h</a:t>
            </a:r>
            <a:r>
              <a:rPr sz="2400" spc="-55" dirty="0">
                <a:latin typeface="Cambria"/>
                <a:cs typeface="Cambria"/>
              </a:rPr>
              <a:t>e</a:t>
            </a:r>
            <a:r>
              <a:rPr sz="2400" spc="-30" dirty="0">
                <a:latin typeface="Cambria"/>
                <a:cs typeface="Cambria"/>
              </a:rPr>
              <a:t>refo</a:t>
            </a:r>
            <a:r>
              <a:rPr sz="2400" spc="-35" dirty="0">
                <a:latin typeface="Cambria"/>
                <a:cs typeface="Cambria"/>
              </a:rPr>
              <a:t>r</a:t>
            </a:r>
            <a:r>
              <a:rPr sz="2400" spc="-55" dirty="0">
                <a:latin typeface="Cambria"/>
                <a:cs typeface="Cambria"/>
              </a:rPr>
              <a:t>e</a:t>
            </a:r>
            <a:r>
              <a:rPr sz="2400" spc="75" dirty="0">
                <a:latin typeface="Cambria"/>
                <a:cs typeface="Cambria"/>
              </a:rPr>
              <a:t>,</a:t>
            </a:r>
            <a:endParaRPr sz="24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30"/>
              </a:spcBef>
            </a:pPr>
            <a:r>
              <a:rPr sz="2400" i="1" spc="325" dirty="0">
                <a:latin typeface="Calibri"/>
                <a:cs typeface="Calibri"/>
              </a:rPr>
              <a:t>E</a:t>
            </a:r>
            <a:r>
              <a:rPr sz="2400" i="1" spc="284" baseline="31250" dirty="0">
                <a:latin typeface="Arial"/>
                <a:cs typeface="Arial"/>
              </a:rPr>
              <a:t>−</a:t>
            </a:r>
            <a:r>
              <a:rPr sz="2400" spc="75" baseline="31250" dirty="0">
                <a:latin typeface="Trebuchet MS"/>
                <a:cs typeface="Trebuchet MS"/>
              </a:rPr>
              <a:t>1</a:t>
            </a:r>
            <a:r>
              <a:rPr sz="2400" spc="-5" dirty="0">
                <a:latin typeface="Cambria"/>
                <a:cs typeface="Cambria"/>
              </a:rPr>
              <a:t>(</a:t>
            </a:r>
            <a:r>
              <a:rPr sz="2400" i="1" spc="75" dirty="0">
                <a:latin typeface="Calibri"/>
                <a:cs typeface="Calibri"/>
              </a:rPr>
              <a:t>y</a:t>
            </a:r>
            <a:r>
              <a:rPr sz="2400" dirty="0">
                <a:latin typeface="Cambria"/>
                <a:cs typeface="Cambria"/>
              </a:rPr>
              <a:t>)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235" dirty="0">
                <a:latin typeface="Cambria"/>
                <a:cs typeface="Cambria"/>
              </a:rPr>
              <a:t>=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21(</a:t>
            </a:r>
            <a:r>
              <a:rPr sz="2400" i="1" spc="40" dirty="0">
                <a:latin typeface="Calibri"/>
                <a:cs typeface="Calibri"/>
              </a:rPr>
              <a:t>y</a:t>
            </a:r>
            <a:r>
              <a:rPr sz="2400" i="1" spc="30" dirty="0">
                <a:latin typeface="Calibri"/>
                <a:cs typeface="Calibri"/>
              </a:rPr>
              <a:t> </a:t>
            </a:r>
            <a:r>
              <a:rPr sz="2400" i="1" spc="204" dirty="0">
                <a:latin typeface="Arial"/>
                <a:cs typeface="Arial"/>
              </a:rPr>
              <a:t>−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spc="-30" dirty="0">
                <a:latin typeface="Cambria"/>
                <a:cs typeface="Cambria"/>
              </a:rPr>
              <a:t>8)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M</a:t>
            </a:r>
            <a:r>
              <a:rPr sz="2400" spc="114" dirty="0">
                <a:latin typeface="Cambria"/>
                <a:cs typeface="Cambria"/>
              </a:rPr>
              <a:t>OD</a:t>
            </a:r>
            <a:r>
              <a:rPr sz="2400" spc="-65" dirty="0">
                <a:latin typeface="Cambria"/>
                <a:cs typeface="Cambria"/>
              </a:rPr>
              <a:t> 26</a:t>
            </a:r>
            <a:endParaRPr sz="2400" dirty="0">
              <a:latin typeface="Cambria"/>
              <a:cs typeface="Cambria"/>
            </a:endParaRPr>
          </a:p>
          <a:p>
            <a:pPr marL="114300" algn="just">
              <a:lnSpc>
                <a:spcPct val="100000"/>
              </a:lnSpc>
              <a:spcBef>
                <a:spcPts val="1130"/>
              </a:spcBef>
            </a:pPr>
            <a:r>
              <a:rPr sz="2400" spc="-5" dirty="0">
                <a:latin typeface="Cambria"/>
                <a:cs typeface="Cambria"/>
              </a:rPr>
              <a:t>and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so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filling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in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our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table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gives</a:t>
            </a:r>
            <a:endParaRPr sz="24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434526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50" y="1000125"/>
            <a:ext cx="6591300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825" y="976312"/>
            <a:ext cx="7286625" cy="49625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25" y="1028700"/>
            <a:ext cx="6924675" cy="25622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896239"/>
            <a:ext cx="45631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0" dirty="0"/>
              <a:t>P</a:t>
            </a:r>
            <a:r>
              <a:rPr spc="280" dirty="0"/>
              <a:t>OLYALPHABETIC</a:t>
            </a:r>
            <a:r>
              <a:rPr spc="310" dirty="0"/>
              <a:t> </a:t>
            </a:r>
            <a:r>
              <a:rPr spc="290" dirty="0"/>
              <a:t>CIPHERS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016750" cy="335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0" dirty="0">
                <a:latin typeface="Cambria"/>
                <a:cs typeface="Cambria"/>
              </a:rPr>
              <a:t>In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polyalphabetic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cipher,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multiple </a:t>
            </a:r>
            <a:r>
              <a:rPr sz="2400" spc="80" dirty="0">
                <a:latin typeface="Cambria"/>
                <a:cs typeface="Cambria"/>
              </a:rPr>
              <a:t>“alphabets”</a:t>
            </a:r>
            <a:endParaRPr sz="2400" dirty="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80" dirty="0">
                <a:latin typeface="Cambria"/>
                <a:cs typeface="Cambria"/>
              </a:rPr>
              <a:t>are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used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encipher.</a:t>
            </a:r>
            <a:endParaRPr sz="2400" dirty="0">
              <a:latin typeface="Cambria"/>
              <a:cs typeface="Cambria"/>
            </a:endParaRPr>
          </a:p>
          <a:p>
            <a:pPr marL="285115" marR="18986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0" dirty="0">
                <a:latin typeface="Cambria"/>
                <a:cs typeface="Cambria"/>
              </a:rPr>
              <a:t>If </a:t>
            </a:r>
            <a:r>
              <a:rPr sz="2400" spc="15" dirty="0">
                <a:latin typeface="Cambria"/>
                <a:cs typeface="Cambria"/>
              </a:rPr>
              <a:t>two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letters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are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same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ciphertext</a:t>
            </a:r>
            <a:r>
              <a:rPr sz="2400" spc="105" dirty="0">
                <a:latin typeface="Cambria"/>
                <a:cs typeface="Cambria"/>
              </a:rPr>
              <a:t> it 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does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mean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they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must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decipher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same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plaintext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letter.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D8537"/>
              </a:buClr>
              <a:buFont typeface="Wingdings"/>
              <a:buChar char=""/>
            </a:pPr>
            <a:endParaRPr sz="2800" dirty="0">
              <a:latin typeface="Cambria"/>
              <a:cs typeface="Cambria"/>
            </a:endParaRPr>
          </a:p>
          <a:p>
            <a:pPr marL="927100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85" dirty="0">
                <a:latin typeface="Cambria"/>
                <a:cs typeface="Cambria"/>
              </a:rPr>
              <a:t>Playfair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7100" lvl="1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114" dirty="0">
                <a:latin typeface="Cambria"/>
                <a:cs typeface="Cambria"/>
              </a:rPr>
              <a:t>Hill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7100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70" dirty="0" err="1">
                <a:latin typeface="Cambria"/>
                <a:cs typeface="Cambria"/>
              </a:rPr>
              <a:t>Vigenere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20661" y="25400"/>
            <a:ext cx="16935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Times New Roman"/>
                <a:cs typeface="Times New Roman"/>
              </a:rPr>
              <a:t>Substitution</a:t>
            </a:r>
            <a:r>
              <a:rPr sz="1600" i="1" spc="-1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Ciphers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93444" y="715518"/>
            <a:ext cx="4390390" cy="2884123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Monoalphabetic</a:t>
            </a:r>
            <a:r>
              <a:rPr sz="2400" spc="105" dirty="0">
                <a:latin typeface="Cambria"/>
                <a:cs typeface="Cambria"/>
              </a:rPr>
              <a:t> 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105" dirty="0">
                <a:latin typeface="Cambria"/>
                <a:cs typeface="Cambria"/>
              </a:rPr>
              <a:t>Caesar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70" dirty="0">
                <a:latin typeface="Cambria"/>
                <a:cs typeface="Cambria"/>
              </a:rPr>
              <a:t>Affine</a:t>
            </a:r>
            <a:r>
              <a:rPr sz="1800" spc="85" dirty="0">
                <a:latin typeface="Cambria"/>
                <a:cs typeface="Cambria"/>
              </a:rPr>
              <a:t> Cipher</a:t>
            </a:r>
            <a:endParaRPr sz="18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DF752E"/>
              </a:buClr>
              <a:buFont typeface="Wingdings"/>
              <a:buChar char=""/>
            </a:pPr>
            <a:endParaRPr sz="27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Polyalphabetic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85" dirty="0">
                <a:solidFill>
                  <a:srgbClr val="FF0000"/>
                </a:solidFill>
                <a:latin typeface="Cambria"/>
                <a:cs typeface="Cambria"/>
              </a:rPr>
              <a:t>Playfair</a:t>
            </a:r>
            <a:r>
              <a:rPr sz="1800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FF0000"/>
                </a:solidFill>
                <a:latin typeface="Cambria"/>
                <a:cs typeface="Cambria"/>
              </a:rPr>
              <a:t>Cipher</a:t>
            </a:r>
            <a:endParaRPr sz="180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114" dirty="0">
                <a:latin typeface="Cambria"/>
                <a:cs typeface="Cambria"/>
              </a:rPr>
              <a:t>Hill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65" dirty="0" err="1">
                <a:latin typeface="Cambria"/>
                <a:cs typeface="Cambria"/>
              </a:rPr>
              <a:t>Vigenere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Cipher</a:t>
            </a:r>
            <a:endParaRPr sz="27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904611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933450"/>
            <a:ext cx="7172325" cy="40290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695325"/>
            <a:ext cx="6734175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380936"/>
            <a:ext cx="8382000" cy="540232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266713"/>
            <a:ext cx="8380730" cy="508963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GB" smtClean="0"/>
              <a:pPr/>
              <a:t>30</a:t>
            </a:fld>
            <a:endParaRPr lang="en-GB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4"/>
          <p:cNvSpPr txBox="1">
            <a:spLocks/>
          </p:cNvSpPr>
          <p:nvPr/>
        </p:nvSpPr>
        <p:spPr>
          <a:xfrm>
            <a:off x="381000" y="192202"/>
            <a:ext cx="8380730" cy="87459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565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7620" algn="ctr">
              <a:lnSpc>
                <a:spcPct val="100000"/>
              </a:lnSpc>
              <a:spcBef>
                <a:spcPts val="2020"/>
              </a:spcBef>
            </a:pPr>
            <a:r>
              <a:rPr lang="en-US" sz="40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Playfair Example (1/4)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2"/>
          <p:cNvPicPr/>
          <p:nvPr/>
        </p:nvPicPr>
        <p:blipFill rotWithShape="1">
          <a:blip r:embed="rId3" cstate="print"/>
          <a:srcRect t="17420"/>
          <a:stretch/>
        </p:blipFill>
        <p:spPr>
          <a:xfrm>
            <a:off x="780415" y="1723174"/>
            <a:ext cx="7581900" cy="41767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4EA7D4-0327-494D-8FD4-793069B52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667155"/>
            <a:ext cx="3429000" cy="29241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833740-CE3F-4187-9E28-39AE2131A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800" y="2667155"/>
            <a:ext cx="3581400" cy="292413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1268349"/>
            <a:ext cx="8380730" cy="508800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GB" smtClean="0"/>
              <a:pPr/>
              <a:t>31</a:t>
            </a:fld>
            <a:endParaRPr lang="en-GB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4"/>
          <p:cNvSpPr txBox="1">
            <a:spLocks/>
          </p:cNvSpPr>
          <p:nvPr/>
        </p:nvSpPr>
        <p:spPr>
          <a:xfrm>
            <a:off x="381000" y="192202"/>
            <a:ext cx="8380730" cy="87459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565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7620" algn="ctr">
              <a:lnSpc>
                <a:spcPct val="100000"/>
              </a:lnSpc>
              <a:spcBef>
                <a:spcPts val="2020"/>
              </a:spcBef>
            </a:pPr>
            <a:r>
              <a:rPr lang="en-US" sz="40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Playfair Example (2/4)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2"/>
          <p:cNvPicPr/>
          <p:nvPr/>
        </p:nvPicPr>
        <p:blipFill rotWithShape="1">
          <a:blip r:embed="rId4" cstate="print"/>
          <a:srcRect t="10001" b="35714"/>
          <a:stretch/>
        </p:blipFill>
        <p:spPr>
          <a:xfrm>
            <a:off x="770890" y="1752600"/>
            <a:ext cx="7600950" cy="2514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6E57C9-E3BA-4C5E-891D-78BDD482F990}"/>
              </a:ext>
            </a:extLst>
          </p:cNvPr>
          <p:cNvSpPr txBox="1"/>
          <p:nvPr/>
        </p:nvSpPr>
        <p:spPr>
          <a:xfrm>
            <a:off x="770890" y="4572000"/>
            <a:ext cx="7600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Encrypting the message "Hide the gold in the tree stump" (note the null "X" used to separate the repeated "E"s)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265669"/>
            <a:ext cx="8380730" cy="509068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GB" smtClean="0"/>
              <a:pPr/>
              <a:t>32</a:t>
            </a:fld>
            <a:endParaRPr lang="en-GB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4"/>
          <p:cNvSpPr txBox="1">
            <a:spLocks/>
          </p:cNvSpPr>
          <p:nvPr/>
        </p:nvSpPr>
        <p:spPr>
          <a:xfrm>
            <a:off x="381000" y="192202"/>
            <a:ext cx="8380730" cy="87459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565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7620" algn="ctr">
              <a:lnSpc>
                <a:spcPct val="100000"/>
              </a:lnSpc>
              <a:spcBef>
                <a:spcPts val="2020"/>
              </a:spcBef>
            </a:pPr>
            <a:r>
              <a:rPr lang="en-US" sz="40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Playfair Example (3/4)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2"/>
          <p:cNvPicPr/>
          <p:nvPr/>
        </p:nvPicPr>
        <p:blipFill rotWithShape="1">
          <a:blip r:embed="rId3" cstate="print"/>
          <a:srcRect t="23029"/>
          <a:stretch/>
        </p:blipFill>
        <p:spPr>
          <a:xfrm>
            <a:off x="732790" y="1639309"/>
            <a:ext cx="767715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698FEA-51E1-42F6-ABCB-B620BE685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GB" smtClean="0"/>
              <a:pPr/>
              <a:t>33</a:t>
            </a:fld>
            <a:endParaRPr lang="en-GB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A5523DC9-F77F-44E9-B181-4F201A49EEBD}"/>
              </a:ext>
            </a:extLst>
          </p:cNvPr>
          <p:cNvSpPr txBox="1">
            <a:spLocks/>
          </p:cNvSpPr>
          <p:nvPr/>
        </p:nvSpPr>
        <p:spPr>
          <a:xfrm>
            <a:off x="381000" y="192202"/>
            <a:ext cx="8380730" cy="87459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565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7620" algn="ctr">
              <a:lnSpc>
                <a:spcPct val="100000"/>
              </a:lnSpc>
              <a:spcBef>
                <a:spcPts val="2020"/>
              </a:spcBef>
            </a:pPr>
            <a:r>
              <a:rPr lang="en-US" sz="40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Playfair Example (3/4) </a:t>
            </a:r>
            <a:r>
              <a:rPr lang="en-US" sz="4000" b="1" spc="36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40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45FC1-BEF7-432A-9B57-90BF412502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13"/>
          <a:stretch/>
        </p:blipFill>
        <p:spPr>
          <a:xfrm>
            <a:off x="152400" y="1333500"/>
            <a:ext cx="4060785" cy="2095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C6EF28-660E-4451-9F57-D906D0CDA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1314450"/>
            <a:ext cx="4343400" cy="213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2E33AF-2B81-4C75-BA32-5E0BE959CF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313"/>
          <a:stretch/>
        </p:blipFill>
        <p:spPr>
          <a:xfrm>
            <a:off x="152400" y="3852164"/>
            <a:ext cx="4060785" cy="21431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713B00-4E3D-4ECF-94B4-76BAE2CCE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3852164"/>
            <a:ext cx="43434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2772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36D095-5060-42AF-B9EA-07BBB9131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228F3E58-A82F-4A11-B010-43C2A653B715}"/>
              </a:ext>
            </a:extLst>
          </p:cNvPr>
          <p:cNvSpPr txBox="1">
            <a:spLocks/>
          </p:cNvSpPr>
          <p:nvPr/>
        </p:nvSpPr>
        <p:spPr>
          <a:xfrm>
            <a:off x="381000" y="192202"/>
            <a:ext cx="8380730" cy="87459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565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7620" algn="ctr">
              <a:lnSpc>
                <a:spcPct val="100000"/>
              </a:lnSpc>
              <a:spcBef>
                <a:spcPts val="2020"/>
              </a:spcBef>
            </a:pPr>
            <a:r>
              <a:rPr lang="en-US" sz="40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Playfair Example (3/4) </a:t>
            </a:r>
            <a:r>
              <a:rPr lang="en-US" sz="4000" b="1" spc="36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40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494E4-887A-4FDC-85C2-415F1DE69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39596"/>
            <a:ext cx="4229100" cy="2095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BE64E1-C72A-4C05-AFB3-500BF6AB81A6}"/>
              </a:ext>
            </a:extLst>
          </p:cNvPr>
          <p:cNvSpPr txBox="1"/>
          <p:nvPr/>
        </p:nvSpPr>
        <p:spPr>
          <a:xfrm>
            <a:off x="4419600" y="1295400"/>
            <a:ext cx="4229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pair DI forms a rectangle, replace it with 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pair NT forms a rectangle, replace it with KU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pair HE forms a rectangle, replace it with DM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pair TR forms a rectangle, replace it with UI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BD86BF-7C94-4DCF-B563-51B53FE85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996168"/>
            <a:ext cx="4343400" cy="20764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93FFBB-08E4-4D2B-BA96-B00C93887063}"/>
              </a:ext>
            </a:extLst>
          </p:cNvPr>
          <p:cNvSpPr txBox="1"/>
          <p:nvPr/>
        </p:nvSpPr>
        <p:spPr>
          <a:xfrm>
            <a:off x="4572000" y="3996168"/>
            <a:ext cx="4152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pair ES forms a rectangle, replace it with 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pair TU is in a row, replace it with UV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pair MP forms a rectangle, replace it with IF</a:t>
            </a:r>
          </a:p>
        </p:txBody>
      </p:sp>
    </p:spTree>
    <p:extLst>
      <p:ext uri="{BB962C8B-B14F-4D97-AF65-F5344CB8AC3E}">
        <p14:creationId xmlns:p14="http://schemas.microsoft.com/office/powerpoint/2010/main" val="35272947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285929"/>
            <a:ext cx="8380730" cy="507042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GB" smtClean="0"/>
              <a:pPr/>
              <a:t>35</a:t>
            </a:fld>
            <a:endParaRPr lang="en-GB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4"/>
          <p:cNvSpPr txBox="1">
            <a:spLocks/>
          </p:cNvSpPr>
          <p:nvPr/>
        </p:nvSpPr>
        <p:spPr>
          <a:xfrm>
            <a:off x="381000" y="192202"/>
            <a:ext cx="8380730" cy="87459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565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7620" algn="ctr">
              <a:lnSpc>
                <a:spcPct val="100000"/>
              </a:lnSpc>
              <a:spcBef>
                <a:spcPts val="2020"/>
              </a:spcBef>
            </a:pPr>
            <a:r>
              <a:rPr lang="en-US" sz="40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Playfair Example (4/4)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104B5187-5366-44FA-AC3F-D2D4C8591F8A}"/>
              </a:ext>
            </a:extLst>
          </p:cNvPr>
          <p:cNvSpPr txBox="1"/>
          <p:nvPr/>
        </p:nvSpPr>
        <p:spPr>
          <a:xfrm>
            <a:off x="415636" y="1539517"/>
            <a:ext cx="8194964" cy="27103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marR="17780" indent="-4572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 panose="05000000000000000000" pitchFamily="2" charset="2"/>
              <a:buChar char="Ø"/>
              <a:tabLst>
                <a:tab pos="368300" algn="l"/>
              </a:tabLst>
            </a:pPr>
            <a:r>
              <a:rPr lang="en-US" sz="2400" spc="-40" dirty="0">
                <a:solidFill>
                  <a:srgbClr val="2E1F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 Text:  </a:t>
            </a:r>
            <a:r>
              <a:rPr lang="es-ES" sz="2400" spc="-40" dirty="0">
                <a:solidFill>
                  <a:srgbClr val="2E1F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 DE TH EG OL DI NT HE TR EX ES TU MP</a:t>
            </a:r>
            <a:endParaRPr lang="en-US" sz="2400" spc="-40" dirty="0">
              <a:solidFill>
                <a:srgbClr val="2E1F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17780" indent="-4572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 panose="05000000000000000000" pitchFamily="2" charset="2"/>
              <a:buChar char="Ø"/>
              <a:tabLst>
                <a:tab pos="368300" algn="l"/>
              </a:tabLst>
            </a:pPr>
            <a:r>
              <a:rPr lang="en-US" sz="2400" spc="-40" dirty="0">
                <a:solidFill>
                  <a:srgbClr val="2E1F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Ciphertext: BM OD ZB XD NA BE KU DM UI XM MO UV IF</a:t>
            </a:r>
          </a:p>
          <a:p>
            <a:pPr marL="457200" marR="17780" indent="-4572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 panose="05000000000000000000" pitchFamily="2" charset="2"/>
              <a:buChar char="Ø"/>
              <a:tabLst>
                <a:tab pos="368300" algn="l"/>
              </a:tabLst>
            </a:pPr>
            <a:r>
              <a:rPr lang="en-US" sz="2400" spc="-40" dirty="0">
                <a:solidFill>
                  <a:srgbClr val="2E1F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Thus the message "Hide the gold in the tree stump" becomes "BMODZ BXDNA BEKUD MUIXM MOUVI F". (Breaks included for ease of reading the cipher text.) </a:t>
            </a:r>
          </a:p>
          <a:p>
            <a:pPr marL="457200" marR="17780" indent="-4572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 panose="05000000000000000000" pitchFamily="2" charset="2"/>
              <a:buChar char="Ø"/>
              <a:tabLst>
                <a:tab pos="368300" algn="l"/>
              </a:tabLst>
            </a:pPr>
            <a:endParaRPr lang="en-US" sz="2400" spc="-160" dirty="0">
              <a:solidFill>
                <a:srgbClr val="2E1F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marR="17780" indent="-368300">
              <a:lnSpc>
                <a:spcPct val="100000"/>
              </a:lnSpc>
              <a:spcBef>
                <a:spcPts val="95"/>
              </a:spcBef>
              <a:buClr>
                <a:srgbClr val="B9ABE2"/>
              </a:buClr>
              <a:buChar char="•"/>
              <a:tabLst>
                <a:tab pos="368300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381000"/>
            <a:ext cx="6972300" cy="46386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93444" y="715518"/>
            <a:ext cx="4390390" cy="2884123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Monoalphabetic</a:t>
            </a:r>
            <a:r>
              <a:rPr sz="2400" spc="105" dirty="0">
                <a:latin typeface="Cambria"/>
                <a:cs typeface="Cambria"/>
              </a:rPr>
              <a:t> 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105" dirty="0">
                <a:latin typeface="Cambria"/>
                <a:cs typeface="Cambria"/>
              </a:rPr>
              <a:t>Caesar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70" dirty="0">
                <a:latin typeface="Cambria"/>
                <a:cs typeface="Cambria"/>
              </a:rPr>
              <a:t>Affine</a:t>
            </a:r>
            <a:r>
              <a:rPr sz="1800" spc="85" dirty="0">
                <a:latin typeface="Cambria"/>
                <a:cs typeface="Cambria"/>
              </a:rPr>
              <a:t> Cipher</a:t>
            </a:r>
            <a:endParaRPr sz="18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DF752E"/>
              </a:buClr>
              <a:buFont typeface="Wingdings"/>
              <a:buChar char=""/>
            </a:pPr>
            <a:endParaRPr sz="27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Polyalphabetic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85" dirty="0">
                <a:latin typeface="Cambria"/>
                <a:cs typeface="Cambria"/>
              </a:rPr>
              <a:t>Playfair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114" dirty="0">
                <a:solidFill>
                  <a:srgbClr val="FF0000"/>
                </a:solidFill>
                <a:latin typeface="Cambria"/>
                <a:cs typeface="Cambria"/>
              </a:rPr>
              <a:t>Hill</a:t>
            </a:r>
            <a:r>
              <a:rPr sz="18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FF0000"/>
                </a:solidFill>
                <a:latin typeface="Cambria"/>
                <a:cs typeface="Cambria"/>
              </a:rPr>
              <a:t>Cipher</a:t>
            </a:r>
            <a:endParaRPr sz="180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65" dirty="0" err="1">
                <a:latin typeface="Cambria"/>
                <a:cs typeface="Cambria"/>
              </a:rPr>
              <a:t>Vigenere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Cipher</a:t>
            </a:r>
            <a:endParaRPr sz="27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6323905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2">
            <a:extLst>
              <a:ext uri="{FF2B5EF4-FFF2-40B4-BE49-F238E27FC236}">
                <a16:creationId xmlns:a16="http://schemas.microsoft.com/office/drawing/2014/main" id="{4B5CAC57-6F41-4A4E-8976-8FD9F8AA23FE}"/>
              </a:ext>
            </a:extLst>
          </p:cNvPr>
          <p:cNvGrpSpPr/>
          <p:nvPr/>
        </p:nvGrpSpPr>
        <p:grpSpPr>
          <a:xfrm>
            <a:off x="152400" y="838200"/>
            <a:ext cx="8610600" cy="6019800"/>
            <a:chOff x="0" y="1373225"/>
            <a:chExt cx="9144000" cy="5485130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42F58285-8AAF-D844-AABE-512184B0793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600706"/>
              <a:ext cx="9144000" cy="5257290"/>
            </a:xfrm>
            <a:prstGeom prst="rect">
              <a:avLst/>
            </a:prstGeom>
          </p:spPr>
        </p:pic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A8B6269B-9092-A34A-AB82-2BE244A8EFF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373225"/>
              <a:ext cx="9144000" cy="267868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F93E467-9DDF-1949-9652-BBFAA6AA221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4364" y="1484836"/>
              <a:ext cx="7626096" cy="52565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21978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410CFE0-A44B-0C48-B65F-5B5D69BA0266}"/>
              </a:ext>
            </a:extLst>
          </p:cNvPr>
          <p:cNvSpPr txBox="1"/>
          <p:nvPr/>
        </p:nvSpPr>
        <p:spPr>
          <a:xfrm>
            <a:off x="544589" y="964713"/>
            <a:ext cx="8015605" cy="3195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1198880" indent="-342900">
              <a:lnSpc>
                <a:spcPct val="100000"/>
              </a:lnSpc>
              <a:spcBef>
                <a:spcPts val="95"/>
              </a:spcBef>
              <a:buClr>
                <a:schemeClr val="tx1"/>
              </a:buClr>
              <a:buChar char="•"/>
              <a:tabLst>
                <a:tab pos="355600" algn="l"/>
              </a:tabLst>
            </a:pPr>
            <a:r>
              <a:rPr sz="2800" spc="-10" dirty="0">
                <a:latin typeface="Candara"/>
                <a:cs typeface="Candara"/>
              </a:rPr>
              <a:t>Another</a:t>
            </a:r>
            <a:r>
              <a:rPr sz="2800" spc="-2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historical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cipher</a:t>
            </a:r>
            <a:r>
              <a:rPr sz="2800" spc="1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subject</a:t>
            </a:r>
            <a:r>
              <a:rPr sz="2800" spc="1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to</a:t>
            </a:r>
            <a:r>
              <a:rPr sz="2800" spc="1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known- </a:t>
            </a:r>
            <a:r>
              <a:rPr sz="2800" spc="-59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plaintext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attacks.</a:t>
            </a:r>
            <a:endParaRPr sz="2800" dirty="0">
              <a:latin typeface="Candara"/>
              <a:cs typeface="Candara"/>
            </a:endParaRPr>
          </a:p>
          <a:p>
            <a:pPr marL="354965" marR="5080" indent="-342900">
              <a:lnSpc>
                <a:spcPct val="100000"/>
              </a:lnSpc>
              <a:spcBef>
                <a:spcPts val="2400"/>
              </a:spcBef>
              <a:buClr>
                <a:schemeClr val="tx1"/>
              </a:buClr>
              <a:buChar char="•"/>
              <a:tabLst>
                <a:tab pos="355600" algn="l"/>
              </a:tabLst>
            </a:pPr>
            <a:r>
              <a:rPr sz="2800" spc="-5" dirty="0">
                <a:latin typeface="Candara"/>
                <a:cs typeface="Candara"/>
              </a:rPr>
              <a:t>Based on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matrix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multiplication.</a:t>
            </a:r>
            <a:r>
              <a:rPr sz="2800" spc="5" dirty="0">
                <a:latin typeface="Candara"/>
                <a:cs typeface="Candara"/>
              </a:rPr>
              <a:t> </a:t>
            </a:r>
            <a:r>
              <a:rPr sz="2800" spc="-30" dirty="0">
                <a:latin typeface="Candara"/>
                <a:cs typeface="Candara"/>
              </a:rPr>
              <a:t>Take</a:t>
            </a:r>
            <a:r>
              <a:rPr sz="2800" spc="20" dirty="0">
                <a:latin typeface="Candara"/>
                <a:cs typeface="Candara"/>
              </a:rPr>
              <a:t> </a:t>
            </a:r>
            <a:r>
              <a:rPr sz="2800" b="1" i="1" spc="-5" dirty="0">
                <a:latin typeface="Candara"/>
                <a:cs typeface="Candara"/>
              </a:rPr>
              <a:t>K</a:t>
            </a:r>
            <a:r>
              <a:rPr sz="2800" spc="-5" dirty="0">
                <a:latin typeface="Candara"/>
                <a:cs typeface="Candara"/>
              </a:rPr>
              <a:t>,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an</a:t>
            </a:r>
            <a:r>
              <a:rPr sz="2800" spc="5" dirty="0">
                <a:latin typeface="Candara"/>
                <a:cs typeface="Candara"/>
              </a:rPr>
              <a:t> </a:t>
            </a:r>
            <a:r>
              <a:rPr sz="2800" i="1" spc="-10" dirty="0">
                <a:latin typeface="Candara"/>
                <a:cs typeface="Candara"/>
              </a:rPr>
              <a:t>MxM</a:t>
            </a:r>
            <a:r>
              <a:rPr sz="2800" i="1" spc="5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key </a:t>
            </a:r>
            <a:r>
              <a:rPr sz="2800" spc="-59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representing</a:t>
            </a:r>
            <a:r>
              <a:rPr sz="2800" spc="-1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a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system of</a:t>
            </a:r>
            <a:r>
              <a:rPr sz="2800" spc="1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linear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equations.</a:t>
            </a:r>
            <a:endParaRPr sz="2800" dirty="0">
              <a:latin typeface="Candara"/>
              <a:cs typeface="Candara"/>
            </a:endParaRPr>
          </a:p>
          <a:p>
            <a:pPr marL="354965" marR="568960" indent="-342900">
              <a:lnSpc>
                <a:spcPct val="100000"/>
              </a:lnSpc>
              <a:spcBef>
                <a:spcPts val="2405"/>
              </a:spcBef>
              <a:buClr>
                <a:schemeClr val="tx1"/>
              </a:buClr>
              <a:buChar char="•"/>
              <a:tabLst>
                <a:tab pos="355600" algn="l"/>
                <a:tab pos="2456815" algn="l"/>
                <a:tab pos="5038090" algn="l"/>
              </a:tabLst>
            </a:pPr>
            <a:r>
              <a:rPr sz="2800" spc="-5" dirty="0">
                <a:latin typeface="Candara"/>
                <a:cs typeface="Candara"/>
              </a:rPr>
              <a:t>Ciphertext,</a:t>
            </a:r>
            <a:r>
              <a:rPr sz="2800" b="1" i="1" spc="-5" dirty="0">
                <a:latin typeface="Candara"/>
                <a:cs typeface="Candara"/>
              </a:rPr>
              <a:t>C</a:t>
            </a:r>
            <a:r>
              <a:rPr sz="2800" spc="-5" dirty="0">
                <a:latin typeface="Candara"/>
                <a:cs typeface="Candara"/>
              </a:rPr>
              <a:t>,	and</a:t>
            </a:r>
            <a:r>
              <a:rPr sz="2800" spc="1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plaintext,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b="1" i="1" spc="-5" dirty="0">
                <a:latin typeface="Candara"/>
                <a:cs typeface="Candara"/>
              </a:rPr>
              <a:t>p</a:t>
            </a:r>
            <a:r>
              <a:rPr sz="2800" spc="-5" dirty="0">
                <a:latin typeface="Candara"/>
                <a:cs typeface="Candara"/>
              </a:rPr>
              <a:t>,	are </a:t>
            </a:r>
            <a:r>
              <a:rPr sz="2800" i="1" spc="-10" dirty="0">
                <a:latin typeface="Candara"/>
                <a:cs typeface="Candara"/>
              </a:rPr>
              <a:t>1xM </a:t>
            </a:r>
            <a:r>
              <a:rPr sz="2800" i="1" spc="-5" dirty="0">
                <a:latin typeface="Candara"/>
                <a:cs typeface="Candara"/>
              </a:rPr>
              <a:t>and </a:t>
            </a:r>
            <a:r>
              <a:rPr sz="2800" i="1" spc="-10" dirty="0">
                <a:latin typeface="Candara"/>
                <a:cs typeface="Candara"/>
              </a:rPr>
              <a:t>Mx1 </a:t>
            </a:r>
            <a:r>
              <a:rPr sz="2800" i="1" spc="-565" dirty="0">
                <a:latin typeface="Candara"/>
                <a:cs typeface="Candara"/>
              </a:rPr>
              <a:t> </a:t>
            </a:r>
            <a:r>
              <a:rPr sz="2800" i="1" spc="-5" dirty="0">
                <a:latin typeface="Candara"/>
                <a:cs typeface="Candara"/>
              </a:rPr>
              <a:t>matricies</a:t>
            </a:r>
            <a:endParaRPr sz="2800" dirty="0">
              <a:latin typeface="Candara"/>
              <a:cs typeface="Candar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9616F64-C523-0945-B047-F920CB14E771}"/>
              </a:ext>
            </a:extLst>
          </p:cNvPr>
          <p:cNvSpPr txBox="1"/>
          <p:nvPr/>
        </p:nvSpPr>
        <p:spPr>
          <a:xfrm>
            <a:off x="547217" y="4022900"/>
            <a:ext cx="2555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chemeClr val="tx1"/>
              </a:buClr>
              <a:buFont typeface="Candara"/>
              <a:buChar char="•"/>
              <a:tabLst>
                <a:tab pos="355600" algn="l"/>
              </a:tabLst>
            </a:pPr>
            <a:r>
              <a:rPr sz="2800" i="1" spc="-5" dirty="0">
                <a:latin typeface="Candara"/>
                <a:cs typeface="Candara"/>
              </a:rPr>
              <a:t>C=Kp</a:t>
            </a:r>
            <a:r>
              <a:rPr sz="2800" i="1" spc="-40" dirty="0">
                <a:latin typeface="Candara"/>
                <a:cs typeface="Candara"/>
              </a:rPr>
              <a:t> </a:t>
            </a:r>
            <a:r>
              <a:rPr sz="2800" spc="-10" dirty="0">
                <a:latin typeface="Candara"/>
                <a:cs typeface="Candara"/>
              </a:rPr>
              <a:t>(mod</a:t>
            </a:r>
            <a:r>
              <a:rPr sz="2800" spc="-2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26)</a:t>
            </a:r>
            <a:endParaRPr sz="2800" dirty="0">
              <a:latin typeface="Candara"/>
              <a:cs typeface="Candar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F2E8E95-E0BD-B94A-977F-9F33F5C9131C}"/>
              </a:ext>
            </a:extLst>
          </p:cNvPr>
          <p:cNvSpPr txBox="1"/>
          <p:nvPr/>
        </p:nvSpPr>
        <p:spPr>
          <a:xfrm>
            <a:off x="3379388" y="6163964"/>
            <a:ext cx="302895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spc="10" dirty="0">
                <a:latin typeface="Times New Roman"/>
                <a:cs typeface="Times New Roman"/>
              </a:rPr>
              <a:t>31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5DEAAEA-9A54-3148-9759-EB2BAD1AE90C}"/>
              </a:ext>
            </a:extLst>
          </p:cNvPr>
          <p:cNvSpPr txBox="1"/>
          <p:nvPr/>
        </p:nvSpPr>
        <p:spPr>
          <a:xfrm>
            <a:off x="5651776" y="4775855"/>
            <a:ext cx="1124585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27735" algn="l"/>
              </a:tabLst>
            </a:pPr>
            <a:r>
              <a:rPr sz="3700" spc="-50" dirty="0">
                <a:latin typeface="Symbol"/>
                <a:cs typeface="Symbol"/>
              </a:rPr>
              <a:t></a:t>
            </a:r>
            <a:r>
              <a:rPr sz="3700" spc="20" dirty="0">
                <a:latin typeface="Symbol"/>
                <a:cs typeface="Symbol"/>
              </a:rPr>
              <a:t></a:t>
            </a:r>
            <a:r>
              <a:rPr sz="3700" dirty="0">
                <a:latin typeface="Times New Roman"/>
                <a:cs typeface="Times New Roman"/>
              </a:rPr>
              <a:t>	</a:t>
            </a:r>
            <a:r>
              <a:rPr sz="3700" spc="20" dirty="0">
                <a:latin typeface="Symbol"/>
                <a:cs typeface="Symbol"/>
              </a:rPr>
              <a:t></a:t>
            </a:r>
            <a:endParaRPr sz="3700">
              <a:latin typeface="Symbol"/>
              <a:cs typeface="Symbo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932376-18F5-A243-8EDB-33F537AD16C6}"/>
              </a:ext>
            </a:extLst>
          </p:cNvPr>
          <p:cNvSpPr txBox="1"/>
          <p:nvPr/>
        </p:nvSpPr>
        <p:spPr>
          <a:xfrm>
            <a:off x="5302109" y="5977389"/>
            <a:ext cx="1474470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061085" algn="l"/>
              </a:tabLst>
            </a:pPr>
            <a:r>
              <a:rPr sz="3225" spc="22" baseline="1291" dirty="0">
                <a:latin typeface="Times New Roman"/>
                <a:cs typeface="Times New Roman"/>
              </a:rPr>
              <a:t>33</a:t>
            </a:r>
            <a:r>
              <a:rPr sz="3225" spc="37" baseline="1291" dirty="0">
                <a:latin typeface="Times New Roman"/>
                <a:cs typeface="Times New Roman"/>
              </a:rPr>
              <a:t> </a:t>
            </a:r>
            <a:r>
              <a:rPr sz="3700" spc="-15" dirty="0">
                <a:latin typeface="Symbol"/>
                <a:cs typeface="Symbol"/>
              </a:rPr>
              <a:t></a:t>
            </a:r>
            <a:r>
              <a:rPr sz="3700" spc="-15" dirty="0">
                <a:latin typeface="Times New Roman"/>
                <a:cs typeface="Times New Roman"/>
              </a:rPr>
              <a:t>	</a:t>
            </a:r>
            <a:r>
              <a:rPr sz="3225" spc="30" baseline="1291" dirty="0">
                <a:latin typeface="Times New Roman"/>
                <a:cs typeface="Times New Roman"/>
              </a:rPr>
              <a:t>3</a:t>
            </a:r>
            <a:r>
              <a:rPr sz="3225" spc="-22" baseline="1291" dirty="0">
                <a:latin typeface="Times New Roman"/>
                <a:cs typeface="Times New Roman"/>
              </a:rPr>
              <a:t> </a:t>
            </a:r>
            <a:r>
              <a:rPr sz="3700" spc="20" dirty="0">
                <a:latin typeface="Symbol"/>
                <a:cs typeface="Symbol"/>
              </a:rPr>
              <a:t></a:t>
            </a:r>
            <a:endParaRPr sz="3700">
              <a:latin typeface="Symbol"/>
              <a:cs typeface="Symbo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5FAF74E-DD85-2C42-B7DE-0B63836C1E1B}"/>
              </a:ext>
            </a:extLst>
          </p:cNvPr>
          <p:cNvSpPr txBox="1"/>
          <p:nvPr/>
        </p:nvSpPr>
        <p:spPr>
          <a:xfrm>
            <a:off x="2933133" y="4775855"/>
            <a:ext cx="208915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700" spc="20" dirty="0">
                <a:latin typeface="Symbol"/>
                <a:cs typeface="Symbol"/>
              </a:rPr>
              <a:t></a:t>
            </a:r>
            <a:endParaRPr sz="3700">
              <a:latin typeface="Symbol"/>
              <a:cs typeface="Symbo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F3FA8D0-E7CF-DE48-83D1-144A3E2204C0}"/>
              </a:ext>
            </a:extLst>
          </p:cNvPr>
          <p:cNvSpPr txBox="1"/>
          <p:nvPr/>
        </p:nvSpPr>
        <p:spPr>
          <a:xfrm>
            <a:off x="1549400" y="4775855"/>
            <a:ext cx="959485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62635" algn="l"/>
              </a:tabLst>
            </a:pPr>
            <a:r>
              <a:rPr sz="3700" spc="20" dirty="0">
                <a:latin typeface="Symbol"/>
                <a:cs typeface="Symbol"/>
              </a:rPr>
              <a:t></a:t>
            </a:r>
            <a:r>
              <a:rPr sz="3700" spc="20" dirty="0">
                <a:latin typeface="Times New Roman"/>
                <a:cs typeface="Times New Roman"/>
              </a:rPr>
              <a:t>	</a:t>
            </a:r>
            <a:r>
              <a:rPr sz="3700" spc="20" dirty="0">
                <a:latin typeface="Symbol"/>
                <a:cs typeface="Symbol"/>
              </a:rPr>
              <a:t></a:t>
            </a:r>
            <a:endParaRPr sz="3700">
              <a:latin typeface="Symbol"/>
              <a:cs typeface="Symbo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8D4C077-4DE8-9441-A431-484B086DDCBD}"/>
              </a:ext>
            </a:extLst>
          </p:cNvPr>
          <p:cNvSpPr txBox="1"/>
          <p:nvPr/>
        </p:nvSpPr>
        <p:spPr>
          <a:xfrm>
            <a:off x="1549400" y="5977389"/>
            <a:ext cx="1592580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44830" algn="l"/>
                <a:tab pos="1396365" algn="l"/>
              </a:tabLst>
            </a:pPr>
            <a:r>
              <a:rPr sz="3700" spc="20" dirty="0">
                <a:latin typeface="Symbol"/>
                <a:cs typeface="Symbol"/>
              </a:rPr>
              <a:t></a:t>
            </a:r>
            <a:r>
              <a:rPr sz="3700" spc="20" dirty="0">
                <a:latin typeface="Times New Roman"/>
                <a:cs typeface="Times New Roman"/>
              </a:rPr>
              <a:t>	</a:t>
            </a:r>
            <a:r>
              <a:rPr sz="3225" spc="30" baseline="1291" dirty="0">
                <a:latin typeface="Times New Roman"/>
                <a:cs typeface="Times New Roman"/>
              </a:rPr>
              <a:t>3</a:t>
            </a:r>
            <a:r>
              <a:rPr sz="3225" spc="112" baseline="1291" dirty="0">
                <a:latin typeface="Times New Roman"/>
                <a:cs typeface="Times New Roman"/>
              </a:rPr>
              <a:t> </a:t>
            </a:r>
            <a:r>
              <a:rPr sz="3700" spc="20" dirty="0">
                <a:latin typeface="Symbol"/>
                <a:cs typeface="Symbol"/>
              </a:rPr>
              <a:t></a:t>
            </a:r>
            <a:r>
              <a:rPr sz="3700" dirty="0">
                <a:latin typeface="Times New Roman"/>
                <a:cs typeface="Times New Roman"/>
              </a:rPr>
              <a:t>	</a:t>
            </a:r>
            <a:r>
              <a:rPr sz="3700" spc="20" dirty="0">
                <a:latin typeface="Symbol"/>
                <a:cs typeface="Symbol"/>
              </a:rPr>
              <a:t></a:t>
            </a:r>
            <a:endParaRPr sz="3700">
              <a:latin typeface="Symbol"/>
              <a:cs typeface="Symbo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20F943D-D0D3-2748-BD88-1A946365F0E5}"/>
              </a:ext>
            </a:extLst>
          </p:cNvPr>
          <p:cNvSpPr txBox="1"/>
          <p:nvPr/>
        </p:nvSpPr>
        <p:spPr>
          <a:xfrm>
            <a:off x="5626376" y="5676523"/>
            <a:ext cx="1175385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953135" algn="l"/>
              </a:tabLst>
            </a:pPr>
            <a:r>
              <a:rPr sz="3700" spc="-15" dirty="0">
                <a:latin typeface="Symbol"/>
                <a:cs typeface="Symbol"/>
              </a:rPr>
              <a:t></a:t>
            </a:r>
            <a:r>
              <a:rPr sz="3700" spc="-10" dirty="0">
                <a:latin typeface="Times New Roman"/>
                <a:cs typeface="Times New Roman"/>
              </a:rPr>
              <a:t> </a:t>
            </a:r>
            <a:r>
              <a:rPr sz="5550" i="1" spc="44" baseline="-20270" dirty="0">
                <a:latin typeface="Times New Roman"/>
                <a:cs typeface="Times New Roman"/>
              </a:rPr>
              <a:t>p	</a:t>
            </a:r>
            <a:r>
              <a:rPr sz="3700" spc="20" dirty="0">
                <a:latin typeface="Symbol"/>
                <a:cs typeface="Symbol"/>
              </a:rPr>
              <a:t></a:t>
            </a:r>
            <a:endParaRPr sz="3700">
              <a:latin typeface="Symbol"/>
              <a:cs typeface="Symbo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C6E27BB-9BE7-214D-94BD-717A107CAD11}"/>
              </a:ext>
            </a:extLst>
          </p:cNvPr>
          <p:cNvSpPr txBox="1"/>
          <p:nvPr/>
        </p:nvSpPr>
        <p:spPr>
          <a:xfrm>
            <a:off x="4122862" y="5850468"/>
            <a:ext cx="1207770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82344" algn="l"/>
              </a:tabLst>
            </a:pPr>
            <a:r>
              <a:rPr sz="3700" i="1" spc="25" dirty="0">
                <a:latin typeface="Times New Roman"/>
                <a:cs typeface="Times New Roman"/>
              </a:rPr>
              <a:t>k	k</a:t>
            </a:r>
            <a:endParaRPr sz="37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D33BA55B-F529-904D-9DE1-AEDE26D9772B}"/>
              </a:ext>
            </a:extLst>
          </p:cNvPr>
          <p:cNvSpPr txBox="1"/>
          <p:nvPr/>
        </p:nvSpPr>
        <p:spPr>
          <a:xfrm>
            <a:off x="2907733" y="5676523"/>
            <a:ext cx="525780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700" spc="20" dirty="0">
                <a:latin typeface="Symbol"/>
                <a:cs typeface="Symbol"/>
              </a:rPr>
              <a:t></a:t>
            </a:r>
            <a:r>
              <a:rPr sz="3700" spc="-505" dirty="0">
                <a:latin typeface="Times New Roman"/>
                <a:cs typeface="Times New Roman"/>
              </a:rPr>
              <a:t> </a:t>
            </a:r>
            <a:r>
              <a:rPr sz="5550" i="1" spc="37" baseline="-20270" dirty="0">
                <a:latin typeface="Times New Roman"/>
                <a:cs typeface="Times New Roman"/>
              </a:rPr>
              <a:t>k</a:t>
            </a:r>
            <a:endParaRPr sz="5550" baseline="-20270">
              <a:latin typeface="Times New Roman"/>
              <a:cs typeface="Times New Roman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A1BC728D-7C40-7D42-B254-F06993F78729}"/>
              </a:ext>
            </a:extLst>
          </p:cNvPr>
          <p:cNvSpPr txBox="1"/>
          <p:nvPr/>
        </p:nvSpPr>
        <p:spPr>
          <a:xfrm>
            <a:off x="5064548" y="5145354"/>
            <a:ext cx="3177540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700" i="1" spc="30" dirty="0">
                <a:latin typeface="Times New Roman"/>
                <a:cs typeface="Times New Roman"/>
              </a:rPr>
              <a:t>k</a:t>
            </a:r>
            <a:r>
              <a:rPr sz="3225" spc="44" baseline="-24547" dirty="0">
                <a:latin typeface="Times New Roman"/>
                <a:cs typeface="Times New Roman"/>
              </a:rPr>
              <a:t>23</a:t>
            </a:r>
            <a:r>
              <a:rPr sz="3225" spc="-44" baseline="-24547" dirty="0">
                <a:latin typeface="Times New Roman"/>
                <a:cs typeface="Times New Roman"/>
              </a:rPr>
              <a:t> </a:t>
            </a:r>
            <a:r>
              <a:rPr sz="5550" spc="-22" baseline="-9759" dirty="0">
                <a:latin typeface="Symbol"/>
                <a:cs typeface="Symbol"/>
              </a:rPr>
              <a:t></a:t>
            </a:r>
            <a:r>
              <a:rPr sz="5550" spc="-142" baseline="-9759" dirty="0">
                <a:latin typeface="Times New Roman"/>
                <a:cs typeface="Times New Roman"/>
              </a:rPr>
              <a:t> </a:t>
            </a:r>
            <a:r>
              <a:rPr sz="3700" i="1" spc="-5" dirty="0">
                <a:latin typeface="Times New Roman"/>
                <a:cs typeface="Times New Roman"/>
              </a:rPr>
              <a:t>p</a:t>
            </a:r>
            <a:r>
              <a:rPr sz="3225" spc="-7" baseline="-24547" dirty="0">
                <a:latin typeface="Times New Roman"/>
                <a:cs typeface="Times New Roman"/>
              </a:rPr>
              <a:t>2</a:t>
            </a:r>
            <a:r>
              <a:rPr sz="3225" spc="82" baseline="-24547" dirty="0">
                <a:latin typeface="Times New Roman"/>
                <a:cs typeface="Times New Roman"/>
              </a:rPr>
              <a:t> </a:t>
            </a:r>
            <a:r>
              <a:rPr sz="5550" spc="262" baseline="-9759" dirty="0">
                <a:latin typeface="Symbol"/>
                <a:cs typeface="Symbol"/>
              </a:rPr>
              <a:t></a:t>
            </a:r>
            <a:r>
              <a:rPr sz="3700" spc="175" dirty="0">
                <a:latin typeface="Times New Roman"/>
                <a:cs typeface="Times New Roman"/>
              </a:rPr>
              <a:t>mod26</a:t>
            </a:r>
            <a:endParaRPr sz="3700" dirty="0">
              <a:latin typeface="Times New Roman"/>
              <a:cs typeface="Times New Roman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771DB6C-606B-D642-A84E-FE6050617B47}"/>
              </a:ext>
            </a:extLst>
          </p:cNvPr>
          <p:cNvSpPr txBox="1"/>
          <p:nvPr/>
        </p:nvSpPr>
        <p:spPr>
          <a:xfrm>
            <a:off x="5078873" y="4475020"/>
            <a:ext cx="1722755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5550" i="1" spc="-67" baseline="3753" dirty="0">
                <a:latin typeface="Times New Roman"/>
                <a:cs typeface="Times New Roman"/>
              </a:rPr>
              <a:t>k</a:t>
            </a:r>
            <a:r>
              <a:rPr sz="3225" spc="-67" baseline="-16795" dirty="0">
                <a:latin typeface="Times New Roman"/>
                <a:cs typeface="Times New Roman"/>
              </a:rPr>
              <a:t>13</a:t>
            </a:r>
            <a:r>
              <a:rPr sz="3225" spc="127" baseline="-16795" dirty="0">
                <a:latin typeface="Times New Roman"/>
                <a:cs typeface="Times New Roman"/>
              </a:rPr>
              <a:t> </a:t>
            </a:r>
            <a:r>
              <a:rPr sz="3700" spc="-15" dirty="0">
                <a:latin typeface="Symbol"/>
                <a:cs typeface="Symbol"/>
              </a:rPr>
              <a:t></a:t>
            </a:r>
            <a:r>
              <a:rPr sz="3700" spc="95" dirty="0">
                <a:latin typeface="Times New Roman"/>
                <a:cs typeface="Times New Roman"/>
              </a:rPr>
              <a:t> </a:t>
            </a:r>
            <a:r>
              <a:rPr sz="5550" i="1" spc="-187" baseline="3753" dirty="0">
                <a:latin typeface="Times New Roman"/>
                <a:cs typeface="Times New Roman"/>
              </a:rPr>
              <a:t>p</a:t>
            </a:r>
            <a:r>
              <a:rPr sz="3225" spc="-187" baseline="-16795" dirty="0">
                <a:latin typeface="Times New Roman"/>
                <a:cs typeface="Times New Roman"/>
              </a:rPr>
              <a:t>1</a:t>
            </a:r>
            <a:r>
              <a:rPr sz="3225" spc="135" baseline="-16795" dirty="0">
                <a:latin typeface="Times New Roman"/>
                <a:cs typeface="Times New Roman"/>
              </a:rPr>
              <a:t> </a:t>
            </a:r>
            <a:r>
              <a:rPr sz="3700" spc="20" dirty="0">
                <a:latin typeface="Symbol"/>
                <a:cs typeface="Symbol"/>
              </a:rPr>
              <a:t></a:t>
            </a:r>
            <a:endParaRPr sz="3700" dirty="0">
              <a:latin typeface="Symbol"/>
              <a:cs typeface="Symbo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52774A9B-972C-074C-99F5-4E62F03F6FCC}"/>
              </a:ext>
            </a:extLst>
          </p:cNvPr>
          <p:cNvSpPr txBox="1"/>
          <p:nvPr/>
        </p:nvSpPr>
        <p:spPr>
          <a:xfrm>
            <a:off x="2895033" y="4417900"/>
            <a:ext cx="1781175" cy="210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5710" marR="43180" indent="-1185545" algn="r">
              <a:lnSpc>
                <a:spcPct val="125000"/>
              </a:lnSpc>
              <a:spcBef>
                <a:spcPts val="100"/>
              </a:spcBef>
              <a:tabLst>
                <a:tab pos="1250950" algn="l"/>
              </a:tabLst>
            </a:pPr>
            <a:r>
              <a:rPr sz="5550" spc="30" baseline="9759" dirty="0">
                <a:latin typeface="Symbol"/>
                <a:cs typeface="Symbol"/>
              </a:rPr>
              <a:t></a:t>
            </a:r>
            <a:r>
              <a:rPr sz="5550" spc="-622" baseline="9759" dirty="0">
                <a:latin typeface="Times New Roman"/>
                <a:cs typeface="Times New Roman"/>
              </a:rPr>
              <a:t> </a:t>
            </a:r>
            <a:r>
              <a:rPr sz="5550" i="1" spc="-270" baseline="14264" dirty="0">
                <a:latin typeface="Times New Roman"/>
                <a:cs typeface="Times New Roman"/>
              </a:rPr>
              <a:t>k</a:t>
            </a:r>
            <a:r>
              <a:rPr sz="2150" spc="10" dirty="0">
                <a:latin typeface="Times New Roman"/>
                <a:cs typeface="Times New Roman"/>
              </a:rPr>
              <a:t>1</a:t>
            </a:r>
            <a:r>
              <a:rPr sz="2150" spc="20" dirty="0">
                <a:latin typeface="Times New Roman"/>
                <a:cs typeface="Times New Roman"/>
              </a:rPr>
              <a:t>1</a:t>
            </a:r>
            <a:r>
              <a:rPr sz="2150" dirty="0">
                <a:latin typeface="Times New Roman"/>
                <a:cs typeface="Times New Roman"/>
              </a:rPr>
              <a:t>		</a:t>
            </a:r>
            <a:r>
              <a:rPr sz="5550" i="1" spc="-254" baseline="14264" dirty="0">
                <a:latin typeface="Times New Roman"/>
                <a:cs typeface="Times New Roman"/>
              </a:rPr>
              <a:t>k</a:t>
            </a:r>
            <a:r>
              <a:rPr sz="2150" spc="5" dirty="0">
                <a:latin typeface="Times New Roman"/>
                <a:cs typeface="Times New Roman"/>
              </a:rPr>
              <a:t>12  </a:t>
            </a:r>
            <a:r>
              <a:rPr sz="5550" i="1" spc="89" baseline="14264" dirty="0">
                <a:latin typeface="Times New Roman"/>
                <a:cs typeface="Times New Roman"/>
              </a:rPr>
              <a:t>k</a:t>
            </a:r>
            <a:r>
              <a:rPr sz="2150" spc="10" dirty="0">
                <a:latin typeface="Times New Roman"/>
                <a:cs typeface="Times New Roman"/>
              </a:rPr>
              <a:t>22</a:t>
            </a:r>
            <a:endParaRPr sz="2150" dirty="0">
              <a:latin typeface="Times New Roman"/>
              <a:cs typeface="Times New Roman"/>
            </a:endParaRPr>
          </a:p>
          <a:p>
            <a:pPr marR="46990" algn="r">
              <a:lnSpc>
                <a:spcPct val="100000"/>
              </a:lnSpc>
              <a:spcBef>
                <a:spcPts val="2660"/>
              </a:spcBef>
            </a:pPr>
            <a:r>
              <a:rPr sz="2150" spc="10" dirty="0">
                <a:latin typeface="Times New Roman"/>
                <a:cs typeface="Times New Roman"/>
              </a:rPr>
              <a:t>32</a:t>
            </a:r>
            <a:endParaRPr sz="2150" dirty="0">
              <a:latin typeface="Times New Roman"/>
              <a:cs typeface="Times New Roman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799BADF-438A-C04C-A24B-0709D1C741C4}"/>
              </a:ext>
            </a:extLst>
          </p:cNvPr>
          <p:cNvSpPr txBox="1"/>
          <p:nvPr/>
        </p:nvSpPr>
        <p:spPr>
          <a:xfrm>
            <a:off x="1524000" y="5676523"/>
            <a:ext cx="1010285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788035" algn="l"/>
              </a:tabLst>
            </a:pPr>
            <a:r>
              <a:rPr sz="3700" spc="20" dirty="0">
                <a:latin typeface="Symbol"/>
                <a:cs typeface="Symbol"/>
              </a:rPr>
              <a:t></a:t>
            </a:r>
            <a:r>
              <a:rPr sz="3700" spc="-580" dirty="0">
                <a:latin typeface="Times New Roman"/>
                <a:cs typeface="Times New Roman"/>
              </a:rPr>
              <a:t> </a:t>
            </a:r>
            <a:r>
              <a:rPr sz="5550" i="1" spc="60" baseline="-20270" dirty="0">
                <a:latin typeface="Times New Roman"/>
                <a:cs typeface="Times New Roman"/>
              </a:rPr>
              <a:t>C	</a:t>
            </a:r>
            <a:r>
              <a:rPr sz="3700" spc="20" dirty="0">
                <a:latin typeface="Symbol"/>
                <a:cs typeface="Symbol"/>
              </a:rPr>
              <a:t></a:t>
            </a:r>
            <a:endParaRPr sz="3700">
              <a:latin typeface="Symbol"/>
              <a:cs typeface="Symbo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4B896F30-E043-4F45-A18C-D4827D114D5F}"/>
              </a:ext>
            </a:extLst>
          </p:cNvPr>
          <p:cNvSpPr txBox="1"/>
          <p:nvPr/>
        </p:nvSpPr>
        <p:spPr>
          <a:xfrm>
            <a:off x="1524000" y="5145354"/>
            <a:ext cx="2188210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5550" spc="442" baseline="-9759" dirty="0">
                <a:latin typeface="Symbol"/>
                <a:cs typeface="Symbol"/>
              </a:rPr>
              <a:t></a:t>
            </a:r>
            <a:r>
              <a:rPr sz="3700" i="1" spc="-5" dirty="0">
                <a:latin typeface="Times New Roman"/>
                <a:cs typeface="Times New Roman"/>
              </a:rPr>
              <a:t>C</a:t>
            </a:r>
            <a:r>
              <a:rPr sz="3225" spc="30" baseline="-24547" dirty="0">
                <a:latin typeface="Times New Roman"/>
                <a:cs typeface="Times New Roman"/>
              </a:rPr>
              <a:t>2</a:t>
            </a:r>
            <a:r>
              <a:rPr sz="3225" spc="112" baseline="-24547" dirty="0">
                <a:latin typeface="Times New Roman"/>
                <a:cs typeface="Times New Roman"/>
              </a:rPr>
              <a:t> </a:t>
            </a:r>
            <a:r>
              <a:rPr sz="5550" spc="30" baseline="-9759" dirty="0">
                <a:latin typeface="Symbol"/>
                <a:cs typeface="Symbol"/>
              </a:rPr>
              <a:t></a:t>
            </a:r>
            <a:r>
              <a:rPr sz="5550" spc="-202" baseline="-9759" dirty="0">
                <a:latin typeface="Times New Roman"/>
                <a:cs typeface="Times New Roman"/>
              </a:rPr>
              <a:t> </a:t>
            </a:r>
            <a:r>
              <a:rPr sz="3700" spc="30" dirty="0">
                <a:latin typeface="Symbol"/>
                <a:cs typeface="Symbol"/>
              </a:rPr>
              <a:t></a:t>
            </a:r>
            <a:r>
              <a:rPr sz="3700" spc="-240" dirty="0">
                <a:latin typeface="Times New Roman"/>
                <a:cs typeface="Times New Roman"/>
              </a:rPr>
              <a:t> </a:t>
            </a:r>
            <a:r>
              <a:rPr sz="5550" spc="30" baseline="-9759" dirty="0">
                <a:latin typeface="Symbol"/>
                <a:cs typeface="Symbol"/>
              </a:rPr>
              <a:t></a:t>
            </a:r>
            <a:r>
              <a:rPr sz="5550" spc="-802" baseline="-9759" dirty="0">
                <a:latin typeface="Times New Roman"/>
                <a:cs typeface="Times New Roman"/>
              </a:rPr>
              <a:t> </a:t>
            </a:r>
            <a:r>
              <a:rPr sz="3700" i="1" spc="70" dirty="0">
                <a:latin typeface="Times New Roman"/>
                <a:cs typeface="Times New Roman"/>
              </a:rPr>
              <a:t>k</a:t>
            </a:r>
            <a:r>
              <a:rPr sz="3225" spc="15" baseline="-24547" dirty="0">
                <a:latin typeface="Times New Roman"/>
                <a:cs typeface="Times New Roman"/>
              </a:rPr>
              <a:t>21</a:t>
            </a:r>
            <a:endParaRPr sz="3225" baseline="-24547" dirty="0">
              <a:latin typeface="Times New Roman"/>
              <a:cs typeface="Times New Roman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036A0BC5-740F-3E4B-A4E0-87E266F993C8}"/>
              </a:ext>
            </a:extLst>
          </p:cNvPr>
          <p:cNvSpPr txBox="1"/>
          <p:nvPr/>
        </p:nvSpPr>
        <p:spPr>
          <a:xfrm>
            <a:off x="1524000" y="4475020"/>
            <a:ext cx="1010285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700" spc="20" dirty="0">
                <a:latin typeface="Symbol"/>
                <a:cs typeface="Symbol"/>
              </a:rPr>
              <a:t></a:t>
            </a:r>
            <a:r>
              <a:rPr sz="3700" spc="-445" dirty="0">
                <a:latin typeface="Times New Roman"/>
                <a:cs typeface="Times New Roman"/>
              </a:rPr>
              <a:t> </a:t>
            </a:r>
            <a:r>
              <a:rPr sz="5550" i="1" spc="-367" baseline="3753" dirty="0">
                <a:latin typeface="Times New Roman"/>
                <a:cs typeface="Times New Roman"/>
              </a:rPr>
              <a:t>C</a:t>
            </a:r>
            <a:r>
              <a:rPr sz="3225" spc="30" baseline="-16795" dirty="0">
                <a:latin typeface="Times New Roman"/>
                <a:cs typeface="Times New Roman"/>
              </a:rPr>
              <a:t>1</a:t>
            </a:r>
            <a:r>
              <a:rPr sz="3225" spc="172" baseline="-16795" dirty="0">
                <a:latin typeface="Times New Roman"/>
                <a:cs typeface="Times New Roman"/>
              </a:rPr>
              <a:t> </a:t>
            </a:r>
            <a:r>
              <a:rPr sz="3700" spc="20" dirty="0">
                <a:latin typeface="Symbol"/>
                <a:cs typeface="Symbol"/>
              </a:rPr>
              <a:t></a:t>
            </a:r>
            <a:endParaRPr sz="3700" dirty="0">
              <a:latin typeface="Symbol"/>
              <a:cs typeface="Symbol"/>
            </a:endParaRPr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id="{3C8C9EFE-6C4D-E048-AAE2-B3CDA4E54EA4}"/>
              </a:ext>
            </a:extLst>
          </p:cNvPr>
          <p:cNvSpPr txBox="1">
            <a:spLocks/>
          </p:cNvSpPr>
          <p:nvPr/>
        </p:nvSpPr>
        <p:spPr>
          <a:xfrm>
            <a:off x="3096895" y="247345"/>
            <a:ext cx="29591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GB" sz="5400" kern="0" dirty="0">
                <a:solidFill>
                  <a:sysClr val="windowText" lastClr="000000"/>
                </a:solidFill>
              </a:rPr>
              <a:t>Hill</a:t>
            </a:r>
            <a:r>
              <a:rPr lang="en-GB" sz="5400" kern="0" spc="-85" dirty="0">
                <a:solidFill>
                  <a:sysClr val="windowText" lastClr="000000"/>
                </a:solidFill>
              </a:rPr>
              <a:t> </a:t>
            </a:r>
            <a:r>
              <a:rPr lang="en-GB" sz="5400" kern="0" spc="-5" dirty="0">
                <a:solidFill>
                  <a:sysClr val="windowText" lastClr="000000"/>
                </a:solidFill>
              </a:rPr>
              <a:t>Cipher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">
            <a:extLst>
              <a:ext uri="{FF2B5EF4-FFF2-40B4-BE49-F238E27FC236}">
                <a16:creationId xmlns:a16="http://schemas.microsoft.com/office/drawing/2014/main" id="{F94BA201-5144-5F47-BED1-0CD42FE6A50F}"/>
              </a:ext>
            </a:extLst>
          </p:cNvPr>
          <p:cNvSpPr txBox="1">
            <a:spLocks/>
          </p:cNvSpPr>
          <p:nvPr/>
        </p:nvSpPr>
        <p:spPr>
          <a:xfrm>
            <a:off x="3096895" y="247345"/>
            <a:ext cx="29591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GB" sz="5400" kern="0" dirty="0">
                <a:solidFill>
                  <a:sysClr val="windowText" lastClr="000000"/>
                </a:solidFill>
              </a:rPr>
              <a:t>Hill</a:t>
            </a:r>
            <a:r>
              <a:rPr lang="en-GB" sz="5400" kern="0" spc="-85" dirty="0">
                <a:solidFill>
                  <a:sysClr val="windowText" lastClr="000000"/>
                </a:solidFill>
              </a:rPr>
              <a:t> </a:t>
            </a:r>
            <a:r>
              <a:rPr lang="en-GB" sz="5400" kern="0" spc="-5" dirty="0">
                <a:solidFill>
                  <a:sysClr val="windowText" lastClr="000000"/>
                </a:solidFill>
              </a:rPr>
              <a:t>Cipher</a:t>
            </a: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205FCB1C-CFE8-AE45-B6DC-BEE529B35CD9}"/>
              </a:ext>
            </a:extLst>
          </p:cNvPr>
          <p:cNvSpPr txBox="1"/>
          <p:nvPr/>
        </p:nvSpPr>
        <p:spPr>
          <a:xfrm>
            <a:off x="218147" y="1904229"/>
            <a:ext cx="816864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marR="17780" indent="-368300">
              <a:lnSpc>
                <a:spcPct val="100000"/>
              </a:lnSpc>
              <a:spcBef>
                <a:spcPts val="95"/>
              </a:spcBef>
              <a:buClr>
                <a:schemeClr val="tx1"/>
              </a:buClr>
              <a:buChar char="•"/>
              <a:tabLst>
                <a:tab pos="368300" algn="l"/>
              </a:tabLst>
            </a:pPr>
            <a:r>
              <a:rPr sz="2800" spc="-5" dirty="0">
                <a:latin typeface="Candara"/>
                <a:cs typeface="Candara"/>
              </a:rPr>
              <a:t>Decryption requires</a:t>
            </a:r>
            <a:r>
              <a:rPr sz="2800" spc="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that the</a:t>
            </a:r>
            <a:r>
              <a:rPr sz="2800" spc="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key</a:t>
            </a:r>
            <a:r>
              <a:rPr sz="2800" spc="1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K</a:t>
            </a:r>
            <a:r>
              <a:rPr sz="2800" spc="2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be</a:t>
            </a:r>
            <a:r>
              <a:rPr sz="2800" spc="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invertible,</a:t>
            </a:r>
            <a:r>
              <a:rPr sz="2800" spc="-1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i.e., </a:t>
            </a:r>
            <a:r>
              <a:rPr sz="2800" spc="-590" dirty="0">
                <a:latin typeface="Candara"/>
                <a:cs typeface="Candara"/>
              </a:rPr>
              <a:t> </a:t>
            </a:r>
            <a:r>
              <a:rPr sz="2800" dirty="0">
                <a:latin typeface="Candara"/>
                <a:cs typeface="Candara"/>
              </a:rPr>
              <a:t>K</a:t>
            </a:r>
            <a:r>
              <a:rPr sz="2775" baseline="25525" dirty="0">
                <a:latin typeface="Candara"/>
                <a:cs typeface="Candara"/>
              </a:rPr>
              <a:t>-1</a:t>
            </a:r>
            <a:r>
              <a:rPr sz="2775" spc="7" baseline="25525" dirty="0">
                <a:latin typeface="Candara"/>
                <a:cs typeface="Candara"/>
              </a:rPr>
              <a:t> </a:t>
            </a:r>
            <a:r>
              <a:rPr sz="2800" spc="-10" dirty="0">
                <a:latin typeface="Candara"/>
                <a:cs typeface="Candara"/>
              </a:rPr>
              <a:t>(mod</a:t>
            </a:r>
            <a:r>
              <a:rPr sz="2800" spc="-5" dirty="0">
                <a:latin typeface="Candara"/>
                <a:cs typeface="Candara"/>
              </a:rPr>
              <a:t> 26)=P</a:t>
            </a:r>
            <a:endParaRPr sz="2800" dirty="0">
              <a:latin typeface="Candara"/>
              <a:cs typeface="Candara"/>
            </a:endParaRP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E4061B1F-F9DE-4647-A23A-4CBF8AD72BE1}"/>
              </a:ext>
            </a:extLst>
          </p:cNvPr>
          <p:cNvSpPr txBox="1"/>
          <p:nvPr/>
        </p:nvSpPr>
        <p:spPr>
          <a:xfrm>
            <a:off x="329590" y="3596132"/>
            <a:ext cx="794575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Clr>
                <a:schemeClr val="tx1"/>
              </a:buClr>
              <a:buChar char="•"/>
              <a:tabLst>
                <a:tab pos="355600" algn="l"/>
              </a:tabLst>
            </a:pPr>
            <a:r>
              <a:rPr sz="2800" spc="-10" dirty="0">
                <a:latin typeface="Candara"/>
                <a:cs typeface="Candara"/>
              </a:rPr>
              <a:t>The </a:t>
            </a:r>
            <a:r>
              <a:rPr sz="2800" spc="-5" dirty="0">
                <a:latin typeface="Candara"/>
                <a:cs typeface="Candara"/>
              </a:rPr>
              <a:t>problem is the Hill </a:t>
            </a:r>
            <a:r>
              <a:rPr sz="2800" spc="-10" dirty="0">
                <a:latin typeface="Candara"/>
                <a:cs typeface="Candara"/>
              </a:rPr>
              <a:t>cipher </a:t>
            </a:r>
            <a:r>
              <a:rPr sz="2800" spc="-5" dirty="0">
                <a:latin typeface="Candara"/>
                <a:cs typeface="Candara"/>
              </a:rPr>
              <a:t>is subject to a </a:t>
            </a:r>
            <a:r>
              <a:rPr sz="2800" spc="-10" dirty="0">
                <a:latin typeface="Candara"/>
                <a:cs typeface="Candara"/>
              </a:rPr>
              <a:t>known </a:t>
            </a:r>
            <a:r>
              <a:rPr sz="2800" spc="-59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plaintext attack: </a:t>
            </a:r>
            <a:r>
              <a:rPr sz="2800" spc="-10" dirty="0">
                <a:latin typeface="Candara"/>
                <a:cs typeface="Candara"/>
              </a:rPr>
              <a:t>we </a:t>
            </a:r>
            <a:r>
              <a:rPr sz="2800" spc="-5" dirty="0">
                <a:latin typeface="Candara"/>
                <a:cs typeface="Candara"/>
              </a:rPr>
              <a:t>choose the plaintext and they 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spc="-10" dirty="0">
                <a:latin typeface="Candara"/>
                <a:cs typeface="Candara"/>
              </a:rPr>
              <a:t>cipher</a:t>
            </a:r>
            <a:r>
              <a:rPr sz="2800" spc="-5" dirty="0">
                <a:latin typeface="Candara"/>
                <a:cs typeface="Candara"/>
              </a:rPr>
              <a:t> it</a:t>
            </a:r>
            <a:r>
              <a:rPr sz="2800" spc="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for</a:t>
            </a:r>
            <a:r>
              <a:rPr sz="2800" spc="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us.</a:t>
            </a:r>
            <a:endParaRPr sz="2800" dirty="0">
              <a:latin typeface="Candara"/>
              <a:cs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3180405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93444" y="715518"/>
            <a:ext cx="4390390" cy="2884123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Monoalphabetic</a:t>
            </a:r>
            <a:r>
              <a:rPr sz="2400" spc="105" dirty="0">
                <a:latin typeface="Cambria"/>
                <a:cs typeface="Cambria"/>
              </a:rPr>
              <a:t> 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105" dirty="0">
                <a:latin typeface="Cambria"/>
                <a:cs typeface="Cambria"/>
              </a:rPr>
              <a:t>Caesar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70" dirty="0">
                <a:latin typeface="Cambria"/>
                <a:cs typeface="Cambria"/>
              </a:rPr>
              <a:t>Affine</a:t>
            </a:r>
            <a:r>
              <a:rPr sz="1800" spc="85" dirty="0">
                <a:latin typeface="Cambria"/>
                <a:cs typeface="Cambria"/>
              </a:rPr>
              <a:t> Cipher</a:t>
            </a:r>
            <a:endParaRPr sz="18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DF752E"/>
              </a:buClr>
              <a:buFont typeface="Wingdings"/>
              <a:buChar char=""/>
            </a:pPr>
            <a:endParaRPr sz="27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Polyalphabetic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85" dirty="0">
                <a:latin typeface="Cambria"/>
                <a:cs typeface="Cambria"/>
              </a:rPr>
              <a:t>Playfair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114" dirty="0">
                <a:latin typeface="Cambria"/>
                <a:cs typeface="Cambria"/>
              </a:rPr>
              <a:t>Hill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65" dirty="0" err="1">
                <a:solidFill>
                  <a:srgbClr val="FF0000"/>
                </a:solidFill>
                <a:latin typeface="Cambria"/>
                <a:cs typeface="Cambria"/>
              </a:rPr>
              <a:t>Vigenere</a:t>
            </a:r>
            <a:r>
              <a:rPr sz="1800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FF0000"/>
                </a:solidFill>
                <a:latin typeface="Cambria"/>
                <a:cs typeface="Cambria"/>
              </a:rPr>
              <a:t>Cipher</a:t>
            </a:r>
            <a:endParaRPr sz="2700" dirty="0">
              <a:solidFill>
                <a:srgbClr val="FF0000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6736692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790575"/>
            <a:ext cx="7867650" cy="52768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09600"/>
            <a:ext cx="7810500" cy="52863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875" y="1009650"/>
            <a:ext cx="7724775" cy="29622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938212"/>
            <a:ext cx="7743825" cy="498157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533400"/>
            <a:ext cx="6705600" cy="420052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90550"/>
            <a:ext cx="7219950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240284"/>
            <a:ext cx="4746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10" dirty="0"/>
              <a:t>2.</a:t>
            </a:r>
            <a:r>
              <a:rPr sz="3000" spc="160" dirty="0"/>
              <a:t> </a:t>
            </a:r>
            <a:r>
              <a:rPr sz="3000" spc="254" dirty="0"/>
              <a:t>T</a:t>
            </a:r>
            <a:r>
              <a:rPr spc="254" dirty="0"/>
              <a:t>RANSPOSITION</a:t>
            </a:r>
            <a:r>
              <a:rPr spc="310" dirty="0"/>
              <a:t> </a:t>
            </a:r>
            <a:r>
              <a:rPr sz="3000" spc="305" dirty="0"/>
              <a:t>C</a:t>
            </a:r>
            <a:r>
              <a:rPr spc="305" dirty="0"/>
              <a:t>IPHERS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93444" y="1247902"/>
            <a:ext cx="5835015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5" dirty="0">
                <a:solidFill>
                  <a:srgbClr val="FF0000"/>
                </a:solidFill>
                <a:latin typeface="Cambria"/>
                <a:cs typeface="Cambria"/>
              </a:rPr>
              <a:t>Rail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5" dirty="0" err="1">
                <a:solidFill>
                  <a:srgbClr val="FF0000"/>
                </a:solidFill>
                <a:latin typeface="Cambria"/>
                <a:cs typeface="Cambria"/>
              </a:rPr>
              <a:t>Fenc</a:t>
            </a:r>
            <a:r>
              <a:rPr lang="en-GB" sz="2400" spc="95" dirty="0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endParaRPr lang="en-US" sz="2400" spc="95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lang="en-US" sz="2400" spc="95" dirty="0">
                <a:latin typeface="Cambria"/>
                <a:cs typeface="Cambria"/>
              </a:rPr>
              <a:t>Row Transposition</a:t>
            </a:r>
            <a:endParaRPr sz="345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75" dirty="0">
                <a:latin typeface="Cambria"/>
                <a:cs typeface="Cambria"/>
              </a:rPr>
              <a:t>Rotormachine</a:t>
            </a:r>
            <a:endParaRPr sz="24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5869674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965" y="269541"/>
            <a:ext cx="7402902" cy="505659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240284"/>
            <a:ext cx="4746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10" dirty="0"/>
              <a:t>2.</a:t>
            </a:r>
            <a:r>
              <a:rPr sz="3000" spc="160" dirty="0"/>
              <a:t> </a:t>
            </a:r>
            <a:r>
              <a:rPr sz="3000" spc="254" dirty="0"/>
              <a:t>T</a:t>
            </a:r>
            <a:r>
              <a:rPr spc="254" dirty="0"/>
              <a:t>RANSPOSITION</a:t>
            </a:r>
            <a:r>
              <a:rPr spc="310" dirty="0"/>
              <a:t> </a:t>
            </a:r>
            <a:r>
              <a:rPr sz="3000" spc="305" dirty="0"/>
              <a:t>C</a:t>
            </a:r>
            <a:r>
              <a:rPr spc="305" dirty="0"/>
              <a:t>IPHERS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93444" y="1247902"/>
            <a:ext cx="5835015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5" dirty="0">
                <a:latin typeface="Cambria"/>
                <a:cs typeface="Cambria"/>
              </a:rPr>
              <a:t>Rail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95" dirty="0" err="1">
                <a:latin typeface="Cambria"/>
                <a:cs typeface="Cambria"/>
              </a:rPr>
              <a:t>Fenc</a:t>
            </a:r>
            <a:r>
              <a:rPr lang="en-GB" sz="2400" spc="95" dirty="0">
                <a:latin typeface="Cambria"/>
                <a:cs typeface="Cambria"/>
              </a:rPr>
              <a:t>e</a:t>
            </a:r>
            <a:endParaRPr lang="en-US" sz="2400" spc="95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lang="en-US" sz="2400" spc="95" dirty="0">
                <a:solidFill>
                  <a:srgbClr val="FF0000"/>
                </a:solidFill>
                <a:latin typeface="Cambria"/>
                <a:cs typeface="Cambria"/>
              </a:rPr>
              <a:t>Row Transposition</a:t>
            </a:r>
            <a:endParaRPr sz="345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75" dirty="0">
                <a:latin typeface="Cambria"/>
                <a:cs typeface="Cambria"/>
              </a:rPr>
              <a:t>Rotormachine</a:t>
            </a:r>
            <a:endParaRPr sz="24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9506017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980" y="408810"/>
            <a:ext cx="7579289" cy="5115967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" y="714375"/>
            <a:ext cx="7115175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775" y="485775"/>
            <a:ext cx="7410450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240284"/>
            <a:ext cx="4746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10" dirty="0"/>
              <a:t>2.</a:t>
            </a:r>
            <a:r>
              <a:rPr sz="3000" spc="160" dirty="0"/>
              <a:t> </a:t>
            </a:r>
            <a:r>
              <a:rPr sz="3000" spc="254" dirty="0"/>
              <a:t>T</a:t>
            </a:r>
            <a:r>
              <a:rPr spc="254" dirty="0"/>
              <a:t>RANSPOSITION</a:t>
            </a:r>
            <a:r>
              <a:rPr spc="310" dirty="0"/>
              <a:t> </a:t>
            </a:r>
            <a:r>
              <a:rPr sz="3000" spc="305" dirty="0"/>
              <a:t>C</a:t>
            </a:r>
            <a:r>
              <a:rPr spc="305" dirty="0"/>
              <a:t>IPHERS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93444" y="1247902"/>
            <a:ext cx="5835015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5" dirty="0">
                <a:latin typeface="Cambria"/>
                <a:cs typeface="Cambria"/>
              </a:rPr>
              <a:t>Rail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95" dirty="0" err="1">
                <a:latin typeface="Cambria"/>
                <a:cs typeface="Cambria"/>
              </a:rPr>
              <a:t>Fenc</a:t>
            </a:r>
            <a:r>
              <a:rPr lang="en-GB" sz="2400" spc="95" dirty="0">
                <a:latin typeface="Cambria"/>
                <a:cs typeface="Cambria"/>
              </a:rPr>
              <a:t>e</a:t>
            </a:r>
            <a:endParaRPr lang="en-US" sz="2400" spc="95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lang="en-US" sz="2400" spc="95" dirty="0">
                <a:latin typeface="Cambria"/>
                <a:cs typeface="Cambria"/>
              </a:rPr>
              <a:t>Row Transposition</a:t>
            </a:r>
            <a:endParaRPr sz="345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Rotormachine</a:t>
            </a:r>
            <a:endParaRPr sz="2400" dirty="0">
              <a:solidFill>
                <a:srgbClr val="FF0000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8462386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850" y="828675"/>
            <a:ext cx="7019925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504825"/>
            <a:ext cx="6419850" cy="473392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533400"/>
            <a:ext cx="5114925" cy="524827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50" y="733425"/>
            <a:ext cx="7191375" cy="414337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1033462"/>
            <a:ext cx="8020050" cy="4791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</TotalTime>
  <Words>1347</Words>
  <Application>Microsoft Office PowerPoint</Application>
  <PresentationFormat>On-screen Show (4:3)</PresentationFormat>
  <Paragraphs>340</Paragraphs>
  <Slides>59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8" baseType="lpstr">
      <vt:lpstr>Arial</vt:lpstr>
      <vt:lpstr>Calibri</vt:lpstr>
      <vt:lpstr>Cambria</vt:lpstr>
      <vt:lpstr>Candara</vt:lpstr>
      <vt:lpstr>Symbol</vt:lpstr>
      <vt:lpstr>Times New Roman</vt:lpstr>
      <vt:lpstr>Trebuchet MS</vt:lpstr>
      <vt:lpstr>Wingdings</vt:lpstr>
      <vt:lpstr>Office Theme</vt:lpstr>
      <vt:lpstr>CRYPTOGRAPHY Lecture1</vt:lpstr>
      <vt:lpstr>KEY TERMINOLOGIES</vt:lpstr>
      <vt:lpstr>CRYPTOGRAPHIC SYSTEMS</vt:lpstr>
      <vt:lpstr>REQUIREMENTS OF CRYPTOGRAPHIC  SYSTEM</vt:lpstr>
      <vt:lpstr>CLASSICAL ENCRYPTION TECHNIQUES</vt:lpstr>
      <vt:lpstr>1. SUBSTITUTION CIPHERS</vt:lpstr>
      <vt:lpstr>2. TRANSPOSITION CIPHERS</vt:lpstr>
      <vt:lpstr>MONOALPHABETIC CIPHERS</vt:lpstr>
      <vt:lpstr>1. SUBSTITUTION CIPHERS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SUBSTITUTION CIPHERS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POLYALPHABETIC CIPHERS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TRANSPOSITION CIPHERS</vt:lpstr>
      <vt:lpstr>PowerPoint Presentation</vt:lpstr>
      <vt:lpstr>2. TRANSPOSITION CIPHERS</vt:lpstr>
      <vt:lpstr>PowerPoint Presentation</vt:lpstr>
      <vt:lpstr>PowerPoint Presentation</vt:lpstr>
      <vt:lpstr>PowerPoint Presentation</vt:lpstr>
      <vt:lpstr>2. TRANSPOSITION CIPHERS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SECLECTED TOPICS IN  CRYPTOGRAPHY  WEEK 3</dc:title>
  <dc:creator>Muhammad Umar Aftab</dc:creator>
  <cp:lastModifiedBy>Admin</cp:lastModifiedBy>
  <cp:revision>15</cp:revision>
  <dcterms:created xsi:type="dcterms:W3CDTF">2021-11-27T12:12:21Z</dcterms:created>
  <dcterms:modified xsi:type="dcterms:W3CDTF">2024-10-02T05:09:44Z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2020-02-07T00:00:00Z</vt:filetime>
  </property>
  <property fmtid="{D5CDD505-2E9C-101B-9397-08002B2CF9AE}" pid="3" name="LastSaved">
    <vt:filetime>2021-11-27T00:00:00Z</vt:filetime>
  </property>
</Properties>
</file>