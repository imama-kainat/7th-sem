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2.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notesSlides/notesSlide3.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2.xml" ContentType="application/inkml+xml"/>
  <Override PartName="/ppt/ink/ink13.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7" r:id="rId1"/>
  </p:sldMasterIdLst>
  <p:notesMasterIdLst>
    <p:notesMasterId r:id="rId20"/>
  </p:notesMasterIdLst>
  <p:handoutMasterIdLst>
    <p:handoutMasterId r:id="rId21"/>
  </p:handoutMasterIdLst>
  <p:sldIdLst>
    <p:sldId id="258" r:id="rId2"/>
    <p:sldId id="732" r:id="rId3"/>
    <p:sldId id="733" r:id="rId4"/>
    <p:sldId id="734" r:id="rId5"/>
    <p:sldId id="735" r:id="rId6"/>
    <p:sldId id="736" r:id="rId7"/>
    <p:sldId id="737" r:id="rId8"/>
    <p:sldId id="738" r:id="rId9"/>
    <p:sldId id="739" r:id="rId10"/>
    <p:sldId id="740" r:id="rId11"/>
    <p:sldId id="741" r:id="rId12"/>
    <p:sldId id="742" r:id="rId13"/>
    <p:sldId id="743" r:id="rId14"/>
    <p:sldId id="744" r:id="rId15"/>
    <p:sldId id="745" r:id="rId16"/>
    <p:sldId id="746" r:id="rId17"/>
    <p:sldId id="749" r:id="rId18"/>
    <p:sldId id="317" r:id="rId19"/>
  </p:sldIdLst>
  <p:sldSz cx="12192000" cy="6858000"/>
  <p:notesSz cx="7053263" cy="93091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i Hamza" initials="AH" lastIdx="3" clrIdx="0">
    <p:extLst>
      <p:ext uri="{19B8F6BF-5375-455C-9EA6-DF929625EA0E}">
        <p15:presenceInfo xmlns:p15="http://schemas.microsoft.com/office/powerpoint/2012/main" userId="S::f179026@cfd.nu.edu.pk::fc9d8215-e733-4df3-b2ca-e28ecc6820c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56" autoAdjust="0"/>
    <p:restoredTop sz="87133" autoAdjust="0"/>
  </p:normalViewPr>
  <p:slideViewPr>
    <p:cSldViewPr snapToGrid="0">
      <p:cViewPr varScale="1">
        <p:scale>
          <a:sx n="56" d="100"/>
          <a:sy n="56" d="100"/>
        </p:scale>
        <p:origin x="122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3995217" y="0"/>
            <a:ext cx="3056414" cy="467072"/>
          </a:xfrm>
          <a:prstGeom prst="rect">
            <a:avLst/>
          </a:prstGeom>
        </p:spPr>
        <p:txBody>
          <a:bodyPr vert="horz" lIns="93497" tIns="46749" rIns="93497" bIns="46749" rtlCol="0"/>
          <a:lstStyle>
            <a:lvl1pPr algn="r">
              <a:defRPr sz="1200"/>
            </a:lvl1pPr>
          </a:lstStyle>
          <a:p>
            <a:fld id="{14960B17-FD8B-4764-8C28-99523272243B}" type="datetimeFigureOut">
              <a:rPr lang="en-US" smtClean="0"/>
              <a:t>12/23/2025</a:t>
            </a:fld>
            <a:endParaRPr lang="en-US"/>
          </a:p>
        </p:txBody>
      </p:sp>
      <p:sp>
        <p:nvSpPr>
          <p:cNvPr id="4" name="Footer Placeholder 3"/>
          <p:cNvSpPr>
            <a:spLocks noGrp="1"/>
          </p:cNvSpPr>
          <p:nvPr>
            <p:ph type="ftr" sz="quarter" idx="2"/>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30"/>
            <a:ext cx="3056414" cy="467071"/>
          </a:xfrm>
          <a:prstGeom prst="rect">
            <a:avLst/>
          </a:prstGeom>
        </p:spPr>
        <p:txBody>
          <a:bodyPr vert="horz" lIns="93497" tIns="46749" rIns="93497" bIns="46749" rtlCol="0" anchor="b"/>
          <a:lstStyle>
            <a:lvl1pPr algn="r">
              <a:defRPr sz="1200"/>
            </a:lvl1pPr>
          </a:lstStyle>
          <a:p>
            <a:fld id="{BE3C136E-1DFE-4E9E-BE58-9DBEBA51CAC9}" type="slidenum">
              <a:rPr lang="en-US" smtClean="0"/>
              <a:t>‹#›</a:t>
            </a:fld>
            <a:endParaRPr lang="en-US"/>
          </a:p>
        </p:txBody>
      </p:sp>
    </p:spTree>
    <p:extLst>
      <p:ext uri="{BB962C8B-B14F-4D97-AF65-F5344CB8AC3E}">
        <p14:creationId xmlns:p14="http://schemas.microsoft.com/office/powerpoint/2010/main" val="1614954649"/>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2:29.768"/>
    </inkml:context>
    <inkml:brush xml:id="br0">
      <inkml:brushProperty name="width" value="0.1" units="cm"/>
      <inkml:brushProperty name="height" value="0.1" units="cm"/>
      <inkml:brushProperty name="color" value="#66CC00"/>
    </inkml:brush>
  </inkml:definitions>
  <inkml:trace contextRef="#ctx0" brushRef="#br0">1 0 24575,'15'0'0,"16"0"0,23 0-3276,13 0-1,5 0 0,0 0 0,-6 0 2030,-10 0 1247,-3 0-2029,-7 0 2029,-5 0 2029,-5 0-2029,-3 0 3034,-2 0-3034,-7 0 3129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2:36.699"/>
    </inkml:context>
    <inkml:brush xml:id="br0">
      <inkml:brushProperty name="width" value="0.1" units="cm"/>
      <inkml:brushProperty name="height" value="0.1" units="cm"/>
      <inkml:brushProperty name="color" value="#66CC00"/>
    </inkml:brush>
  </inkml:definitions>
  <inkml:trace contextRef="#ctx0" brushRef="#br0">0 35 24575,'3'0'0,"-1"-1"0,1 1 0,-1-1 0,0 0 0,0 0 0,1 0 0,-1 0 0,3-2 0,13-5 0,13 1 0,0 3 0,1 0 0,-1 2 0,1 2 0,33 3 0,7-1 0,540-2 0,-558 3-1376,53 9 0,33 2-2425,92-11-3134,0-4 9659,-8-1 7983,47 2-12015,-245 0-5518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2:38.886"/>
    </inkml:context>
    <inkml:brush xml:id="br0">
      <inkml:brushProperty name="width" value="0.1" units="cm"/>
      <inkml:brushProperty name="height" value="0.1" units="cm"/>
      <inkml:brushProperty name="color" value="#66CC00"/>
    </inkml:brush>
  </inkml:definitions>
  <inkml:trace contextRef="#ctx0" brushRef="#br0">1 0 24575,'931'0'0,"-712"15"-7152,-38-1 1793,53-13 7614,-161-2-1392,-53 2-62,1 2 1,39 8 0,18 2 2284,99-6 544,2-9-3322,-24 0-1709,-129 2-5425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2:47.815"/>
    </inkml:context>
    <inkml:brush xml:id="br0">
      <inkml:brushProperty name="width" value="0.1" units="cm"/>
      <inkml:brushProperty name="height" value="0.1" units="cm"/>
      <inkml:brushProperty name="color" value="#66CC00"/>
    </inkml:brush>
  </inkml:definitions>
  <inkml:trace contextRef="#ctx0" brushRef="#br0">1 32 24575,'1228'0'-7277,"-1117"1"8522,132-3 1990,-121-10-5875,29-2-938,538 10 1306,-382 6 1605,-29-3 10563,-1 1-7028,556 0-11303,-524 1 8615,0-1 7227,913 0-8734,-1196 0-5499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2:55.787"/>
    </inkml:context>
    <inkml:brush xml:id="br0">
      <inkml:brushProperty name="width" value="0.1" units="cm"/>
      <inkml:brushProperty name="height" value="0.1" units="cm"/>
      <inkml:brushProperty name="color" value="#66CC00"/>
    </inkml:brush>
  </inkml:definitions>
  <inkml:trace contextRef="#ctx0" brushRef="#br0">1 0 24575,'848'0'-3507,"478"0"7014,-1279 3-3507,64 10 0,19 2 0,289-13 0,-215-4 0,1700 2-1365,-1878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3:08.583"/>
    </inkml:context>
    <inkml:brush xml:id="br0">
      <inkml:brushProperty name="width" value="0.1" units="cm"/>
      <inkml:brushProperty name="height" value="0.1" units="cm"/>
      <inkml:brushProperty name="color" value="#66CC00"/>
    </inkml:brush>
  </inkml:definitions>
  <inkml:trace contextRef="#ctx0" brushRef="#br0">0 124 24575,'60'0'0,"94"-12"0,29-8 0,-21 3 0,-34 8 0,-82 7 0,65-11 0,-55 5-1835,93-4-1,60 13-4185,-79 1 4393,-20-1-1070,134-3 749,-140-13 2679,-68 8 23,51-2-1,385 8 13717,-349 2-15063,0 0-5594,-54-2 5433,81 3 771,-128 1-16,28 7 0,20 3 0,-51-11 0,4 0 0,0 1 0,29 7 0,-10-1 0,55 6 0,-13-3 0,-47-7 2228,73-1 0,-14-1 100,-9 11-2328,-58-8 0,37 3 0,280-7 0,-179-4 0,165 2-1365,-306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3:16.303"/>
    </inkml:context>
    <inkml:brush xml:id="br0">
      <inkml:brushProperty name="width" value="0.1" units="cm"/>
      <inkml:brushProperty name="height" value="0.1" units="cm"/>
      <inkml:brushProperty name="color" value="#66CC00"/>
    </inkml:brush>
  </inkml:definitions>
  <inkml:trace contextRef="#ctx0" brushRef="#br0">0 0 24575,'1454'0'-276,"-1092"0"552,-333 2-276,0 1 0,44 10 0,-18-2 0,11 1 0,-33-5 0,-1-1 0,45 1 0,485-6 0,-253-3 0,1026 2-1365,-1309 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3:19.045"/>
    </inkml:context>
    <inkml:brush xml:id="br0">
      <inkml:brushProperty name="width" value="0.1" units="cm"/>
      <inkml:brushProperty name="height" value="0.1" units="cm"/>
      <inkml:brushProperty name="color" value="#66CC00"/>
    </inkml:brush>
  </inkml:definitions>
  <inkml:trace contextRef="#ctx0" brushRef="#br0">1 123 24575,'3'-1'0,"-1"1"0,1-1 0,-1 0 0,1 0 0,-1 0 0,1-1 0,-1 1 0,1-1 0,-1 1 0,0-1 0,0 0 0,0 0 0,3-3 0,11-8 0,-5 6 0,0-1 0,1 2 0,0 0 0,0 0 0,0 1 0,1 1 0,0 0 0,0 0 0,0 1 0,25-1 0,15 3 0,-33 1 0,0 0 0,0-1 0,37-8 0,-26 2 0,0 2 0,58-3 0,65 9 0,-59 1 0,489-2 0,-547 2 0,57 9 0,10 2 0,312 41-16045,-339-46 16736,1-2-1,109-7 1,-65-1 1962,1664 2 8667,-1761-2-11320,0 0 0,39-10 0,-34 6 0,36-2 0,68 6-606,-118 2-153,10 0-6067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3:33.401"/>
    </inkml:context>
    <inkml:brush xml:id="br0">
      <inkml:brushProperty name="width" value="0.1" units="cm"/>
      <inkml:brushProperty name="height" value="0.1" units="cm"/>
      <inkml:brushProperty name="color" value="#66CC00"/>
    </inkml:brush>
  </inkml:definitions>
  <inkml:trace contextRef="#ctx0" brushRef="#br0">0 1 24575,'3262'0'0,"-3238"1"113,0 1 0,41 10 0,-39-6-965,52 4 0,-53-9-5974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3:35.767"/>
    </inkml:context>
    <inkml:brush xml:id="br0">
      <inkml:brushProperty name="width" value="0.1" units="cm"/>
      <inkml:brushProperty name="height" value="0.1" units="cm"/>
      <inkml:brushProperty name="color" value="#66CC00"/>
    </inkml:brush>
  </inkml:definitions>
  <inkml:trace contextRef="#ctx0" brushRef="#br0">0 1 24575,'12'0'0,"0"2"0,-1 0 0,1 0 0,12 5 0,23 4 0,6-6 0,1-2 0,61-5 0,62 3 0,-8 25 0,-30-8-4127,-39-4 1509,-9-1 2576,71 5 45,-102-12 1491,-1 3 0,0 3 0,77 24-1,-53-13-684,-40-10-809,-25-7 0,0-1 0,0-1 0,37 4 0,262-7 0,-151-3 0,1375 2-1365,-1515 0-5461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34:19.327"/>
    </inkml:context>
    <inkml:brush xml:id="br0">
      <inkml:brushProperty name="width" value="0.1" units="cm"/>
      <inkml:brushProperty name="height" value="0.1" units="cm"/>
      <inkml:brushProperty name="color" value="#66CC00"/>
    </inkml:brush>
  </inkml:definitions>
  <inkml:trace contextRef="#ctx0" brushRef="#br0">0 94 24575,'2669'0'0,"-2648"-2"0,-1 0 0,1-1 0,20-5 0,-17 2 0,40-3 0,69 9 0,19-2 0,-136 0 0,1-1 0,17-6 0,29-5 0,-17 10 0,-25 3 0,0-1 0,34-8 0,-4-2-1365,-28 8-5461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45:48"/>
    </inkml:context>
    <inkml:brush xml:id="br0">
      <inkml:brushProperty name="width" value="0.1" units="cm"/>
      <inkml:brushProperty name="height" value="0.1" units="cm"/>
      <inkml:brushProperty name="color" value="#66CC00"/>
    </inkml:brush>
  </inkml:definitions>
  <inkml:trace contextRef="#ctx0" brushRef="#br0">1 68 24575,'1088'0'-16383,"-1020"-4"17275,85-14 0,-89 9-142,21-3 1838,81-8-2647,302 16 642,-252 6 2512,-34-2 3242,0 0-6397,-156 0-6766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7:45:50.868"/>
    </inkml:context>
    <inkml:brush xml:id="br0">
      <inkml:brushProperty name="width" value="0.1" units="cm"/>
      <inkml:brushProperty name="height" value="0.1" units="cm"/>
      <inkml:brushProperty name="color" value="#66CC00"/>
    </inkml:brush>
  </inkml:definitions>
  <inkml:trace contextRef="#ctx0" brushRef="#br0">0 306 24575,'807'17'-8101,"11"0"-181,1123-18 8282,-1423-33 2636,-28 1-209,651 33-4011,-510 2 939,-627-2 646,319-12 2096,29-20-2256,-41 10-832,-45 4 553,-156 7-932,52-10 3594,-86 9-2227,1-1 1041,155-6-1,-211 19-1621,10 1 2014,0-2-1,1 0 1,42-9 0,117-30 3548,-151 34-4830,64-1-1,9-1-291,-96 5-159,-1 0 0,0-1 0,0 0-1,30-14 1,-26 9-6523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7072"/>
          </a:xfrm>
          <a:prstGeom prst="rect">
            <a:avLst/>
          </a:prstGeom>
        </p:spPr>
        <p:txBody>
          <a:bodyPr vert="horz" lIns="93497" tIns="46749" rIns="93497" bIns="46749" rtlCol="0"/>
          <a:lstStyle>
            <a:lvl1pPr algn="r">
              <a:defRPr sz="1200"/>
            </a:lvl1pPr>
          </a:lstStyle>
          <a:p>
            <a:fld id="{705A37F7-EBDD-4C50-A4DA-D2D30EABC4EE}" type="datetimeFigureOut">
              <a:rPr lang="en-US" smtClean="0"/>
              <a:t>12/23/2025</a:t>
            </a:fld>
            <a:endParaRPr lang="en-US"/>
          </a:p>
        </p:txBody>
      </p:sp>
      <p:sp>
        <p:nvSpPr>
          <p:cNvPr id="4" name="Slide Image Placeholder 3"/>
          <p:cNvSpPr>
            <a:spLocks noGrp="1" noRot="1" noChangeAspect="1"/>
          </p:cNvSpPr>
          <p:nvPr>
            <p:ph type="sldImg" idx="2"/>
          </p:nvPr>
        </p:nvSpPr>
        <p:spPr>
          <a:xfrm>
            <a:off x="733425" y="1163638"/>
            <a:ext cx="5586413" cy="3141662"/>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80004"/>
            <a:ext cx="5642610" cy="3665458"/>
          </a:xfrm>
          <a:prstGeom prst="rect">
            <a:avLst/>
          </a:prstGeom>
        </p:spPr>
        <p:txBody>
          <a:bodyPr vert="horz" lIns="93497" tIns="46749" rIns="93497" bIns="467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30"/>
            <a:ext cx="3056414" cy="467071"/>
          </a:xfrm>
          <a:prstGeom prst="rect">
            <a:avLst/>
          </a:prstGeom>
        </p:spPr>
        <p:txBody>
          <a:bodyPr vert="horz" lIns="93497" tIns="46749" rIns="93497" bIns="46749" rtlCol="0" anchor="b"/>
          <a:lstStyle>
            <a:lvl1pPr algn="r">
              <a:defRPr sz="1200"/>
            </a:lvl1pPr>
          </a:lstStyle>
          <a:p>
            <a:fld id="{9E103808-D7BC-4AB5-B62E-2F3F4474032F}" type="slidenum">
              <a:rPr lang="en-US" smtClean="0"/>
              <a:t>‹#›</a:t>
            </a:fld>
            <a:endParaRPr lang="en-US"/>
          </a:p>
        </p:txBody>
      </p:sp>
    </p:spTree>
    <p:extLst>
      <p:ext uri="{BB962C8B-B14F-4D97-AF65-F5344CB8AC3E}">
        <p14:creationId xmlns:p14="http://schemas.microsoft.com/office/powerpoint/2010/main" val="228555533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2</a:t>
            </a:fld>
            <a:endParaRPr lang="en-US"/>
          </a:p>
        </p:txBody>
      </p:sp>
    </p:spTree>
    <p:extLst>
      <p:ext uri="{BB962C8B-B14F-4D97-AF65-F5344CB8AC3E}">
        <p14:creationId xmlns:p14="http://schemas.microsoft.com/office/powerpoint/2010/main" val="1899314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3</a:t>
            </a:fld>
            <a:endParaRPr lang="en-US"/>
          </a:p>
        </p:txBody>
      </p:sp>
    </p:spTree>
    <p:extLst>
      <p:ext uri="{BB962C8B-B14F-4D97-AF65-F5344CB8AC3E}">
        <p14:creationId xmlns:p14="http://schemas.microsoft.com/office/powerpoint/2010/main" val="968422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variables are also like global variables but they placed inside the function. They are available lifetime but only inside the function but global variables are available outside the function as well.</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4</a:t>
            </a:fld>
            <a:endParaRPr lang="en-US"/>
          </a:p>
        </p:txBody>
      </p:sp>
    </p:spTree>
    <p:extLst>
      <p:ext uri="{BB962C8B-B14F-4D97-AF65-F5344CB8AC3E}">
        <p14:creationId xmlns:p14="http://schemas.microsoft.com/office/powerpoint/2010/main" val="566858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5</a:t>
            </a:fld>
            <a:endParaRPr lang="en-US"/>
          </a:p>
        </p:txBody>
      </p:sp>
    </p:spTree>
    <p:extLst>
      <p:ext uri="{BB962C8B-B14F-4D97-AF65-F5344CB8AC3E}">
        <p14:creationId xmlns:p14="http://schemas.microsoft.com/office/powerpoint/2010/main" val="3792617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6</a:t>
            </a:fld>
            <a:endParaRPr lang="en-US"/>
          </a:p>
        </p:txBody>
      </p:sp>
    </p:spTree>
    <p:extLst>
      <p:ext uri="{BB962C8B-B14F-4D97-AF65-F5344CB8AC3E}">
        <p14:creationId xmlns:p14="http://schemas.microsoft.com/office/powerpoint/2010/main" val="4218367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7</a:t>
            </a:fld>
            <a:endParaRPr lang="en-US"/>
          </a:p>
        </p:txBody>
      </p:sp>
    </p:spTree>
    <p:extLst>
      <p:ext uri="{BB962C8B-B14F-4D97-AF65-F5344CB8AC3E}">
        <p14:creationId xmlns:p14="http://schemas.microsoft.com/office/powerpoint/2010/main" val="1885764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8</a:t>
            </a:fld>
            <a:endParaRPr lang="en-US"/>
          </a:p>
        </p:txBody>
      </p:sp>
    </p:spTree>
    <p:extLst>
      <p:ext uri="{BB962C8B-B14F-4D97-AF65-F5344CB8AC3E}">
        <p14:creationId xmlns:p14="http://schemas.microsoft.com/office/powerpoint/2010/main" val="2804052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9</a:t>
            </a:fld>
            <a:endParaRPr lang="en-US"/>
          </a:p>
        </p:txBody>
      </p:sp>
    </p:spTree>
    <p:extLst>
      <p:ext uri="{BB962C8B-B14F-4D97-AF65-F5344CB8AC3E}">
        <p14:creationId xmlns:p14="http://schemas.microsoft.com/office/powerpoint/2010/main" val="825076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10</a:t>
            </a:fld>
            <a:endParaRPr lang="en-US"/>
          </a:p>
        </p:txBody>
      </p:sp>
    </p:spTree>
    <p:extLst>
      <p:ext uri="{BB962C8B-B14F-4D97-AF65-F5344CB8AC3E}">
        <p14:creationId xmlns:p14="http://schemas.microsoft.com/office/powerpoint/2010/main" val="2509636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11</a:t>
            </a:fld>
            <a:endParaRPr lang="en-US"/>
          </a:p>
        </p:txBody>
      </p:sp>
    </p:spTree>
    <p:extLst>
      <p:ext uri="{BB962C8B-B14F-4D97-AF65-F5344CB8AC3E}">
        <p14:creationId xmlns:p14="http://schemas.microsoft.com/office/powerpoint/2010/main" val="3229680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12</a:t>
            </a:fld>
            <a:endParaRPr lang="en-US"/>
          </a:p>
        </p:txBody>
      </p:sp>
    </p:spTree>
    <p:extLst>
      <p:ext uri="{BB962C8B-B14F-4D97-AF65-F5344CB8AC3E}">
        <p14:creationId xmlns:p14="http://schemas.microsoft.com/office/powerpoint/2010/main" val="3403179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13</a:t>
            </a:fld>
            <a:endParaRPr lang="en-US"/>
          </a:p>
        </p:txBody>
      </p:sp>
    </p:spTree>
    <p:extLst>
      <p:ext uri="{BB962C8B-B14F-4D97-AF65-F5344CB8AC3E}">
        <p14:creationId xmlns:p14="http://schemas.microsoft.com/office/powerpoint/2010/main" val="2443689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14</a:t>
            </a:fld>
            <a:endParaRPr lang="en-US"/>
          </a:p>
        </p:txBody>
      </p:sp>
    </p:spTree>
    <p:extLst>
      <p:ext uri="{BB962C8B-B14F-4D97-AF65-F5344CB8AC3E}">
        <p14:creationId xmlns:p14="http://schemas.microsoft.com/office/powerpoint/2010/main" val="3276598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15</a:t>
            </a:fld>
            <a:endParaRPr lang="en-US"/>
          </a:p>
        </p:txBody>
      </p:sp>
    </p:spTree>
    <p:extLst>
      <p:ext uri="{BB962C8B-B14F-4D97-AF65-F5344CB8AC3E}">
        <p14:creationId xmlns:p14="http://schemas.microsoft.com/office/powerpoint/2010/main" val="2018239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16</a:t>
            </a:fld>
            <a:endParaRPr lang="en-US"/>
          </a:p>
        </p:txBody>
      </p:sp>
    </p:spTree>
    <p:extLst>
      <p:ext uri="{BB962C8B-B14F-4D97-AF65-F5344CB8AC3E}">
        <p14:creationId xmlns:p14="http://schemas.microsoft.com/office/powerpoint/2010/main" val="2083052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17</a:t>
            </a:fld>
            <a:endParaRPr lang="en-US"/>
          </a:p>
        </p:txBody>
      </p:sp>
    </p:spTree>
    <p:extLst>
      <p:ext uri="{BB962C8B-B14F-4D97-AF65-F5344CB8AC3E}">
        <p14:creationId xmlns:p14="http://schemas.microsoft.com/office/powerpoint/2010/main" val="3067180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6F35-1BDD-4C97-AB1B-0EF3FCD6E4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7947696-76E0-4A7D-AAFD-A0DD3F9BE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0564AE90-3DAE-4874-9530-52E8010FEA34}"/>
              </a:ext>
            </a:extLst>
          </p:cNvPr>
          <p:cNvSpPr>
            <a:spLocks noGrp="1"/>
          </p:cNvSpPr>
          <p:nvPr>
            <p:ph type="dt" sz="half" idx="10"/>
          </p:nvPr>
        </p:nvSpPr>
        <p:spPr/>
        <p:txBody>
          <a:bodyPr/>
          <a:lstStyle/>
          <a:p>
            <a:fld id="{1D90246C-6510-4698-BE5B-78345F23A6B1}" type="datetime1">
              <a:rPr lang="en-US" smtClean="0"/>
              <a:t>12/23/2025</a:t>
            </a:fld>
            <a:endParaRPr lang="en-US"/>
          </a:p>
        </p:txBody>
      </p:sp>
      <p:sp>
        <p:nvSpPr>
          <p:cNvPr id="5" name="Footer Placeholder 4">
            <a:extLst>
              <a:ext uri="{FF2B5EF4-FFF2-40B4-BE49-F238E27FC236}">
                <a16:creationId xmlns:a16="http://schemas.microsoft.com/office/drawing/2014/main" id="{988D150A-9FAA-4828-A677-51AFEF24B353}"/>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D3486D3E-B678-4E98-9CAB-2DA8A3D712BA}"/>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87966799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CBAD-3D0B-4143-9F22-FA90EA938AA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9CDE9C-1287-4D29-9B55-74AC74377D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416A329-A0DE-4C1F-9375-03747524468B}"/>
              </a:ext>
            </a:extLst>
          </p:cNvPr>
          <p:cNvSpPr>
            <a:spLocks noGrp="1"/>
          </p:cNvSpPr>
          <p:nvPr>
            <p:ph type="dt" sz="half" idx="10"/>
          </p:nvPr>
        </p:nvSpPr>
        <p:spPr/>
        <p:txBody>
          <a:bodyPr/>
          <a:lstStyle/>
          <a:p>
            <a:fld id="{5EF7DFAF-66BC-4E20-9B1D-DC0448E5323F}" type="datetime1">
              <a:rPr lang="en-US" smtClean="0"/>
              <a:t>12/23/2025</a:t>
            </a:fld>
            <a:endParaRPr lang="en-US"/>
          </a:p>
        </p:txBody>
      </p:sp>
      <p:sp>
        <p:nvSpPr>
          <p:cNvPr id="5" name="Footer Placeholder 4">
            <a:extLst>
              <a:ext uri="{FF2B5EF4-FFF2-40B4-BE49-F238E27FC236}">
                <a16:creationId xmlns:a16="http://schemas.microsoft.com/office/drawing/2014/main" id="{0FF9C9A8-FD46-4087-B413-AD97FC50AE22}"/>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EE4D4FC3-2CF7-4015-9D3D-3207E7797D2D}"/>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29706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4D9C-53F3-4A72-BE30-B6CF7FF7D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4C5710C-DCE5-4A4B-88FC-2B7596F04B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DE503A-C05D-4150-BD6B-219A063F3EBD}"/>
              </a:ext>
            </a:extLst>
          </p:cNvPr>
          <p:cNvSpPr>
            <a:spLocks noGrp="1"/>
          </p:cNvSpPr>
          <p:nvPr>
            <p:ph type="dt" sz="half" idx="10"/>
          </p:nvPr>
        </p:nvSpPr>
        <p:spPr/>
        <p:txBody>
          <a:bodyPr/>
          <a:lstStyle/>
          <a:p>
            <a:fld id="{12D4DF65-B5CB-4C2A-9DAF-8C83FF1E3012}" type="datetime1">
              <a:rPr lang="en-US" smtClean="0"/>
              <a:t>12/23/2025</a:t>
            </a:fld>
            <a:endParaRPr lang="en-US"/>
          </a:p>
        </p:txBody>
      </p:sp>
      <p:sp>
        <p:nvSpPr>
          <p:cNvPr id="5" name="Footer Placeholder 4">
            <a:extLst>
              <a:ext uri="{FF2B5EF4-FFF2-40B4-BE49-F238E27FC236}">
                <a16:creationId xmlns:a16="http://schemas.microsoft.com/office/drawing/2014/main" id="{B13D3F93-B099-4DDE-BD8C-B20714AF3555}"/>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5CC7ECDD-92DF-4EE4-ABCC-7F12BEC46EA8}"/>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32244014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D001-769F-4BA5-A19F-7FAFE741982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29A9AF7-6483-42F0-8F35-574519D093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44A1564-74CB-4E17-9893-B2015FF56B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65936C1-0B68-40E0-860D-7865B35D1CF9}"/>
              </a:ext>
            </a:extLst>
          </p:cNvPr>
          <p:cNvSpPr>
            <a:spLocks noGrp="1"/>
          </p:cNvSpPr>
          <p:nvPr>
            <p:ph type="dt" sz="half" idx="10"/>
          </p:nvPr>
        </p:nvSpPr>
        <p:spPr/>
        <p:txBody>
          <a:bodyPr/>
          <a:lstStyle/>
          <a:p>
            <a:fld id="{56B42799-02D2-4A3E-BED6-7F1E5E9A51D9}" type="datetime1">
              <a:rPr lang="en-US" smtClean="0"/>
              <a:t>12/23/2025</a:t>
            </a:fld>
            <a:endParaRPr lang="en-US"/>
          </a:p>
        </p:txBody>
      </p:sp>
      <p:sp>
        <p:nvSpPr>
          <p:cNvPr id="6" name="Footer Placeholder 5">
            <a:extLst>
              <a:ext uri="{FF2B5EF4-FFF2-40B4-BE49-F238E27FC236}">
                <a16:creationId xmlns:a16="http://schemas.microsoft.com/office/drawing/2014/main" id="{E1518151-364F-4458-8674-792144FFFAC9}"/>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68628F02-F967-4106-A0CC-B4B85030BAD5}"/>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4171795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2CDA-1423-4123-A20C-87A750BCEDD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181C7AD-81AF-4517-BCA3-E981E39E8E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50C1FD-785A-494B-8266-BC643FB674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EBC1B3AF-BC32-4746-B151-0B007F0AF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A4EABE-E223-4C00-93C6-93A57D2CD1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0ECE82-C73C-41C3-B8AB-264E828D7C64}"/>
              </a:ext>
            </a:extLst>
          </p:cNvPr>
          <p:cNvSpPr>
            <a:spLocks noGrp="1"/>
          </p:cNvSpPr>
          <p:nvPr>
            <p:ph type="dt" sz="half" idx="10"/>
          </p:nvPr>
        </p:nvSpPr>
        <p:spPr/>
        <p:txBody>
          <a:bodyPr/>
          <a:lstStyle/>
          <a:p>
            <a:fld id="{41CB22E7-A387-44A6-BEB9-C59A7D60876D}" type="datetime1">
              <a:rPr lang="en-US" smtClean="0"/>
              <a:t>12/23/2025</a:t>
            </a:fld>
            <a:endParaRPr lang="en-US"/>
          </a:p>
        </p:txBody>
      </p:sp>
      <p:sp>
        <p:nvSpPr>
          <p:cNvPr id="8" name="Footer Placeholder 7">
            <a:extLst>
              <a:ext uri="{FF2B5EF4-FFF2-40B4-BE49-F238E27FC236}">
                <a16:creationId xmlns:a16="http://schemas.microsoft.com/office/drawing/2014/main" id="{08716326-244A-4808-B1E3-F1FDC9C10943}"/>
              </a:ext>
            </a:extLst>
          </p:cNvPr>
          <p:cNvSpPr>
            <a:spLocks noGrp="1"/>
          </p:cNvSpPr>
          <p:nvPr>
            <p:ph type="ftr" sz="quarter" idx="11"/>
          </p:nvPr>
        </p:nvSpPr>
        <p:spPr/>
        <p:txBody>
          <a:bodyPr/>
          <a:lstStyle/>
          <a:p>
            <a:r>
              <a:rPr lang="en-GB"/>
              <a:t>NATIONAL UNIVERSITY OF COMPUTER &amp; EMERGING SCIENCES</a:t>
            </a:r>
            <a:endParaRPr lang="en-US"/>
          </a:p>
        </p:txBody>
      </p:sp>
      <p:sp>
        <p:nvSpPr>
          <p:cNvPr id="9" name="Slide Number Placeholder 8">
            <a:extLst>
              <a:ext uri="{FF2B5EF4-FFF2-40B4-BE49-F238E27FC236}">
                <a16:creationId xmlns:a16="http://schemas.microsoft.com/office/drawing/2014/main" id="{CF65B595-FCF0-4FBE-9315-9E920D812597}"/>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247636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9353-08EF-475D-97F8-BE6B46520245}"/>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65C543B-33E3-48CF-B83C-C541D6CB687E}"/>
              </a:ext>
            </a:extLst>
          </p:cNvPr>
          <p:cNvSpPr>
            <a:spLocks noGrp="1"/>
          </p:cNvSpPr>
          <p:nvPr>
            <p:ph type="dt" sz="half" idx="10"/>
          </p:nvPr>
        </p:nvSpPr>
        <p:spPr/>
        <p:txBody>
          <a:bodyPr/>
          <a:lstStyle/>
          <a:p>
            <a:fld id="{EE3DE30F-1D36-4BE0-BC06-5E83DD9BE350}" type="datetime1">
              <a:rPr lang="en-US" smtClean="0"/>
              <a:t>12/23/2025</a:t>
            </a:fld>
            <a:endParaRPr lang="en-US"/>
          </a:p>
        </p:txBody>
      </p:sp>
      <p:sp>
        <p:nvSpPr>
          <p:cNvPr id="4" name="Footer Placeholder 3">
            <a:extLst>
              <a:ext uri="{FF2B5EF4-FFF2-40B4-BE49-F238E27FC236}">
                <a16:creationId xmlns:a16="http://schemas.microsoft.com/office/drawing/2014/main" id="{2EFC0699-826F-4A8E-B326-560AD252F7BD}"/>
              </a:ext>
            </a:extLst>
          </p:cNvPr>
          <p:cNvSpPr>
            <a:spLocks noGrp="1"/>
          </p:cNvSpPr>
          <p:nvPr>
            <p:ph type="ftr" sz="quarter" idx="11"/>
          </p:nvPr>
        </p:nvSpPr>
        <p:spPr/>
        <p:txBody>
          <a:bodyPr/>
          <a:lstStyle/>
          <a:p>
            <a:r>
              <a:rPr lang="en-GB"/>
              <a:t>NATIONAL UNIVERSITY OF COMPUTER &amp; EMERGING SCIENCES</a:t>
            </a:r>
            <a:endParaRPr lang="en-US"/>
          </a:p>
        </p:txBody>
      </p:sp>
      <p:sp>
        <p:nvSpPr>
          <p:cNvPr id="5" name="Slide Number Placeholder 4">
            <a:extLst>
              <a:ext uri="{FF2B5EF4-FFF2-40B4-BE49-F238E27FC236}">
                <a16:creationId xmlns:a16="http://schemas.microsoft.com/office/drawing/2014/main" id="{5368C207-1278-4153-B420-9EF4A4494729}"/>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268916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68D0D-CD9A-4D7A-A953-4B80DEFCD335}"/>
              </a:ext>
            </a:extLst>
          </p:cNvPr>
          <p:cNvSpPr>
            <a:spLocks noGrp="1"/>
          </p:cNvSpPr>
          <p:nvPr>
            <p:ph type="dt" sz="half" idx="10"/>
          </p:nvPr>
        </p:nvSpPr>
        <p:spPr/>
        <p:txBody>
          <a:bodyPr/>
          <a:lstStyle/>
          <a:p>
            <a:fld id="{ED8E4ECE-C233-447A-A174-0A57836539B8}" type="datetime1">
              <a:rPr lang="en-US" smtClean="0"/>
              <a:t>12/23/2025</a:t>
            </a:fld>
            <a:endParaRPr lang="en-US"/>
          </a:p>
        </p:txBody>
      </p:sp>
      <p:sp>
        <p:nvSpPr>
          <p:cNvPr id="3" name="Footer Placeholder 2">
            <a:extLst>
              <a:ext uri="{FF2B5EF4-FFF2-40B4-BE49-F238E27FC236}">
                <a16:creationId xmlns:a16="http://schemas.microsoft.com/office/drawing/2014/main" id="{3D9C46BD-36CF-41D8-9D61-3C0284DFABF9}"/>
              </a:ext>
            </a:extLst>
          </p:cNvPr>
          <p:cNvSpPr>
            <a:spLocks noGrp="1"/>
          </p:cNvSpPr>
          <p:nvPr>
            <p:ph type="ftr" sz="quarter" idx="11"/>
          </p:nvPr>
        </p:nvSpPr>
        <p:spPr/>
        <p:txBody>
          <a:bodyPr/>
          <a:lstStyle/>
          <a:p>
            <a:r>
              <a:rPr lang="en-GB"/>
              <a:t>NATIONAL UNIVERSITY OF COMPUTER &amp; EMERGING SCIENCES</a:t>
            </a:r>
            <a:endParaRPr lang="en-US"/>
          </a:p>
        </p:txBody>
      </p:sp>
      <p:sp>
        <p:nvSpPr>
          <p:cNvPr id="4" name="Slide Number Placeholder 3">
            <a:extLst>
              <a:ext uri="{FF2B5EF4-FFF2-40B4-BE49-F238E27FC236}">
                <a16:creationId xmlns:a16="http://schemas.microsoft.com/office/drawing/2014/main" id="{1C4CE466-759A-4047-8073-18F51B7B2941}"/>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4258603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62C7-A5DD-4E6E-AEC8-D2596C0A6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7D44E32-0A99-4A52-BB43-F9B356189C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0AF3BC2-6F12-4DBB-9471-4665FB534E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AC92E9-B3F9-4DC5-B04D-6429BF06A0CB}"/>
              </a:ext>
            </a:extLst>
          </p:cNvPr>
          <p:cNvSpPr>
            <a:spLocks noGrp="1"/>
          </p:cNvSpPr>
          <p:nvPr>
            <p:ph type="dt" sz="half" idx="10"/>
          </p:nvPr>
        </p:nvSpPr>
        <p:spPr/>
        <p:txBody>
          <a:bodyPr/>
          <a:lstStyle/>
          <a:p>
            <a:fld id="{40B55E21-7CF7-4D44-8F02-045551EED843}" type="datetime1">
              <a:rPr lang="en-US" smtClean="0"/>
              <a:t>12/23/2025</a:t>
            </a:fld>
            <a:endParaRPr lang="en-US"/>
          </a:p>
        </p:txBody>
      </p:sp>
      <p:sp>
        <p:nvSpPr>
          <p:cNvPr id="6" name="Footer Placeholder 5">
            <a:extLst>
              <a:ext uri="{FF2B5EF4-FFF2-40B4-BE49-F238E27FC236}">
                <a16:creationId xmlns:a16="http://schemas.microsoft.com/office/drawing/2014/main" id="{96C3CCC0-44D6-44E7-B3E2-F9508F2EEE9A}"/>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66CE6695-AA5E-44D1-9985-4427DD580AB9}"/>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88051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8D7B4-D7B9-4CD5-8BBF-261B67DBF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F94BA48-7AB5-49D9-81E8-DFFBE9AB6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13C2DDF-C490-4A6F-A58E-8725DD272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F83A0D-2DAD-49E9-B1EE-9DF052C15A15}"/>
              </a:ext>
            </a:extLst>
          </p:cNvPr>
          <p:cNvSpPr>
            <a:spLocks noGrp="1"/>
          </p:cNvSpPr>
          <p:nvPr>
            <p:ph type="dt" sz="half" idx="10"/>
          </p:nvPr>
        </p:nvSpPr>
        <p:spPr/>
        <p:txBody>
          <a:bodyPr/>
          <a:lstStyle/>
          <a:p>
            <a:fld id="{27F60839-95EF-4AEF-A139-C8CD2D92FE09}" type="datetime1">
              <a:rPr lang="en-US" smtClean="0"/>
              <a:t>12/23/2025</a:t>
            </a:fld>
            <a:endParaRPr lang="en-US"/>
          </a:p>
        </p:txBody>
      </p:sp>
      <p:sp>
        <p:nvSpPr>
          <p:cNvPr id="6" name="Footer Placeholder 5">
            <a:extLst>
              <a:ext uri="{FF2B5EF4-FFF2-40B4-BE49-F238E27FC236}">
                <a16:creationId xmlns:a16="http://schemas.microsoft.com/office/drawing/2014/main" id="{2209279F-FA38-482C-A481-C161B9DC3604}"/>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D428492A-027C-44E9-8D07-DE52AB2CBA13}"/>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234029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B1B3-8AAA-40ED-9E60-009698E2ECC0}"/>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1EA64B8-4914-4368-9D4C-2DC37C25DC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54F7E6B-9FD8-44E5-9EB9-16C15B413221}"/>
              </a:ext>
            </a:extLst>
          </p:cNvPr>
          <p:cNvSpPr>
            <a:spLocks noGrp="1"/>
          </p:cNvSpPr>
          <p:nvPr>
            <p:ph type="dt" sz="half" idx="10"/>
          </p:nvPr>
        </p:nvSpPr>
        <p:spPr/>
        <p:txBody>
          <a:bodyPr/>
          <a:lstStyle/>
          <a:p>
            <a:fld id="{15EAA120-004F-44F7-AA80-A536C410B118}" type="datetime1">
              <a:rPr lang="en-US" smtClean="0"/>
              <a:t>12/23/2025</a:t>
            </a:fld>
            <a:endParaRPr lang="en-US"/>
          </a:p>
        </p:txBody>
      </p:sp>
      <p:sp>
        <p:nvSpPr>
          <p:cNvPr id="5" name="Footer Placeholder 4">
            <a:extLst>
              <a:ext uri="{FF2B5EF4-FFF2-40B4-BE49-F238E27FC236}">
                <a16:creationId xmlns:a16="http://schemas.microsoft.com/office/drawing/2014/main" id="{BB74B6C4-C406-42D6-87B7-00D9D10E74A6}"/>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6E0E5894-C90C-431F-B702-4D6611A1E6D0}"/>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325897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951357-1906-49D4-8444-311DD8EBA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E6B0759-AC21-48C2-9875-B1BA606A60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29DD895-74B7-4197-8E32-1C0EEA0F105A}"/>
              </a:ext>
            </a:extLst>
          </p:cNvPr>
          <p:cNvSpPr>
            <a:spLocks noGrp="1"/>
          </p:cNvSpPr>
          <p:nvPr>
            <p:ph type="dt" sz="half" idx="10"/>
          </p:nvPr>
        </p:nvSpPr>
        <p:spPr/>
        <p:txBody>
          <a:bodyPr/>
          <a:lstStyle/>
          <a:p>
            <a:fld id="{1DADFDAB-C4D1-4AEF-837D-F9115D5FE1B7}" type="datetime1">
              <a:rPr lang="en-US" smtClean="0"/>
              <a:t>12/23/2025</a:t>
            </a:fld>
            <a:endParaRPr lang="en-US"/>
          </a:p>
        </p:txBody>
      </p:sp>
      <p:sp>
        <p:nvSpPr>
          <p:cNvPr id="5" name="Footer Placeholder 4">
            <a:extLst>
              <a:ext uri="{FF2B5EF4-FFF2-40B4-BE49-F238E27FC236}">
                <a16:creationId xmlns:a16="http://schemas.microsoft.com/office/drawing/2014/main" id="{6D5364BF-7EC4-4BC8-8DE0-0AA8186F123B}"/>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B088166F-7663-4892-937D-7D4BBBAAD18C}"/>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23771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96B69C-8C9A-4525-B3FF-650112E119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EA5E67D-B9E8-4E04-989F-BD8B8B97BD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19F7E2E-A1D1-4245-BA97-6E5FEB3FE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B93555-EC39-4B3A-97B8-5F3BB501DD6F}" type="datetime1">
              <a:rPr lang="en-US" smtClean="0"/>
              <a:t>12/23/2025</a:t>
            </a:fld>
            <a:endParaRPr lang="en-US"/>
          </a:p>
        </p:txBody>
      </p:sp>
      <p:sp>
        <p:nvSpPr>
          <p:cNvPr id="5" name="Footer Placeholder 4">
            <a:extLst>
              <a:ext uri="{FF2B5EF4-FFF2-40B4-BE49-F238E27FC236}">
                <a16:creationId xmlns:a16="http://schemas.microsoft.com/office/drawing/2014/main" id="{8FBF56F8-8C74-4301-8A02-2373AA653A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A9A07F5B-BED3-4B88-9FD6-1C81D123A7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C51ED2-AC48-45BF-9843-B46461D80413}" type="slidenum">
              <a:rPr lang="en-US" smtClean="0"/>
              <a:t>‹#›</a:t>
            </a:fld>
            <a:endParaRPr lang="en-US"/>
          </a:p>
        </p:txBody>
      </p:sp>
    </p:spTree>
    <p:extLst>
      <p:ext uri="{BB962C8B-B14F-4D97-AF65-F5344CB8AC3E}">
        <p14:creationId xmlns:p14="http://schemas.microsoft.com/office/powerpoint/2010/main" val="3336057585"/>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5.xml"/><Relationship Id="rId3" Type="http://schemas.openxmlformats.org/officeDocument/2006/relationships/image" Target="../media/image3.png"/><Relationship Id="rId7" Type="http://schemas.openxmlformats.org/officeDocument/2006/relationships/customXml" Target="../ink/ink2.xml"/><Relationship Id="rId12"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customXml" Target="../ink/ink3.xml"/><Relationship Id="rId1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customXml" Target="../ink/ink8.xml"/><Relationship Id="rId4" Type="http://schemas.openxmlformats.org/officeDocument/2006/relationships/image" Target="../media/image2.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image" Target="../media/image16.png"/><Relationship Id="rId5" Type="http://schemas.openxmlformats.org/officeDocument/2006/relationships/image" Target="../media/image13.png"/><Relationship Id="rId10" Type="http://schemas.openxmlformats.org/officeDocument/2006/relationships/customXml" Target="../ink/ink11.xml"/><Relationship Id="rId4" Type="http://schemas.openxmlformats.org/officeDocument/2006/relationships/image" Target="../media/image2.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customXml" Target="../ink/ink12.xml"/><Relationship Id="rId5" Type="http://schemas.openxmlformats.org/officeDocument/2006/relationships/image" Target="../media/image26.png"/><Relationship Id="rId4" Type="http://schemas.openxmlformats.org/officeDocument/2006/relationships/image" Target="../media/image2.png"/><Relationship Id="rId9"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grpSp>
        <p:nvGrpSpPr>
          <p:cNvPr id="6" name="object 6"/>
          <p:cNvGrpSpPr/>
          <p:nvPr/>
        </p:nvGrpSpPr>
        <p:grpSpPr>
          <a:xfrm>
            <a:off x="9095231" y="2054572"/>
            <a:ext cx="1193292" cy="2462783"/>
            <a:chOff x="7571231" y="2942844"/>
            <a:chExt cx="1193292" cy="2462783"/>
          </a:xfrm>
        </p:grpSpPr>
        <p:sp>
          <p:nvSpPr>
            <p:cNvPr id="7" name="object 7"/>
            <p:cNvSpPr/>
            <p:nvPr/>
          </p:nvSpPr>
          <p:spPr>
            <a:xfrm>
              <a:off x="7571231" y="2942844"/>
              <a:ext cx="1193292" cy="2462783"/>
            </a:xfrm>
            <a:prstGeom prst="rect">
              <a:avLst/>
            </a:prstGeom>
            <a:blipFill>
              <a:blip r:embed="rId2"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9" name="object 9"/>
            <p:cNvSpPr/>
            <p:nvPr/>
          </p:nvSpPr>
          <p:spPr>
            <a:xfrm>
              <a:off x="7712074" y="3136773"/>
              <a:ext cx="911225" cy="2075180"/>
            </a:xfrm>
            <a:custGeom>
              <a:avLst/>
              <a:gdLst/>
              <a:ahLst/>
              <a:cxnLst/>
              <a:rect l="l" t="t" r="r" b="b"/>
              <a:pathLst>
                <a:path w="911225" h="2075179">
                  <a:moveTo>
                    <a:pt x="0" y="2074926"/>
                  </a:moveTo>
                  <a:lnTo>
                    <a:pt x="911225" y="2074926"/>
                  </a:lnTo>
                  <a:lnTo>
                    <a:pt x="911225" y="0"/>
                  </a:lnTo>
                  <a:lnTo>
                    <a:pt x="0" y="0"/>
                  </a:lnTo>
                  <a:lnTo>
                    <a:pt x="0" y="2074926"/>
                  </a:lnTo>
                  <a:close/>
                </a:path>
              </a:pathLst>
            </a:custGeom>
            <a:ln w="6350">
              <a:solidFill>
                <a:srgbClr val="6B7C71"/>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grpSp>
        <p:nvGrpSpPr>
          <p:cNvPr id="10" name="object 10"/>
          <p:cNvGrpSpPr/>
          <p:nvPr/>
        </p:nvGrpSpPr>
        <p:grpSpPr>
          <a:xfrm>
            <a:off x="1970087" y="2128412"/>
            <a:ext cx="6946900" cy="2244725"/>
            <a:chOff x="446087" y="3055873"/>
            <a:chExt cx="6946900" cy="2244725"/>
          </a:xfrm>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solidFill>
              <a:srgbClr val="6B7C71"/>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3" name="object 13"/>
          <p:cNvSpPr txBox="1"/>
          <p:nvPr/>
        </p:nvSpPr>
        <p:spPr>
          <a:xfrm>
            <a:off x="2065337" y="3631839"/>
            <a:ext cx="6756400" cy="740587"/>
          </a:xfrm>
          <a:prstGeom prst="rect">
            <a:avLst/>
          </a:prstGeom>
          <a:solidFill>
            <a:srgbClr val="92A199"/>
          </a:solidFill>
        </p:spPr>
        <p:txBody>
          <a:bodyPr vert="horz" wrap="square" lIns="0" tIns="1905" rIns="0" bIns="0" rtlCol="0">
            <a:spAutoFit/>
          </a:bodyPr>
          <a:lstStyle/>
          <a:p>
            <a:pPr>
              <a:spcBef>
                <a:spcPts val="15"/>
              </a:spcBef>
            </a:pPr>
            <a:endParaRPr sz="2400" b="1" dirty="0">
              <a:latin typeface="Times New Roman" panose="02020603050405020304" pitchFamily="18" charset="0"/>
              <a:cs typeface="Times New Roman" panose="02020603050405020304" pitchFamily="18" charset="0"/>
            </a:endParaRPr>
          </a:p>
          <a:p>
            <a:pPr marL="121920">
              <a:tabLst>
                <a:tab pos="707390" algn="l"/>
                <a:tab pos="1868805" algn="l"/>
              </a:tabLst>
            </a:pPr>
            <a:r>
              <a:rPr lang="sv-SE" sz="2400" b="1" dirty="0">
                <a:latin typeface="Times New Roman" panose="02020603050405020304" pitchFamily="18" charset="0"/>
                <a:cs typeface="Times New Roman" panose="02020603050405020304" pitchFamily="18" charset="0"/>
              </a:rPr>
              <a:t>Dr. </a:t>
            </a:r>
            <a:r>
              <a:rPr lang="sv-SE" sz="2400" b="1">
                <a:latin typeface="Times New Roman" panose="02020603050405020304" pitchFamily="18" charset="0"/>
                <a:cs typeface="Times New Roman" panose="02020603050405020304" pitchFamily="18" charset="0"/>
              </a:rPr>
              <a:t>Amer Rasheed</a:t>
            </a:r>
            <a:endParaRPr sz="2400" b="1" dirty="0">
              <a:latin typeface="Times New Roman" panose="02020603050405020304" pitchFamily="18" charset="0"/>
              <a:cs typeface="Times New Roman" panose="02020603050405020304" pitchFamily="18" charset="0"/>
            </a:endParaRPr>
          </a:p>
        </p:txBody>
      </p:sp>
      <p:sp>
        <p:nvSpPr>
          <p:cNvPr id="14" name="object 14"/>
          <p:cNvSpPr txBox="1"/>
          <p:nvPr/>
        </p:nvSpPr>
        <p:spPr>
          <a:xfrm>
            <a:off x="2065338" y="2158383"/>
            <a:ext cx="6756400" cy="1257395"/>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INFORMATION SECURITY</a:t>
            </a:r>
          </a:p>
          <a:p>
            <a:pPr marL="12700" marR="5080" algn="ctr">
              <a:spcBef>
                <a:spcPts val="105"/>
              </a:spcBef>
            </a:pPr>
            <a:r>
              <a:rPr sz="4000" b="1" dirty="0">
                <a:latin typeface="Times New Roman" panose="02020603050405020304" pitchFamily="18" charset="0"/>
                <a:cs typeface="Times New Roman" panose="02020603050405020304" pitchFamily="18" charset="0"/>
              </a:rPr>
              <a:t>  </a:t>
            </a:r>
            <a:r>
              <a:rPr lang="en-US" sz="4000" b="1">
                <a:latin typeface="Times New Roman" panose="02020603050405020304" pitchFamily="18" charset="0"/>
                <a:cs typeface="Times New Roman" panose="02020603050405020304" pitchFamily="18" charset="0"/>
              </a:rPr>
              <a:t>LECTURE 7</a:t>
            </a:r>
            <a:endParaRPr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005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219200" y="1288774"/>
            <a:ext cx="9164877"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buffer overflow, or buffer overrun, occurs when more data is put into a fixed-length buffer than the buffer can handle. The extra information, which has to go somewhere, can overflow into adjacent memory space, corrupting or overwriting the data held in that space.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buffer overflow, or buffer overrun, is a </a:t>
            </a:r>
            <a:r>
              <a:rPr lang="en-US" sz="2000" dirty="0">
                <a:solidFill>
                  <a:srgbClr val="FF0000"/>
                </a:solidFill>
                <a:latin typeface="Times New Roman" panose="02020603050405020304" pitchFamily="18" charset="0"/>
                <a:cs typeface="Times New Roman" panose="02020603050405020304" pitchFamily="18" charset="0"/>
              </a:rPr>
              <a:t>common software coding mistake </a:t>
            </a:r>
            <a:r>
              <a:rPr lang="en-US" sz="2000" dirty="0">
                <a:latin typeface="Times New Roman" panose="02020603050405020304" pitchFamily="18" charset="0"/>
                <a:cs typeface="Times New Roman" panose="02020603050405020304" pitchFamily="18" charset="0"/>
              </a:rPr>
              <a:t>that an attacker could exploit to gain access to your system.</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Buffer is a sequential memory</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Buffer overflow is the common and </a:t>
            </a:r>
            <a:r>
              <a:rPr lang="en-US" sz="2000" dirty="0">
                <a:solidFill>
                  <a:srgbClr val="FF0000"/>
                </a:solidFill>
                <a:latin typeface="Times New Roman" panose="02020603050405020304" pitchFamily="18" charset="0"/>
                <a:cs typeface="Times New Roman" panose="02020603050405020304" pitchFamily="18" charset="0"/>
              </a:rPr>
              <a:t>classic vulnerability</a:t>
            </a:r>
            <a:r>
              <a:rPr lang="en-US" sz="2000" dirty="0">
                <a:latin typeface="Times New Roman" panose="02020603050405020304" pitchFamily="18" charset="0"/>
                <a:cs typeface="Times New Roman" panose="02020603050405020304" pitchFamily="18" charset="0"/>
              </a:rPr>
              <a:t>. </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6B76A372-25A2-7EF8-306E-9BDDB113DD0B}"/>
                  </a:ext>
                </a:extLst>
              </p14:cNvPr>
              <p14:cNvContentPartPr/>
              <p14:nvPr/>
            </p14:nvContentPartPr>
            <p14:xfrm>
              <a:off x="1849886" y="4560617"/>
              <a:ext cx="251280" cy="360"/>
            </p14:xfrm>
          </p:contentPart>
        </mc:Choice>
        <mc:Fallback>
          <p:pic>
            <p:nvPicPr>
              <p:cNvPr id="3" name="Ink 2">
                <a:extLst>
                  <a:ext uri="{FF2B5EF4-FFF2-40B4-BE49-F238E27FC236}">
                    <a16:creationId xmlns:a16="http://schemas.microsoft.com/office/drawing/2014/main" id="{6B76A372-25A2-7EF8-306E-9BDDB113DD0B}"/>
                  </a:ext>
                </a:extLst>
              </p:cNvPr>
              <p:cNvPicPr/>
              <p:nvPr/>
            </p:nvPicPr>
            <p:blipFill>
              <a:blip r:embed="rId6"/>
              <a:stretch>
                <a:fillRect/>
              </a:stretch>
            </p:blipFill>
            <p:spPr>
              <a:xfrm>
                <a:off x="1832246" y="4542617"/>
                <a:ext cx="2869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8A53EF4F-23B2-26AF-0F8F-0D77B89CFE69}"/>
                  </a:ext>
                </a:extLst>
              </p14:cNvPr>
              <p14:cNvContentPartPr/>
              <p14:nvPr/>
            </p14:nvContentPartPr>
            <p14:xfrm>
              <a:off x="4974686" y="1554257"/>
              <a:ext cx="804600" cy="14040"/>
            </p14:xfrm>
          </p:contentPart>
        </mc:Choice>
        <mc:Fallback>
          <p:pic>
            <p:nvPicPr>
              <p:cNvPr id="4" name="Ink 3">
                <a:extLst>
                  <a:ext uri="{FF2B5EF4-FFF2-40B4-BE49-F238E27FC236}">
                    <a16:creationId xmlns:a16="http://schemas.microsoft.com/office/drawing/2014/main" id="{8A53EF4F-23B2-26AF-0F8F-0D77B89CFE69}"/>
                  </a:ext>
                </a:extLst>
              </p:cNvPr>
              <p:cNvPicPr/>
              <p:nvPr/>
            </p:nvPicPr>
            <p:blipFill>
              <a:blip r:embed="rId8"/>
              <a:stretch>
                <a:fillRect/>
              </a:stretch>
            </p:blipFill>
            <p:spPr>
              <a:xfrm>
                <a:off x="4956686" y="1536617"/>
                <a:ext cx="8402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4894CBCA-F750-A663-A7FF-A7F06BD042F6}"/>
                  </a:ext>
                </a:extLst>
              </p14:cNvPr>
              <p14:cNvContentPartPr/>
              <p14:nvPr/>
            </p14:nvContentPartPr>
            <p14:xfrm>
              <a:off x="2982446" y="1556417"/>
              <a:ext cx="848160" cy="23400"/>
            </p14:xfrm>
          </p:contentPart>
        </mc:Choice>
        <mc:Fallback>
          <p:pic>
            <p:nvPicPr>
              <p:cNvPr id="5" name="Ink 4">
                <a:extLst>
                  <a:ext uri="{FF2B5EF4-FFF2-40B4-BE49-F238E27FC236}">
                    <a16:creationId xmlns:a16="http://schemas.microsoft.com/office/drawing/2014/main" id="{4894CBCA-F750-A663-A7FF-A7F06BD042F6}"/>
                  </a:ext>
                </a:extLst>
              </p:cNvPr>
              <p:cNvPicPr/>
              <p:nvPr/>
            </p:nvPicPr>
            <p:blipFill>
              <a:blip r:embed="rId10"/>
              <a:stretch>
                <a:fillRect/>
              </a:stretch>
            </p:blipFill>
            <p:spPr>
              <a:xfrm>
                <a:off x="2964806" y="1538417"/>
                <a:ext cx="88380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EDCC9002-B168-6F8D-132B-100C3900D991}"/>
                  </a:ext>
                </a:extLst>
              </p14:cNvPr>
              <p14:cNvContentPartPr/>
              <p14:nvPr/>
            </p14:nvContentPartPr>
            <p14:xfrm>
              <a:off x="5202926" y="2252297"/>
              <a:ext cx="2198160" cy="12240"/>
            </p14:xfrm>
          </p:contentPart>
        </mc:Choice>
        <mc:Fallback>
          <p:pic>
            <p:nvPicPr>
              <p:cNvPr id="7" name="Ink 6">
                <a:extLst>
                  <a:ext uri="{FF2B5EF4-FFF2-40B4-BE49-F238E27FC236}">
                    <a16:creationId xmlns:a16="http://schemas.microsoft.com/office/drawing/2014/main" id="{EDCC9002-B168-6F8D-132B-100C3900D991}"/>
                  </a:ext>
                </a:extLst>
              </p:cNvPr>
              <p:cNvPicPr/>
              <p:nvPr/>
            </p:nvPicPr>
            <p:blipFill>
              <a:blip r:embed="rId12"/>
              <a:stretch>
                <a:fillRect/>
              </a:stretch>
            </p:blipFill>
            <p:spPr>
              <a:xfrm>
                <a:off x="5185286" y="2234657"/>
                <a:ext cx="223380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65462CA6-B374-D296-DEFF-2CBBF5EED5C4}"/>
                  </a:ext>
                </a:extLst>
              </p14:cNvPr>
              <p14:cNvContentPartPr/>
              <p14:nvPr/>
            </p14:nvContentPartPr>
            <p14:xfrm>
              <a:off x="3200246" y="3417617"/>
              <a:ext cx="1805760" cy="12240"/>
            </p14:xfrm>
          </p:contentPart>
        </mc:Choice>
        <mc:Fallback>
          <p:pic>
            <p:nvPicPr>
              <p:cNvPr id="8" name="Ink 7">
                <a:extLst>
                  <a:ext uri="{FF2B5EF4-FFF2-40B4-BE49-F238E27FC236}">
                    <a16:creationId xmlns:a16="http://schemas.microsoft.com/office/drawing/2014/main" id="{65462CA6-B374-D296-DEFF-2CBBF5EED5C4}"/>
                  </a:ext>
                </a:extLst>
              </p:cNvPr>
              <p:cNvPicPr/>
              <p:nvPr/>
            </p:nvPicPr>
            <p:blipFill>
              <a:blip r:embed="rId14"/>
              <a:stretch>
                <a:fillRect/>
              </a:stretch>
            </p:blipFill>
            <p:spPr>
              <a:xfrm>
                <a:off x="3182606" y="3399617"/>
                <a:ext cx="1841400" cy="47880"/>
              </a:xfrm>
              <a:prstGeom prst="rect">
                <a:avLst/>
              </a:prstGeom>
            </p:spPr>
          </p:pic>
        </mc:Fallback>
      </mc:AlternateContent>
    </p:spTree>
    <p:extLst>
      <p:ext uri="{BB962C8B-B14F-4D97-AF65-F5344CB8AC3E}">
        <p14:creationId xmlns:p14="http://schemas.microsoft.com/office/powerpoint/2010/main" val="3656280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843421" y="1138462"/>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every process, OS allocates block of memory or several blocks of memory for it, to run.</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RAM has physical addresses.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a program, if two different processes created P1 &amp; P2. </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OS will allocate physical memory/addresses to them.</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Although processes have virtual address space. </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we have a mapping (Paging) between physical and virtual addresses. </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Two processes mapped on two different physical addresses in RAM. (OS will make sure)</a:t>
            </a:r>
          </a:p>
          <a:p>
            <a:pPr marL="1257300" lvl="2"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1257300" lvl="2"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Virtual vs Physical Address Scheme</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DCDF455-6298-4BF3-A188-EC480C606B13}"/>
              </a:ext>
            </a:extLst>
          </p:cNvPr>
          <p:cNvPicPr>
            <a:picLocks noChangeAspect="1"/>
          </p:cNvPicPr>
          <p:nvPr/>
        </p:nvPicPr>
        <p:blipFill>
          <a:blip r:embed="rId5"/>
          <a:stretch>
            <a:fillRect/>
          </a:stretch>
        </p:blipFill>
        <p:spPr>
          <a:xfrm>
            <a:off x="3375548" y="3303740"/>
            <a:ext cx="8778874" cy="3541362"/>
          </a:xfrm>
          <a:prstGeom prst="rect">
            <a:avLst/>
          </a:prstGeom>
        </p:spPr>
      </p:pic>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3956B59D-1F36-94CB-536F-3CF2AB0EA50D}"/>
                  </a:ext>
                </a:extLst>
              </p14:cNvPr>
              <p14:cNvContentPartPr/>
              <p14:nvPr/>
            </p14:nvContentPartPr>
            <p14:xfrm>
              <a:off x="2764646" y="1718417"/>
              <a:ext cx="1686600" cy="45720"/>
            </p14:xfrm>
          </p:contentPart>
        </mc:Choice>
        <mc:Fallback>
          <p:pic>
            <p:nvPicPr>
              <p:cNvPr id="3" name="Ink 2">
                <a:extLst>
                  <a:ext uri="{FF2B5EF4-FFF2-40B4-BE49-F238E27FC236}">
                    <a16:creationId xmlns:a16="http://schemas.microsoft.com/office/drawing/2014/main" id="{3956B59D-1F36-94CB-536F-3CF2AB0EA50D}"/>
                  </a:ext>
                </a:extLst>
              </p:cNvPr>
              <p:cNvPicPr/>
              <p:nvPr/>
            </p:nvPicPr>
            <p:blipFill>
              <a:blip r:embed="rId7"/>
              <a:stretch>
                <a:fillRect/>
              </a:stretch>
            </p:blipFill>
            <p:spPr>
              <a:xfrm>
                <a:off x="2746646" y="1700777"/>
                <a:ext cx="172224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3CE4B3A4-7C33-B70B-EF0E-9C0E478987F3}"/>
                  </a:ext>
                </a:extLst>
              </p14:cNvPr>
              <p14:cNvContentPartPr/>
              <p14:nvPr/>
            </p14:nvContentPartPr>
            <p14:xfrm>
              <a:off x="3940406" y="2361737"/>
              <a:ext cx="1599480" cy="22680"/>
            </p14:xfrm>
          </p:contentPart>
        </mc:Choice>
        <mc:Fallback>
          <p:pic>
            <p:nvPicPr>
              <p:cNvPr id="5" name="Ink 4">
                <a:extLst>
                  <a:ext uri="{FF2B5EF4-FFF2-40B4-BE49-F238E27FC236}">
                    <a16:creationId xmlns:a16="http://schemas.microsoft.com/office/drawing/2014/main" id="{3CE4B3A4-7C33-B70B-EF0E-9C0E478987F3}"/>
                  </a:ext>
                </a:extLst>
              </p:cNvPr>
              <p:cNvPicPr/>
              <p:nvPr/>
            </p:nvPicPr>
            <p:blipFill>
              <a:blip r:embed="rId9"/>
              <a:stretch>
                <a:fillRect/>
              </a:stretch>
            </p:blipFill>
            <p:spPr>
              <a:xfrm>
                <a:off x="3922406" y="2343737"/>
                <a:ext cx="163512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134E03FB-EEAF-CE60-CBED-E6BFF30D6DBF}"/>
                  </a:ext>
                </a:extLst>
              </p14:cNvPr>
              <p14:cNvContentPartPr/>
              <p14:nvPr/>
            </p14:nvContentPartPr>
            <p14:xfrm>
              <a:off x="4876406" y="2676737"/>
              <a:ext cx="1675440" cy="44640"/>
            </p14:xfrm>
          </p:contentPart>
        </mc:Choice>
        <mc:Fallback>
          <p:pic>
            <p:nvPicPr>
              <p:cNvPr id="7" name="Ink 6">
                <a:extLst>
                  <a:ext uri="{FF2B5EF4-FFF2-40B4-BE49-F238E27FC236}">
                    <a16:creationId xmlns:a16="http://schemas.microsoft.com/office/drawing/2014/main" id="{134E03FB-EEAF-CE60-CBED-E6BFF30D6DBF}"/>
                  </a:ext>
                </a:extLst>
              </p:cNvPr>
              <p:cNvPicPr/>
              <p:nvPr/>
            </p:nvPicPr>
            <p:blipFill>
              <a:blip r:embed="rId11"/>
              <a:stretch>
                <a:fillRect/>
              </a:stretch>
            </p:blipFill>
            <p:spPr>
              <a:xfrm>
                <a:off x="4858766" y="2658737"/>
                <a:ext cx="1711080" cy="80280"/>
              </a:xfrm>
              <a:prstGeom prst="rect">
                <a:avLst/>
              </a:prstGeom>
            </p:spPr>
          </p:pic>
        </mc:Fallback>
      </mc:AlternateContent>
    </p:spTree>
    <p:extLst>
      <p:ext uri="{BB962C8B-B14F-4D97-AF65-F5344CB8AC3E}">
        <p14:creationId xmlns:p14="http://schemas.microsoft.com/office/powerpoint/2010/main" val="4183816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0" y="1117244"/>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program has different type of data and store in different type of memory locations.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Text segment is for strings storage.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variable is initialized then it will go to data otherwise in BSS segment i.e. </a:t>
            </a:r>
            <a:r>
              <a:rPr lang="en-US" sz="2000" b="1" dirty="0">
                <a:latin typeface="Times New Roman" panose="02020603050405020304" pitchFamily="18" charset="0"/>
                <a:cs typeface="Times New Roman" panose="02020603050405020304" pitchFamily="18" charset="0"/>
              </a:rPr>
              <a:t>z</a:t>
            </a:r>
            <a:r>
              <a:rPr lang="en-US" sz="2000" dirty="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segment: global variables i.e. x stores here.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Stack: Local variable (</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ptr</a:t>
            </a:r>
            <a:r>
              <a:rPr lang="en-US" sz="2000" dirty="0">
                <a:latin typeface="Times New Roman" panose="02020603050405020304" pitchFamily="18" charset="0"/>
                <a:cs typeface="Times New Roman" panose="02020603050405020304" pitchFamily="18" charset="0"/>
              </a:rPr>
              <a:t>)</a:t>
            </a:r>
          </a:p>
          <a:p>
            <a:pPr marL="1257300" lvl="2" indent="-342900">
              <a:buClr>
                <a:srgbClr val="FF0000"/>
              </a:buClr>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Ptr</a:t>
            </a:r>
            <a:r>
              <a:rPr lang="en-US" dirty="0">
                <a:latin typeface="Times New Roman" panose="02020603050405020304" pitchFamily="18" charset="0"/>
                <a:cs typeface="Times New Roman" panose="02020603050405020304" pitchFamily="18" charset="0"/>
              </a:rPr>
              <a:t> points block of memory</a:t>
            </a: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Those blocks of memory</a:t>
            </a:r>
          </a:p>
          <a:p>
            <a:pPr lvl="1">
              <a:buClr>
                <a:srgbClr val="FF0000"/>
              </a:buClr>
            </a:pPr>
            <a:r>
              <a:rPr lang="en-US" sz="2000" dirty="0">
                <a:latin typeface="Times New Roman" panose="02020603050405020304" pitchFamily="18" charset="0"/>
                <a:cs typeface="Times New Roman" panose="02020603050405020304" pitchFamily="18" charset="0"/>
              </a:rPr>
              <a:t>are stored in Heap</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BSS Segment: y</a:t>
            </a:r>
          </a:p>
          <a:p>
            <a:pPr lvl="1">
              <a:buClr>
                <a:srgbClr val="FF0000"/>
              </a:buCl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Memory Layout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E2CD3C9-3FA2-44F8-B3E5-3194A8E99F3E}"/>
              </a:ext>
            </a:extLst>
          </p:cNvPr>
          <p:cNvPicPr>
            <a:picLocks noChangeAspect="1"/>
          </p:cNvPicPr>
          <p:nvPr/>
        </p:nvPicPr>
        <p:blipFill rotWithShape="1">
          <a:blip r:embed="rId5"/>
          <a:srcRect r="2164" b="3082"/>
          <a:stretch/>
        </p:blipFill>
        <p:spPr>
          <a:xfrm>
            <a:off x="4045907" y="2505205"/>
            <a:ext cx="8116866" cy="4315767"/>
          </a:xfrm>
          <a:prstGeom prst="rect">
            <a:avLst/>
          </a:prstGeom>
        </p:spPr>
      </p:pic>
      <p:grpSp>
        <p:nvGrpSpPr>
          <p:cNvPr id="7" name="Group 6">
            <a:extLst>
              <a:ext uri="{FF2B5EF4-FFF2-40B4-BE49-F238E27FC236}">
                <a16:creationId xmlns:a16="http://schemas.microsoft.com/office/drawing/2014/main" id="{EE476540-058A-9177-D53C-33CD9ED7BE5B}"/>
              </a:ext>
            </a:extLst>
          </p:cNvPr>
          <p:cNvGrpSpPr/>
          <p:nvPr/>
        </p:nvGrpSpPr>
        <p:grpSpPr>
          <a:xfrm>
            <a:off x="859526" y="1675937"/>
            <a:ext cx="3406680" cy="88200"/>
            <a:chOff x="859526" y="1675937"/>
            <a:chExt cx="3406680" cy="88200"/>
          </a:xfrm>
        </p:grpSpPr>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6D22D1D4-4D30-046A-21EF-5284653B87A8}"/>
                    </a:ext>
                  </a:extLst>
                </p14:cNvPr>
                <p14:cNvContentPartPr/>
                <p14:nvPr/>
              </p14:nvContentPartPr>
              <p14:xfrm>
                <a:off x="859526" y="1730297"/>
                <a:ext cx="1261800" cy="11880"/>
              </p14:xfrm>
            </p:contentPart>
          </mc:Choice>
          <mc:Fallback>
            <p:pic>
              <p:nvPicPr>
                <p:cNvPr id="3" name="Ink 2">
                  <a:extLst>
                    <a:ext uri="{FF2B5EF4-FFF2-40B4-BE49-F238E27FC236}">
                      <a16:creationId xmlns:a16="http://schemas.microsoft.com/office/drawing/2014/main" id="{6D22D1D4-4D30-046A-21EF-5284653B87A8}"/>
                    </a:ext>
                  </a:extLst>
                </p:cNvPr>
                <p:cNvPicPr/>
                <p:nvPr/>
              </p:nvPicPr>
              <p:blipFill>
                <a:blip r:embed="rId7"/>
                <a:stretch>
                  <a:fillRect/>
                </a:stretch>
              </p:blipFill>
              <p:spPr>
                <a:xfrm>
                  <a:off x="841526" y="1712657"/>
                  <a:ext cx="12974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466BD947-1411-F7D2-9FFD-D4FF2544B439}"/>
                    </a:ext>
                  </a:extLst>
                </p14:cNvPr>
                <p14:cNvContentPartPr/>
                <p14:nvPr/>
              </p14:nvContentPartPr>
              <p14:xfrm>
                <a:off x="2906126" y="1675937"/>
                <a:ext cx="1360080" cy="88200"/>
              </p14:xfrm>
            </p:contentPart>
          </mc:Choice>
          <mc:Fallback>
            <p:pic>
              <p:nvPicPr>
                <p:cNvPr id="4" name="Ink 3">
                  <a:extLst>
                    <a:ext uri="{FF2B5EF4-FFF2-40B4-BE49-F238E27FC236}">
                      <a16:creationId xmlns:a16="http://schemas.microsoft.com/office/drawing/2014/main" id="{466BD947-1411-F7D2-9FFD-D4FF2544B439}"/>
                    </a:ext>
                  </a:extLst>
                </p:cNvPr>
                <p:cNvPicPr/>
                <p:nvPr/>
              </p:nvPicPr>
              <p:blipFill>
                <a:blip r:embed="rId9"/>
                <a:stretch>
                  <a:fillRect/>
                </a:stretch>
              </p:blipFill>
              <p:spPr>
                <a:xfrm>
                  <a:off x="2888126" y="1658297"/>
                  <a:ext cx="1395720" cy="123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1E636F22-6879-3A2A-B9C4-9ED61AA057F4}"/>
                  </a:ext>
                </a:extLst>
              </p14:cNvPr>
              <p14:cNvContentPartPr/>
              <p14:nvPr/>
            </p14:nvContentPartPr>
            <p14:xfrm>
              <a:off x="856980" y="2331720"/>
              <a:ext cx="1257480" cy="33840"/>
            </p14:xfrm>
          </p:contentPart>
        </mc:Choice>
        <mc:Fallback>
          <p:pic>
            <p:nvPicPr>
              <p:cNvPr id="8" name="Ink 7">
                <a:extLst>
                  <a:ext uri="{FF2B5EF4-FFF2-40B4-BE49-F238E27FC236}">
                    <a16:creationId xmlns:a16="http://schemas.microsoft.com/office/drawing/2014/main" id="{1E636F22-6879-3A2A-B9C4-9ED61AA057F4}"/>
                  </a:ext>
                </a:extLst>
              </p:cNvPr>
              <p:cNvPicPr/>
              <p:nvPr/>
            </p:nvPicPr>
            <p:blipFill>
              <a:blip r:embed="rId11"/>
              <a:stretch>
                <a:fillRect/>
              </a:stretch>
            </p:blipFill>
            <p:spPr>
              <a:xfrm>
                <a:off x="838980" y="2314080"/>
                <a:ext cx="1293120" cy="69480"/>
              </a:xfrm>
              <a:prstGeom prst="rect">
                <a:avLst/>
              </a:prstGeom>
            </p:spPr>
          </p:pic>
        </mc:Fallback>
      </mc:AlternateContent>
    </p:spTree>
    <p:extLst>
      <p:ext uri="{BB962C8B-B14F-4D97-AF65-F5344CB8AC3E}">
        <p14:creationId xmlns:p14="http://schemas.microsoft.com/office/powerpoint/2010/main" val="1442669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20645" y="1172106"/>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a function invoked then there are 3 portions take place inside the stack frame</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Arguments (a , b) =&gt; How OS knows the address?</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Special region</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Local Variables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During compilation difficult for the compiler to get the exact location of the variables.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Compiler has no idea</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the problem is solved by Using </a:t>
            </a:r>
          </a:p>
          <a:p>
            <a:pPr lvl="1">
              <a:buClr>
                <a:srgbClr val="FF0000"/>
              </a:buClr>
            </a:pPr>
            <a:r>
              <a:rPr lang="en-US" sz="2000" dirty="0">
                <a:latin typeface="Times New Roman" panose="02020603050405020304" pitchFamily="18" charset="0"/>
                <a:cs typeface="Times New Roman" panose="02020603050405020304" pitchFamily="18" charset="0"/>
              </a:rPr>
              <a:t>registers (</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know, special region has Two </a:t>
            </a:r>
          </a:p>
          <a:p>
            <a:pPr lvl="1">
              <a:buClr>
                <a:srgbClr val="FF0000"/>
              </a:buClr>
            </a:pPr>
            <a:r>
              <a:rPr lang="en-US" sz="2000" dirty="0">
                <a:latin typeface="Times New Roman" panose="02020603050405020304" pitchFamily="18" charset="0"/>
                <a:cs typeface="Times New Roman" panose="02020603050405020304" pitchFamily="18" charset="0"/>
              </a:rPr>
              <a:t>portions (4, 4 bytes)</a:t>
            </a:r>
          </a:p>
          <a:p>
            <a:pPr marL="800100" lvl="1" indent="-342900">
              <a:buClr>
                <a:srgbClr val="FF0000"/>
              </a:buClr>
              <a:buFont typeface="Arial" panose="020B0604020202020204" pitchFamily="34" charset="0"/>
              <a:buChar char="•"/>
            </a:pPr>
            <a:r>
              <a:rPr lang="en-US" sz="2000" dirty="0">
                <a:solidFill>
                  <a:srgbClr val="FF0000"/>
                </a:solidFill>
                <a:latin typeface="Times New Roman" panose="02020603050405020304" pitchFamily="18" charset="0"/>
                <a:cs typeface="Times New Roman" panose="02020603050405020304" pitchFamily="18" charset="0"/>
              </a:rPr>
              <a:t>Locations (easy for compiler now)</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ebp+8 </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 ebp+12</a:t>
            </a:r>
          </a:p>
          <a:p>
            <a:pPr lvl="1">
              <a:buClr>
                <a:srgbClr val="FF0000"/>
              </a:buClr>
            </a:pPr>
            <a:r>
              <a:rPr lang="en-US" sz="2000" dirty="0">
                <a:latin typeface="Times New Roman" panose="02020603050405020304" pitchFamily="18" charset="0"/>
                <a:cs typeface="Times New Roman" panose="02020603050405020304" pitchFamily="18" charset="0"/>
              </a:rPr>
              <a:t> </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Stack Layout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0B07F6C-DB1F-40DE-A2AE-F8F825774BA6}"/>
              </a:ext>
            </a:extLst>
          </p:cNvPr>
          <p:cNvPicPr>
            <a:picLocks noChangeAspect="1"/>
          </p:cNvPicPr>
          <p:nvPr/>
        </p:nvPicPr>
        <p:blipFill>
          <a:blip r:embed="rId5"/>
          <a:stretch>
            <a:fillRect/>
          </a:stretch>
        </p:blipFill>
        <p:spPr>
          <a:xfrm>
            <a:off x="4434214" y="2781652"/>
            <a:ext cx="7757786" cy="4076348"/>
          </a:xfrm>
          <a:prstGeom prst="rect">
            <a:avLst/>
          </a:prstGeom>
        </p:spPr>
      </p:pic>
    </p:spTree>
    <p:extLst>
      <p:ext uri="{BB962C8B-B14F-4D97-AF65-F5344CB8AC3E}">
        <p14:creationId xmlns:p14="http://schemas.microsoft.com/office/powerpoint/2010/main" val="1969510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897259" y="1254448"/>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diagram is explaining how the argument and local variables are working &amp; get their locations.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assembly code is also given -8(%</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 is for x variable</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40042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Stack Layout</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E593447-FE54-433A-9BAC-DAB23BDCFA06}"/>
              </a:ext>
            </a:extLst>
          </p:cNvPr>
          <p:cNvPicPr>
            <a:picLocks noChangeAspect="1"/>
          </p:cNvPicPr>
          <p:nvPr/>
        </p:nvPicPr>
        <p:blipFill>
          <a:blip r:embed="rId5"/>
          <a:stretch>
            <a:fillRect/>
          </a:stretch>
        </p:blipFill>
        <p:spPr>
          <a:xfrm>
            <a:off x="3995803" y="2487658"/>
            <a:ext cx="8196196" cy="4370341"/>
          </a:xfrm>
          <a:prstGeom prst="rect">
            <a:avLst/>
          </a:prstGeom>
        </p:spPr>
      </p:pic>
    </p:spTree>
    <p:extLst>
      <p:ext uri="{BB962C8B-B14F-4D97-AF65-F5344CB8AC3E}">
        <p14:creationId xmlns:p14="http://schemas.microsoft.com/office/powerpoint/2010/main" val="2865269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0" y="791978"/>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main () program has function foo () </a:t>
            </a:r>
            <a:r>
              <a:rPr lang="en-US" sz="2000" dirty="0">
                <a:latin typeface="Times New Roman" panose="02020603050405020304" pitchFamily="18" charset="0"/>
                <a:cs typeface="Times New Roman" panose="02020603050405020304" pitchFamily="18" charset="0"/>
                <a:sym typeface="Wingdings" panose="05000000000000000000" pitchFamily="2" charset="2"/>
              </a:rPr>
              <a:t> that has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strcpy</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When main () invokes foo () then program allocates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new block of space </a:t>
            </a:r>
            <a:r>
              <a:rPr lang="en-US" sz="2000" dirty="0">
                <a:latin typeface="Times New Roman" panose="02020603050405020304" pitchFamily="18" charset="0"/>
                <a:cs typeface="Times New Roman" panose="02020603050405020304" pitchFamily="18" charset="0"/>
                <a:sym typeface="Wingdings" panose="05000000000000000000" pitchFamily="2" charset="2"/>
              </a:rPr>
              <a:t>for foo().</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We also need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dirty="0">
                <a:latin typeface="Times New Roman" panose="02020603050405020304" pitchFamily="18" charset="0"/>
                <a:cs typeface="Times New Roman" panose="02020603050405020304" pitchFamily="18" charset="0"/>
                <a:sym typeface="Wingdings" panose="05000000000000000000" pitchFamily="2" charset="2"/>
              </a:rPr>
              <a:t> to point for the foo () special region but we have </a:t>
            </a:r>
            <a:r>
              <a:rPr lang="en-US" sz="2000" b="1" dirty="0">
                <a:latin typeface="Times New Roman" panose="02020603050405020304" pitchFamily="18" charset="0"/>
                <a:cs typeface="Times New Roman" panose="02020603050405020304" pitchFamily="18" charset="0"/>
                <a:sym typeface="Wingdings" panose="05000000000000000000" pitchFamily="2" charset="2"/>
              </a:rPr>
              <a:t>one </a:t>
            </a:r>
            <a:r>
              <a:rPr lang="en-US" sz="2000" b="1"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b="1" dirty="0">
                <a:latin typeface="Times New Roman" panose="02020603050405020304" pitchFamily="18" charset="0"/>
                <a:cs typeface="Times New Roman" panose="02020603050405020304" pitchFamily="18" charset="0"/>
                <a:sym typeface="Wingdings" panose="05000000000000000000" pitchFamily="2" charset="2"/>
              </a:rPr>
              <a:t> register.</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We need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dirty="0">
                <a:latin typeface="Times New Roman" panose="02020603050405020304" pitchFamily="18" charset="0"/>
                <a:cs typeface="Times New Roman" panose="02020603050405020304" pitchFamily="18" charset="0"/>
                <a:sym typeface="Wingdings" panose="05000000000000000000" pitchFamily="2" charset="2"/>
              </a:rPr>
              <a:t> here for pointing the foo()  local variables &amp; arguments</a:t>
            </a:r>
          </a:p>
          <a:p>
            <a:pPr lvl="1">
              <a:buClr>
                <a:srgbClr val="FF0000"/>
              </a:buCl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Function Invocation in Stack</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25B2BB9-6C77-48AA-82CA-9CB658C2B1C7}"/>
              </a:ext>
            </a:extLst>
          </p:cNvPr>
          <p:cNvPicPr>
            <a:picLocks noChangeAspect="1"/>
          </p:cNvPicPr>
          <p:nvPr/>
        </p:nvPicPr>
        <p:blipFill>
          <a:blip r:embed="rId5"/>
          <a:stretch>
            <a:fillRect/>
          </a:stretch>
        </p:blipFill>
        <p:spPr>
          <a:xfrm>
            <a:off x="3413126" y="2016690"/>
            <a:ext cx="8795313" cy="4841310"/>
          </a:xfrm>
          <a:prstGeom prst="rect">
            <a:avLst/>
          </a:prstGeom>
        </p:spPr>
      </p:pic>
    </p:spTree>
    <p:extLst>
      <p:ext uri="{BB962C8B-B14F-4D97-AF65-F5344CB8AC3E}">
        <p14:creationId xmlns:p14="http://schemas.microsoft.com/office/powerpoint/2010/main" val="2804618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0" y="791978"/>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we need to remember the value of </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 so properly pointing out the both venues.</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first region of foo() store the value of </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 as (old </a:t>
            </a:r>
            <a:r>
              <a:rPr lang="en-US" sz="2000" dirty="0" err="1">
                <a:latin typeface="Times New Roman" panose="02020603050405020304" pitchFamily="18" charset="0"/>
                <a:cs typeface="Times New Roman" panose="02020603050405020304" pitchFamily="18" charset="0"/>
              </a:rPr>
              <a:t>ebp</a:t>
            </a:r>
            <a:r>
              <a:rPr lang="en-US" sz="2000" dirty="0">
                <a:latin typeface="Times New Roman" panose="02020603050405020304" pitchFamily="18" charset="0"/>
                <a:cs typeface="Times New Roman" panose="02020603050405020304" pitchFamily="18" charset="0"/>
              </a:rPr>
              <a:t>), so that it can point out the main()</a:t>
            </a:r>
          </a:p>
          <a:p>
            <a:pPr marL="800100" lvl="1" indent="-342900">
              <a:buClr>
                <a:srgbClr val="FF0000"/>
              </a:buClr>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Inside foo() </a:t>
            </a:r>
            <a:r>
              <a:rPr lang="en-US" sz="2000" dirty="0">
                <a:latin typeface="Times New Roman" panose="02020603050405020304" pitchFamily="18" charset="0"/>
                <a:cs typeface="Times New Roman" panose="02020603050405020304" pitchFamily="18" charset="0"/>
              </a:rPr>
              <a:t>we also have </a:t>
            </a:r>
            <a:r>
              <a:rPr lang="en-US" sz="2000" dirty="0" err="1">
                <a:latin typeface="Times New Roman" panose="02020603050405020304" pitchFamily="18" charset="0"/>
                <a:cs typeface="Times New Roman" panose="02020603050405020304" pitchFamily="18" charset="0"/>
              </a:rPr>
              <a:t>strcpy</a:t>
            </a:r>
            <a:r>
              <a:rPr lang="en-US" sz="2000" dirty="0">
                <a:latin typeface="Times New Roman" panose="02020603050405020304" pitchFamily="18" charset="0"/>
                <a:cs typeface="Times New Roman" panose="02020603050405020304" pitchFamily="18" charset="0"/>
              </a:rPr>
              <a:t>, that also </a:t>
            </a:r>
            <a:r>
              <a:rPr lang="en-US" sz="2000" dirty="0" err="1">
                <a:latin typeface="Times New Roman" panose="02020603050405020304" pitchFamily="18" charset="0"/>
                <a:cs typeface="Times New Roman" panose="02020603050405020304" pitchFamily="18" charset="0"/>
              </a:rPr>
              <a:t>aquire</a:t>
            </a:r>
            <a:r>
              <a:rPr lang="en-US" sz="2000" dirty="0">
                <a:latin typeface="Times New Roman" panose="02020603050405020304" pitchFamily="18" charset="0"/>
                <a:cs typeface="Times New Roman" panose="02020603050405020304" pitchFamily="18" charset="0"/>
              </a:rPr>
              <a:t> a new block of space with </a:t>
            </a:r>
            <a:r>
              <a:rPr lang="en-US" sz="2000" b="1" dirty="0">
                <a:latin typeface="Times New Roman" panose="02020603050405020304" pitchFamily="18" charset="0"/>
                <a:cs typeface="Times New Roman" panose="02020603050405020304" pitchFamily="18" charset="0"/>
              </a:rPr>
              <a:t>two arguments.</a:t>
            </a:r>
          </a:p>
          <a:p>
            <a:pPr lvl="1">
              <a:buClr>
                <a:srgbClr val="FF0000"/>
              </a:buClr>
            </a:pPr>
            <a:r>
              <a:rPr lang="en-US" dirty="0">
                <a:solidFill>
                  <a:srgbClr val="FF0000"/>
                </a:solidFill>
                <a:latin typeface="Times New Roman" panose="02020603050405020304" pitchFamily="18" charset="0"/>
                <a:cs typeface="Times New Roman" panose="02020603050405020304" pitchFamily="18" charset="0"/>
              </a:rPr>
              <a:t>Same old </a:t>
            </a:r>
            <a:r>
              <a:rPr lang="en-US" dirty="0" err="1">
                <a:solidFill>
                  <a:srgbClr val="FF0000"/>
                </a:solidFill>
                <a:latin typeface="Times New Roman" panose="02020603050405020304" pitchFamily="18" charset="0"/>
                <a:cs typeface="Times New Roman" panose="02020603050405020304" pitchFamily="18" charset="0"/>
              </a:rPr>
              <a:t>ebp</a:t>
            </a:r>
            <a:r>
              <a:rPr lang="en-US" dirty="0">
                <a:solidFill>
                  <a:srgbClr val="FF0000"/>
                </a:solidFill>
                <a:latin typeface="Times New Roman" panose="02020603050405020304" pitchFamily="18" charset="0"/>
                <a:cs typeface="Times New Roman" panose="02020603050405020304" pitchFamily="18" charset="0"/>
              </a:rPr>
              <a:t> value</a:t>
            </a:r>
          </a:p>
          <a:p>
            <a:pPr lvl="1">
              <a:buClr>
                <a:srgbClr val="FF0000"/>
              </a:buClr>
            </a:pPr>
            <a:r>
              <a:rPr lang="en-US" dirty="0">
                <a:solidFill>
                  <a:srgbClr val="FF0000"/>
                </a:solidFill>
                <a:latin typeface="Times New Roman" panose="02020603050405020304" pitchFamily="18" charset="0"/>
                <a:cs typeface="Times New Roman" panose="02020603050405020304" pitchFamily="18" charset="0"/>
              </a:rPr>
              <a:t>Will be stored in </a:t>
            </a:r>
          </a:p>
          <a:p>
            <a:pPr lvl="1">
              <a:buClr>
                <a:srgbClr val="FF0000"/>
              </a:buClr>
            </a:pPr>
            <a:r>
              <a:rPr lang="en-US" dirty="0" err="1">
                <a:solidFill>
                  <a:srgbClr val="FF0000"/>
                </a:solidFill>
                <a:latin typeface="Times New Roman" panose="02020603050405020304" pitchFamily="18" charset="0"/>
                <a:cs typeface="Times New Roman" panose="02020603050405020304" pitchFamily="18" charset="0"/>
              </a:rPr>
              <a:t>strcpy</a:t>
            </a:r>
            <a:r>
              <a:rPr lang="en-US" dirty="0">
                <a:solidFill>
                  <a:srgbClr val="FF0000"/>
                </a:solidFill>
                <a:latin typeface="Times New Roman" panose="02020603050405020304" pitchFamily="18" charset="0"/>
                <a:cs typeface="Times New Roman" panose="02020603050405020304" pitchFamily="18" charset="0"/>
              </a:rPr>
              <a:t> ()</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Function Invocation in Stack</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C99A20A-1CFA-46EE-B583-F1D8E23651C5}"/>
              </a:ext>
            </a:extLst>
          </p:cNvPr>
          <p:cNvPicPr>
            <a:picLocks noChangeAspect="1"/>
          </p:cNvPicPr>
          <p:nvPr/>
        </p:nvPicPr>
        <p:blipFill>
          <a:blip r:embed="rId5"/>
          <a:stretch>
            <a:fillRect/>
          </a:stretch>
        </p:blipFill>
        <p:spPr>
          <a:xfrm>
            <a:off x="2442575" y="2066795"/>
            <a:ext cx="9757776" cy="4791205"/>
          </a:xfrm>
          <a:prstGeom prst="rect">
            <a:avLst/>
          </a:prstGeom>
        </p:spPr>
      </p:pic>
    </p:spTree>
    <p:extLst>
      <p:ext uri="{BB962C8B-B14F-4D97-AF65-F5344CB8AC3E}">
        <p14:creationId xmlns:p14="http://schemas.microsoft.com/office/powerpoint/2010/main" val="1711204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0" y="791978"/>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Keep in mind about the location, where you have to return from one location to the other</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Save return address of location 1</a:t>
            </a:r>
          </a:p>
          <a:p>
            <a:pPr marL="1257300" lvl="2" indent="-342900">
              <a:buClr>
                <a:srgbClr val="FF0000"/>
              </a:buClr>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strcpy</a:t>
            </a:r>
            <a:r>
              <a:rPr lang="en-US" sz="2000" dirty="0">
                <a:latin typeface="Times New Roman" panose="02020603050405020304" pitchFamily="18" charset="0"/>
                <a:cs typeface="Times New Roman" panose="02020603050405020304" pitchFamily="18" charset="0"/>
              </a:rPr>
              <a:t>() returns then we return to (1) </a:t>
            </a:r>
            <a:r>
              <a:rPr lang="en-US" sz="2000" dirty="0">
                <a:latin typeface="Times New Roman" panose="02020603050405020304" pitchFamily="18" charset="0"/>
                <a:cs typeface="Times New Roman" panose="02020603050405020304" pitchFamily="18" charset="0"/>
                <a:sym typeface="Wingdings" panose="05000000000000000000" pitchFamily="2" charset="2"/>
              </a:rPr>
              <a:t> everything will be free &amp;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dirty="0">
                <a:latin typeface="Times New Roman" panose="02020603050405020304" pitchFamily="18" charset="0"/>
                <a:cs typeface="Times New Roman" panose="02020603050405020304" pitchFamily="18" charset="0"/>
                <a:sym typeface="Wingdings" panose="05000000000000000000" pitchFamily="2" charset="2"/>
              </a:rPr>
              <a:t> jump to upper level</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Foo () return then we return to (2) everything will be free </a:t>
            </a:r>
            <a:r>
              <a:rPr lang="en-US" sz="2000" dirty="0" err="1">
                <a:latin typeface="Times New Roman" panose="02020603050405020304" pitchFamily="18" charset="0"/>
                <a:cs typeface="Times New Roman" panose="02020603050405020304" pitchFamily="18" charset="0"/>
                <a:sym typeface="Wingdings" panose="05000000000000000000" pitchFamily="2" charset="2"/>
              </a:rPr>
              <a:t>ebp</a:t>
            </a:r>
            <a:r>
              <a:rPr lang="en-US" sz="2000" dirty="0">
                <a:latin typeface="Times New Roman" panose="02020603050405020304" pitchFamily="18" charset="0"/>
                <a:cs typeface="Times New Roman" panose="02020603050405020304" pitchFamily="18" charset="0"/>
                <a:sym typeface="Wingdings" panose="05000000000000000000" pitchFamily="2" charset="2"/>
              </a:rPr>
              <a:t> jump up to main ()</a:t>
            </a:r>
            <a:endParaRPr lang="en-US" sz="2000" dirty="0">
              <a:latin typeface="Times New Roman" panose="02020603050405020304" pitchFamily="18" charset="0"/>
              <a:cs typeface="Times New Roman" panose="02020603050405020304" pitchFamily="18" charset="0"/>
            </a:endParaRPr>
          </a:p>
          <a:p>
            <a:pPr marL="1257300" lvl="2"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Function Invocation in Stack</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9</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C46E204-E7D1-424A-97FA-8F5A9244B738}"/>
              </a:ext>
            </a:extLst>
          </p:cNvPr>
          <p:cNvPicPr>
            <a:picLocks noChangeAspect="1"/>
          </p:cNvPicPr>
          <p:nvPr/>
        </p:nvPicPr>
        <p:blipFill>
          <a:blip r:embed="rId5"/>
          <a:stretch>
            <a:fillRect/>
          </a:stretch>
        </p:blipFill>
        <p:spPr>
          <a:xfrm>
            <a:off x="1647825" y="2004164"/>
            <a:ext cx="10544175" cy="4853836"/>
          </a:xfrm>
          <a:prstGeom prst="rect">
            <a:avLst/>
          </a:prstGeom>
        </p:spPr>
      </p:pic>
    </p:spTree>
    <p:extLst>
      <p:ext uri="{BB962C8B-B14F-4D97-AF65-F5344CB8AC3E}">
        <p14:creationId xmlns:p14="http://schemas.microsoft.com/office/powerpoint/2010/main" val="1507770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1" y="954816"/>
            <a:ext cx="9506420"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Here we are coping the data from </a:t>
            </a:r>
            <a:r>
              <a:rPr lang="en-US" sz="2000" dirty="0" err="1">
                <a:latin typeface="Times New Roman" panose="02020603050405020304" pitchFamily="18" charset="0"/>
                <a:cs typeface="Times New Roman" panose="02020603050405020304" pitchFamily="18" charset="0"/>
              </a:rPr>
              <a:t>src</a:t>
            </a:r>
            <a:r>
              <a:rPr lang="en-US" sz="2000" dirty="0">
                <a:latin typeface="Times New Roman" panose="02020603050405020304" pitchFamily="18" charset="0"/>
                <a:cs typeface="Times New Roman" panose="02020603050405020304" pitchFamily="18" charset="0"/>
              </a:rPr>
              <a:t> to </a:t>
            </a:r>
            <a:r>
              <a:rPr lang="en-US" sz="2000" dirty="0" err="1">
                <a:latin typeface="Times New Roman" panose="02020603050405020304" pitchFamily="18" charset="0"/>
                <a:cs typeface="Times New Roman" panose="02020603050405020304" pitchFamily="18" charset="0"/>
              </a:rPr>
              <a:t>dest</a:t>
            </a:r>
            <a:r>
              <a:rPr lang="en-US" sz="2000" dirty="0">
                <a:latin typeface="Times New Roman" panose="02020603050405020304" pitchFamily="18" charset="0"/>
                <a:cs typeface="Times New Roman" panose="02020603050405020304" pitchFamily="18" charset="0"/>
              </a:rPr>
              <a:t>. We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don’t know how much data we have to copy in the ‘</a:t>
            </a:r>
            <a:r>
              <a:rPr lang="en-US" sz="2000" dirty="0" err="1">
                <a:latin typeface="Times New Roman" panose="02020603050405020304" pitchFamily="18" charset="0"/>
                <a:cs typeface="Times New Roman" panose="02020603050405020304" pitchFamily="18" charset="0"/>
              </a:rPr>
              <a:t>dest</a:t>
            </a:r>
            <a:r>
              <a:rPr lang="en-US" sz="2000" dirty="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But </a:t>
            </a:r>
            <a:r>
              <a:rPr lang="en-US" sz="2000" dirty="0">
                <a:latin typeface="Times New Roman" panose="02020603050405020304" pitchFamily="18" charset="0"/>
                <a:cs typeface="Times New Roman" panose="02020603050405020304" pitchFamily="18" charset="0"/>
              </a:rPr>
              <a:t>one character can tell us i.e. </a:t>
            </a:r>
            <a:r>
              <a:rPr lang="en-US" sz="2000" b="1" dirty="0">
                <a:solidFill>
                  <a:srgbClr val="FF0000"/>
                </a:solidFill>
                <a:latin typeface="Times New Roman" panose="02020603050405020304" pitchFamily="18" charset="0"/>
                <a:cs typeface="Times New Roman" panose="02020603050405020304" pitchFamily="18" charset="0"/>
              </a:rPr>
              <a:t>0</a:t>
            </a:r>
          </a:p>
          <a:p>
            <a:pPr marL="800100" lvl="1" indent="-342900">
              <a:buClr>
                <a:srgbClr val="FF0000"/>
              </a:buClr>
              <a:buFont typeface="Arial" panose="020B0604020202020204" pitchFamily="34" charset="0"/>
              <a:buChar char="•"/>
            </a:pPr>
            <a:r>
              <a:rPr lang="en-US" sz="2000" dirty="0">
                <a:solidFill>
                  <a:srgbClr val="FF0000"/>
                </a:solidFill>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is the termination character</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we remove \0 the compiler will </a:t>
            </a:r>
            <a:r>
              <a:rPr lang="en-US" sz="2000" u="sng" dirty="0">
                <a:latin typeface="Times New Roman" panose="02020603050405020304" pitchFamily="18" charset="0"/>
                <a:cs typeface="Times New Roman" panose="02020603050405020304" pitchFamily="18" charset="0"/>
              </a:rPr>
              <a:t>copy the whole string </a:t>
            </a:r>
            <a:r>
              <a:rPr lang="en-US" sz="2000" dirty="0">
                <a:latin typeface="Times New Roman" panose="02020603050405020304" pitchFamily="18" charset="0"/>
                <a:cs typeface="Times New Roman" panose="02020603050405020304" pitchFamily="18" charset="0"/>
              </a:rPr>
              <a:t>and place \0 by itself at the end.</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Vulnerability</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10</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74DC9D0-42CF-424F-A671-3E451C62034F}"/>
              </a:ext>
            </a:extLst>
          </p:cNvPr>
          <p:cNvPicPr>
            <a:picLocks noChangeAspect="1"/>
          </p:cNvPicPr>
          <p:nvPr/>
        </p:nvPicPr>
        <p:blipFill>
          <a:blip r:embed="rId5"/>
          <a:stretch>
            <a:fillRect/>
          </a:stretch>
        </p:blipFill>
        <p:spPr>
          <a:xfrm>
            <a:off x="3068638" y="2519541"/>
            <a:ext cx="5886450" cy="3829050"/>
          </a:xfrm>
          <a:prstGeom prst="rect">
            <a:avLst/>
          </a:prstGeom>
        </p:spPr>
      </p:pic>
    </p:spTree>
    <p:extLst>
      <p:ext uri="{BB962C8B-B14F-4D97-AF65-F5344CB8AC3E}">
        <p14:creationId xmlns:p14="http://schemas.microsoft.com/office/powerpoint/2010/main" val="961138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09" y="954816"/>
            <a:ext cx="11497003"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Foo() invoked in main() =&gt; foo() pass the str</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Foo() has local string in the function with size 12 but it copies </a:t>
            </a:r>
            <a:r>
              <a:rPr lang="en-US" sz="2000" u="sng" dirty="0">
                <a:latin typeface="Times New Roman" panose="02020603050405020304" pitchFamily="18" charset="0"/>
                <a:cs typeface="Times New Roman" panose="02020603050405020304" pitchFamily="18" charset="0"/>
              </a:rPr>
              <a:t>str to buffer </a:t>
            </a:r>
            <a:r>
              <a:rPr lang="en-US" sz="2000" dirty="0">
                <a:solidFill>
                  <a:srgbClr val="FF0000"/>
                </a:solidFill>
                <a:latin typeface="Times New Roman" panose="02020603050405020304" pitchFamily="18" charset="0"/>
                <a:cs typeface="Times New Roman" panose="02020603050405020304" pitchFamily="18" charset="0"/>
              </a:rPr>
              <a:t>more than 12 characters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this </a:t>
            </a:r>
            <a:r>
              <a:rPr lang="en-US" sz="2000" dirty="0">
                <a:solidFill>
                  <a:srgbClr val="FF0000"/>
                </a:solidFill>
                <a:latin typeface="Times New Roman" panose="02020603050405020304" pitchFamily="18" charset="0"/>
                <a:cs typeface="Times New Roman" panose="02020603050405020304" pitchFamily="18" charset="0"/>
              </a:rPr>
              <a:t>buffer will overflow</a:t>
            </a:r>
            <a:r>
              <a:rPr lang="en-US" sz="2000" dirty="0">
                <a:latin typeface="Times New Roman" panose="02020603050405020304" pitchFamily="18" charset="0"/>
                <a:cs typeface="Times New Roman" panose="02020603050405020304" pitchFamily="18" charset="0"/>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persons think that data/buffer grows as the stack grows (High to low)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No (only stack grows)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Whole string copied even outside the buffer portion </a:t>
            </a:r>
            <a:r>
              <a:rPr lang="en-US" sz="2000" u="sng" dirty="0">
                <a:latin typeface="Times New Roman" panose="02020603050405020304" pitchFamily="18" charset="0"/>
                <a:cs typeface="Times New Roman" panose="02020603050405020304" pitchFamily="18" charset="0"/>
                <a:sym typeface="Wingdings" panose="05000000000000000000" pitchFamily="2" charset="2"/>
              </a:rPr>
              <a:t>until end</a:t>
            </a:r>
            <a:r>
              <a:rPr lang="en-US" sz="2000" dirty="0">
                <a:latin typeface="Times New Roman" panose="02020603050405020304" pitchFamily="18" charset="0"/>
                <a:cs typeface="Times New Roman" panose="02020603050405020304" pitchFamily="18" charset="0"/>
                <a:sym typeface="Wingdings" panose="05000000000000000000" pitchFamily="2" charset="2"/>
              </a:rPr>
              <a:t> but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outside portion will be corrupted. </a:t>
            </a:r>
            <a:r>
              <a:rPr lang="en-US" sz="2000" dirty="0">
                <a:latin typeface="Times New Roman" panose="02020603050405020304" pitchFamily="18" charset="0"/>
                <a:cs typeface="Times New Roman" panose="02020603050405020304" pitchFamily="18" charset="0"/>
                <a:sym typeface="Wingdings" panose="05000000000000000000" pitchFamily="2" charset="2"/>
              </a:rPr>
              <a:t>Because of the </a:t>
            </a:r>
            <a:r>
              <a:rPr lang="en-US" sz="2000" u="sng" dirty="0">
                <a:latin typeface="Times New Roman" panose="02020603050405020304" pitchFamily="18" charset="0"/>
                <a:cs typeface="Times New Roman" panose="02020603050405020304" pitchFamily="18" charset="0"/>
                <a:sym typeface="Wingdings" panose="05000000000000000000" pitchFamily="2" charset="2"/>
              </a:rPr>
              <a:t>buffer overflow</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Why the program crash?</a:t>
            </a: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11</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7B27346-50B4-4BDC-BB73-C568967DE537}"/>
              </a:ext>
            </a:extLst>
          </p:cNvPr>
          <p:cNvPicPr>
            <a:picLocks noChangeAspect="1"/>
          </p:cNvPicPr>
          <p:nvPr/>
        </p:nvPicPr>
        <p:blipFill>
          <a:blip r:embed="rId5"/>
          <a:stretch>
            <a:fillRect/>
          </a:stretch>
        </p:blipFill>
        <p:spPr>
          <a:xfrm>
            <a:off x="489708" y="3254045"/>
            <a:ext cx="11696700" cy="3600450"/>
          </a:xfrm>
          <a:prstGeom prst="rect">
            <a:avLst/>
          </a:prstGeom>
        </p:spPr>
      </p:pic>
    </p:spTree>
    <p:extLst>
      <p:ext uri="{BB962C8B-B14F-4D97-AF65-F5344CB8AC3E}">
        <p14:creationId xmlns:p14="http://schemas.microsoft.com/office/powerpoint/2010/main" val="3236317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0480110" cy="4623511"/>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Why the program crash?</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When buffer overflow the return value / addresses are replaced with your data that became outside the given space.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So your address is not there then your program can crash.</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Two scenarios are there</a:t>
            </a:r>
          </a:p>
          <a:p>
            <a:pPr marL="914400" lvl="1" indent="-457200">
              <a:buClr>
                <a:srgbClr val="FF0000"/>
              </a:buClr>
              <a:buAutoNum type="arabicPeriod"/>
            </a:pPr>
            <a:r>
              <a:rPr lang="en-US" sz="2000" dirty="0">
                <a:latin typeface="Times New Roman" panose="02020603050405020304" pitchFamily="18" charset="0"/>
                <a:cs typeface="Times New Roman" panose="02020603050405020304" pitchFamily="18" charset="0"/>
                <a:sym typeface="Wingdings" panose="05000000000000000000" pitchFamily="2" charset="2"/>
              </a:rPr>
              <a:t>If you will jump to a virtual address that is not mapped with physical address then its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invalid address</a:t>
            </a:r>
            <a:r>
              <a:rPr lang="en-US" sz="2000" dirty="0">
                <a:latin typeface="Times New Roman" panose="02020603050405020304" pitchFamily="18" charset="0"/>
                <a:cs typeface="Times New Roman" panose="02020603050405020304" pitchFamily="18" charset="0"/>
                <a:sym typeface="Wingdings" panose="05000000000000000000" pitchFamily="2" charset="2"/>
              </a:rPr>
              <a:t>  OS will kill that process</a:t>
            </a:r>
          </a:p>
          <a:p>
            <a:pPr marL="914400" lvl="1" indent="-457200">
              <a:buClr>
                <a:srgbClr val="FF0000"/>
              </a:buClr>
              <a:buAutoNum type="arabicPeriod"/>
            </a:pPr>
            <a:r>
              <a:rPr lang="en-US" sz="2000" dirty="0">
                <a:latin typeface="Times New Roman" panose="02020603050405020304" pitchFamily="18" charset="0"/>
                <a:cs typeface="Times New Roman" panose="02020603050405020304" pitchFamily="18" charset="0"/>
                <a:sym typeface="Wingdings" panose="05000000000000000000" pitchFamily="2" charset="2"/>
              </a:rPr>
              <a:t>Address mapped to invalid place so you may jump to invalid instructions  CPU will not recognize &amp; kill that process</a:t>
            </a:r>
          </a:p>
          <a:p>
            <a:pPr marL="914400" lvl="1" indent="-457200">
              <a:buClr>
                <a:srgbClr val="FF0000"/>
              </a:buClr>
              <a:buAutoNum type="arabicPeriod"/>
            </a:pPr>
            <a:r>
              <a:rPr lang="en-US" sz="2000" dirty="0">
                <a:latin typeface="Times New Roman" panose="02020603050405020304" pitchFamily="18" charset="0"/>
                <a:cs typeface="Times New Roman" panose="02020603050405020304" pitchFamily="18" charset="0"/>
                <a:sym typeface="Wingdings" panose="05000000000000000000" pitchFamily="2" charset="2"/>
              </a:rPr>
              <a:t>If you have valid address but the area is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restricted area </a:t>
            </a:r>
            <a:r>
              <a:rPr lang="en-US" sz="2000" dirty="0">
                <a:latin typeface="Times New Roman" panose="02020603050405020304" pitchFamily="18" charset="0"/>
                <a:cs typeface="Times New Roman" panose="02020603050405020304" pitchFamily="18" charset="0"/>
                <a:sym typeface="Wingdings" panose="05000000000000000000" pitchFamily="2" charset="2"/>
              </a:rPr>
              <a:t>such as OS kernel territory CPU won’t allow you to go there and your program crash.</a:t>
            </a:r>
          </a:p>
          <a:p>
            <a:pPr marL="914400" lvl="1" indent="-457200">
              <a:buClr>
                <a:srgbClr val="FF0000"/>
              </a:buClr>
              <a:buAutoNum type="arabicPeriod"/>
            </a:pPr>
            <a:r>
              <a:rPr lang="en-US" sz="2000" dirty="0">
                <a:latin typeface="Times New Roman" panose="02020603050405020304" pitchFamily="18" charset="0"/>
                <a:cs typeface="Times New Roman" panose="02020603050405020304" pitchFamily="18" charset="0"/>
                <a:sym typeface="Wingdings" panose="05000000000000000000" pitchFamily="2" charset="2"/>
              </a:rPr>
              <a:t>If you have no pointer address then your program will also crash.</a:t>
            </a: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Vulnerability</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496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0480110" cy="5220516"/>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it is a vulnerable program and a privileged program e.g. SET-UID program.</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Its running on server and we know that it has vulnerability. So what will be the damage?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we want to attack on this code , we will try that our code / malicious should be inserted in it so that we can damage it massively.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can attacker exploit buffer overflow vulnerability?</a:t>
            </a: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Vulnerability</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13</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A97B227-A940-4792-B374-095CB7F41FD0}"/>
              </a:ext>
            </a:extLst>
          </p:cNvPr>
          <p:cNvPicPr>
            <a:picLocks noChangeAspect="1"/>
          </p:cNvPicPr>
          <p:nvPr/>
        </p:nvPicPr>
        <p:blipFill>
          <a:blip r:embed="rId5"/>
          <a:stretch>
            <a:fillRect/>
          </a:stretch>
        </p:blipFill>
        <p:spPr>
          <a:xfrm>
            <a:off x="4339355" y="2517732"/>
            <a:ext cx="4095750" cy="3657600"/>
          </a:xfrm>
          <a:prstGeom prst="rect">
            <a:avLst/>
          </a:prstGeom>
        </p:spPr>
      </p:pic>
    </p:spTree>
    <p:extLst>
      <p:ext uri="{BB962C8B-B14F-4D97-AF65-F5344CB8AC3E}">
        <p14:creationId xmlns:p14="http://schemas.microsoft.com/office/powerpoint/2010/main" val="3640896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1184908"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we insert our malicious code at top and we are unable to get there </a:t>
            </a:r>
            <a:r>
              <a:rPr lang="en-US" sz="2000" dirty="0">
                <a:latin typeface="Times New Roman" panose="02020603050405020304" pitchFamily="18" charset="0"/>
                <a:cs typeface="Times New Roman" panose="02020603050405020304" pitchFamily="18" charset="0"/>
                <a:sym typeface="Wingdings" panose="05000000000000000000" pitchFamily="2" charset="2"/>
              </a:rPr>
              <a:t> its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dead code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of the portion contains data in stack not code. But return address can </a:t>
            </a:r>
            <a:r>
              <a:rPr lang="en-US" sz="2000" dirty="0">
                <a:solidFill>
                  <a:srgbClr val="FF0000"/>
                </a:solidFill>
                <a:latin typeface="Times New Roman" panose="02020603050405020304" pitchFamily="18" charset="0"/>
                <a:cs typeface="Times New Roman" panose="02020603050405020304" pitchFamily="18" charset="0"/>
              </a:rPr>
              <a:t>lead us to code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idea of the damage is that we overflow the buffer and replace our data until the data replace the return address.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a:t>
            </a:r>
            <a:r>
              <a:rPr lang="en-US" sz="2000" u="sng" dirty="0">
                <a:latin typeface="Times New Roman" panose="02020603050405020304" pitchFamily="18" charset="0"/>
                <a:cs typeface="Times New Roman" panose="02020603050405020304" pitchFamily="18" charset="0"/>
              </a:rPr>
              <a:t>place the address of our code</a:t>
            </a: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A</a:t>
            </a:r>
            <a:r>
              <a:rPr lang="en-US" sz="2000" dirty="0">
                <a:latin typeface="Times New Roman" panose="02020603050405020304" pitchFamily="18" charset="0"/>
                <a:cs typeface="Times New Roman" panose="02020603050405020304" pitchFamily="18" charset="0"/>
              </a:rPr>
              <a:t>) with return address.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if we can run our code and we can do damage</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Vulnerability / Attack</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14</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9BE0D7B-121E-4A01-91BE-E7C430523CAC}"/>
              </a:ext>
            </a:extLst>
          </p:cNvPr>
          <p:cNvPicPr>
            <a:picLocks noChangeAspect="1"/>
          </p:cNvPicPr>
          <p:nvPr/>
        </p:nvPicPr>
        <p:blipFill>
          <a:blip r:embed="rId5"/>
          <a:stretch>
            <a:fillRect/>
          </a:stretch>
        </p:blipFill>
        <p:spPr>
          <a:xfrm>
            <a:off x="6651321" y="2580362"/>
            <a:ext cx="5093170" cy="3774566"/>
          </a:xfrm>
          <a:prstGeom prst="rect">
            <a:avLst/>
          </a:prstGeom>
        </p:spPr>
      </p:pic>
    </p:spTree>
    <p:extLst>
      <p:ext uri="{BB962C8B-B14F-4D97-AF65-F5344CB8AC3E}">
        <p14:creationId xmlns:p14="http://schemas.microsoft.com/office/powerpoint/2010/main" val="1309380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1184908"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can see how to launch attack…</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Set environment </a:t>
            </a:r>
            <a:r>
              <a:rPr lang="en-US" sz="2000" dirty="0">
                <a:latin typeface="Times New Roman" panose="02020603050405020304" pitchFamily="18" charset="0"/>
                <a:cs typeface="Times New Roman" panose="02020603050405020304" pitchFamily="18" charset="0"/>
                <a:sym typeface="Wingdings" panose="05000000000000000000" pitchFamily="2" charset="2"/>
              </a:rPr>
              <a:t> a vulnerable program</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Buffer of size 100</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Main() gets input in a file ‘</a:t>
            </a:r>
            <a:r>
              <a:rPr lang="en-US" sz="20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badfile</a:t>
            </a:r>
            <a:r>
              <a:rPr lang="en-US" sz="2000" dirty="0">
                <a:latin typeface="Times New Roman" panose="02020603050405020304" pitchFamily="18" charset="0"/>
                <a:cs typeface="Times New Roman" panose="02020603050405020304" pitchFamily="18" charset="0"/>
                <a:sym typeface="Wingdings" panose="05000000000000000000" pitchFamily="2" charset="2"/>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Main() going to read 300 characters from the </a:t>
            </a:r>
          </a:p>
          <a:p>
            <a:pPr lvl="1">
              <a:buClr>
                <a:srgbClr val="FF0000"/>
              </a:buClr>
            </a:pPr>
            <a:r>
              <a:rPr lang="en-US" sz="2000" dirty="0">
                <a:latin typeface="Times New Roman" panose="02020603050405020304" pitchFamily="18" charset="0"/>
                <a:cs typeface="Times New Roman" panose="02020603050405020304" pitchFamily="18" charset="0"/>
                <a:sym typeface="Wingdings" panose="05000000000000000000" pitchFamily="2" charset="2"/>
              </a:rPr>
              <a:t>File ‘</a:t>
            </a:r>
            <a:r>
              <a:rPr lang="en-US" sz="20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badfile</a:t>
            </a:r>
            <a:r>
              <a:rPr lang="en-US" sz="2000" dirty="0">
                <a:latin typeface="Times New Roman" panose="02020603050405020304" pitchFamily="18" charset="0"/>
                <a:cs typeface="Times New Roman" panose="02020603050405020304" pitchFamily="18" charset="0"/>
                <a:sym typeface="Wingdings" panose="05000000000000000000" pitchFamily="2" charset="2"/>
              </a:rPr>
              <a: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Then invokes foo()</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Inside foo() copy 300 characters (str) to</a:t>
            </a:r>
          </a:p>
          <a:p>
            <a:pPr lvl="2">
              <a:buClr>
                <a:srgbClr val="FF0000"/>
              </a:buClr>
            </a:pPr>
            <a:r>
              <a:rPr lang="en-US" sz="2000" dirty="0">
                <a:latin typeface="Times New Roman" panose="02020603050405020304" pitchFamily="18" charset="0"/>
                <a:cs typeface="Times New Roman" panose="02020603050405020304" pitchFamily="18" charset="0"/>
                <a:sym typeface="Wingdings" panose="05000000000000000000" pitchFamily="2" charset="2"/>
              </a:rPr>
              <a:t>100 characters (buffer)</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Obviously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there is buffer overflow</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This program is a SET-UID program</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Owned by root</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9562369" cy="771678"/>
          </a:xfrm>
          <a:prstGeom prst="rect">
            <a:avLst/>
          </a:prstGeom>
        </p:spPr>
        <p:txBody>
          <a:bodyPr vert="horz" lIns="91440" tIns="45720" rIns="91440" bIns="45720" rtlCol="0" anchor="b">
            <a:normAutofit fontScale="9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 through Vulnerable program</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15</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53D2FA3-5944-43EC-979A-26FC55CA87B1}"/>
              </a:ext>
            </a:extLst>
          </p:cNvPr>
          <p:cNvPicPr>
            <a:picLocks noChangeAspect="1"/>
          </p:cNvPicPr>
          <p:nvPr/>
        </p:nvPicPr>
        <p:blipFill>
          <a:blip r:embed="rId5"/>
          <a:stretch>
            <a:fillRect/>
          </a:stretch>
        </p:blipFill>
        <p:spPr>
          <a:xfrm>
            <a:off x="6301363" y="1557720"/>
            <a:ext cx="5810250" cy="4781550"/>
          </a:xfrm>
          <a:prstGeom prst="rect">
            <a:avLst/>
          </a:prstGeom>
        </p:spPr>
      </p:pic>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D1D04E0D-D683-A2A3-B670-EA79A3E63F6A}"/>
                  </a:ext>
                </a:extLst>
              </p14:cNvPr>
              <p14:cNvContentPartPr/>
              <p14:nvPr/>
            </p14:nvContentPartPr>
            <p14:xfrm>
              <a:off x="1348020" y="2775960"/>
              <a:ext cx="971640" cy="24480"/>
            </p14:xfrm>
          </p:contentPart>
        </mc:Choice>
        <mc:Fallback>
          <p:pic>
            <p:nvPicPr>
              <p:cNvPr id="3" name="Ink 2">
                <a:extLst>
                  <a:ext uri="{FF2B5EF4-FFF2-40B4-BE49-F238E27FC236}">
                    <a16:creationId xmlns:a16="http://schemas.microsoft.com/office/drawing/2014/main" id="{D1D04E0D-D683-A2A3-B670-EA79A3E63F6A}"/>
                  </a:ext>
                </a:extLst>
              </p:cNvPr>
              <p:cNvPicPr/>
              <p:nvPr/>
            </p:nvPicPr>
            <p:blipFill>
              <a:blip r:embed="rId7"/>
              <a:stretch>
                <a:fillRect/>
              </a:stretch>
            </p:blipFill>
            <p:spPr>
              <a:xfrm>
                <a:off x="1330380" y="2758320"/>
                <a:ext cx="100728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9DB74709-B973-D536-985F-EC426543F1C4}"/>
                  </a:ext>
                </a:extLst>
              </p14:cNvPr>
              <p14:cNvContentPartPr/>
              <p14:nvPr/>
            </p14:nvContentPartPr>
            <p14:xfrm>
              <a:off x="2114100" y="3284280"/>
              <a:ext cx="3249720" cy="122400"/>
            </p14:xfrm>
          </p:contentPart>
        </mc:Choice>
        <mc:Fallback>
          <p:pic>
            <p:nvPicPr>
              <p:cNvPr id="4" name="Ink 3">
                <a:extLst>
                  <a:ext uri="{FF2B5EF4-FFF2-40B4-BE49-F238E27FC236}">
                    <a16:creationId xmlns:a16="http://schemas.microsoft.com/office/drawing/2014/main" id="{9DB74709-B973-D536-985F-EC426543F1C4}"/>
                  </a:ext>
                </a:extLst>
              </p:cNvPr>
              <p:cNvPicPr/>
              <p:nvPr/>
            </p:nvPicPr>
            <p:blipFill>
              <a:blip r:embed="rId9"/>
              <a:stretch>
                <a:fillRect/>
              </a:stretch>
            </p:blipFill>
            <p:spPr>
              <a:xfrm>
                <a:off x="2096100" y="3266640"/>
                <a:ext cx="3285360" cy="158040"/>
              </a:xfrm>
              <a:prstGeom prst="rect">
                <a:avLst/>
              </a:prstGeom>
            </p:spPr>
          </p:pic>
        </mc:Fallback>
      </mc:AlternateContent>
    </p:spTree>
    <p:extLst>
      <p:ext uri="{BB962C8B-B14F-4D97-AF65-F5344CB8AC3E}">
        <p14:creationId xmlns:p14="http://schemas.microsoft.com/office/powerpoint/2010/main" val="3734072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1184908"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Buffer overflow is one of the </a:t>
            </a:r>
            <a:r>
              <a:rPr lang="en-US" sz="2000" dirty="0">
                <a:solidFill>
                  <a:srgbClr val="FF0000"/>
                </a:solidFill>
                <a:latin typeface="Times New Roman" panose="02020603050405020304" pitchFamily="18" charset="0"/>
                <a:cs typeface="Times New Roman" panose="02020603050405020304" pitchFamily="18" charset="0"/>
              </a:rPr>
              <a:t>oldest vulnerability</a:t>
            </a:r>
            <a:r>
              <a:rPr lang="en-US" sz="2000" dirty="0">
                <a:latin typeface="Times New Roman" panose="02020603050405020304" pitchFamily="18" charset="0"/>
                <a:cs typeface="Times New Roman" panose="02020603050405020304" pitchFamily="18" charset="0"/>
              </a:rPr>
              <a:t> exists in software.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the VM, there are several countermeasures. </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Turn off some of them for this task</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Set memory randomization = 0 (off)</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need to be root</a:t>
            </a:r>
            <a:r>
              <a:rPr lang="en-US" sz="2000" dirty="0">
                <a:latin typeface="Times New Roman" panose="02020603050405020304" pitchFamily="18" charset="0"/>
                <a:cs typeface="Times New Roman" panose="02020603050405020304" pitchFamily="18" charset="0"/>
                <a:sym typeface="Wingdings" panose="05000000000000000000" pitchFamily="2" charset="2"/>
              </a:rPr>
              <a:t> use </a:t>
            </a:r>
            <a:r>
              <a:rPr lang="en-US" sz="2000" b="1" dirty="0" err="1">
                <a:latin typeface="Times New Roman" panose="02020603050405020304" pitchFamily="18" charset="0"/>
                <a:cs typeface="Times New Roman" panose="02020603050405020304" pitchFamily="18" charset="0"/>
                <a:sym typeface="Wingdings" panose="05000000000000000000" pitchFamily="2" charset="2"/>
              </a:rPr>
              <a:t>sudo</a:t>
            </a:r>
            <a:endParaRPr lang="en-US" sz="2000" b="1"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Now, compile the code and also turn off two other countermeasures</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Make it a privileged program</a:t>
            </a:r>
            <a:r>
              <a:rPr lang="en-US" sz="2000" dirty="0">
                <a:latin typeface="Times New Roman" panose="02020603050405020304" pitchFamily="18" charset="0"/>
                <a:cs typeface="Times New Roman" panose="02020603050405020304" pitchFamily="18" charset="0"/>
                <a:sym typeface="Wingdings" panose="05000000000000000000" pitchFamily="2" charset="2"/>
              </a:rPr>
              <a:t> change ownership &amp; set SET-UID bit</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So, we have </a:t>
            </a:r>
            <a:r>
              <a:rPr lang="en-US" sz="20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vulnerable-privileged program</a:t>
            </a:r>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Experiment Setup</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16</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B974132-284B-4BDE-AFEA-227B51D8F92C}"/>
              </a:ext>
            </a:extLst>
          </p:cNvPr>
          <p:cNvPicPr>
            <a:picLocks noChangeAspect="1"/>
          </p:cNvPicPr>
          <p:nvPr/>
        </p:nvPicPr>
        <p:blipFill>
          <a:blip r:embed="rId5"/>
          <a:stretch>
            <a:fillRect/>
          </a:stretch>
        </p:blipFill>
        <p:spPr>
          <a:xfrm>
            <a:off x="5486566" y="1623437"/>
            <a:ext cx="6257925" cy="1304925"/>
          </a:xfrm>
          <a:prstGeom prst="rect">
            <a:avLst/>
          </a:prstGeom>
        </p:spPr>
      </p:pic>
      <p:pic>
        <p:nvPicPr>
          <p:cNvPr id="7" name="Picture 6">
            <a:extLst>
              <a:ext uri="{FF2B5EF4-FFF2-40B4-BE49-F238E27FC236}">
                <a16:creationId xmlns:a16="http://schemas.microsoft.com/office/drawing/2014/main" id="{D295FA5B-3EC7-4C0B-AD12-1798F049351C}"/>
              </a:ext>
            </a:extLst>
          </p:cNvPr>
          <p:cNvPicPr>
            <a:picLocks noChangeAspect="1"/>
          </p:cNvPicPr>
          <p:nvPr/>
        </p:nvPicPr>
        <p:blipFill>
          <a:blip r:embed="rId6"/>
          <a:stretch>
            <a:fillRect/>
          </a:stretch>
        </p:blipFill>
        <p:spPr>
          <a:xfrm>
            <a:off x="5543194" y="4045907"/>
            <a:ext cx="6238875" cy="2293035"/>
          </a:xfrm>
          <a:prstGeom prst="rect">
            <a:avLst/>
          </a:prstGeom>
        </p:spPr>
      </p:pic>
    </p:spTree>
    <p:extLst>
      <p:ext uri="{BB962C8B-B14F-4D97-AF65-F5344CB8AC3E}">
        <p14:creationId xmlns:p14="http://schemas.microsoft.com/office/powerpoint/2010/main" val="3743889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614610" y="954816"/>
            <a:ext cx="11184908" cy="5400112"/>
          </a:xfrm>
          <a:prstGeom prst="rect">
            <a:avLst/>
          </a:prstGeom>
          <a:blipFill>
            <a:blip r:embed="rId3" cstate="print"/>
            <a:stretch>
              <a:fillRect/>
            </a:stretch>
          </a:blipFill>
        </p:spPr>
        <p:txBody>
          <a:bodyPr wrap="square" lIns="0" tIns="0" rIns="0" bIns="0" rtlCol="0"/>
          <a:lstStyle/>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 the stack is taking input from ‘</a:t>
            </a:r>
            <a:r>
              <a:rPr lang="en-US" sz="2000" dirty="0" err="1">
                <a:solidFill>
                  <a:srgbClr val="FF0000"/>
                </a:solidFill>
                <a:latin typeface="Times New Roman" panose="02020603050405020304" pitchFamily="18" charset="0"/>
                <a:cs typeface="Times New Roman" panose="02020603050405020304" pitchFamily="18" charset="0"/>
              </a:rPr>
              <a:t>badfile</a:t>
            </a:r>
            <a:r>
              <a:rPr lang="en-US" sz="2000" dirty="0">
                <a:latin typeface="Times New Roman" panose="02020603050405020304" pitchFamily="18" charset="0"/>
                <a:cs typeface="Times New Roman" panose="02020603050405020304" pitchFamily="18" charset="0"/>
              </a:rPr>
              <a:t>’, so we are </a:t>
            </a:r>
            <a:r>
              <a:rPr lang="en-US" sz="2000" dirty="0">
                <a:solidFill>
                  <a:srgbClr val="FF0000"/>
                </a:solidFill>
                <a:latin typeface="Times New Roman" panose="02020603050405020304" pitchFamily="18" charset="0"/>
                <a:cs typeface="Times New Roman" panose="02020603050405020304" pitchFamily="18" charset="0"/>
              </a:rPr>
              <a:t>generating 100 bytes </a:t>
            </a:r>
            <a:r>
              <a:rPr lang="en-US" sz="2000" dirty="0">
                <a:latin typeface="Times New Roman" panose="02020603050405020304" pitchFamily="18" charset="0"/>
                <a:cs typeface="Times New Roman" panose="02020603050405020304" pitchFamily="18" charset="0"/>
              </a:rPr>
              <a:t>of random numbers and put into the ‘</a:t>
            </a:r>
            <a:r>
              <a:rPr lang="en-US" sz="2000" dirty="0" err="1">
                <a:solidFill>
                  <a:srgbClr val="FF0000"/>
                </a:solidFill>
                <a:latin typeface="Times New Roman" panose="02020603050405020304" pitchFamily="18" charset="0"/>
                <a:cs typeface="Times New Roman" panose="02020603050405020304" pitchFamily="18" charset="0"/>
              </a:rPr>
              <a:t>badfile</a:t>
            </a:r>
            <a:r>
              <a:rPr lang="en-US" sz="2000" dirty="0">
                <a:latin typeface="Times New Roman" panose="02020603050405020304" pitchFamily="18" charset="0"/>
                <a:cs typeface="Times New Roman" panose="02020603050405020304" pitchFamily="18" charset="0"/>
              </a:rPr>
              <a:t>’</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problem will occur as the size of the buffer is 100</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Now, we tried again by generating 160 bytes of random numbers and put into the file.</a:t>
            </a:r>
          </a:p>
          <a:p>
            <a:pPr marL="800100" lvl="1"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After executing the program, a fault message occur</a:t>
            </a:r>
          </a:p>
          <a:p>
            <a:pPr marL="1257300" lvl="2" indent="-342900">
              <a:buClr>
                <a:srgbClr val="FF0000"/>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That means the Buffer Overflow </a:t>
            </a:r>
            <a:r>
              <a:rPr lang="en-US" sz="2000" dirty="0">
                <a:latin typeface="Times New Roman" panose="02020603050405020304" pitchFamily="18" charset="0"/>
                <a:cs typeface="Times New Roman" panose="02020603050405020304" pitchFamily="18" charset="0"/>
                <a:sym typeface="Wingdings" panose="05000000000000000000" pitchFamily="2" charset="2"/>
              </a:rPr>
              <a:t>program crashes</a:t>
            </a:r>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1097280" y="87278"/>
            <a:ext cx="8908869" cy="771678"/>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Buffer Overflow</a:t>
            </a: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17</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FA21D8-C2E5-443A-AF2E-DF96AFCD9E16}"/>
              </a:ext>
            </a:extLst>
          </p:cNvPr>
          <p:cNvPicPr>
            <a:picLocks noChangeAspect="1"/>
          </p:cNvPicPr>
          <p:nvPr/>
        </p:nvPicPr>
        <p:blipFill>
          <a:blip r:embed="rId5"/>
          <a:stretch>
            <a:fillRect/>
          </a:stretch>
        </p:blipFill>
        <p:spPr>
          <a:xfrm>
            <a:off x="2721469" y="3118980"/>
            <a:ext cx="7625030" cy="2592887"/>
          </a:xfrm>
          <a:prstGeom prst="rect">
            <a:avLst/>
          </a:prstGeom>
        </p:spPr>
      </p:pic>
    </p:spTree>
    <p:extLst>
      <p:ext uri="{BB962C8B-B14F-4D97-AF65-F5344CB8AC3E}">
        <p14:creationId xmlns:p14="http://schemas.microsoft.com/office/powerpoint/2010/main" val="4134924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097281" y="1799971"/>
            <a:ext cx="10115202" cy="45093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99" y="2286000"/>
            <a:ext cx="9718766" cy="3148149"/>
          </a:xfrm>
          <a:prstGeom prst="rect">
            <a:avLst/>
          </a:prstGeom>
        </p:spPr>
      </p:pic>
      <p:sp>
        <p:nvSpPr>
          <p:cNvPr id="10" name="Slide Number Placeholder 9"/>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18</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1"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5161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6885</TotalTime>
  <Words>1508</Words>
  <Application>Microsoft Office PowerPoint</Application>
  <PresentationFormat>Widescreen</PresentationFormat>
  <Paragraphs>178</Paragraphs>
  <Slides>18</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the image steganography  using LSB substitution</dc:title>
  <dc:creator>Muhammad Umar Aftab</dc:creator>
  <cp:lastModifiedBy>Imama Kainat</cp:lastModifiedBy>
  <cp:revision>699</cp:revision>
  <dcterms:created xsi:type="dcterms:W3CDTF">2020-05-17T12:17:03Z</dcterms:created>
  <dcterms:modified xsi:type="dcterms:W3CDTF">2025-12-24T10:55:14Z</dcterms:modified>
</cp:coreProperties>
</file>