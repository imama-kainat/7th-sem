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7" r:id="rId1"/>
  </p:sldMasterIdLst>
  <p:notesMasterIdLst>
    <p:notesMasterId r:id="rId22"/>
  </p:notesMasterIdLst>
  <p:handoutMasterIdLst>
    <p:handoutMasterId r:id="rId23"/>
  </p:handoutMasterIdLst>
  <p:sldIdLst>
    <p:sldId id="258" r:id="rId2"/>
    <p:sldId id="723" r:id="rId3"/>
    <p:sldId id="739" r:id="rId4"/>
    <p:sldId id="740" r:id="rId5"/>
    <p:sldId id="738" r:id="rId6"/>
    <p:sldId id="296" r:id="rId7"/>
    <p:sldId id="725" r:id="rId8"/>
    <p:sldId id="726" r:id="rId9"/>
    <p:sldId id="295" r:id="rId10"/>
    <p:sldId id="724" r:id="rId11"/>
    <p:sldId id="728" r:id="rId12"/>
    <p:sldId id="727" r:id="rId13"/>
    <p:sldId id="729" r:id="rId14"/>
    <p:sldId id="733" r:id="rId15"/>
    <p:sldId id="737" r:id="rId16"/>
    <p:sldId id="734" r:id="rId17"/>
    <p:sldId id="736" r:id="rId18"/>
    <p:sldId id="735" r:id="rId19"/>
    <p:sldId id="638" r:id="rId20"/>
    <p:sldId id="317" r:id="rId21"/>
  </p:sldIdLst>
  <p:sldSz cx="12192000" cy="6858000"/>
  <p:notesSz cx="7053263" cy="93091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 Hamza" initials="AH" lastIdx="3" clrIdx="0">
    <p:extLst>
      <p:ext uri="{19B8F6BF-5375-455C-9EA6-DF929625EA0E}">
        <p15:presenceInfo xmlns:p15="http://schemas.microsoft.com/office/powerpoint/2012/main" userId="S::f179026@cfd.nu.edu.pk::fc9d8215-e733-4df3-b2ca-e28ecc6820c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3750" autoAdjust="0"/>
  </p:normalViewPr>
  <p:slideViewPr>
    <p:cSldViewPr snapToGrid="0">
      <p:cViewPr varScale="1">
        <p:scale>
          <a:sx n="106" d="100"/>
          <a:sy n="106" d="100"/>
        </p:scale>
        <p:origin x="70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14960B17-FD8B-4764-8C28-99523272243B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BE3C136E-1DFE-4E9E-BE58-9DBEBA51C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5464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705A37F7-EBDD-4C50-A4DA-D2D30EABC4EE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9E103808-D7BC-4AB5-B62E-2F3F4474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5533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97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39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73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16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6F35-1BDD-4C97-AB1B-0EF3FCD6E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47696-76E0-4A7D-AAFD-A0DD3F9BE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AE90-3DAE-4874-9530-52E8010F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246C-6510-4698-BE5B-78345F23A6B1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150A-9FAA-4828-A677-51AFEF24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86D3E-B678-4E98-9CAB-2DA8A3D7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6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CBAD-3D0B-4143-9F22-FA90EA93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DE9C-1287-4D29-9B55-74AC74377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6A329-A0DE-4C1F-9375-03747524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7DFAF-66BC-4E20-9B1D-DC0448E5323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C9A8-FD46-4087-B413-AD97FC50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D4FC3-2CF7-4015-9D3D-3207E779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6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4D9C-53F3-4A72-BE30-B6CF7FF7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5710C-DCE5-4A4B-88FC-2B7596F04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503A-C05D-4150-BD6B-219A063F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DF65-B5CB-4C2A-9DAF-8C83FF1E301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D3F93-B099-4DDE-BD8C-B20714AF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7ECDD-92DF-4EE4-ABCC-7F12BEC4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40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D001-769F-4BA5-A19F-7FAFE741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9AF7-6483-42F0-8F35-574519D09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A1564-74CB-4E17-9893-B2015FF56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936C1-0B68-40E0-860D-7865B35D1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42799-02D2-4A3E-BED6-7F1E5E9A51D9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18151-364F-4458-8674-792144FF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28F02-F967-4106-A0CC-B4B85030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9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2CDA-1423-4123-A20C-87A750BC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1C7AD-81AF-4517-BCA3-E981E39E8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0C1FD-785A-494B-8266-BC643FB67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1B3AF-BC32-4746-B151-0B007F0AF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4EABE-E223-4C00-93C6-93A57D2CD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ECE82-C73C-41C3-B8AB-264E828D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22E7-A387-44A6-BEB9-C59A7D60876D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16326-244A-4808-B1E3-F1FDC9C10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5B595-FCF0-4FBE-9315-9E920D81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3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9353-08EF-475D-97F8-BE6B4652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C543B-33E3-48CF-B83C-C541D6CB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E30F-1D36-4BE0-BC06-5E83DD9BE350}" type="datetime1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C0699-826F-4A8E-B326-560AD252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8C207-1278-4153-B420-9EF4A449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1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68D0D-CD9A-4D7A-A953-4B80DEFC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E4ECE-C233-447A-A174-0A57836539B8}" type="datetime1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C46BD-36CF-41D8-9D61-3C0284DF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CE466-759A-4047-8073-18F51B7B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0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62C7-A5DD-4E6E-AEC8-D2596C0A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44E32-0A99-4A52-BB43-F9B35618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F3BC2-6F12-4DBB-9471-4665FB534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C92E9-B3F9-4DC5-B04D-6429BF06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55E21-7CF7-4D44-8F02-045551EED843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3CCC0-44D6-44E7-B3E2-F9508F2E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E6695-AA5E-44D1-9985-4427DD58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1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D7B4-D7B9-4CD5-8BBF-261B67DB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4BA48-7AB5-49D9-81E8-DFFBE9AB6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C2DDF-C490-4A6F-A58E-8725DD27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83A0D-2DAD-49E9-B1EE-9DF052C1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839-95EF-4AEF-A139-C8CD2D92FE09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9279F-FA38-482C-A481-C161B9DC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8492A-027C-44E9-8D07-DE52AB2C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5B1B3-8AAA-40ED-9E60-009698E2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A64B8-4914-4368-9D4C-2DC37C25D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E6B-9FD8-44E5-9EB9-16C15B41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A120-004F-44F7-AA80-A536C410B118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4B6C4-C406-42D6-87B7-00D9D10E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E5894-C90C-431F-B702-4D6611A1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9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51357-1906-49D4-8444-311DD8EBA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B0759-AC21-48C2-9875-B1BA606A6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DD895-74B7-4197-8E32-1C0EEA0F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DFDAB-C4D1-4AEF-837D-F9115D5FE1B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364BF-7EC4-4BC8-8DE0-0AA8186F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8166F-7663-4892-937D-7D4BBBAA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6B69C-8C9A-4525-B3FF-650112E1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5E67D-B9E8-4E04-989F-BD8B8B97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F7E2E-A1D1-4245-BA97-6E5FEB3FE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93555-EC39-4B3A-97B8-5F3BB501DD6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56F8-8C74-4301-8A02-2373AA653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7F5B-BED3-4B88-9FD6-1C81D123A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8" r:id="rId1"/>
    <p:sldLayoutId id="2147484159" r:id="rId2"/>
    <p:sldLayoutId id="2147484160" r:id="rId3"/>
    <p:sldLayoutId id="2147484161" r:id="rId4"/>
    <p:sldLayoutId id="2147484162" r:id="rId5"/>
    <p:sldLayoutId id="2147484163" r:id="rId6"/>
    <p:sldLayoutId id="2147484164" r:id="rId7"/>
    <p:sldLayoutId id="2147484165" r:id="rId8"/>
    <p:sldLayoutId id="2147484166" r:id="rId9"/>
    <p:sldLayoutId id="2147484167" r:id="rId10"/>
    <p:sldLayoutId id="21474841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sprinto.com/blog/iso-27001-risk-management-policy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attackiq.com/wp-content/uploads/2021/02/cisos-guide-to-the-top-cybersecurity-frameworks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ist.gov/cyberframework" TargetMode="External"/><Relationship Id="rId5" Type="http://schemas.openxmlformats.org/officeDocument/2006/relationships/hyperlink" Target="https://www.scribd.com/document/900236879/Cybersecurity-Frameworks-and-Standards-1720047371" TargetMode="External"/><Relationship Id="rId4" Type="http://schemas.openxmlformats.org/officeDocument/2006/relationships/hyperlink" Target="https://nvlpubs.nist.gov/nistpubs/CSWP/NIST.CSWP.29.pdf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9095231" y="2054572"/>
            <a:ext cx="1193292" cy="2462783"/>
            <a:chOff x="7571231" y="2942844"/>
            <a:chExt cx="1193292" cy="2462783"/>
          </a:xfrm>
        </p:grpSpPr>
        <p:sp>
          <p:nvSpPr>
            <p:cNvPr id="7" name="object 7"/>
            <p:cNvSpPr/>
            <p:nvPr/>
          </p:nvSpPr>
          <p:spPr>
            <a:xfrm>
              <a:off x="7571231" y="2942844"/>
              <a:ext cx="1193292" cy="24627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12074" y="3136773"/>
              <a:ext cx="911225" cy="2075180"/>
            </a:xfrm>
            <a:custGeom>
              <a:avLst/>
              <a:gdLst/>
              <a:ahLst/>
              <a:cxnLst/>
              <a:rect l="l" t="t" r="r" b="b"/>
              <a:pathLst>
                <a:path w="911225" h="2075179">
                  <a:moveTo>
                    <a:pt x="0" y="2074926"/>
                  </a:moveTo>
                  <a:lnTo>
                    <a:pt x="911225" y="2074926"/>
                  </a:lnTo>
                  <a:lnTo>
                    <a:pt x="911225" y="0"/>
                  </a:lnTo>
                  <a:lnTo>
                    <a:pt x="0" y="0"/>
                  </a:lnTo>
                  <a:lnTo>
                    <a:pt x="0" y="2074926"/>
                  </a:lnTo>
                  <a:close/>
                </a:path>
              </a:pathLst>
            </a:custGeom>
            <a:ln w="6350">
              <a:solidFill>
                <a:srgbClr val="6B7C71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970087" y="2128412"/>
            <a:ext cx="6946900" cy="2244725"/>
            <a:chOff x="446087" y="3055873"/>
            <a:chExt cx="6946900" cy="2244725"/>
          </a:xfrm>
        </p:grpSpPr>
        <p:sp>
          <p:nvSpPr>
            <p:cNvPr id="11" name="object 11"/>
            <p:cNvSpPr/>
            <p:nvPr/>
          </p:nvSpPr>
          <p:spPr>
            <a:xfrm>
              <a:off x="446087" y="3055873"/>
              <a:ext cx="6946900" cy="2244725"/>
            </a:xfrm>
            <a:custGeom>
              <a:avLst/>
              <a:gdLst/>
              <a:ahLst/>
              <a:cxnLst/>
              <a:rect l="l" t="t" r="r" b="b"/>
              <a:pathLst>
                <a:path w="6946900" h="2244725">
                  <a:moveTo>
                    <a:pt x="6946900" y="0"/>
                  </a:moveTo>
                  <a:lnTo>
                    <a:pt x="0" y="0"/>
                  </a:lnTo>
                  <a:lnTo>
                    <a:pt x="0" y="2244725"/>
                  </a:lnTo>
                  <a:lnTo>
                    <a:pt x="6946900" y="2244725"/>
                  </a:lnTo>
                  <a:lnTo>
                    <a:pt x="6946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36575" y="3136899"/>
              <a:ext cx="6765925" cy="2082800"/>
            </a:xfrm>
            <a:custGeom>
              <a:avLst/>
              <a:gdLst/>
              <a:ahLst/>
              <a:cxnLst/>
              <a:rect l="l" t="t" r="r" b="b"/>
              <a:pathLst>
                <a:path w="6765925" h="2082800">
                  <a:moveTo>
                    <a:pt x="6764528" y="0"/>
                  </a:moveTo>
                  <a:lnTo>
                    <a:pt x="1422" y="0"/>
                  </a:lnTo>
                  <a:lnTo>
                    <a:pt x="0" y="1397"/>
                  </a:lnTo>
                  <a:lnTo>
                    <a:pt x="0" y="2081402"/>
                  </a:lnTo>
                  <a:lnTo>
                    <a:pt x="1422" y="2082800"/>
                  </a:lnTo>
                  <a:lnTo>
                    <a:pt x="6764528" y="2082800"/>
                  </a:lnTo>
                  <a:lnTo>
                    <a:pt x="6765925" y="2081402"/>
                  </a:lnTo>
                  <a:lnTo>
                    <a:pt x="6765925" y="2080641"/>
                  </a:lnTo>
                  <a:lnTo>
                    <a:pt x="2590" y="2080641"/>
                  </a:lnTo>
                  <a:lnTo>
                    <a:pt x="2120" y="2080260"/>
                  </a:lnTo>
                  <a:lnTo>
                    <a:pt x="2120" y="2539"/>
                  </a:lnTo>
                  <a:lnTo>
                    <a:pt x="2590" y="2159"/>
                  </a:lnTo>
                  <a:lnTo>
                    <a:pt x="6765925" y="2159"/>
                  </a:lnTo>
                  <a:lnTo>
                    <a:pt x="6765925" y="1397"/>
                  </a:lnTo>
                  <a:lnTo>
                    <a:pt x="6764528" y="0"/>
                  </a:lnTo>
                  <a:close/>
                </a:path>
                <a:path w="6765925" h="2082800">
                  <a:moveTo>
                    <a:pt x="6765925" y="2159"/>
                  </a:moveTo>
                  <a:lnTo>
                    <a:pt x="6763384" y="2159"/>
                  </a:lnTo>
                  <a:lnTo>
                    <a:pt x="6763766" y="2539"/>
                  </a:lnTo>
                  <a:lnTo>
                    <a:pt x="6763766" y="2080260"/>
                  </a:lnTo>
                  <a:lnTo>
                    <a:pt x="6763384" y="2080641"/>
                  </a:lnTo>
                  <a:lnTo>
                    <a:pt x="6765925" y="2080641"/>
                  </a:lnTo>
                  <a:lnTo>
                    <a:pt x="6765925" y="2159"/>
                  </a:lnTo>
                  <a:close/>
                </a:path>
                <a:path w="6765925" h="2082800">
                  <a:moveTo>
                    <a:pt x="6761733" y="4190"/>
                  </a:moveTo>
                  <a:lnTo>
                    <a:pt x="4229" y="4190"/>
                  </a:lnTo>
                  <a:lnTo>
                    <a:pt x="4229" y="2078608"/>
                  </a:lnTo>
                  <a:lnTo>
                    <a:pt x="6761733" y="2078608"/>
                  </a:lnTo>
                  <a:lnTo>
                    <a:pt x="6761733" y="2076450"/>
                  </a:lnTo>
                  <a:lnTo>
                    <a:pt x="6350" y="2076450"/>
                  </a:lnTo>
                  <a:lnTo>
                    <a:pt x="6350" y="6350"/>
                  </a:lnTo>
                  <a:lnTo>
                    <a:pt x="6761733" y="6350"/>
                  </a:lnTo>
                  <a:lnTo>
                    <a:pt x="6761733" y="4190"/>
                  </a:lnTo>
                  <a:close/>
                </a:path>
                <a:path w="6765925" h="2082800">
                  <a:moveTo>
                    <a:pt x="6761733" y="6350"/>
                  </a:moveTo>
                  <a:lnTo>
                    <a:pt x="6759575" y="6350"/>
                  </a:lnTo>
                  <a:lnTo>
                    <a:pt x="6759575" y="2076450"/>
                  </a:lnTo>
                  <a:lnTo>
                    <a:pt x="6761733" y="2076450"/>
                  </a:lnTo>
                  <a:lnTo>
                    <a:pt x="6761733" y="6350"/>
                  </a:lnTo>
                  <a:close/>
                </a:path>
              </a:pathLst>
            </a:custGeom>
            <a:solidFill>
              <a:srgbClr val="6B7C71"/>
            </a:solid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65337" y="3631839"/>
            <a:ext cx="6756400" cy="371255"/>
          </a:xfrm>
          <a:prstGeom prst="rect">
            <a:avLst/>
          </a:prstGeom>
          <a:solidFill>
            <a:srgbClr val="92A199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spcBef>
                <a:spcPts val="15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Amer Rasheed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5338" y="2158383"/>
            <a:ext cx="6756400" cy="125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spcBef>
                <a:spcPts val="10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</a:p>
          <a:p>
            <a:pPr marL="12700" marR="5080" algn="ctr">
              <a:spcBef>
                <a:spcPts val="105"/>
              </a:spcBef>
            </a:pP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LECTURE 03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20580"/>
            <a:ext cx="734244" cy="50744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005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3" name="object 2"/>
          <p:cNvSpPr/>
          <p:nvPr/>
        </p:nvSpPr>
        <p:spPr>
          <a:xfrm>
            <a:off x="1144153" y="2363979"/>
            <a:ext cx="9893962" cy="1073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US" sz="4000" dirty="0"/>
              <a:t>Principles of Design and Defense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038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3" name="object 2"/>
          <p:cNvSpPr/>
          <p:nvPr/>
        </p:nvSpPr>
        <p:spPr>
          <a:xfrm>
            <a:off x="821635" y="1245705"/>
            <a:ext cx="11171582" cy="48237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/>
              <a:t>The National Centers of Academic Excellence in Information Assurance/Cyber Defense, which is jointly sponsored by the U.S. National Security Agency and the U. S. Department of Homeland Security, list the following as fundamental security design principles [NCAE13]: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Economy of mechanism: </a:t>
            </a:r>
            <a:r>
              <a:rPr lang="en-US" sz="2400" dirty="0"/>
              <a:t>Keep security designs simple and small to minimize vulnerabilities.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Fail-safe defaults: </a:t>
            </a:r>
            <a:r>
              <a:rPr lang="en-US" sz="2400" dirty="0"/>
              <a:t>Deny access by default unless explicitly permitted.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Complete mediation: </a:t>
            </a:r>
            <a:r>
              <a:rPr lang="en-US" sz="2400" dirty="0"/>
              <a:t>Check every access request against security policies without exception.</a:t>
            </a:r>
            <a:endParaRPr lang="en-US" sz="2400" b="1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Open design: </a:t>
            </a:r>
            <a:r>
              <a:rPr lang="en-US" sz="2400" dirty="0"/>
              <a:t>Security should not rely on secrecy of design or implementation.</a:t>
            </a:r>
            <a:endParaRPr lang="en-US" sz="2400" b="1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Separation of privilege: </a:t>
            </a:r>
            <a:r>
              <a:rPr lang="en-US" sz="2400" dirty="0"/>
              <a:t>Require multiple independent conditions for access.</a:t>
            </a:r>
            <a:endParaRPr lang="en-US" sz="2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391479" y="565463"/>
            <a:ext cx="93427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Fundamental Security Design Principles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17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3" name="object 2"/>
          <p:cNvSpPr/>
          <p:nvPr/>
        </p:nvSpPr>
        <p:spPr>
          <a:xfrm>
            <a:off x="841955" y="1550348"/>
            <a:ext cx="11171582" cy="47981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Least privilege: </a:t>
            </a:r>
            <a:r>
              <a:rPr lang="en-US" sz="2400" dirty="0"/>
              <a:t>Grant only the minimum access rights necessary to perform a task.</a:t>
            </a:r>
            <a:endParaRPr lang="en-US" sz="2400" b="1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Least common mechanism: </a:t>
            </a:r>
            <a:r>
              <a:rPr lang="en-US" sz="2400" dirty="0"/>
              <a:t>Limit sharing of resources to reduce interference and information leaks.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Psychological acceptability: </a:t>
            </a:r>
            <a:r>
              <a:rPr lang="en-US" sz="2400" dirty="0"/>
              <a:t>Design security controls that are easy for users to understand and use.</a:t>
            </a:r>
            <a:r>
              <a:rPr lang="en-US" sz="2400" b="1" dirty="0"/>
              <a:t> 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Isolation: </a:t>
            </a:r>
            <a:r>
              <a:rPr lang="en-US" sz="2400" dirty="0"/>
              <a:t>Separate system components to contain faults and limit damage.</a:t>
            </a:r>
            <a:endParaRPr lang="en-US" sz="2400" b="1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Encapsulation: </a:t>
            </a:r>
            <a:r>
              <a:rPr lang="en-US" sz="2400" dirty="0"/>
              <a:t>Hide internal system details behind well-defined interfaces. </a:t>
            </a:r>
            <a:endParaRPr lang="en-US" sz="2400" b="1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Modularity: </a:t>
            </a:r>
            <a:r>
              <a:rPr lang="en-US" sz="2400" dirty="0"/>
              <a:t>Build systems with interchangeable and independent modules.</a:t>
            </a:r>
            <a:endParaRPr lang="en-US" sz="2400" b="1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Layering: </a:t>
            </a:r>
            <a:r>
              <a:rPr lang="en-US" sz="2400" dirty="0"/>
              <a:t>Use multiple defensive layers to protect against failures.</a:t>
            </a:r>
            <a:endParaRPr lang="en-US" sz="2400" b="1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Least astonishment: </a:t>
            </a:r>
            <a:r>
              <a:rPr lang="en-US" sz="2400" dirty="0"/>
              <a:t>Ensure system behavior matches user expectations to avoid errors.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91479" y="565463"/>
            <a:ext cx="93427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Fundamental Security Design Principles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7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3" name="object 2"/>
          <p:cNvSpPr/>
          <p:nvPr/>
        </p:nvSpPr>
        <p:spPr>
          <a:xfrm>
            <a:off x="1144153" y="2363979"/>
            <a:ext cx="9893962" cy="1073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14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1861305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97280" y="2246175"/>
            <a:ext cx="1011520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 standards are published methods to protect users and organizations online.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They cover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users, networks, devices, software, processes, data (stored or moving), applications, services, and connected systems.</a:t>
            </a:r>
          </a:p>
        </p:txBody>
      </p:sp>
    </p:spTree>
    <p:extLst>
      <p:ext uri="{BB962C8B-B14F-4D97-AF65-F5344CB8AC3E}">
        <p14:creationId xmlns:p14="http://schemas.microsoft.com/office/powerpoint/2010/main" val="186910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1861305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dirty="0">
                <a:cs typeface="Arial" panose="020B0604020202020204" pitchFamily="34" charset="0"/>
              </a:rPr>
              <a:t>Principal objective: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 reduce risks, including preventing or mitigating cyber-attacks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dirty="0">
                <a:cs typeface="Arial" panose="020B0604020202020204" pitchFamily="34" charset="0"/>
              </a:rPr>
              <a:t>Published materials include collections of: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Tools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Policies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Security concepts and safeguards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Guidelines and risk management approaches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Actions and training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Best practices, assurance, and technologies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089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1360" y="1778932"/>
            <a:ext cx="11166733" cy="43762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Understanding Cyber-Security Frameworks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cs typeface="Arial" panose="020B0604020202020204" pitchFamily="34" charset="0"/>
              </a:rPr>
              <a:t>Cybersecurity frameworks consist of comprehensive sets of guidelines, standards, and best practices aimed at managing cyber risks effectively.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These frameworks serve as strategic tools to minimize an organization's vulnerabilities and reduce the chances of exploitation by hackers and cybercriminals.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831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736668"/>
            <a:ext cx="8314118" cy="4618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NIST CSF offers detailed cybersecurity guidance for private sector organizations in the US.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It provides a high-level </a:t>
            </a:r>
            <a:r>
              <a:rPr lang="en-US" sz="2000" b="1" dirty="0"/>
              <a:t>classification</a:t>
            </a:r>
            <a:r>
              <a:rPr lang="en-US" sz="2000" dirty="0"/>
              <a:t> of cybersecurity outcomes and a method to assess and manage them.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Adaptable</a:t>
            </a:r>
            <a:r>
              <a:rPr lang="en-US" sz="2000" dirty="0"/>
              <a:t> to organizations of various sizes and cybersecurity maturity levels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 Functions should be addressed concurrently.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Actions</a:t>
            </a:r>
            <a:r>
              <a:rPr lang="en-US" sz="2000" dirty="0"/>
              <a:t> that support </a:t>
            </a:r>
            <a:r>
              <a:rPr lang="en-US" sz="2000" dirty="0">
                <a:solidFill>
                  <a:srgbClr val="FF0000"/>
                </a:solidFill>
              </a:rPr>
              <a:t>GOVERN, IDENTIFY, PROTECT, and DETECT </a:t>
            </a:r>
            <a:r>
              <a:rPr lang="en-US" sz="2000" dirty="0"/>
              <a:t>should all happen continuously, and actions that support </a:t>
            </a:r>
            <a:r>
              <a:rPr lang="en-US" sz="2000" dirty="0">
                <a:solidFill>
                  <a:srgbClr val="FF0000"/>
                </a:solidFill>
              </a:rPr>
              <a:t>RESPOND and RECOVER </a:t>
            </a:r>
            <a:r>
              <a:rPr lang="en-US" sz="2000" dirty="0"/>
              <a:t>should be ready at all times and happen when cybersecurity incidents occur.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All Functions have vital roles related to cybersecurity incidents.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b="1" i="1" dirty="0"/>
              <a:t>GOVERN, IDENTIFY, and PROTECT </a:t>
            </a:r>
            <a:r>
              <a:rPr lang="en-US" sz="2000" dirty="0"/>
              <a:t>outcomes help </a:t>
            </a:r>
            <a:r>
              <a:rPr lang="en-US" sz="2000" b="1" dirty="0">
                <a:solidFill>
                  <a:srgbClr val="FF0000"/>
                </a:solidFill>
              </a:rPr>
              <a:t>prevent and prepare </a:t>
            </a:r>
            <a:r>
              <a:rPr lang="en-US" sz="2000" dirty="0"/>
              <a:t>for incidents, while </a:t>
            </a:r>
            <a:r>
              <a:rPr lang="en-US" sz="2000" b="1" i="1" dirty="0"/>
              <a:t>GOVERN, DETECT, RESPOND, and RECOVER </a:t>
            </a:r>
            <a:r>
              <a:rPr lang="en-US" sz="2000" dirty="0"/>
              <a:t>outcomes help </a:t>
            </a:r>
            <a:r>
              <a:rPr lang="en-US" sz="2000" b="1" dirty="0">
                <a:solidFill>
                  <a:srgbClr val="FF0000"/>
                </a:solidFill>
              </a:rPr>
              <a:t>discover and manage incidents.</a:t>
            </a:r>
            <a:endParaRPr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Standards: NIST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https://www.nist.gov/cyberframework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118" y="1736668"/>
            <a:ext cx="3797495" cy="400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84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1862016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Standards: NIST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792" y="1861305"/>
            <a:ext cx="7362141" cy="42114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https://www.nist.gov/cyberframework</a:t>
            </a:r>
          </a:p>
        </p:txBody>
      </p:sp>
    </p:spTree>
    <p:extLst>
      <p:ext uri="{BB962C8B-B14F-4D97-AF65-F5344CB8AC3E}">
        <p14:creationId xmlns:p14="http://schemas.microsoft.com/office/powerpoint/2010/main" val="2944622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1862016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cs typeface="Arial" panose="020B0604020202020204" pitchFamily="34" charset="0"/>
              </a:rPr>
              <a:t>ISO/IEC 27001, part of the ISO/IEC 27000 series/family, which is an </a:t>
            </a:r>
            <a:r>
              <a:rPr lang="en-US" altLang="en-US" sz="2400" b="1" i="1" dirty="0">
                <a:cs typeface="Arial" panose="020B0604020202020204" pitchFamily="34" charset="0"/>
              </a:rPr>
              <a:t>Information security management system (ISMS)</a:t>
            </a:r>
            <a:r>
              <a:rPr lang="en-US" altLang="en-US" sz="2400" dirty="0">
                <a:cs typeface="Arial" panose="020B0604020202020204" pitchFamily="34" charset="0"/>
              </a:rPr>
              <a:t> standard.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cs typeface="Arial" panose="020B0604020202020204" pitchFamily="34" charset="0"/>
              </a:rPr>
              <a:t>The latest version was published in October 2013 by ISO and IEC.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cs typeface="Arial" panose="020B0604020202020204" pitchFamily="34" charset="0"/>
              </a:rPr>
              <a:t>Its full title is=&gt; </a:t>
            </a:r>
            <a:r>
              <a:rPr lang="en-US" altLang="en-US" sz="2400" i="1" dirty="0">
                <a:solidFill>
                  <a:srgbClr val="00B050"/>
                </a:solidFill>
                <a:cs typeface="Arial" panose="020B0604020202020204" pitchFamily="34" charset="0"/>
              </a:rPr>
              <a:t>ISO/IEC 27001:2013 – Information technology – Security techniques – Information security management systems – Requirements</a:t>
            </a:r>
            <a:r>
              <a:rPr lang="en-US" altLang="en-US" sz="2400" dirty="0">
                <a:solidFill>
                  <a:srgbClr val="00B050"/>
                </a:solidFill>
                <a:cs typeface="Arial" panose="020B0604020202020204" pitchFamily="34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cs typeface="Arial" panose="020B0604020202020204" pitchFamily="34" charset="0"/>
              </a:rPr>
              <a:t> ISO/IEC formally specifies a management system to control information security explicitly.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27001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074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348133" y="26226"/>
            <a:ext cx="8908869" cy="759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27001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-198305" y="6616031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2165" y="62544"/>
            <a:ext cx="4502961" cy="67503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" y="1898729"/>
            <a:ext cx="3987585" cy="2233573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4164376" y="2610998"/>
            <a:ext cx="1079653" cy="6720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-88136" y="4395531"/>
            <a:ext cx="5087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Reference book: Principles of Information Security </a:t>
            </a:r>
          </a:p>
        </p:txBody>
      </p:sp>
    </p:spTree>
    <p:extLst>
      <p:ext uri="{BB962C8B-B14F-4D97-AF65-F5344CB8AC3E}">
        <p14:creationId xmlns:p14="http://schemas.microsoft.com/office/powerpoint/2010/main" val="368051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4261" y="1717639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cs typeface="Arial" panose="020B0604020202020204" pitchFamily="34" charset="0"/>
              </a:rPr>
              <a:t>The General Data Protection Regulation (GDPR) is a comprehensive legal framework established by the European Union to safeguard the privacy and security of personal data belonging to its residents.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cs typeface="Arial" panose="020B0604020202020204" pitchFamily="34" charset="0"/>
              </a:rPr>
              <a:t>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cs typeface="Arial" panose="020B0604020202020204" pitchFamily="34" charset="0"/>
              </a:rPr>
              <a:t>Introduced in 2016, this regulation applies to any organization that handles the personal information of EU citizens, no matter where the organization is based globally.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cs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latin typeface="Arial" panose="020B0604020202020204" pitchFamily="34" charset="0"/>
              </a:rPr>
              <a:t>GDPR Overview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364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6835" y="1139689"/>
            <a:ext cx="10552629" cy="5071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Data Mapping:</a:t>
            </a:r>
            <a:r>
              <a:rPr lang="en-US" altLang="en-US" sz="2400" dirty="0"/>
              <a:t> Document what personal data is collected, why, and how it’s processed/stored.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Legal Basis:</a:t>
            </a:r>
            <a:r>
              <a:rPr lang="en-US" altLang="en-US" sz="2400" dirty="0"/>
              <a:t> Identify the lawful reason for each data processing activity.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Policies:</a:t>
            </a:r>
            <a:r>
              <a:rPr lang="en-US" altLang="en-US" sz="2400" dirty="0"/>
              <a:t> Create clear, plain-language privacy policies and consent forms.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Training:</a:t>
            </a:r>
            <a:r>
              <a:rPr lang="en-US" altLang="en-US" sz="2400" dirty="0"/>
              <a:t> Educate staff on GDPR and data protection basics.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Third-Party Management:</a:t>
            </a:r>
            <a:r>
              <a:rPr lang="en-US" altLang="en-US" sz="2400" dirty="0"/>
              <a:t> Ensure vendors follow GDPR and have proper contracts.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Audits:</a:t>
            </a:r>
            <a:r>
              <a:rPr lang="en-US" altLang="en-US" sz="2400" dirty="0"/>
              <a:t> Regularly review compliance and fix gaps.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4"/>
            <a:ext cx="8908869" cy="8530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latin typeface="Arial" panose="020B0604020202020204" pitchFamily="34" charset="0"/>
              </a:rPr>
              <a:t>GDPR Compliance checklist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23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6835" y="1139689"/>
            <a:ext cx="10552629" cy="5071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Audits:</a:t>
            </a:r>
            <a:r>
              <a:rPr lang="en-US" altLang="en-US" sz="2400" dirty="0"/>
              <a:t> Regularly review compliance and fix gaps.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DPO:</a:t>
            </a:r>
            <a:r>
              <a:rPr lang="en-US" altLang="en-US" sz="2400" dirty="0"/>
              <a:t> Appoint a Data Protection Officer if required.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DPIAs:</a:t>
            </a:r>
            <a:r>
              <a:rPr lang="en-US" altLang="en-US" sz="2400" dirty="0"/>
              <a:t> Assess risks for high-impact data projects.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Security Measures:</a:t>
            </a:r>
            <a:r>
              <a:rPr lang="en-US" altLang="en-US" sz="2400" dirty="0"/>
              <a:t> Use encryption, MFA, and regular security checks.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Data Rights:</a:t>
            </a:r>
            <a:r>
              <a:rPr lang="en-US" altLang="en-US" sz="2400" dirty="0"/>
              <a:t> Enable access, correction, deletion, and objection.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Breach Response:</a:t>
            </a:r>
            <a:r>
              <a:rPr lang="en-US" altLang="en-US" sz="2400" dirty="0"/>
              <a:t> Have a plan to detect and report data breaches fast.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4"/>
            <a:ext cx="8908869" cy="8530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latin typeface="Arial" panose="020B0604020202020204" pitchFamily="34" charset="0"/>
              </a:rPr>
              <a:t>GDPR Compliance checklist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000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4731" y="1717639"/>
            <a:ext cx="1088473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A prioritized set of cybersecurity best practices.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</a:rPr>
              <a:t>Originally known as SANS Top 20</a:t>
            </a:r>
            <a:r>
              <a:rPr lang="en-US" sz="2800" dirty="0"/>
              <a:t>; now managed by CIS.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Globally recognized for reducing risk from common threats.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Suitable for organizations of all sizes and sectors.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</a:rPr>
              <a:t>Center for Internet Security (CIS)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408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4731" y="1158697"/>
            <a:ext cx="5765495" cy="50658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1. Basic Controls (CIS 1–5)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Establish core cybersecurity hygiene.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1: </a:t>
            </a:r>
            <a:r>
              <a:rPr lang="en-US" sz="2300" dirty="0"/>
              <a:t>Inventory of hardware assets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2:</a:t>
            </a:r>
            <a:r>
              <a:rPr lang="en-US" sz="2300" dirty="0"/>
              <a:t> Inventory of software assets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3:</a:t>
            </a:r>
            <a:r>
              <a:rPr lang="en-US" sz="2300" dirty="0"/>
              <a:t> Data protection (encryption, DLP)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4:</a:t>
            </a:r>
            <a:r>
              <a:rPr lang="en-US" sz="2300" dirty="0"/>
              <a:t> Secure configuration of systems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5:</a:t>
            </a:r>
            <a:r>
              <a:rPr lang="en-US" sz="2300" dirty="0"/>
              <a:t> Account lifecycle management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8720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</a:rPr>
              <a:t>Structure of CIS Controls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object 2"/>
          <p:cNvSpPr/>
          <p:nvPr/>
        </p:nvSpPr>
        <p:spPr>
          <a:xfrm>
            <a:off x="6109252" y="1151640"/>
            <a:ext cx="5870713" cy="50658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2. Foundational Controls (CIS 6–10)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Strengthen defenses and monitoring.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6:</a:t>
            </a:r>
            <a:r>
              <a:rPr lang="en-US" sz="2300" dirty="0"/>
              <a:t> Access control (least privilege)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7:</a:t>
            </a:r>
            <a:r>
              <a:rPr lang="en-US" sz="2300" dirty="0"/>
              <a:t> Continuous vulnerability management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8:</a:t>
            </a:r>
            <a:r>
              <a:rPr lang="en-US" sz="2300" dirty="0"/>
              <a:t> Audit log collection and analysis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9:</a:t>
            </a:r>
            <a:r>
              <a:rPr lang="en-US" sz="2300" dirty="0"/>
              <a:t> Email &amp; browser protections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10:</a:t>
            </a:r>
            <a:r>
              <a:rPr lang="en-US" sz="2300" dirty="0"/>
              <a:t> Malware defenses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44882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715" y="1518858"/>
            <a:ext cx="5924521" cy="48360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3. </a:t>
            </a:r>
            <a:r>
              <a:rPr lang="en-US" sz="2800" b="1" dirty="0"/>
              <a:t>Organizational Controls (CIS 11–15)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Embed security into governance and culture.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11:</a:t>
            </a:r>
            <a:r>
              <a:rPr lang="en-US" sz="2300" dirty="0"/>
              <a:t> Data recovery capabilities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12:</a:t>
            </a:r>
            <a:r>
              <a:rPr lang="en-US" sz="2300" dirty="0"/>
              <a:t> Secure network infrastructure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13:</a:t>
            </a:r>
            <a:r>
              <a:rPr lang="en-US" sz="2300" dirty="0"/>
              <a:t> Security awareness training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14:</a:t>
            </a:r>
            <a:r>
              <a:rPr lang="en-US" sz="2300" dirty="0"/>
              <a:t> Secure software development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15:</a:t>
            </a:r>
            <a:r>
              <a:rPr lang="en-US" sz="2300" dirty="0"/>
              <a:t> Third-party/service provider management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8133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</a:rPr>
              <a:t>Structure of CIS Controls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object 2"/>
          <p:cNvSpPr/>
          <p:nvPr/>
        </p:nvSpPr>
        <p:spPr>
          <a:xfrm>
            <a:off x="6277855" y="1518858"/>
            <a:ext cx="5807254" cy="47137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Why Use CIS Controls?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Actionable, prioritized, and cost-effective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Protects against real-world threats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Useful for both new and mature security programs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Supports compliance and risk management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5484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89F9-F859-4C71-BAB1-E2C180571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8" y="368602"/>
            <a:ext cx="3498669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2" name="object 2"/>
          <p:cNvSpPr/>
          <p:nvPr/>
        </p:nvSpPr>
        <p:spPr>
          <a:xfrm>
            <a:off x="535261" y="1765588"/>
            <a:ext cx="11220931" cy="40865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https://nvlpubs.nist.gov/nistpubs/CSWP/NIST.CSWP.29.pdf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https://www.scribd.com/document/900236879/Cybersecurity-Frameworks-and-Standards-1720047371</a:t>
            </a:r>
            <a:endParaRPr lang="en-US" sz="2400" dirty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https://www.nist.gov/cyberframework</a:t>
            </a:r>
            <a:endParaRPr lang="en-US" sz="2400" dirty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https://www.attackiq.com/wp-content/uploads/2021/02/cisos-guide-to-the-top-cybersecurity-frameworks.pdf</a:t>
            </a:r>
            <a:endParaRPr lang="en-US" sz="2400" dirty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https://sprinto.com/blog/iso-27001-risk-management-policy/</a:t>
            </a:r>
            <a:endParaRPr lang="en-US" sz="2400" dirty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Principles of Information Security (Fourth Edition)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COMPUTER SECURITY PRINCIPLES AND PRACTICE Second Edition</a:t>
            </a:r>
            <a:endParaRPr lang="en-US" sz="2400" dirty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112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1" y="1799971"/>
            <a:ext cx="10115202" cy="4509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99" y="2286000"/>
            <a:ext cx="9718766" cy="3148149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516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3787</TotalTime>
  <Words>1307</Words>
  <Application>Microsoft Office PowerPoint</Application>
  <PresentationFormat>Widescreen</PresentationFormat>
  <Paragraphs>165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the image steganography  using LSB substitution</dc:title>
  <dc:creator>Muhammad Umar Aftab</dc:creator>
  <cp:lastModifiedBy>Amer  Rasheed</cp:lastModifiedBy>
  <cp:revision>295</cp:revision>
  <dcterms:created xsi:type="dcterms:W3CDTF">2020-05-17T12:17:03Z</dcterms:created>
  <dcterms:modified xsi:type="dcterms:W3CDTF">2025-08-26T17:50:51Z</dcterms:modified>
</cp:coreProperties>
</file>